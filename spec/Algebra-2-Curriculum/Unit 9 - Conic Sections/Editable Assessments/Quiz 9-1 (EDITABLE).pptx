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7772400" cy="100584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410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14980" algn="l"/>
              </a:tabLst>
            </a:pPr>
            <a:r>
              <a:rPr spc="-5" dirty="0"/>
              <a:t>Standard</a:t>
            </a:r>
            <a:r>
              <a:rPr spc="-65" dirty="0"/>
              <a:t> </a:t>
            </a:r>
            <a:r>
              <a:rPr spc="-5" dirty="0"/>
              <a:t>Form:</a:t>
            </a:r>
            <a:r>
              <a:rPr spc="25" dirty="0"/>
              <a:t> </a:t>
            </a:r>
            <a:r>
              <a:rPr b="0" u="sng" spc="-5" dirty="0">
                <a:latin typeface="Times New Roman"/>
                <a:cs typeface="Times New Roman"/>
              </a:rPr>
              <a:t> </a:t>
            </a:r>
            <a:r>
              <a:rPr b="0" u="sng" dirty="0">
                <a:latin typeface="Times New Roman"/>
                <a:cs typeface="Times New Roman"/>
              </a:rPr>
              <a:t>	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18155" algn="l"/>
              </a:tabLst>
            </a:pPr>
            <a:r>
              <a:rPr spc="-5" dirty="0"/>
              <a:t>Standard</a:t>
            </a:r>
            <a:r>
              <a:rPr spc="-60" dirty="0"/>
              <a:t> </a:t>
            </a:r>
            <a:r>
              <a:rPr spc="-5" dirty="0"/>
              <a:t>Form:</a:t>
            </a:r>
            <a:r>
              <a:rPr spc="35" dirty="0"/>
              <a:t> </a:t>
            </a:r>
            <a:r>
              <a:rPr b="0" u="sng" spc="-5" dirty="0">
                <a:latin typeface="Times New Roman"/>
                <a:cs typeface="Times New Roman"/>
              </a:rPr>
              <a:t> </a:t>
            </a:r>
            <a:r>
              <a:rPr b="0" u="sng" dirty="0">
                <a:latin typeface="Times New Roman"/>
                <a:cs typeface="Times New Roman"/>
              </a:rPr>
              <a:t>	</a:t>
            </a:r>
          </a:p>
          <a:p>
            <a:pPr marL="1812289">
              <a:lnSpc>
                <a:spcPct val="100000"/>
              </a:lnSpc>
              <a:spcBef>
                <a:spcPts val="425"/>
              </a:spcBef>
            </a:pPr>
            <a:r>
              <a:rPr sz="700" b="0" spc="5" dirty="0">
                <a:latin typeface="Calibri"/>
                <a:cs typeface="Calibri"/>
              </a:rPr>
              <a:t>© </a:t>
            </a:r>
            <a:r>
              <a:rPr sz="700" b="0" dirty="0">
                <a:latin typeface="Calibri"/>
                <a:cs typeface="Calibri"/>
              </a:rPr>
              <a:t>Gina Wilson (All Things Algebra),</a:t>
            </a:r>
            <a:r>
              <a:rPr sz="700" b="0" spc="-20" dirty="0">
                <a:latin typeface="Calibri"/>
                <a:cs typeface="Calibri"/>
              </a:rPr>
              <a:t> </a:t>
            </a:r>
            <a:r>
              <a:rPr sz="700" b="0" dirty="0">
                <a:latin typeface="Calibri"/>
                <a:cs typeface="Calibri"/>
              </a:rPr>
              <a:t>2015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14980" algn="l"/>
              </a:tabLst>
            </a:pPr>
            <a:r>
              <a:rPr spc="-5" dirty="0"/>
              <a:t>Standard</a:t>
            </a:r>
            <a:r>
              <a:rPr spc="-65" dirty="0"/>
              <a:t> </a:t>
            </a:r>
            <a:r>
              <a:rPr spc="-5" dirty="0"/>
              <a:t>Form:</a:t>
            </a:r>
            <a:r>
              <a:rPr spc="25" dirty="0"/>
              <a:t> </a:t>
            </a:r>
            <a:r>
              <a:rPr b="0" u="sng" spc="-5" dirty="0">
                <a:latin typeface="Times New Roman"/>
                <a:cs typeface="Times New Roman"/>
              </a:rPr>
              <a:t> </a:t>
            </a:r>
            <a:r>
              <a:rPr b="0" u="sng" dirty="0">
                <a:latin typeface="Times New Roman"/>
                <a:cs typeface="Times New Roman"/>
              </a:rPr>
              <a:t>	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18155" algn="l"/>
              </a:tabLst>
            </a:pPr>
            <a:r>
              <a:rPr spc="-5" dirty="0"/>
              <a:t>Standard</a:t>
            </a:r>
            <a:r>
              <a:rPr spc="-60" dirty="0"/>
              <a:t> </a:t>
            </a:r>
            <a:r>
              <a:rPr spc="-5" dirty="0"/>
              <a:t>Form:</a:t>
            </a:r>
            <a:r>
              <a:rPr spc="35" dirty="0"/>
              <a:t> </a:t>
            </a:r>
            <a:r>
              <a:rPr b="0" u="sng" spc="-5" dirty="0">
                <a:latin typeface="Times New Roman"/>
                <a:cs typeface="Times New Roman"/>
              </a:rPr>
              <a:t> </a:t>
            </a:r>
            <a:r>
              <a:rPr b="0" u="sng" dirty="0">
                <a:latin typeface="Times New Roman"/>
                <a:cs typeface="Times New Roman"/>
              </a:rPr>
              <a:t>	</a:t>
            </a:r>
          </a:p>
          <a:p>
            <a:pPr marL="1812289">
              <a:lnSpc>
                <a:spcPct val="100000"/>
              </a:lnSpc>
              <a:spcBef>
                <a:spcPts val="425"/>
              </a:spcBef>
            </a:pPr>
            <a:r>
              <a:rPr sz="700" b="0" spc="5" dirty="0">
                <a:latin typeface="Calibri"/>
                <a:cs typeface="Calibri"/>
              </a:rPr>
              <a:t>© </a:t>
            </a:r>
            <a:r>
              <a:rPr sz="700" b="0" dirty="0">
                <a:latin typeface="Calibri"/>
                <a:cs typeface="Calibri"/>
              </a:rPr>
              <a:t>Gina Wilson (All Things Algebra),</a:t>
            </a:r>
            <a:r>
              <a:rPr sz="700" b="0" spc="-20" dirty="0">
                <a:latin typeface="Calibri"/>
                <a:cs typeface="Calibri"/>
              </a:rPr>
              <a:t> </a:t>
            </a:r>
            <a:r>
              <a:rPr sz="700" b="0" dirty="0">
                <a:latin typeface="Calibri"/>
                <a:cs typeface="Calibri"/>
              </a:rPr>
              <a:t>2015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14980" algn="l"/>
              </a:tabLst>
            </a:pPr>
            <a:r>
              <a:rPr spc="-5" dirty="0"/>
              <a:t>Standard</a:t>
            </a:r>
            <a:r>
              <a:rPr spc="-65" dirty="0"/>
              <a:t> </a:t>
            </a:r>
            <a:r>
              <a:rPr spc="-5" dirty="0"/>
              <a:t>Form:</a:t>
            </a:r>
            <a:r>
              <a:rPr spc="25" dirty="0"/>
              <a:t> </a:t>
            </a:r>
            <a:r>
              <a:rPr b="0" u="sng" spc="-5" dirty="0">
                <a:latin typeface="Times New Roman"/>
                <a:cs typeface="Times New Roman"/>
              </a:rPr>
              <a:t> </a:t>
            </a:r>
            <a:r>
              <a:rPr b="0" u="sng" dirty="0">
                <a:latin typeface="Times New Roman"/>
                <a:cs typeface="Times New Roman"/>
              </a:rPr>
              <a:t>	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18155" algn="l"/>
              </a:tabLst>
            </a:pPr>
            <a:r>
              <a:rPr spc="-5" dirty="0"/>
              <a:t>Standard</a:t>
            </a:r>
            <a:r>
              <a:rPr spc="-60" dirty="0"/>
              <a:t> </a:t>
            </a:r>
            <a:r>
              <a:rPr spc="-5" dirty="0"/>
              <a:t>Form:</a:t>
            </a:r>
            <a:r>
              <a:rPr spc="35" dirty="0"/>
              <a:t> </a:t>
            </a:r>
            <a:r>
              <a:rPr b="0" u="sng" spc="-5" dirty="0">
                <a:latin typeface="Times New Roman"/>
                <a:cs typeface="Times New Roman"/>
              </a:rPr>
              <a:t> </a:t>
            </a:r>
            <a:r>
              <a:rPr b="0" u="sng" dirty="0">
                <a:latin typeface="Times New Roman"/>
                <a:cs typeface="Times New Roman"/>
              </a:rPr>
              <a:t>	</a:t>
            </a:r>
          </a:p>
          <a:p>
            <a:pPr marL="1812289">
              <a:lnSpc>
                <a:spcPct val="100000"/>
              </a:lnSpc>
              <a:spcBef>
                <a:spcPts val="425"/>
              </a:spcBef>
            </a:pPr>
            <a:r>
              <a:rPr sz="700" b="0" spc="5" dirty="0">
                <a:latin typeface="Calibri"/>
                <a:cs typeface="Calibri"/>
              </a:rPr>
              <a:t>© </a:t>
            </a:r>
            <a:r>
              <a:rPr sz="700" b="0" dirty="0">
                <a:latin typeface="Calibri"/>
                <a:cs typeface="Calibri"/>
              </a:rPr>
              <a:t>Gina Wilson (All Things Algebra),</a:t>
            </a:r>
            <a:r>
              <a:rPr sz="700" b="0" spc="-20" dirty="0">
                <a:latin typeface="Calibri"/>
                <a:cs typeface="Calibri"/>
              </a:rPr>
              <a:t> </a:t>
            </a:r>
            <a:r>
              <a:rPr sz="700" b="0" dirty="0">
                <a:latin typeface="Calibri"/>
                <a:cs typeface="Calibri"/>
              </a:rPr>
              <a:t>2015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14980" algn="l"/>
              </a:tabLst>
            </a:pPr>
            <a:r>
              <a:rPr spc="-5" dirty="0"/>
              <a:t>Standard</a:t>
            </a:r>
            <a:r>
              <a:rPr spc="-65" dirty="0"/>
              <a:t> </a:t>
            </a:r>
            <a:r>
              <a:rPr spc="-5" dirty="0"/>
              <a:t>Form:</a:t>
            </a:r>
            <a:r>
              <a:rPr spc="25" dirty="0"/>
              <a:t> </a:t>
            </a:r>
            <a:r>
              <a:rPr b="0" u="sng" spc="-5" dirty="0">
                <a:latin typeface="Times New Roman"/>
                <a:cs typeface="Times New Roman"/>
              </a:rPr>
              <a:t> </a:t>
            </a:r>
            <a:r>
              <a:rPr b="0" u="sng" dirty="0">
                <a:latin typeface="Times New Roman"/>
                <a:cs typeface="Times New Roman"/>
              </a:rPr>
              <a:t>	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18155" algn="l"/>
              </a:tabLst>
            </a:pPr>
            <a:r>
              <a:rPr spc="-5" dirty="0"/>
              <a:t>Standard</a:t>
            </a:r>
            <a:r>
              <a:rPr spc="-60" dirty="0"/>
              <a:t> </a:t>
            </a:r>
            <a:r>
              <a:rPr spc="-5" dirty="0"/>
              <a:t>Form:</a:t>
            </a:r>
            <a:r>
              <a:rPr spc="35" dirty="0"/>
              <a:t> </a:t>
            </a:r>
            <a:r>
              <a:rPr b="0" u="sng" spc="-5" dirty="0">
                <a:latin typeface="Times New Roman"/>
                <a:cs typeface="Times New Roman"/>
              </a:rPr>
              <a:t> </a:t>
            </a:r>
            <a:r>
              <a:rPr b="0" u="sng" dirty="0">
                <a:latin typeface="Times New Roman"/>
                <a:cs typeface="Times New Roman"/>
              </a:rPr>
              <a:t>	</a:t>
            </a:r>
          </a:p>
          <a:p>
            <a:pPr marL="1812289">
              <a:lnSpc>
                <a:spcPct val="100000"/>
              </a:lnSpc>
              <a:spcBef>
                <a:spcPts val="425"/>
              </a:spcBef>
            </a:pPr>
            <a:r>
              <a:rPr sz="700" b="0" spc="5" dirty="0">
                <a:latin typeface="Calibri"/>
                <a:cs typeface="Calibri"/>
              </a:rPr>
              <a:t>© </a:t>
            </a:r>
            <a:r>
              <a:rPr sz="700" b="0" dirty="0">
                <a:latin typeface="Calibri"/>
                <a:cs typeface="Calibri"/>
              </a:rPr>
              <a:t>Gina Wilson (All Things Algebra),</a:t>
            </a:r>
            <a:r>
              <a:rPr sz="700" b="0" spc="-20" dirty="0">
                <a:latin typeface="Calibri"/>
                <a:cs typeface="Calibri"/>
              </a:rPr>
              <a:t> </a:t>
            </a:r>
            <a:r>
              <a:rPr sz="700" b="0" dirty="0">
                <a:latin typeface="Calibri"/>
                <a:cs typeface="Calibri"/>
              </a:rPr>
              <a:t>2015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14980" algn="l"/>
              </a:tabLst>
            </a:pPr>
            <a:r>
              <a:rPr spc="-5" dirty="0"/>
              <a:t>Standard</a:t>
            </a:r>
            <a:r>
              <a:rPr spc="-65" dirty="0"/>
              <a:t> </a:t>
            </a:r>
            <a:r>
              <a:rPr spc="-5" dirty="0"/>
              <a:t>Form:</a:t>
            </a:r>
            <a:r>
              <a:rPr spc="25" dirty="0"/>
              <a:t> </a:t>
            </a:r>
            <a:r>
              <a:rPr b="0" u="sng" spc="-5" dirty="0">
                <a:latin typeface="Times New Roman"/>
                <a:cs typeface="Times New Roman"/>
              </a:rPr>
              <a:t> </a:t>
            </a:r>
            <a:r>
              <a:rPr b="0" u="sng" dirty="0">
                <a:latin typeface="Times New Roman"/>
                <a:cs typeface="Times New Roman"/>
              </a:rPr>
              <a:t>	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18155" algn="l"/>
              </a:tabLst>
            </a:pPr>
            <a:r>
              <a:rPr spc="-5" dirty="0"/>
              <a:t>Standard</a:t>
            </a:r>
            <a:r>
              <a:rPr spc="-60" dirty="0"/>
              <a:t> </a:t>
            </a:r>
            <a:r>
              <a:rPr spc="-5" dirty="0"/>
              <a:t>Form:</a:t>
            </a:r>
            <a:r>
              <a:rPr spc="35" dirty="0"/>
              <a:t> </a:t>
            </a:r>
            <a:r>
              <a:rPr b="0" u="sng" spc="-5" dirty="0">
                <a:latin typeface="Times New Roman"/>
                <a:cs typeface="Times New Roman"/>
              </a:rPr>
              <a:t> </a:t>
            </a:r>
            <a:r>
              <a:rPr b="0" u="sng" dirty="0">
                <a:latin typeface="Times New Roman"/>
                <a:cs typeface="Times New Roman"/>
              </a:rPr>
              <a:t>	</a:t>
            </a:r>
          </a:p>
          <a:p>
            <a:pPr marL="1812289">
              <a:lnSpc>
                <a:spcPct val="100000"/>
              </a:lnSpc>
              <a:spcBef>
                <a:spcPts val="425"/>
              </a:spcBef>
            </a:pPr>
            <a:r>
              <a:rPr sz="700" b="0" spc="5" dirty="0">
                <a:latin typeface="Calibri"/>
                <a:cs typeface="Calibri"/>
              </a:rPr>
              <a:t>© </a:t>
            </a:r>
            <a:r>
              <a:rPr sz="700" b="0" dirty="0">
                <a:latin typeface="Calibri"/>
                <a:cs typeface="Calibri"/>
              </a:rPr>
              <a:t>Gina Wilson (All Things Algebra),</a:t>
            </a:r>
            <a:r>
              <a:rPr sz="700" b="0" spc="-20" dirty="0">
                <a:latin typeface="Calibri"/>
                <a:cs typeface="Calibri"/>
              </a:rPr>
              <a:t> </a:t>
            </a:r>
            <a:r>
              <a:rPr sz="700" b="0" dirty="0">
                <a:latin typeface="Calibri"/>
                <a:cs typeface="Calibri"/>
              </a:rPr>
              <a:t>2015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0220" y="9539668"/>
            <a:ext cx="3028315" cy="1797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14980" algn="l"/>
              </a:tabLst>
            </a:pPr>
            <a:r>
              <a:rPr spc="-5" dirty="0"/>
              <a:t>Standard</a:t>
            </a:r>
            <a:r>
              <a:rPr spc="-65" dirty="0"/>
              <a:t> </a:t>
            </a:r>
            <a:r>
              <a:rPr spc="-5" dirty="0"/>
              <a:t>Form:</a:t>
            </a:r>
            <a:r>
              <a:rPr spc="25" dirty="0"/>
              <a:t> </a:t>
            </a:r>
            <a:r>
              <a:rPr b="0" u="sng" spc="-5" dirty="0">
                <a:latin typeface="Times New Roman"/>
                <a:cs typeface="Times New Roman"/>
              </a:rPr>
              <a:t> </a:t>
            </a:r>
            <a:r>
              <a:rPr b="0" u="sng" dirty="0">
                <a:latin typeface="Times New Roman"/>
                <a:cs typeface="Times New Roman"/>
              </a:rPr>
              <a:t>	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047258" y="9539668"/>
            <a:ext cx="3313429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18155" algn="l"/>
              </a:tabLst>
            </a:pPr>
            <a:r>
              <a:rPr spc="-5" dirty="0"/>
              <a:t>Standard</a:t>
            </a:r>
            <a:r>
              <a:rPr spc="-60" dirty="0"/>
              <a:t> </a:t>
            </a:r>
            <a:r>
              <a:rPr spc="-5" dirty="0"/>
              <a:t>Form:</a:t>
            </a:r>
            <a:r>
              <a:rPr spc="35" dirty="0"/>
              <a:t> </a:t>
            </a:r>
            <a:r>
              <a:rPr b="0" u="sng" spc="-5" dirty="0">
                <a:latin typeface="Times New Roman"/>
                <a:cs typeface="Times New Roman"/>
              </a:rPr>
              <a:t> </a:t>
            </a:r>
            <a:r>
              <a:rPr b="0" u="sng" dirty="0">
                <a:latin typeface="Times New Roman"/>
                <a:cs typeface="Times New Roman"/>
              </a:rPr>
              <a:t>	</a:t>
            </a:r>
          </a:p>
          <a:p>
            <a:pPr marL="1812289">
              <a:lnSpc>
                <a:spcPct val="100000"/>
              </a:lnSpc>
              <a:spcBef>
                <a:spcPts val="425"/>
              </a:spcBef>
            </a:pPr>
            <a:r>
              <a:rPr sz="700" b="0" spc="5" dirty="0">
                <a:latin typeface="Calibri"/>
                <a:cs typeface="Calibri"/>
              </a:rPr>
              <a:t>© </a:t>
            </a:r>
            <a:r>
              <a:rPr sz="700" b="0" dirty="0">
                <a:latin typeface="Calibri"/>
                <a:cs typeface="Calibri"/>
              </a:rPr>
              <a:t>Gina Wilson (All Things Algebra),</a:t>
            </a:r>
            <a:r>
              <a:rPr sz="700" b="0" spc="-20" dirty="0">
                <a:latin typeface="Calibri"/>
                <a:cs typeface="Calibri"/>
              </a:rPr>
              <a:t> </a:t>
            </a:r>
            <a:r>
              <a:rPr sz="700" b="0" dirty="0">
                <a:latin typeface="Calibri"/>
                <a:cs typeface="Calibri"/>
              </a:rPr>
              <a:t>2015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7.bin"/><Relationship Id="rId10" Type="http://schemas.openxmlformats.org/officeDocument/2006/relationships/image" Target="../media/image11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9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1">
            <a:extLst>
              <a:ext uri="{FF2B5EF4-FFF2-40B4-BE49-F238E27FC236}">
                <a16:creationId xmlns:a16="http://schemas.microsoft.com/office/drawing/2014/main" id="{6842DD52-9CA2-08D1-F17D-A1716182D56E}"/>
              </a:ext>
            </a:extLst>
          </p:cNvPr>
          <p:cNvSpPr txBox="1"/>
          <p:nvPr/>
        </p:nvSpPr>
        <p:spPr>
          <a:xfrm>
            <a:off x="580226" y="6193291"/>
            <a:ext cx="6825341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spc="-5" dirty="0">
                <a:latin typeface="Century Gothic" panose="020B0502020202020204" pitchFamily="34" charset="0"/>
                <a:cs typeface="Tahoma"/>
              </a:rPr>
              <a:t>Write the equation </a:t>
            </a:r>
            <a:r>
              <a:rPr sz="1100" b="1" dirty="0">
                <a:latin typeface="Century Gothic" panose="020B0502020202020204" pitchFamily="34" charset="0"/>
                <a:cs typeface="Tahoma"/>
              </a:rPr>
              <a:t>of 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the circle in standard form with the </a:t>
            </a:r>
            <a:r>
              <a:rPr sz="1100" b="1" spc="-10" dirty="0">
                <a:latin typeface="Century Gothic" panose="020B0502020202020204" pitchFamily="34" charset="0"/>
                <a:cs typeface="Tahoma"/>
              </a:rPr>
              <a:t>given</a:t>
            </a:r>
            <a:r>
              <a:rPr sz="1100" b="1" spc="16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characteristics.</a:t>
            </a:r>
            <a:endParaRPr sz="1100" b="1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3" name="object 12">
            <a:extLst>
              <a:ext uri="{FF2B5EF4-FFF2-40B4-BE49-F238E27FC236}">
                <a16:creationId xmlns:a16="http://schemas.microsoft.com/office/drawing/2014/main" id="{334E9D71-EF2C-59CE-8115-E2EE005C1265}"/>
              </a:ext>
            </a:extLst>
          </p:cNvPr>
          <p:cNvSpPr txBox="1"/>
          <p:nvPr/>
        </p:nvSpPr>
        <p:spPr>
          <a:xfrm>
            <a:off x="575566" y="6430386"/>
            <a:ext cx="1904364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dirty="0">
                <a:latin typeface="Century Gothic" panose="020B0502020202020204" pitchFamily="34" charset="0"/>
                <a:cs typeface="Tahoma"/>
              </a:rPr>
              <a:t>5. 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Center:  </a:t>
            </a:r>
            <a:r>
              <a:rPr sz="11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(-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7, -2</a:t>
            </a:r>
            <a:r>
              <a:rPr sz="11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; Radius:</a:t>
            </a:r>
            <a:r>
              <a:rPr sz="1100" spc="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9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8" name="object 17">
            <a:extLst>
              <a:ext uri="{FF2B5EF4-FFF2-40B4-BE49-F238E27FC236}">
                <a16:creationId xmlns:a16="http://schemas.microsoft.com/office/drawing/2014/main" id="{266BDF10-4920-5949-65A4-1F2749BF69C2}"/>
              </a:ext>
            </a:extLst>
          </p:cNvPr>
          <p:cNvSpPr txBox="1"/>
          <p:nvPr/>
        </p:nvSpPr>
        <p:spPr>
          <a:xfrm>
            <a:off x="3896360" y="6470010"/>
            <a:ext cx="198882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dirty="0">
                <a:latin typeface="Century Gothic" panose="020B0502020202020204" pitchFamily="34" charset="0"/>
                <a:cs typeface="Tahoma"/>
              </a:rPr>
              <a:t>6. 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Center:  </a:t>
            </a:r>
            <a:r>
              <a:rPr sz="11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4, 0</a:t>
            </a:r>
            <a:r>
              <a:rPr sz="11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; Radius: 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11" name="object 20">
            <a:extLst>
              <a:ext uri="{FF2B5EF4-FFF2-40B4-BE49-F238E27FC236}">
                <a16:creationId xmlns:a16="http://schemas.microsoft.com/office/drawing/2014/main" id="{2EC400FD-9D5A-1E1E-48B8-5AD1F3FC7164}"/>
              </a:ext>
            </a:extLst>
          </p:cNvPr>
          <p:cNvSpPr txBox="1"/>
          <p:nvPr/>
        </p:nvSpPr>
        <p:spPr>
          <a:xfrm>
            <a:off x="575566" y="7644208"/>
            <a:ext cx="2893271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dirty="0">
                <a:latin typeface="Century Gothic" panose="020B0502020202020204" pitchFamily="34" charset="0"/>
                <a:cs typeface="Tahoma"/>
              </a:rPr>
              <a:t>7. 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Center: </a:t>
            </a:r>
            <a:r>
              <a:rPr sz="11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5, </a:t>
            </a:r>
            <a:r>
              <a:rPr sz="1100" spc="-10" dirty="0">
                <a:latin typeface="Century Gothic" panose="020B0502020202020204" pitchFamily="34" charset="0"/>
                <a:cs typeface="Tahoma"/>
              </a:rPr>
              <a:t>9</a:t>
            </a:r>
            <a:r>
              <a:rPr sz="11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sz="1100" spc="-10" dirty="0">
                <a:latin typeface="Century Gothic" panose="020B0502020202020204" pitchFamily="34" charset="0"/>
                <a:cs typeface="Tahoma"/>
              </a:rPr>
              <a:t>;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Point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on Circle: </a:t>
            </a:r>
            <a:r>
              <a:rPr sz="11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7,</a:t>
            </a:r>
            <a:r>
              <a:rPr sz="1100" spc="30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8</a:t>
            </a:r>
            <a:r>
              <a:rPr sz="11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object 21">
            <a:extLst>
              <a:ext uri="{FF2B5EF4-FFF2-40B4-BE49-F238E27FC236}">
                <a16:creationId xmlns:a16="http://schemas.microsoft.com/office/drawing/2014/main" id="{1787A407-4874-1935-B261-E719FABAD4B5}"/>
              </a:ext>
            </a:extLst>
          </p:cNvPr>
          <p:cNvSpPr txBox="1"/>
          <p:nvPr/>
        </p:nvSpPr>
        <p:spPr>
          <a:xfrm>
            <a:off x="3896360" y="7644208"/>
            <a:ext cx="3042156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dirty="0">
                <a:latin typeface="Century Gothic" panose="020B0502020202020204" pitchFamily="34" charset="0"/>
                <a:cs typeface="Tahoma"/>
              </a:rPr>
              <a:t>8. 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Endpoints of Diameter: </a:t>
            </a:r>
            <a:r>
              <a:rPr sz="11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-5, -8</a:t>
            </a:r>
            <a:r>
              <a:rPr sz="11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and </a:t>
            </a:r>
            <a:r>
              <a:rPr sz="11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sz="1100" spc="-10" dirty="0">
                <a:latin typeface="Century Gothic" panose="020B0502020202020204" pitchFamily="34" charset="0"/>
                <a:cs typeface="Tahoma"/>
              </a:rPr>
              <a:t>7,</a:t>
            </a:r>
            <a:r>
              <a:rPr sz="1100" spc="60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2</a:t>
            </a:r>
            <a:r>
              <a:rPr sz="11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46B455-4398-6E6E-B120-C02D6DEB76CD}"/>
              </a:ext>
            </a:extLst>
          </p:cNvPr>
          <p:cNvSpPr/>
          <p:nvPr/>
        </p:nvSpPr>
        <p:spPr>
          <a:xfrm>
            <a:off x="482948" y="1505519"/>
            <a:ext cx="44577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Graph each circle.  Identify the center and radius.</a:t>
            </a:r>
            <a:endParaRPr lang="en-US" sz="1100" b="1" dirty="0">
              <a:latin typeface="Century Gothic" panose="020B0502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72D417-3592-F866-547D-9528F6E10CC1}"/>
              </a:ext>
            </a:extLst>
          </p:cNvPr>
          <p:cNvSpPr/>
          <p:nvPr/>
        </p:nvSpPr>
        <p:spPr>
          <a:xfrm>
            <a:off x="493060" y="1828800"/>
            <a:ext cx="33054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latin typeface="Century Gothic" panose="020B0502020202020204" pitchFamily="34" charset="0"/>
                <a:ea typeface="Calibri" panose="020F0502020204030204" pitchFamily="34" charset="0"/>
              </a:rPr>
              <a:t>1.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20746BB-E849-B42F-D49E-E77AED7FEE8D}"/>
              </a:ext>
            </a:extLst>
          </p:cNvPr>
          <p:cNvSpPr/>
          <p:nvPr/>
        </p:nvSpPr>
        <p:spPr>
          <a:xfrm>
            <a:off x="3899650" y="1824320"/>
            <a:ext cx="31451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latin typeface="Century Gothic" panose="020B0502020202020204" pitchFamily="34" charset="0"/>
                <a:ea typeface="Calibri" panose="020F0502020204030204" pitchFamily="34" charset="0"/>
              </a:rPr>
              <a:t>2.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D45F61-F7FA-456C-6513-0339AF17DFCE}"/>
              </a:ext>
            </a:extLst>
          </p:cNvPr>
          <p:cNvSpPr/>
          <p:nvPr/>
        </p:nvSpPr>
        <p:spPr>
          <a:xfrm>
            <a:off x="4056530" y="2989730"/>
            <a:ext cx="156210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 dirty="0">
                <a:latin typeface="Century Gothic" panose="020B0502020202020204" pitchFamily="34" charset="0"/>
                <a:ea typeface="Calibri" panose="020F0502020204030204" pitchFamily="34" charset="0"/>
              </a:rPr>
              <a:t>Center:</a:t>
            </a:r>
            <a:r>
              <a:rPr lang="en-US" sz="1200" b="1" dirty="0">
                <a:latin typeface="Century Gothic" panose="020B0502020202020204" pitchFamily="34" charset="0"/>
                <a:ea typeface="Calibri" panose="020F0502020204030204" pitchFamily="34" charset="0"/>
              </a:rPr>
              <a:t> </a:t>
            </a:r>
            <a:r>
              <a:rPr lang="en-US" sz="1000" dirty="0">
                <a:latin typeface="Century Gothic" panose="020B0502020202020204" pitchFamily="34" charset="0"/>
                <a:ea typeface="Calibri" panose="020F0502020204030204" pitchFamily="34" charset="0"/>
              </a:rPr>
              <a:t>____________</a:t>
            </a:r>
            <a:br>
              <a:rPr lang="en-US" sz="1000" dirty="0">
                <a:latin typeface="Century Gothic" panose="020B0502020202020204" pitchFamily="34" charset="0"/>
                <a:ea typeface="Calibri" panose="020F0502020204030204" pitchFamily="34" charset="0"/>
              </a:rPr>
            </a:br>
            <a:br>
              <a:rPr lang="en-US" sz="1000" b="1" dirty="0"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000" b="1" dirty="0">
                <a:latin typeface="Century Gothic" panose="020B0502020202020204" pitchFamily="34" charset="0"/>
                <a:ea typeface="Calibri" panose="020F0502020204030204" pitchFamily="34" charset="0"/>
              </a:rPr>
              <a:t>Radius:</a:t>
            </a:r>
            <a:r>
              <a:rPr lang="en-US" sz="1000" dirty="0">
                <a:latin typeface="Century Gothic" panose="020B0502020202020204" pitchFamily="34" charset="0"/>
                <a:ea typeface="Calibri" panose="020F0502020204030204" pitchFamily="34" charset="0"/>
              </a:rPr>
              <a:t> ____________</a:t>
            </a:r>
            <a:br>
              <a:rPr lang="en-US" sz="1200" b="1" dirty="0">
                <a:latin typeface="Century Gothic" panose="020B0502020202020204" pitchFamily="34" charset="0"/>
                <a:ea typeface="Calibri" panose="020F0502020204030204" pitchFamily="34" charset="0"/>
              </a:rPr>
            </a:b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E9F3F4E-BD6C-C0D0-E2EE-602C03F6B3EB}"/>
              </a:ext>
            </a:extLst>
          </p:cNvPr>
          <p:cNvSpPr/>
          <p:nvPr/>
        </p:nvSpPr>
        <p:spPr>
          <a:xfrm>
            <a:off x="501044" y="2994210"/>
            <a:ext cx="160020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 dirty="0">
                <a:latin typeface="Century Gothic" panose="020B0502020202020204" pitchFamily="34" charset="0"/>
                <a:ea typeface="Calibri" panose="020F0502020204030204" pitchFamily="34" charset="0"/>
              </a:rPr>
              <a:t>Center:</a:t>
            </a:r>
            <a:r>
              <a:rPr lang="en-US" sz="1200" b="1" dirty="0">
                <a:latin typeface="Century Gothic" panose="020B0502020202020204" pitchFamily="34" charset="0"/>
                <a:ea typeface="Calibri" panose="020F0502020204030204" pitchFamily="34" charset="0"/>
              </a:rPr>
              <a:t> </a:t>
            </a:r>
            <a:r>
              <a:rPr lang="en-US" sz="1000" dirty="0">
                <a:latin typeface="Century Gothic" panose="020B0502020202020204" pitchFamily="34" charset="0"/>
                <a:ea typeface="Calibri" panose="020F0502020204030204" pitchFamily="34" charset="0"/>
              </a:rPr>
              <a:t>____________</a:t>
            </a:r>
            <a:br>
              <a:rPr lang="en-US" sz="1000" dirty="0">
                <a:latin typeface="Century Gothic" panose="020B0502020202020204" pitchFamily="34" charset="0"/>
                <a:ea typeface="Calibri" panose="020F0502020204030204" pitchFamily="34" charset="0"/>
              </a:rPr>
            </a:br>
            <a:br>
              <a:rPr lang="en-US" sz="1000" b="1" dirty="0"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000" b="1" dirty="0">
                <a:latin typeface="Century Gothic" panose="020B0502020202020204" pitchFamily="34" charset="0"/>
                <a:ea typeface="Calibri" panose="020F0502020204030204" pitchFamily="34" charset="0"/>
              </a:rPr>
              <a:t>Radius:</a:t>
            </a:r>
            <a:r>
              <a:rPr lang="en-US" sz="1000" dirty="0">
                <a:latin typeface="Century Gothic" panose="020B0502020202020204" pitchFamily="34" charset="0"/>
                <a:ea typeface="Calibri" panose="020F0502020204030204" pitchFamily="34" charset="0"/>
              </a:rPr>
              <a:t> ____________</a:t>
            </a:r>
            <a:br>
              <a:rPr lang="en-US" sz="1200" b="1" dirty="0">
                <a:latin typeface="Century Gothic" panose="020B0502020202020204" pitchFamily="34" charset="0"/>
                <a:ea typeface="Calibri" panose="020F0502020204030204" pitchFamily="34" charset="0"/>
              </a:rPr>
            </a:b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3F8B6F4-8EB1-CEFF-5FF8-45FDFC072FB4}"/>
              </a:ext>
            </a:extLst>
          </p:cNvPr>
          <p:cNvSpPr/>
          <p:nvPr/>
        </p:nvSpPr>
        <p:spPr>
          <a:xfrm>
            <a:off x="463492" y="3769660"/>
            <a:ext cx="69723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Write the equation of the circle in standard form.  Identify the center and radius.</a:t>
            </a:r>
            <a:endParaRPr lang="en-US" sz="1100" b="1" dirty="0">
              <a:latin typeface="Century Gothic" panose="020B0502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3A94D75-D3F9-FDC9-CC58-FD0577215444}"/>
              </a:ext>
            </a:extLst>
          </p:cNvPr>
          <p:cNvSpPr/>
          <p:nvPr/>
        </p:nvSpPr>
        <p:spPr>
          <a:xfrm>
            <a:off x="488575" y="3993775"/>
            <a:ext cx="3577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latin typeface="Century Gothic" panose="020B0502020202020204" pitchFamily="34" charset="0"/>
                <a:ea typeface="Calibri" panose="020F0502020204030204" pitchFamily="34" charset="0"/>
              </a:rPr>
              <a:t>3.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73B2653-224B-D9AA-F47B-4AC6558E9BDA}"/>
              </a:ext>
            </a:extLst>
          </p:cNvPr>
          <p:cNvSpPr/>
          <p:nvPr/>
        </p:nvSpPr>
        <p:spPr>
          <a:xfrm>
            <a:off x="3810000" y="3998260"/>
            <a:ext cx="3577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latin typeface="Century Gothic" panose="020B0502020202020204" pitchFamily="34" charset="0"/>
                <a:ea typeface="Calibri" panose="020F0502020204030204" pitchFamily="34" charset="0"/>
              </a:rPr>
              <a:t>4. 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29" name="Object 28">
            <a:extLst>
              <a:ext uri="{FF2B5EF4-FFF2-40B4-BE49-F238E27FC236}">
                <a16:creationId xmlns:a16="http://schemas.microsoft.com/office/drawing/2014/main" id="{376B5A19-BDAA-C2DD-3EAE-9E6AA98746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2475" y="1858963"/>
          <a:ext cx="7747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74360" imgH="228600" progId="Equation.DSMT4">
                  <p:embed/>
                </p:oleObj>
              </mc:Choice>
              <mc:Fallback>
                <p:oleObj name="Equation" r:id="rId3" imgW="774360" imgH="228600" progId="Equation.DSMT4">
                  <p:embed/>
                  <p:pic>
                    <p:nvPicPr>
                      <p:cNvPr id="33" name="Object 32">
                        <a:extLst>
                          <a:ext uri="{FF2B5EF4-FFF2-40B4-BE49-F238E27FC236}">
                            <a16:creationId xmlns:a16="http://schemas.microsoft.com/office/drawing/2014/main" id="{376B5A19-BDAA-C2DD-3EAE-9E6AA98746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52475" y="1858963"/>
                        <a:ext cx="7747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37">
            <a:extLst>
              <a:ext uri="{FF2B5EF4-FFF2-40B4-BE49-F238E27FC236}">
                <a16:creationId xmlns:a16="http://schemas.microsoft.com/office/drawing/2014/main" id="{C83AAFDF-2D19-06A8-2A58-6DEF5D897E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84650" y="1841500"/>
          <a:ext cx="12827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82680" imgH="228600" progId="Equation.DSMT4">
                  <p:embed/>
                </p:oleObj>
              </mc:Choice>
              <mc:Fallback>
                <p:oleObj name="Equation" r:id="rId5" imgW="1282680" imgH="228600" progId="Equation.DSMT4">
                  <p:embed/>
                  <p:pic>
                    <p:nvPicPr>
                      <p:cNvPr id="34" name="Object 33">
                        <a:extLst>
                          <a:ext uri="{FF2B5EF4-FFF2-40B4-BE49-F238E27FC236}">
                            <a16:creationId xmlns:a16="http://schemas.microsoft.com/office/drawing/2014/main" id="{C83AAFDF-2D19-06A8-2A58-6DEF5D897E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84650" y="1841500"/>
                        <a:ext cx="12827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39">
            <a:extLst>
              <a:ext uri="{FF2B5EF4-FFF2-40B4-BE49-F238E27FC236}">
                <a16:creationId xmlns:a16="http://schemas.microsoft.com/office/drawing/2014/main" id="{E626F2BC-BEFA-C4E1-B30F-F6AB55D3B3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6763" y="4032250"/>
          <a:ext cx="1104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04840" imgH="228600" progId="Equation.DSMT4">
                  <p:embed/>
                </p:oleObj>
              </mc:Choice>
              <mc:Fallback>
                <p:oleObj name="Equation" r:id="rId7" imgW="1104840" imgH="228600" progId="Equation.DSMT4">
                  <p:embed/>
                  <p:pic>
                    <p:nvPicPr>
                      <p:cNvPr id="35" name="Object 34">
                        <a:extLst>
                          <a:ext uri="{FF2B5EF4-FFF2-40B4-BE49-F238E27FC236}">
                            <a16:creationId xmlns:a16="http://schemas.microsoft.com/office/drawing/2014/main" id="{E626F2BC-BEFA-C4E1-B30F-F6AB55D3B3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66763" y="4032250"/>
                        <a:ext cx="11049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" name="Object 109">
            <a:extLst>
              <a:ext uri="{FF2B5EF4-FFF2-40B4-BE49-F238E27FC236}">
                <a16:creationId xmlns:a16="http://schemas.microsoft.com/office/drawing/2014/main" id="{EEC1D5D5-56AD-5404-6257-3167D9C8EE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4457" y="4021388"/>
          <a:ext cx="1612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12800" imgH="228600" progId="Equation.DSMT4">
                  <p:embed/>
                </p:oleObj>
              </mc:Choice>
              <mc:Fallback>
                <p:oleObj name="Equation" r:id="rId9" imgW="1612800" imgH="228600" progId="Equation.DSMT4">
                  <p:embed/>
                  <p:pic>
                    <p:nvPicPr>
                      <p:cNvPr id="36" name="Object 35">
                        <a:extLst>
                          <a:ext uri="{FF2B5EF4-FFF2-40B4-BE49-F238E27FC236}">
                            <a16:creationId xmlns:a16="http://schemas.microsoft.com/office/drawing/2014/main" id="{EEC1D5D5-56AD-5404-6257-3167D9C8EE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114457" y="4021388"/>
                        <a:ext cx="16129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" name="Rectangle 110">
            <a:extLst>
              <a:ext uri="{FF2B5EF4-FFF2-40B4-BE49-F238E27FC236}">
                <a16:creationId xmlns:a16="http://schemas.microsoft.com/office/drawing/2014/main" id="{D8C77292-F384-0525-E904-C3A46B80E4BF}"/>
              </a:ext>
            </a:extLst>
          </p:cNvPr>
          <p:cNvSpPr/>
          <p:nvPr/>
        </p:nvSpPr>
        <p:spPr>
          <a:xfrm>
            <a:off x="3924300" y="5313598"/>
            <a:ext cx="3886200" cy="67576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70000"/>
              </a:lnSpc>
            </a:pPr>
            <a:r>
              <a:rPr lang="en-US" sz="1000" b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Standard Form:</a:t>
            </a:r>
            <a:r>
              <a:rPr lang="en-US" sz="1200" b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____________________________</a:t>
            </a:r>
            <a:endParaRPr lang="en-US" sz="1200" dirty="0"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r>
              <a:rPr lang="en-US" sz="1000" b="1" dirty="0">
                <a:latin typeface="Century Gothic" panose="020B0502020202020204" pitchFamily="34" charset="0"/>
                <a:ea typeface="Calibri" panose="020F0502020204030204" pitchFamily="34" charset="0"/>
              </a:rPr>
              <a:t>Center:</a:t>
            </a:r>
            <a:r>
              <a:rPr lang="en-US" sz="1200" b="1" dirty="0">
                <a:latin typeface="Century Gothic" panose="020B0502020202020204" pitchFamily="34" charset="0"/>
                <a:ea typeface="Calibri" panose="020F0502020204030204" pitchFamily="34" charset="0"/>
              </a:rPr>
              <a:t> </a:t>
            </a:r>
            <a:r>
              <a:rPr lang="en-US" sz="1000" dirty="0">
                <a:latin typeface="Century Gothic" panose="020B0502020202020204" pitchFamily="34" charset="0"/>
                <a:ea typeface="Calibri" panose="020F0502020204030204" pitchFamily="34" charset="0"/>
              </a:rPr>
              <a:t>_______________</a:t>
            </a:r>
            <a:r>
              <a:rPr lang="en-US" sz="1200" dirty="0">
                <a:latin typeface="Century Gothic" panose="020B0502020202020204" pitchFamily="34" charset="0"/>
                <a:ea typeface="Calibri" panose="020F0502020204030204" pitchFamily="34" charset="0"/>
              </a:rPr>
              <a:t>; </a:t>
            </a:r>
            <a:r>
              <a:rPr lang="en-US" sz="1000" b="1" dirty="0">
                <a:latin typeface="Century Gothic" panose="020B0502020202020204" pitchFamily="34" charset="0"/>
                <a:ea typeface="Calibri" panose="020F0502020204030204" pitchFamily="34" charset="0"/>
              </a:rPr>
              <a:t>Radius:</a:t>
            </a:r>
            <a:r>
              <a:rPr lang="en-US" sz="1200" dirty="0">
                <a:latin typeface="Century Gothic" panose="020B0502020202020204" pitchFamily="34" charset="0"/>
                <a:ea typeface="Calibri" panose="020F0502020204030204" pitchFamily="34" charset="0"/>
              </a:rPr>
              <a:t> </a:t>
            </a:r>
            <a:r>
              <a:rPr lang="en-US" sz="1000" dirty="0">
                <a:latin typeface="Century Gothic" panose="020B0502020202020204" pitchFamily="34" charset="0"/>
                <a:ea typeface="Calibri" panose="020F0502020204030204" pitchFamily="34" charset="0"/>
              </a:rPr>
              <a:t>___________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112" name="Object 111">
            <a:extLst>
              <a:ext uri="{FF2B5EF4-FFF2-40B4-BE49-F238E27FC236}">
                <a16:creationId xmlns:a16="http://schemas.microsoft.com/office/drawing/2014/main" id="{906E14A5-F84F-3A21-1006-3774740151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37577" y="6430386"/>
          <a:ext cx="304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04560" imgH="228600" progId="Equation.DSMT4">
                  <p:embed/>
                </p:oleObj>
              </mc:Choice>
              <mc:Fallback>
                <p:oleObj name="Equation" r:id="rId11" imgW="304560" imgH="228600" progId="Equation.DSMT4">
                  <p:embed/>
                  <p:pic>
                    <p:nvPicPr>
                      <p:cNvPr id="39" name="Object 38">
                        <a:extLst>
                          <a:ext uri="{FF2B5EF4-FFF2-40B4-BE49-F238E27FC236}">
                            <a16:creationId xmlns:a16="http://schemas.microsoft.com/office/drawing/2014/main" id="{906E14A5-F84F-3A21-1006-3774740151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637577" y="6430386"/>
                        <a:ext cx="3048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3" name="Group 112">
            <a:extLst>
              <a:ext uri="{FF2B5EF4-FFF2-40B4-BE49-F238E27FC236}">
                <a16:creationId xmlns:a16="http://schemas.microsoft.com/office/drawing/2014/main" id="{B511B7E9-76FE-5881-57ED-77AD1DFACDF4}"/>
              </a:ext>
            </a:extLst>
          </p:cNvPr>
          <p:cNvGrpSpPr/>
          <p:nvPr/>
        </p:nvGrpSpPr>
        <p:grpSpPr>
          <a:xfrm>
            <a:off x="2094329" y="1873589"/>
            <a:ext cx="1760220" cy="1768185"/>
            <a:chOff x="0" y="0"/>
            <a:chExt cx="2320144" cy="2331720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7FC50A3A-305D-B1F5-0AAB-F62F831EF942}"/>
                </a:ext>
              </a:extLst>
            </p:cNvPr>
            <p:cNvSpPr/>
            <p:nvPr/>
          </p:nvSpPr>
          <p:spPr>
            <a:xfrm>
              <a:off x="103755" y="104278"/>
              <a:ext cx="2102133" cy="2102133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FB7F9595-655A-94DA-5F0B-5A7BCEC0F50F}"/>
                </a:ext>
              </a:extLst>
            </p:cNvPr>
            <p:cNvCxnSpPr/>
            <p:nvPr/>
          </p:nvCxnSpPr>
          <p:spPr>
            <a:xfrm flipH="1">
              <a:off x="103755" y="1023962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370EB08D-7217-C207-9A6F-0B809D3D5263}"/>
                </a:ext>
              </a:extLst>
            </p:cNvPr>
            <p:cNvCxnSpPr>
              <a:cxnSpLocks/>
            </p:cNvCxnSpPr>
            <p:nvPr/>
          </p:nvCxnSpPr>
          <p:spPr>
            <a:xfrm>
              <a:off x="1154822" y="0"/>
              <a:ext cx="0" cy="2331720"/>
            </a:xfrm>
            <a:prstGeom prst="line">
              <a:avLst/>
            </a:prstGeom>
            <a:ln w="12700">
              <a:solidFill>
                <a:schemeClr val="tx1"/>
              </a:solidFill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630CBAA3-6760-E97A-CD02-C58D0E99DA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0" y="1155346"/>
              <a:ext cx="232014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C71F779F-BBE3-9EEA-CC87-46E1DD829271}"/>
                </a:ext>
              </a:extLst>
            </p:cNvPr>
            <p:cNvCxnSpPr/>
            <p:nvPr/>
          </p:nvCxnSpPr>
          <p:spPr>
            <a:xfrm>
              <a:off x="629288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28B883FE-76E7-5BA3-9364-B6EEA004AB24}"/>
                </a:ext>
              </a:extLst>
            </p:cNvPr>
            <p:cNvCxnSpPr/>
            <p:nvPr/>
          </p:nvCxnSpPr>
          <p:spPr>
            <a:xfrm flipH="1">
              <a:off x="103755" y="892578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CD3ADEAB-8BE6-486B-4EE0-C5F2E8D9C55F}"/>
                </a:ext>
              </a:extLst>
            </p:cNvPr>
            <p:cNvCxnSpPr/>
            <p:nvPr/>
          </p:nvCxnSpPr>
          <p:spPr>
            <a:xfrm flipH="1">
              <a:off x="103755" y="761195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CDBCF2F5-D243-53D6-890C-8EBB81FFB737}"/>
                </a:ext>
              </a:extLst>
            </p:cNvPr>
            <p:cNvCxnSpPr/>
            <p:nvPr/>
          </p:nvCxnSpPr>
          <p:spPr>
            <a:xfrm flipH="1">
              <a:off x="103755" y="629812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5C7EB7F4-1D85-DDF6-F7C5-501E4D6A1C3E}"/>
                </a:ext>
              </a:extLst>
            </p:cNvPr>
            <p:cNvCxnSpPr/>
            <p:nvPr/>
          </p:nvCxnSpPr>
          <p:spPr>
            <a:xfrm flipH="1">
              <a:off x="103755" y="498428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D50DD487-EC75-EACC-7FA3-3BDFFB441A4B}"/>
                </a:ext>
              </a:extLst>
            </p:cNvPr>
            <p:cNvCxnSpPr/>
            <p:nvPr/>
          </p:nvCxnSpPr>
          <p:spPr>
            <a:xfrm flipH="1">
              <a:off x="103755" y="367045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E77D7674-7685-1B36-8BA6-72B3ABEF6637}"/>
                </a:ext>
              </a:extLst>
            </p:cNvPr>
            <p:cNvCxnSpPr/>
            <p:nvPr/>
          </p:nvCxnSpPr>
          <p:spPr>
            <a:xfrm flipH="1">
              <a:off x="103755" y="235662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ED8FB790-947E-9C5D-29BD-3D4E3DC34F86}"/>
                </a:ext>
              </a:extLst>
            </p:cNvPr>
            <p:cNvCxnSpPr/>
            <p:nvPr/>
          </p:nvCxnSpPr>
          <p:spPr>
            <a:xfrm flipH="1">
              <a:off x="103755" y="2075028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C6D34E24-8769-0E71-C183-7D3E472835F5}"/>
                </a:ext>
              </a:extLst>
            </p:cNvPr>
            <p:cNvCxnSpPr/>
            <p:nvPr/>
          </p:nvCxnSpPr>
          <p:spPr>
            <a:xfrm flipH="1">
              <a:off x="103755" y="1943645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7DD5CBD0-E1DD-FC9E-A92A-30F794F0E9FC}"/>
                </a:ext>
              </a:extLst>
            </p:cNvPr>
            <p:cNvCxnSpPr/>
            <p:nvPr/>
          </p:nvCxnSpPr>
          <p:spPr>
            <a:xfrm flipH="1">
              <a:off x="103755" y="1812262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5872FF95-D0B1-1E22-8815-547D07843D79}"/>
                </a:ext>
              </a:extLst>
            </p:cNvPr>
            <p:cNvCxnSpPr/>
            <p:nvPr/>
          </p:nvCxnSpPr>
          <p:spPr>
            <a:xfrm flipH="1">
              <a:off x="103755" y="1680878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4C59233E-6461-5D67-0763-598700D8C925}"/>
                </a:ext>
              </a:extLst>
            </p:cNvPr>
            <p:cNvCxnSpPr/>
            <p:nvPr/>
          </p:nvCxnSpPr>
          <p:spPr>
            <a:xfrm flipH="1">
              <a:off x="103755" y="1549495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139619B3-A09C-77D9-8B17-20417C6ABF8B}"/>
                </a:ext>
              </a:extLst>
            </p:cNvPr>
            <p:cNvCxnSpPr/>
            <p:nvPr/>
          </p:nvCxnSpPr>
          <p:spPr>
            <a:xfrm flipH="1">
              <a:off x="103755" y="1418112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B3DB91F3-3BD6-F98B-9E4B-C52E7B86C1B1}"/>
                </a:ext>
              </a:extLst>
            </p:cNvPr>
            <p:cNvCxnSpPr/>
            <p:nvPr/>
          </p:nvCxnSpPr>
          <p:spPr>
            <a:xfrm flipH="1">
              <a:off x="103755" y="1286728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690E852B-D1FE-A893-4BA0-893B0CF5B1DC}"/>
                </a:ext>
              </a:extLst>
            </p:cNvPr>
            <p:cNvCxnSpPr/>
            <p:nvPr/>
          </p:nvCxnSpPr>
          <p:spPr>
            <a:xfrm>
              <a:off x="1023438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688393CF-2E21-CF38-1333-4564E8CD8109}"/>
                </a:ext>
              </a:extLst>
            </p:cNvPr>
            <p:cNvCxnSpPr/>
            <p:nvPr/>
          </p:nvCxnSpPr>
          <p:spPr>
            <a:xfrm>
              <a:off x="892054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43DF3CE9-0434-A797-62A6-3B860BDC1ED2}"/>
                </a:ext>
              </a:extLst>
            </p:cNvPr>
            <p:cNvCxnSpPr/>
            <p:nvPr/>
          </p:nvCxnSpPr>
          <p:spPr>
            <a:xfrm>
              <a:off x="760671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8FBE6A34-EC6A-4F66-BFA0-C01CF835AF3D}"/>
                </a:ext>
              </a:extLst>
            </p:cNvPr>
            <p:cNvCxnSpPr/>
            <p:nvPr/>
          </p:nvCxnSpPr>
          <p:spPr>
            <a:xfrm>
              <a:off x="497905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88546E2B-9EC7-79DD-667F-038C03623E6C}"/>
                </a:ext>
              </a:extLst>
            </p:cNvPr>
            <p:cNvCxnSpPr/>
            <p:nvPr/>
          </p:nvCxnSpPr>
          <p:spPr>
            <a:xfrm>
              <a:off x="366521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DC1C6FA3-1CB5-1E2B-0473-E25CC96AFAFA}"/>
                </a:ext>
              </a:extLst>
            </p:cNvPr>
            <p:cNvCxnSpPr/>
            <p:nvPr/>
          </p:nvCxnSpPr>
          <p:spPr>
            <a:xfrm>
              <a:off x="235138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64CFDD4E-B50A-1730-7F0C-8B951EB6A1C8}"/>
                </a:ext>
              </a:extLst>
            </p:cNvPr>
            <p:cNvCxnSpPr/>
            <p:nvPr/>
          </p:nvCxnSpPr>
          <p:spPr>
            <a:xfrm>
              <a:off x="1680354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2FFF0C01-7C51-C1DB-323A-4A336CDEB0E6}"/>
                </a:ext>
              </a:extLst>
            </p:cNvPr>
            <p:cNvCxnSpPr/>
            <p:nvPr/>
          </p:nvCxnSpPr>
          <p:spPr>
            <a:xfrm>
              <a:off x="2074504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897BB8D5-1829-D34D-E88F-2280650F1F99}"/>
                </a:ext>
              </a:extLst>
            </p:cNvPr>
            <p:cNvCxnSpPr/>
            <p:nvPr/>
          </p:nvCxnSpPr>
          <p:spPr>
            <a:xfrm>
              <a:off x="1943121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B3873D00-8B17-3028-99B6-97EB5736895A}"/>
                </a:ext>
              </a:extLst>
            </p:cNvPr>
            <p:cNvCxnSpPr/>
            <p:nvPr/>
          </p:nvCxnSpPr>
          <p:spPr>
            <a:xfrm>
              <a:off x="1811738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78E0A0A5-9BD9-8A63-AD26-BCD4533A5600}"/>
                </a:ext>
              </a:extLst>
            </p:cNvPr>
            <p:cNvCxnSpPr/>
            <p:nvPr/>
          </p:nvCxnSpPr>
          <p:spPr>
            <a:xfrm>
              <a:off x="1548971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DD607914-0235-6EBB-D825-AC9A3265ECAD}"/>
                </a:ext>
              </a:extLst>
            </p:cNvPr>
            <p:cNvCxnSpPr/>
            <p:nvPr/>
          </p:nvCxnSpPr>
          <p:spPr>
            <a:xfrm>
              <a:off x="1417588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2498877-7F38-7B80-A21C-04E40327B675}"/>
                </a:ext>
              </a:extLst>
            </p:cNvPr>
            <p:cNvCxnSpPr/>
            <p:nvPr/>
          </p:nvCxnSpPr>
          <p:spPr>
            <a:xfrm>
              <a:off x="1286204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31153941-615B-51FF-0385-D9B7F74860AE}"/>
              </a:ext>
            </a:extLst>
          </p:cNvPr>
          <p:cNvGrpSpPr/>
          <p:nvPr/>
        </p:nvGrpSpPr>
        <p:grpSpPr>
          <a:xfrm>
            <a:off x="5727357" y="1873589"/>
            <a:ext cx="1760220" cy="1768185"/>
            <a:chOff x="0" y="0"/>
            <a:chExt cx="2320144" cy="2331720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EF9D2A2F-3590-01EA-E4F3-67BC75157EC2}"/>
                </a:ext>
              </a:extLst>
            </p:cNvPr>
            <p:cNvSpPr/>
            <p:nvPr/>
          </p:nvSpPr>
          <p:spPr>
            <a:xfrm>
              <a:off x="103755" y="104278"/>
              <a:ext cx="2102133" cy="2102133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32D1526E-6C7B-192F-BB77-B6CB35BDA5C7}"/>
                </a:ext>
              </a:extLst>
            </p:cNvPr>
            <p:cNvCxnSpPr/>
            <p:nvPr/>
          </p:nvCxnSpPr>
          <p:spPr>
            <a:xfrm flipH="1">
              <a:off x="103755" y="1023962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EE99E3C4-2977-5682-9C4E-284B3C14FB31}"/>
                </a:ext>
              </a:extLst>
            </p:cNvPr>
            <p:cNvCxnSpPr>
              <a:cxnSpLocks/>
            </p:cNvCxnSpPr>
            <p:nvPr/>
          </p:nvCxnSpPr>
          <p:spPr>
            <a:xfrm>
              <a:off x="1154822" y="0"/>
              <a:ext cx="0" cy="2331720"/>
            </a:xfrm>
            <a:prstGeom prst="line">
              <a:avLst/>
            </a:prstGeom>
            <a:ln w="12700">
              <a:solidFill>
                <a:schemeClr val="tx1"/>
              </a:solidFill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EA2C4858-BBC3-2252-F971-0BC13D893F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0" y="1155346"/>
              <a:ext cx="232014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D9411F58-AFCB-D78E-E82E-604860ADF22F}"/>
                </a:ext>
              </a:extLst>
            </p:cNvPr>
            <p:cNvCxnSpPr/>
            <p:nvPr/>
          </p:nvCxnSpPr>
          <p:spPr>
            <a:xfrm>
              <a:off x="629288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C3732CE7-A910-B19C-43BC-6C5ED48C9D37}"/>
                </a:ext>
              </a:extLst>
            </p:cNvPr>
            <p:cNvCxnSpPr/>
            <p:nvPr/>
          </p:nvCxnSpPr>
          <p:spPr>
            <a:xfrm flipH="1">
              <a:off x="103755" y="892578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94615867-B517-1237-19C7-52B2F0BDDAD3}"/>
                </a:ext>
              </a:extLst>
            </p:cNvPr>
            <p:cNvCxnSpPr/>
            <p:nvPr/>
          </p:nvCxnSpPr>
          <p:spPr>
            <a:xfrm flipH="1">
              <a:off x="103755" y="761195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448AB3BB-2F4E-82D8-1B1D-22706D8E4462}"/>
                </a:ext>
              </a:extLst>
            </p:cNvPr>
            <p:cNvCxnSpPr/>
            <p:nvPr/>
          </p:nvCxnSpPr>
          <p:spPr>
            <a:xfrm flipH="1">
              <a:off x="103755" y="629812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1C8FC2E3-6828-EB50-6249-26ADC9117DF7}"/>
                </a:ext>
              </a:extLst>
            </p:cNvPr>
            <p:cNvCxnSpPr/>
            <p:nvPr/>
          </p:nvCxnSpPr>
          <p:spPr>
            <a:xfrm flipH="1">
              <a:off x="103755" y="498428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B1B8F684-D839-4019-F3BE-63811ED61C75}"/>
                </a:ext>
              </a:extLst>
            </p:cNvPr>
            <p:cNvCxnSpPr/>
            <p:nvPr/>
          </p:nvCxnSpPr>
          <p:spPr>
            <a:xfrm flipH="1">
              <a:off x="103755" y="367045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315006D5-1C1E-C844-8890-00E9F6C570A7}"/>
                </a:ext>
              </a:extLst>
            </p:cNvPr>
            <p:cNvCxnSpPr/>
            <p:nvPr/>
          </p:nvCxnSpPr>
          <p:spPr>
            <a:xfrm flipH="1">
              <a:off x="103755" y="235662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D3759F40-519C-51DC-C5F0-0C8BFDC963DB}"/>
                </a:ext>
              </a:extLst>
            </p:cNvPr>
            <p:cNvCxnSpPr/>
            <p:nvPr/>
          </p:nvCxnSpPr>
          <p:spPr>
            <a:xfrm flipH="1">
              <a:off x="103755" y="2075028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114677AA-D0FC-B3E9-AA92-92957478CDA0}"/>
                </a:ext>
              </a:extLst>
            </p:cNvPr>
            <p:cNvCxnSpPr/>
            <p:nvPr/>
          </p:nvCxnSpPr>
          <p:spPr>
            <a:xfrm flipH="1">
              <a:off x="103755" y="1943645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B42CBE35-13A7-8F16-8CA6-3D8041A40EA2}"/>
                </a:ext>
              </a:extLst>
            </p:cNvPr>
            <p:cNvCxnSpPr/>
            <p:nvPr/>
          </p:nvCxnSpPr>
          <p:spPr>
            <a:xfrm flipH="1">
              <a:off x="103755" y="1812262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4FC4F0AE-54A4-CB70-BE42-6C8F61251116}"/>
                </a:ext>
              </a:extLst>
            </p:cNvPr>
            <p:cNvCxnSpPr/>
            <p:nvPr/>
          </p:nvCxnSpPr>
          <p:spPr>
            <a:xfrm flipH="1">
              <a:off x="103755" y="1680878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4827AFCC-2BA1-0A70-37F9-A09A74514C00}"/>
                </a:ext>
              </a:extLst>
            </p:cNvPr>
            <p:cNvCxnSpPr/>
            <p:nvPr/>
          </p:nvCxnSpPr>
          <p:spPr>
            <a:xfrm flipH="1">
              <a:off x="103755" y="1549495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B137043F-5F26-9837-E49A-4B1BE8DD6E0F}"/>
                </a:ext>
              </a:extLst>
            </p:cNvPr>
            <p:cNvCxnSpPr/>
            <p:nvPr/>
          </p:nvCxnSpPr>
          <p:spPr>
            <a:xfrm flipH="1">
              <a:off x="103755" y="1418112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9534D5E1-5B8B-FE71-0DEB-98B751362354}"/>
                </a:ext>
              </a:extLst>
            </p:cNvPr>
            <p:cNvCxnSpPr/>
            <p:nvPr/>
          </p:nvCxnSpPr>
          <p:spPr>
            <a:xfrm flipH="1">
              <a:off x="103755" y="1286728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F8718E03-876D-C6D2-DC2B-0E8767CE19A3}"/>
                </a:ext>
              </a:extLst>
            </p:cNvPr>
            <p:cNvCxnSpPr/>
            <p:nvPr/>
          </p:nvCxnSpPr>
          <p:spPr>
            <a:xfrm>
              <a:off x="1023438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AC73C71E-EFBE-536A-4949-7F7B792EA38E}"/>
                </a:ext>
              </a:extLst>
            </p:cNvPr>
            <p:cNvCxnSpPr/>
            <p:nvPr/>
          </p:nvCxnSpPr>
          <p:spPr>
            <a:xfrm>
              <a:off x="892054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2AF62CB0-BB99-D966-5C54-56F7192DE13F}"/>
                </a:ext>
              </a:extLst>
            </p:cNvPr>
            <p:cNvCxnSpPr/>
            <p:nvPr/>
          </p:nvCxnSpPr>
          <p:spPr>
            <a:xfrm>
              <a:off x="760671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4C3770BB-3491-CD78-EF33-CFFCEB6A51C5}"/>
                </a:ext>
              </a:extLst>
            </p:cNvPr>
            <p:cNvCxnSpPr/>
            <p:nvPr/>
          </p:nvCxnSpPr>
          <p:spPr>
            <a:xfrm>
              <a:off x="497905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EEAE070D-C74D-F370-8323-090F6140AC55}"/>
                </a:ext>
              </a:extLst>
            </p:cNvPr>
            <p:cNvCxnSpPr/>
            <p:nvPr/>
          </p:nvCxnSpPr>
          <p:spPr>
            <a:xfrm>
              <a:off x="366521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27034E5F-59D7-A57F-CB4E-17E900987996}"/>
                </a:ext>
              </a:extLst>
            </p:cNvPr>
            <p:cNvCxnSpPr/>
            <p:nvPr/>
          </p:nvCxnSpPr>
          <p:spPr>
            <a:xfrm>
              <a:off x="235138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BDFCB82F-E3FA-C01F-5F91-D5C677132C70}"/>
                </a:ext>
              </a:extLst>
            </p:cNvPr>
            <p:cNvCxnSpPr/>
            <p:nvPr/>
          </p:nvCxnSpPr>
          <p:spPr>
            <a:xfrm>
              <a:off x="1680354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32B4205C-FF10-747F-4E04-02426CB2C468}"/>
                </a:ext>
              </a:extLst>
            </p:cNvPr>
            <p:cNvCxnSpPr/>
            <p:nvPr/>
          </p:nvCxnSpPr>
          <p:spPr>
            <a:xfrm>
              <a:off x="2074504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399E98E4-0160-D99D-2FEF-AF5BB6BCB2CB}"/>
                </a:ext>
              </a:extLst>
            </p:cNvPr>
            <p:cNvCxnSpPr/>
            <p:nvPr/>
          </p:nvCxnSpPr>
          <p:spPr>
            <a:xfrm>
              <a:off x="1943121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7C361901-77A4-6E4E-6639-22F731FF0392}"/>
                </a:ext>
              </a:extLst>
            </p:cNvPr>
            <p:cNvCxnSpPr/>
            <p:nvPr/>
          </p:nvCxnSpPr>
          <p:spPr>
            <a:xfrm>
              <a:off x="1811738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63DD611B-B0FB-5F16-4D03-2A6BB0A03B9F}"/>
                </a:ext>
              </a:extLst>
            </p:cNvPr>
            <p:cNvCxnSpPr/>
            <p:nvPr/>
          </p:nvCxnSpPr>
          <p:spPr>
            <a:xfrm>
              <a:off x="1548971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AF232B71-8BF5-FAFA-5B1F-1809C855947D}"/>
                </a:ext>
              </a:extLst>
            </p:cNvPr>
            <p:cNvCxnSpPr/>
            <p:nvPr/>
          </p:nvCxnSpPr>
          <p:spPr>
            <a:xfrm>
              <a:off x="1417588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C9D3D859-46A1-3B85-6344-E82030567631}"/>
                </a:ext>
              </a:extLst>
            </p:cNvPr>
            <p:cNvCxnSpPr/>
            <p:nvPr/>
          </p:nvCxnSpPr>
          <p:spPr>
            <a:xfrm>
              <a:off x="1286204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7" name="Rectangle 176">
            <a:extLst>
              <a:ext uri="{FF2B5EF4-FFF2-40B4-BE49-F238E27FC236}">
                <a16:creationId xmlns:a16="http://schemas.microsoft.com/office/drawing/2014/main" id="{4F96FEF8-4A4F-0059-D937-DEACD5FAF916}"/>
              </a:ext>
            </a:extLst>
          </p:cNvPr>
          <p:cNvSpPr/>
          <p:nvPr/>
        </p:nvSpPr>
        <p:spPr>
          <a:xfrm>
            <a:off x="627530" y="5313598"/>
            <a:ext cx="3886200" cy="67576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70000"/>
              </a:lnSpc>
            </a:pPr>
            <a:r>
              <a:rPr lang="en-US" sz="1000" b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Standard Form:</a:t>
            </a:r>
            <a:r>
              <a:rPr lang="en-US" sz="1200" b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____________________________</a:t>
            </a:r>
            <a:endParaRPr lang="en-US" sz="1200" dirty="0"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r>
              <a:rPr lang="en-US" sz="1000" b="1" dirty="0">
                <a:latin typeface="Century Gothic" panose="020B0502020202020204" pitchFamily="34" charset="0"/>
                <a:ea typeface="Calibri" panose="020F0502020204030204" pitchFamily="34" charset="0"/>
              </a:rPr>
              <a:t>Center:</a:t>
            </a:r>
            <a:r>
              <a:rPr lang="en-US" sz="1200" b="1" dirty="0">
                <a:latin typeface="Century Gothic" panose="020B0502020202020204" pitchFamily="34" charset="0"/>
                <a:ea typeface="Calibri" panose="020F0502020204030204" pitchFamily="34" charset="0"/>
              </a:rPr>
              <a:t> </a:t>
            </a:r>
            <a:r>
              <a:rPr lang="en-US" sz="1000" dirty="0">
                <a:latin typeface="Century Gothic" panose="020B0502020202020204" pitchFamily="34" charset="0"/>
                <a:ea typeface="Calibri" panose="020F0502020204030204" pitchFamily="34" charset="0"/>
              </a:rPr>
              <a:t>_______________</a:t>
            </a:r>
            <a:r>
              <a:rPr lang="en-US" sz="1200" dirty="0">
                <a:latin typeface="Century Gothic" panose="020B0502020202020204" pitchFamily="34" charset="0"/>
                <a:ea typeface="Calibri" panose="020F0502020204030204" pitchFamily="34" charset="0"/>
              </a:rPr>
              <a:t>; </a:t>
            </a:r>
            <a:r>
              <a:rPr lang="en-US" sz="1000" b="1" dirty="0">
                <a:latin typeface="Century Gothic" panose="020B0502020202020204" pitchFamily="34" charset="0"/>
                <a:ea typeface="Calibri" panose="020F0502020204030204" pitchFamily="34" charset="0"/>
              </a:rPr>
              <a:t>Radius:</a:t>
            </a:r>
            <a:r>
              <a:rPr lang="en-US" sz="1200" dirty="0">
                <a:latin typeface="Century Gothic" panose="020B0502020202020204" pitchFamily="34" charset="0"/>
                <a:ea typeface="Calibri" panose="020F0502020204030204" pitchFamily="34" charset="0"/>
              </a:rPr>
              <a:t> </a:t>
            </a:r>
            <a:r>
              <a:rPr lang="en-US" sz="1000" dirty="0">
                <a:latin typeface="Century Gothic" panose="020B0502020202020204" pitchFamily="34" charset="0"/>
                <a:ea typeface="Calibri" panose="020F0502020204030204" pitchFamily="34" charset="0"/>
              </a:rPr>
              <a:t>___________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7BEA10CD-EEB9-37C5-6199-68FAAFA36381}"/>
              </a:ext>
            </a:extLst>
          </p:cNvPr>
          <p:cNvSpPr/>
          <p:nvPr/>
        </p:nvSpPr>
        <p:spPr>
          <a:xfrm>
            <a:off x="476744" y="9244132"/>
            <a:ext cx="331372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tabLst>
                <a:tab pos="3018155" algn="l"/>
              </a:tabLst>
            </a:pPr>
            <a:r>
              <a:rPr lang="en-US" sz="1000" b="1" spc="-5" dirty="0">
                <a:latin typeface="Century Gothic" panose="020B0502020202020204" pitchFamily="34" charset="0"/>
                <a:cs typeface="Tahoma"/>
              </a:rPr>
              <a:t>Standard</a:t>
            </a:r>
            <a:r>
              <a:rPr lang="en-US" sz="1000" b="1" spc="-60" dirty="0">
                <a:latin typeface="Century Gothic" panose="020B0502020202020204" pitchFamily="34" charset="0"/>
                <a:cs typeface="Tahoma"/>
              </a:rPr>
              <a:t> </a:t>
            </a:r>
            <a:r>
              <a:rPr lang="en-US" sz="1000" b="1" spc="-5" dirty="0">
                <a:latin typeface="Century Gothic" panose="020B0502020202020204" pitchFamily="34" charset="0"/>
                <a:cs typeface="Tahoma"/>
              </a:rPr>
              <a:t>Form: </a:t>
            </a:r>
            <a:r>
              <a:rPr lang="en-US" sz="1000" spc="-5" dirty="0">
                <a:latin typeface="Century Gothic" panose="020B0502020202020204" pitchFamily="34" charset="0"/>
                <a:cs typeface="Tahoma"/>
              </a:rPr>
              <a:t>_________________________________</a:t>
            </a:r>
            <a:endParaRPr lang="en-US" sz="1000" dirty="0">
              <a:latin typeface="Century Gothic" panose="020B0502020202020204" pitchFamily="34" charset="0"/>
              <a:cs typeface="Times New Roman"/>
            </a:endParaRP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D746C868-6C7D-AC5D-AABE-A2AA9F8A126B}"/>
              </a:ext>
            </a:extLst>
          </p:cNvPr>
          <p:cNvSpPr/>
          <p:nvPr/>
        </p:nvSpPr>
        <p:spPr>
          <a:xfrm>
            <a:off x="3790472" y="9244132"/>
            <a:ext cx="331372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tabLst>
                <a:tab pos="3018155" algn="l"/>
              </a:tabLst>
            </a:pPr>
            <a:r>
              <a:rPr lang="en-US" sz="1000" b="1" spc="-5" dirty="0">
                <a:latin typeface="Century Gothic" panose="020B0502020202020204" pitchFamily="34" charset="0"/>
                <a:cs typeface="Tahoma"/>
              </a:rPr>
              <a:t>Standard</a:t>
            </a:r>
            <a:r>
              <a:rPr lang="en-US" sz="1000" b="1" spc="-60" dirty="0">
                <a:latin typeface="Century Gothic" panose="020B0502020202020204" pitchFamily="34" charset="0"/>
                <a:cs typeface="Tahoma"/>
              </a:rPr>
              <a:t> </a:t>
            </a:r>
            <a:r>
              <a:rPr lang="en-US" sz="1000" b="1" spc="-5" dirty="0">
                <a:latin typeface="Century Gothic" panose="020B0502020202020204" pitchFamily="34" charset="0"/>
                <a:cs typeface="Tahoma"/>
              </a:rPr>
              <a:t>Form: </a:t>
            </a:r>
            <a:r>
              <a:rPr lang="en-US" sz="1000" spc="-5" dirty="0">
                <a:latin typeface="Century Gothic" panose="020B0502020202020204" pitchFamily="34" charset="0"/>
                <a:cs typeface="Tahoma"/>
              </a:rPr>
              <a:t>_________________________________</a:t>
            </a:r>
            <a:endParaRPr lang="en-US" sz="1000" dirty="0">
              <a:latin typeface="Century Gothic" panose="020B0502020202020204" pitchFamily="34" charset="0"/>
              <a:cs typeface="Times New Roman"/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F2710BF6-08EC-EFE3-8159-09367849F628}"/>
              </a:ext>
            </a:extLst>
          </p:cNvPr>
          <p:cNvSpPr/>
          <p:nvPr/>
        </p:nvSpPr>
        <p:spPr>
          <a:xfrm>
            <a:off x="484585" y="7262466"/>
            <a:ext cx="331372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tabLst>
                <a:tab pos="3018155" algn="l"/>
              </a:tabLst>
            </a:pPr>
            <a:r>
              <a:rPr lang="en-US" sz="1000" b="1" spc="-5" dirty="0">
                <a:latin typeface="Century Gothic" panose="020B0502020202020204" pitchFamily="34" charset="0"/>
                <a:cs typeface="Tahoma"/>
              </a:rPr>
              <a:t>Standard</a:t>
            </a:r>
            <a:r>
              <a:rPr lang="en-US" sz="1000" b="1" spc="-60" dirty="0">
                <a:latin typeface="Century Gothic" panose="020B0502020202020204" pitchFamily="34" charset="0"/>
                <a:cs typeface="Tahoma"/>
              </a:rPr>
              <a:t> </a:t>
            </a:r>
            <a:r>
              <a:rPr lang="en-US" sz="1000" b="1" spc="-5" dirty="0">
                <a:latin typeface="Century Gothic" panose="020B0502020202020204" pitchFamily="34" charset="0"/>
                <a:cs typeface="Tahoma"/>
              </a:rPr>
              <a:t>Form: </a:t>
            </a:r>
            <a:r>
              <a:rPr lang="en-US" sz="1000" spc="-5" dirty="0">
                <a:latin typeface="Century Gothic" panose="020B0502020202020204" pitchFamily="34" charset="0"/>
                <a:cs typeface="Tahoma"/>
              </a:rPr>
              <a:t>_________________________________</a:t>
            </a:r>
            <a:endParaRPr lang="en-US" sz="1000" dirty="0">
              <a:latin typeface="Century Gothic" panose="020B0502020202020204" pitchFamily="34" charset="0"/>
              <a:cs typeface="Times New Roman"/>
            </a:endParaRP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4C39601B-AEAB-A90A-85D0-F82643CA2160}"/>
              </a:ext>
            </a:extLst>
          </p:cNvPr>
          <p:cNvSpPr/>
          <p:nvPr/>
        </p:nvSpPr>
        <p:spPr>
          <a:xfrm>
            <a:off x="3798313" y="7262466"/>
            <a:ext cx="331372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tabLst>
                <a:tab pos="3018155" algn="l"/>
              </a:tabLst>
            </a:pPr>
            <a:r>
              <a:rPr lang="en-US" sz="1000" b="1" spc="-5" dirty="0">
                <a:latin typeface="Century Gothic" panose="020B0502020202020204" pitchFamily="34" charset="0"/>
                <a:cs typeface="Tahoma"/>
              </a:rPr>
              <a:t>Standard</a:t>
            </a:r>
            <a:r>
              <a:rPr lang="en-US" sz="1000" b="1" spc="-60" dirty="0">
                <a:latin typeface="Century Gothic" panose="020B0502020202020204" pitchFamily="34" charset="0"/>
                <a:cs typeface="Tahoma"/>
              </a:rPr>
              <a:t> </a:t>
            </a:r>
            <a:r>
              <a:rPr lang="en-US" sz="1000" b="1" spc="-5" dirty="0">
                <a:latin typeface="Century Gothic" panose="020B0502020202020204" pitchFamily="34" charset="0"/>
                <a:cs typeface="Tahoma"/>
              </a:rPr>
              <a:t>Form: </a:t>
            </a:r>
            <a:r>
              <a:rPr lang="en-US" sz="1000" spc="-5" dirty="0">
                <a:latin typeface="Century Gothic" panose="020B0502020202020204" pitchFamily="34" charset="0"/>
                <a:cs typeface="Tahoma"/>
              </a:rPr>
              <a:t>_________________________________</a:t>
            </a:r>
            <a:endParaRPr lang="en-US" sz="1000" dirty="0">
              <a:latin typeface="Century Gothic" panose="020B0502020202020204" pitchFamily="34" charset="0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590D8F4F-D3D1-5470-F788-1643FD00E673}"/>
              </a:ext>
            </a:extLst>
          </p:cNvPr>
          <p:cNvSpPr txBox="1"/>
          <p:nvPr/>
        </p:nvSpPr>
        <p:spPr>
          <a:xfrm>
            <a:off x="490219" y="792988"/>
            <a:ext cx="159385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spc="5" dirty="0">
                <a:latin typeface="Century Gothic" panose="020B0502020202020204" pitchFamily="34" charset="0"/>
                <a:cs typeface="Tahoma"/>
              </a:rPr>
              <a:t>9</a:t>
            </a:r>
            <a:r>
              <a:rPr sz="1100" b="1" dirty="0">
                <a:latin typeface="Century Gothic" panose="020B0502020202020204" pitchFamily="34" charset="0"/>
                <a:cs typeface="Tahoma"/>
              </a:rPr>
              <a:t>.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12" name="object 7">
            <a:extLst>
              <a:ext uri="{FF2B5EF4-FFF2-40B4-BE49-F238E27FC236}">
                <a16:creationId xmlns:a16="http://schemas.microsoft.com/office/drawing/2014/main" id="{D5AE82C6-FFD3-609B-2A81-36684B6C51E2}"/>
              </a:ext>
            </a:extLst>
          </p:cNvPr>
          <p:cNvSpPr txBox="1"/>
          <p:nvPr/>
        </p:nvSpPr>
        <p:spPr>
          <a:xfrm>
            <a:off x="3896360" y="792988"/>
            <a:ext cx="24765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spc="5" dirty="0">
                <a:latin typeface="Century Gothic" panose="020B0502020202020204" pitchFamily="34" charset="0"/>
                <a:cs typeface="Tahoma"/>
              </a:rPr>
              <a:t>1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0</a:t>
            </a:r>
            <a:r>
              <a:rPr sz="1100" b="1" dirty="0">
                <a:latin typeface="Century Gothic" panose="020B0502020202020204" pitchFamily="34" charset="0"/>
                <a:cs typeface="Tahoma"/>
              </a:rPr>
              <a:t>.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13" name="object 32">
            <a:extLst>
              <a:ext uri="{FF2B5EF4-FFF2-40B4-BE49-F238E27FC236}">
                <a16:creationId xmlns:a16="http://schemas.microsoft.com/office/drawing/2014/main" id="{EEE68E3A-C52E-C72F-399F-C54E0B1C1682}"/>
              </a:ext>
            </a:extLst>
          </p:cNvPr>
          <p:cNvSpPr txBox="1"/>
          <p:nvPr/>
        </p:nvSpPr>
        <p:spPr>
          <a:xfrm>
            <a:off x="3896360" y="7436473"/>
            <a:ext cx="1967864" cy="349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9405" marR="5080" indent="-307340">
              <a:lnSpc>
                <a:spcPct val="100000"/>
              </a:lnSpc>
            </a:pPr>
            <a:r>
              <a:rPr sz="1100" b="1" dirty="0">
                <a:latin typeface="Century Gothic" panose="020B0502020202020204" pitchFamily="34" charset="0"/>
                <a:cs typeface="Tahoma"/>
              </a:rPr>
              <a:t>14.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Vertices: </a:t>
            </a:r>
            <a:r>
              <a:rPr sz="11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-3, 4</a:t>
            </a:r>
            <a:r>
              <a:rPr sz="11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 and </a:t>
            </a:r>
            <a:r>
              <a:rPr sz="11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5, 4</a:t>
            </a:r>
            <a:r>
              <a:rPr sz="11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  Foci: </a:t>
            </a:r>
            <a:r>
              <a:rPr sz="11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-1, 4</a:t>
            </a:r>
            <a:r>
              <a:rPr sz="11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 and </a:t>
            </a:r>
            <a:r>
              <a:rPr sz="11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3,</a:t>
            </a:r>
            <a:r>
              <a:rPr sz="1100" spc="-1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4</a:t>
            </a:r>
            <a:r>
              <a:rPr sz="11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object 131">
            <a:extLst>
              <a:ext uri="{FF2B5EF4-FFF2-40B4-BE49-F238E27FC236}">
                <a16:creationId xmlns:a16="http://schemas.microsoft.com/office/drawing/2014/main" id="{EA3FDD95-8E65-0C54-867D-D977FD7E2959}"/>
              </a:ext>
            </a:extLst>
          </p:cNvPr>
          <p:cNvSpPr txBox="1"/>
          <p:nvPr/>
        </p:nvSpPr>
        <p:spPr>
          <a:xfrm>
            <a:off x="490220" y="7436473"/>
            <a:ext cx="2329179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dirty="0">
                <a:latin typeface="Century Gothic" panose="020B0502020202020204" pitchFamily="34" charset="0"/>
                <a:cs typeface="Tahoma"/>
              </a:rPr>
              <a:t>13. 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Vertices: </a:t>
            </a:r>
            <a:r>
              <a:rPr sz="11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2, 1</a:t>
            </a:r>
            <a:r>
              <a:rPr sz="11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 and </a:t>
            </a:r>
            <a:r>
              <a:rPr sz="11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2,</a:t>
            </a:r>
            <a:r>
              <a:rPr sz="1100" spc="-10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7</a:t>
            </a:r>
            <a:r>
              <a:rPr sz="11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20675">
              <a:lnSpc>
                <a:spcPct val="100000"/>
              </a:lnSpc>
            </a:pPr>
            <a:r>
              <a:rPr sz="1100" spc="-5" dirty="0">
                <a:latin typeface="Century Gothic" panose="020B0502020202020204" pitchFamily="34" charset="0"/>
                <a:cs typeface="Tahoma"/>
              </a:rPr>
              <a:t>Co-Vertices: </a:t>
            </a:r>
            <a:r>
              <a:rPr sz="11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0, 4</a:t>
            </a:r>
            <a:r>
              <a:rPr sz="11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spc="-10" dirty="0">
                <a:latin typeface="Century Gothic" panose="020B0502020202020204" pitchFamily="34" charset="0"/>
                <a:cs typeface="Tahoma"/>
              </a:rPr>
              <a:t>and </a:t>
            </a:r>
            <a:r>
              <a:rPr sz="11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4,</a:t>
            </a:r>
            <a:r>
              <a:rPr sz="1100" spc="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4</a:t>
            </a:r>
            <a:r>
              <a:rPr sz="11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CFB9FF-BC58-C049-1718-75F1FA0A8210}"/>
              </a:ext>
            </a:extLst>
          </p:cNvPr>
          <p:cNvSpPr/>
          <p:nvPr/>
        </p:nvSpPr>
        <p:spPr>
          <a:xfrm>
            <a:off x="415555" y="374281"/>
            <a:ext cx="62865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Graph each ellipse.  Identify the center, vertices, co-vertices, and foci.</a:t>
            </a:r>
            <a:endParaRPr lang="en-US" sz="1100" b="1" dirty="0">
              <a:latin typeface="Century Gothic" panose="020B0502020202020204" pitchFamily="34" charset="0"/>
            </a:endParaRPr>
          </a:p>
        </p:txBody>
      </p:sp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1DA6D0B7-FA0F-0300-1A51-D9AA3DC179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679450"/>
          <a:ext cx="698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98400" imgH="393480" progId="Equation.DSMT4">
                  <p:embed/>
                </p:oleObj>
              </mc:Choice>
              <mc:Fallback>
                <p:oleObj name="Equation" r:id="rId3" imgW="698400" imgH="393480" progId="Equation.DSMT4">
                  <p:embed/>
                  <p:pic>
                    <p:nvPicPr>
                      <p:cNvPr id="135" name="Object 134">
                        <a:extLst>
                          <a:ext uri="{FF2B5EF4-FFF2-40B4-BE49-F238E27FC236}">
                            <a16:creationId xmlns:a16="http://schemas.microsoft.com/office/drawing/2014/main" id="{1DA6D0B7-FA0F-0300-1A51-D9AA3DC179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5800" y="679450"/>
                        <a:ext cx="6985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599FBB3A-E613-68AF-3073-5CF4102FB3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03481" y="679450"/>
          <a:ext cx="1333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33440" imgH="393480" progId="Equation.DSMT4">
                  <p:embed/>
                </p:oleObj>
              </mc:Choice>
              <mc:Fallback>
                <p:oleObj name="Equation" r:id="rId5" imgW="1333440" imgH="393480" progId="Equation.DSMT4">
                  <p:embed/>
                  <p:pic>
                    <p:nvPicPr>
                      <p:cNvPr id="136" name="Object 135">
                        <a:extLst>
                          <a:ext uri="{FF2B5EF4-FFF2-40B4-BE49-F238E27FC236}">
                            <a16:creationId xmlns:a16="http://schemas.microsoft.com/office/drawing/2014/main" id="{599FBB3A-E613-68AF-3073-5CF4102FB3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03481" y="679450"/>
                        <a:ext cx="13335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AFFA6F7D-8255-5CB4-A51E-B5FBEEAC2F3E}"/>
              </a:ext>
            </a:extLst>
          </p:cNvPr>
          <p:cNvSpPr/>
          <p:nvPr/>
        </p:nvSpPr>
        <p:spPr>
          <a:xfrm>
            <a:off x="407895" y="3706905"/>
            <a:ext cx="65913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Write the equation of the ellipse in standard form.  Identify all characteristics.</a:t>
            </a:r>
            <a:endParaRPr lang="en-US" sz="1100" b="1" dirty="0">
              <a:latin typeface="Century Gothic" panose="020B0502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DC23DB-CD14-BEB8-7AC5-0C68BBD16EF0}"/>
              </a:ext>
            </a:extLst>
          </p:cNvPr>
          <p:cNvSpPr/>
          <p:nvPr/>
        </p:nvSpPr>
        <p:spPr>
          <a:xfrm>
            <a:off x="398930" y="3962400"/>
            <a:ext cx="40107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latin typeface="Century Gothic" panose="020B0502020202020204" pitchFamily="34" charset="0"/>
                <a:ea typeface="Calibri" panose="020F0502020204030204" pitchFamily="34" charset="0"/>
              </a:rPr>
              <a:t>11.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88D96DA-11E2-B284-5C7F-2045962ECB76}"/>
              </a:ext>
            </a:extLst>
          </p:cNvPr>
          <p:cNvSpPr/>
          <p:nvPr/>
        </p:nvSpPr>
        <p:spPr>
          <a:xfrm>
            <a:off x="3810000" y="3962400"/>
            <a:ext cx="40107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latin typeface="Century Gothic" panose="020B0502020202020204" pitchFamily="34" charset="0"/>
                <a:ea typeface="Calibri" panose="020F0502020204030204" pitchFamily="34" charset="0"/>
              </a:rPr>
              <a:t>12.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21" name="Object 20">
            <a:extLst>
              <a:ext uri="{FF2B5EF4-FFF2-40B4-BE49-F238E27FC236}">
                <a16:creationId xmlns:a16="http://schemas.microsoft.com/office/drawing/2014/main" id="{777AAE69-4085-AFC3-0AAB-C0E6E82DF9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9775" y="3992563"/>
          <a:ext cx="1079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79280" imgH="228600" progId="Equation.DSMT4">
                  <p:embed/>
                </p:oleObj>
              </mc:Choice>
              <mc:Fallback>
                <p:oleObj name="Equation" r:id="rId7" imgW="1079280" imgH="228600" progId="Equation.DSMT4">
                  <p:embed/>
                  <p:pic>
                    <p:nvPicPr>
                      <p:cNvPr id="145" name="Object 144">
                        <a:extLst>
                          <a:ext uri="{FF2B5EF4-FFF2-40B4-BE49-F238E27FC236}">
                            <a16:creationId xmlns:a16="http://schemas.microsoft.com/office/drawing/2014/main" id="{777AAE69-4085-AFC3-0AAB-C0E6E82DF9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39775" y="3992563"/>
                        <a:ext cx="1079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>
            <a:extLst>
              <a:ext uri="{FF2B5EF4-FFF2-40B4-BE49-F238E27FC236}">
                <a16:creationId xmlns:a16="http://schemas.microsoft.com/office/drawing/2014/main" id="{7DA2DBB1-8373-E3C5-43D6-1EA61FC633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81547" y="3988929"/>
          <a:ext cx="1346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46040" imgH="228600" progId="Equation.DSMT4">
                  <p:embed/>
                </p:oleObj>
              </mc:Choice>
              <mc:Fallback>
                <p:oleObj name="Equation" r:id="rId9" imgW="1346040" imgH="228600" progId="Equation.DSMT4">
                  <p:embed/>
                  <p:pic>
                    <p:nvPicPr>
                      <p:cNvPr id="146" name="Object 145">
                        <a:extLst>
                          <a:ext uri="{FF2B5EF4-FFF2-40B4-BE49-F238E27FC236}">
                            <a16:creationId xmlns:a16="http://schemas.microsoft.com/office/drawing/2014/main" id="{7DA2DBB1-8373-E3C5-43D6-1EA61FC633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181547" y="3988929"/>
                        <a:ext cx="13462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22">
            <a:extLst>
              <a:ext uri="{FF2B5EF4-FFF2-40B4-BE49-F238E27FC236}">
                <a16:creationId xmlns:a16="http://schemas.microsoft.com/office/drawing/2014/main" id="{F5F4D9C3-59DA-460E-674E-73279C1B1E80}"/>
              </a:ext>
            </a:extLst>
          </p:cNvPr>
          <p:cNvSpPr/>
          <p:nvPr/>
        </p:nvSpPr>
        <p:spPr>
          <a:xfrm>
            <a:off x="407895" y="7147529"/>
            <a:ext cx="68199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Write the equation of the ellipse in standard form with the given characteristics.</a:t>
            </a:r>
            <a:endParaRPr lang="en-US" sz="1100" b="1" dirty="0">
              <a:latin typeface="Century Gothic" panose="020B0502020202020204" pitchFamily="34" charset="0"/>
            </a:endParaRPr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A4FA972F-D125-D76F-D9A6-930F5D307F01}"/>
              </a:ext>
            </a:extLst>
          </p:cNvPr>
          <p:cNvSpPr txBox="1"/>
          <p:nvPr/>
        </p:nvSpPr>
        <p:spPr>
          <a:xfrm>
            <a:off x="599347" y="2422344"/>
            <a:ext cx="3240471" cy="1183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200000"/>
              </a:lnSpc>
              <a:tabLst>
                <a:tab pos="1499870" algn="l"/>
              </a:tabLst>
            </a:pPr>
            <a:r>
              <a:rPr sz="1000" b="1" spc="-5" dirty="0">
                <a:latin typeface="Century Gothic" panose="020B0502020202020204" pitchFamily="34" charset="0"/>
                <a:cs typeface="Tahoma"/>
              </a:rPr>
              <a:t>Center</a:t>
            </a:r>
            <a:r>
              <a:rPr lang="en-US" sz="1000" b="1" spc="-5" dirty="0">
                <a:latin typeface="Century Gothic" panose="020B0502020202020204" pitchFamily="34" charset="0"/>
                <a:cs typeface="Tahoma"/>
              </a:rPr>
              <a:t> </a:t>
            </a:r>
            <a:r>
              <a:rPr lang="en-US" sz="1000" spc="-5" dirty="0">
                <a:latin typeface="Century Gothic" panose="020B0502020202020204" pitchFamily="34" charset="0"/>
                <a:cs typeface="Tahoma"/>
              </a:rPr>
              <a:t>_________________</a:t>
            </a:r>
          </a:p>
          <a:p>
            <a:pPr marL="12700">
              <a:lnSpc>
                <a:spcPct val="200000"/>
              </a:lnSpc>
              <a:tabLst>
                <a:tab pos="1499870" algn="l"/>
              </a:tabLst>
            </a:pPr>
            <a:r>
              <a:rPr lang="en-US" sz="1000" b="1" spc="-5" dirty="0">
                <a:latin typeface="Century Gothic" panose="020B0502020202020204" pitchFamily="34" charset="0"/>
                <a:cs typeface="Tahoma"/>
              </a:rPr>
              <a:t>Vertices: </a:t>
            </a:r>
            <a:r>
              <a:rPr lang="en-US" sz="1000" spc="-5" dirty="0">
                <a:latin typeface="Century Gothic" panose="020B0502020202020204" pitchFamily="34" charset="0"/>
                <a:cs typeface="Tahoma"/>
              </a:rPr>
              <a:t>_______________________________________</a:t>
            </a:r>
            <a:br>
              <a:rPr lang="en-US" sz="1000" b="1" spc="-5" dirty="0">
                <a:latin typeface="Century Gothic" panose="020B0502020202020204" pitchFamily="34" charset="0"/>
                <a:cs typeface="Tahoma"/>
              </a:rPr>
            </a:br>
            <a:r>
              <a:rPr lang="en-US" sz="1000" b="1" spc="-5" dirty="0">
                <a:latin typeface="Century Gothic" panose="020B0502020202020204" pitchFamily="34" charset="0"/>
                <a:cs typeface="Tahoma"/>
              </a:rPr>
              <a:t>Co-Vertices: </a:t>
            </a:r>
            <a:r>
              <a:rPr lang="en-US" sz="1000" spc="-5" dirty="0">
                <a:latin typeface="Century Gothic" panose="020B0502020202020204" pitchFamily="34" charset="0"/>
                <a:cs typeface="Tahoma"/>
              </a:rPr>
              <a:t>____________________________________</a:t>
            </a:r>
            <a:endParaRPr lang="en-US" sz="1000" b="1" spc="-5" dirty="0">
              <a:latin typeface="Century Gothic" panose="020B0502020202020204" pitchFamily="34" charset="0"/>
              <a:cs typeface="Tahoma"/>
            </a:endParaRPr>
          </a:p>
          <a:p>
            <a:pPr marL="12700">
              <a:lnSpc>
                <a:spcPct val="200000"/>
              </a:lnSpc>
              <a:tabLst>
                <a:tab pos="1499870" algn="l"/>
              </a:tabLst>
            </a:pPr>
            <a:r>
              <a:rPr lang="en-US" sz="1000" b="1" spc="-5" dirty="0">
                <a:latin typeface="Century Gothic" panose="020B0502020202020204" pitchFamily="34" charset="0"/>
                <a:cs typeface="Tahoma"/>
              </a:rPr>
              <a:t>Foci: </a:t>
            </a:r>
            <a:r>
              <a:rPr lang="en-US" sz="1000" spc="-5" dirty="0">
                <a:latin typeface="Century Gothic" panose="020B0502020202020204" pitchFamily="34" charset="0"/>
                <a:cs typeface="Tahoma"/>
              </a:rPr>
              <a:t>___________________________________________</a:t>
            </a:r>
            <a:endParaRPr sz="1000" b="1" dirty="0">
              <a:latin typeface="Times New Roman"/>
              <a:cs typeface="Times New Roman"/>
            </a:endParaRPr>
          </a:p>
        </p:txBody>
      </p:sp>
      <p:sp>
        <p:nvSpPr>
          <p:cNvPr id="25" name="object 14">
            <a:extLst>
              <a:ext uri="{FF2B5EF4-FFF2-40B4-BE49-F238E27FC236}">
                <a16:creationId xmlns:a16="http://schemas.microsoft.com/office/drawing/2014/main" id="{CDA345F1-76B2-EECD-1E47-7A16456B329F}"/>
              </a:ext>
            </a:extLst>
          </p:cNvPr>
          <p:cNvSpPr txBox="1"/>
          <p:nvPr/>
        </p:nvSpPr>
        <p:spPr>
          <a:xfrm>
            <a:off x="4220818" y="2422344"/>
            <a:ext cx="3240471" cy="1183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200000"/>
              </a:lnSpc>
              <a:tabLst>
                <a:tab pos="1499870" algn="l"/>
              </a:tabLst>
            </a:pPr>
            <a:r>
              <a:rPr sz="1000" b="1" spc="-5" dirty="0">
                <a:latin typeface="Century Gothic" panose="020B0502020202020204" pitchFamily="34" charset="0"/>
                <a:cs typeface="Tahoma"/>
              </a:rPr>
              <a:t>Center</a:t>
            </a:r>
            <a:r>
              <a:rPr lang="en-US" sz="1000" b="1" spc="-5" dirty="0">
                <a:latin typeface="Century Gothic" panose="020B0502020202020204" pitchFamily="34" charset="0"/>
                <a:cs typeface="Tahoma"/>
              </a:rPr>
              <a:t> </a:t>
            </a:r>
            <a:r>
              <a:rPr lang="en-US" sz="1000" spc="-5" dirty="0">
                <a:latin typeface="Century Gothic" panose="020B0502020202020204" pitchFamily="34" charset="0"/>
                <a:cs typeface="Tahoma"/>
              </a:rPr>
              <a:t>_________________</a:t>
            </a:r>
          </a:p>
          <a:p>
            <a:pPr marL="12700">
              <a:lnSpc>
                <a:spcPct val="200000"/>
              </a:lnSpc>
              <a:tabLst>
                <a:tab pos="1499870" algn="l"/>
              </a:tabLst>
            </a:pPr>
            <a:r>
              <a:rPr lang="en-US" sz="1000" b="1" spc="-5" dirty="0">
                <a:latin typeface="Century Gothic" panose="020B0502020202020204" pitchFamily="34" charset="0"/>
                <a:cs typeface="Tahoma"/>
              </a:rPr>
              <a:t>Vertices: </a:t>
            </a:r>
            <a:r>
              <a:rPr lang="en-US" sz="1000" spc="-5" dirty="0">
                <a:latin typeface="Century Gothic" panose="020B0502020202020204" pitchFamily="34" charset="0"/>
                <a:cs typeface="Tahoma"/>
              </a:rPr>
              <a:t>_______________________________________</a:t>
            </a:r>
            <a:br>
              <a:rPr lang="en-US" sz="1000" b="1" spc="-5" dirty="0">
                <a:latin typeface="Century Gothic" panose="020B0502020202020204" pitchFamily="34" charset="0"/>
                <a:cs typeface="Tahoma"/>
              </a:rPr>
            </a:br>
            <a:r>
              <a:rPr lang="en-US" sz="1000" b="1" spc="-5" dirty="0">
                <a:latin typeface="Century Gothic" panose="020B0502020202020204" pitchFamily="34" charset="0"/>
                <a:cs typeface="Tahoma"/>
              </a:rPr>
              <a:t>Co-Vertices: </a:t>
            </a:r>
            <a:r>
              <a:rPr lang="en-US" sz="1000" spc="-5" dirty="0">
                <a:latin typeface="Century Gothic" panose="020B0502020202020204" pitchFamily="34" charset="0"/>
                <a:cs typeface="Tahoma"/>
              </a:rPr>
              <a:t>____________________________________</a:t>
            </a:r>
            <a:endParaRPr lang="en-US" sz="1000" b="1" spc="-5" dirty="0">
              <a:latin typeface="Century Gothic" panose="020B0502020202020204" pitchFamily="34" charset="0"/>
              <a:cs typeface="Tahoma"/>
            </a:endParaRPr>
          </a:p>
          <a:p>
            <a:pPr marL="12700">
              <a:lnSpc>
                <a:spcPct val="200000"/>
              </a:lnSpc>
              <a:tabLst>
                <a:tab pos="1499870" algn="l"/>
              </a:tabLst>
            </a:pPr>
            <a:r>
              <a:rPr lang="en-US" sz="1000" b="1" spc="-5" dirty="0">
                <a:latin typeface="Century Gothic" panose="020B0502020202020204" pitchFamily="34" charset="0"/>
                <a:cs typeface="Tahoma"/>
              </a:rPr>
              <a:t>Foci: </a:t>
            </a:r>
            <a:r>
              <a:rPr lang="en-US" sz="1000" spc="-5" dirty="0">
                <a:latin typeface="Century Gothic" panose="020B0502020202020204" pitchFamily="34" charset="0"/>
                <a:cs typeface="Tahoma"/>
              </a:rPr>
              <a:t>___________________________________________</a:t>
            </a:r>
            <a:endParaRPr sz="1000" b="1" dirty="0">
              <a:latin typeface="Times New Roman"/>
              <a:cs typeface="Times New Roman"/>
            </a:endParaRPr>
          </a:p>
        </p:txBody>
      </p:sp>
      <p:sp>
        <p:nvSpPr>
          <p:cNvPr id="26" name="object 14">
            <a:extLst>
              <a:ext uri="{FF2B5EF4-FFF2-40B4-BE49-F238E27FC236}">
                <a16:creationId xmlns:a16="http://schemas.microsoft.com/office/drawing/2014/main" id="{8B2E4873-4FD0-9E9A-BBAE-032763A91265}"/>
              </a:ext>
            </a:extLst>
          </p:cNvPr>
          <p:cNvSpPr txBox="1"/>
          <p:nvPr/>
        </p:nvSpPr>
        <p:spPr>
          <a:xfrm>
            <a:off x="599225" y="5531263"/>
            <a:ext cx="3240471" cy="149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200000"/>
              </a:lnSpc>
              <a:tabLst>
                <a:tab pos="1499870" algn="l"/>
              </a:tabLst>
            </a:pPr>
            <a:r>
              <a:rPr lang="en-US" sz="1000" b="1" spc="-5" dirty="0">
                <a:latin typeface="Century Gothic" panose="020B0502020202020204" pitchFamily="34" charset="0"/>
                <a:cs typeface="Tahoma"/>
              </a:rPr>
              <a:t>Standard Form: </a:t>
            </a:r>
            <a:r>
              <a:rPr lang="en-US" sz="1000" spc="-5" dirty="0">
                <a:latin typeface="Century Gothic" panose="020B0502020202020204" pitchFamily="34" charset="0"/>
                <a:cs typeface="Tahoma"/>
              </a:rPr>
              <a:t>___________________________________</a:t>
            </a:r>
            <a:endParaRPr lang="en-US" sz="1000" b="1" spc="-5" dirty="0">
              <a:latin typeface="Century Gothic" panose="020B0502020202020204" pitchFamily="34" charset="0"/>
              <a:cs typeface="Tahoma"/>
            </a:endParaRPr>
          </a:p>
          <a:p>
            <a:pPr marL="12700">
              <a:lnSpc>
                <a:spcPct val="200000"/>
              </a:lnSpc>
              <a:tabLst>
                <a:tab pos="1499870" algn="l"/>
              </a:tabLst>
            </a:pPr>
            <a:r>
              <a:rPr sz="1000" b="1" spc="-5" dirty="0">
                <a:latin typeface="Century Gothic" panose="020B0502020202020204" pitchFamily="34" charset="0"/>
                <a:cs typeface="Tahoma"/>
              </a:rPr>
              <a:t>Center</a:t>
            </a:r>
            <a:r>
              <a:rPr lang="en-US" sz="1000" b="1" spc="-5" dirty="0">
                <a:latin typeface="Century Gothic" panose="020B0502020202020204" pitchFamily="34" charset="0"/>
                <a:cs typeface="Tahoma"/>
              </a:rPr>
              <a:t> </a:t>
            </a:r>
            <a:r>
              <a:rPr lang="en-US" sz="1000" spc="-5" dirty="0">
                <a:latin typeface="Century Gothic" panose="020B0502020202020204" pitchFamily="34" charset="0"/>
                <a:cs typeface="Tahoma"/>
              </a:rPr>
              <a:t>_________________</a:t>
            </a:r>
          </a:p>
          <a:p>
            <a:pPr marL="12700">
              <a:lnSpc>
                <a:spcPct val="200000"/>
              </a:lnSpc>
              <a:tabLst>
                <a:tab pos="1499870" algn="l"/>
              </a:tabLst>
            </a:pPr>
            <a:r>
              <a:rPr lang="en-US" sz="1000" b="1" spc="-5" dirty="0">
                <a:latin typeface="Century Gothic" panose="020B0502020202020204" pitchFamily="34" charset="0"/>
                <a:cs typeface="Tahoma"/>
              </a:rPr>
              <a:t>Vertices: </a:t>
            </a:r>
            <a:r>
              <a:rPr lang="en-US" sz="1000" spc="-5" dirty="0">
                <a:latin typeface="Century Gothic" panose="020B0502020202020204" pitchFamily="34" charset="0"/>
                <a:cs typeface="Tahoma"/>
              </a:rPr>
              <a:t>________________________________________</a:t>
            </a:r>
            <a:br>
              <a:rPr lang="en-US" sz="1000" b="1" spc="-5" dirty="0">
                <a:latin typeface="Century Gothic" panose="020B0502020202020204" pitchFamily="34" charset="0"/>
                <a:cs typeface="Tahoma"/>
              </a:rPr>
            </a:br>
            <a:r>
              <a:rPr lang="en-US" sz="1000" b="1" spc="-5" dirty="0">
                <a:latin typeface="Century Gothic" panose="020B0502020202020204" pitchFamily="34" charset="0"/>
                <a:cs typeface="Tahoma"/>
              </a:rPr>
              <a:t>Co-Vertices: </a:t>
            </a:r>
            <a:r>
              <a:rPr lang="en-US" sz="1000" spc="-5" dirty="0">
                <a:latin typeface="Century Gothic" panose="020B0502020202020204" pitchFamily="34" charset="0"/>
                <a:cs typeface="Tahoma"/>
              </a:rPr>
              <a:t>_____________________________________</a:t>
            </a:r>
            <a:endParaRPr lang="en-US" sz="1000" b="1" spc="-5" dirty="0">
              <a:latin typeface="Century Gothic" panose="020B0502020202020204" pitchFamily="34" charset="0"/>
              <a:cs typeface="Tahoma"/>
            </a:endParaRPr>
          </a:p>
          <a:p>
            <a:pPr marL="12700">
              <a:lnSpc>
                <a:spcPct val="200000"/>
              </a:lnSpc>
              <a:tabLst>
                <a:tab pos="1499870" algn="l"/>
              </a:tabLst>
            </a:pPr>
            <a:r>
              <a:rPr lang="en-US" sz="1000" b="1" spc="-5" dirty="0">
                <a:latin typeface="Century Gothic" panose="020B0502020202020204" pitchFamily="34" charset="0"/>
                <a:cs typeface="Tahoma"/>
              </a:rPr>
              <a:t>Foci: </a:t>
            </a:r>
            <a:r>
              <a:rPr lang="en-US" sz="1000" spc="-5" dirty="0">
                <a:latin typeface="Century Gothic" panose="020B0502020202020204" pitchFamily="34" charset="0"/>
                <a:cs typeface="Tahoma"/>
              </a:rPr>
              <a:t>____________________________________________</a:t>
            </a:r>
            <a:endParaRPr sz="1000" b="1" dirty="0">
              <a:latin typeface="Times New Roman"/>
              <a:cs typeface="Times New Roman"/>
            </a:endParaRPr>
          </a:p>
        </p:txBody>
      </p:sp>
      <p:sp>
        <p:nvSpPr>
          <p:cNvPr id="27" name="object 14">
            <a:extLst>
              <a:ext uri="{FF2B5EF4-FFF2-40B4-BE49-F238E27FC236}">
                <a16:creationId xmlns:a16="http://schemas.microsoft.com/office/drawing/2014/main" id="{EB99CFF7-2C51-AD38-F889-98A66B2E1046}"/>
              </a:ext>
            </a:extLst>
          </p:cNvPr>
          <p:cNvSpPr txBox="1"/>
          <p:nvPr/>
        </p:nvSpPr>
        <p:spPr>
          <a:xfrm>
            <a:off x="4184337" y="5531263"/>
            <a:ext cx="3240471" cy="149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200000"/>
              </a:lnSpc>
              <a:tabLst>
                <a:tab pos="1499870" algn="l"/>
              </a:tabLst>
            </a:pPr>
            <a:r>
              <a:rPr lang="en-US" sz="1000" b="1" spc="-5" dirty="0">
                <a:latin typeface="Century Gothic" panose="020B0502020202020204" pitchFamily="34" charset="0"/>
                <a:cs typeface="Tahoma"/>
              </a:rPr>
              <a:t>Standard Form: </a:t>
            </a:r>
            <a:r>
              <a:rPr lang="en-US" sz="1000" spc="-5" dirty="0">
                <a:latin typeface="Century Gothic" panose="020B0502020202020204" pitchFamily="34" charset="0"/>
                <a:cs typeface="Tahoma"/>
              </a:rPr>
              <a:t>___________________________________</a:t>
            </a:r>
            <a:endParaRPr lang="en-US" sz="1000" b="1" spc="-5" dirty="0">
              <a:latin typeface="Century Gothic" panose="020B0502020202020204" pitchFamily="34" charset="0"/>
              <a:cs typeface="Tahoma"/>
            </a:endParaRPr>
          </a:p>
          <a:p>
            <a:pPr marL="12700">
              <a:lnSpc>
                <a:spcPct val="200000"/>
              </a:lnSpc>
              <a:tabLst>
                <a:tab pos="1499870" algn="l"/>
              </a:tabLst>
            </a:pPr>
            <a:r>
              <a:rPr sz="1000" b="1" spc="-5" dirty="0">
                <a:latin typeface="Century Gothic" panose="020B0502020202020204" pitchFamily="34" charset="0"/>
                <a:cs typeface="Tahoma"/>
              </a:rPr>
              <a:t>Center</a:t>
            </a:r>
            <a:r>
              <a:rPr lang="en-US" sz="1000" b="1" spc="-5" dirty="0">
                <a:latin typeface="Century Gothic" panose="020B0502020202020204" pitchFamily="34" charset="0"/>
                <a:cs typeface="Tahoma"/>
              </a:rPr>
              <a:t> </a:t>
            </a:r>
            <a:r>
              <a:rPr lang="en-US" sz="1000" spc="-5" dirty="0">
                <a:latin typeface="Century Gothic" panose="020B0502020202020204" pitchFamily="34" charset="0"/>
                <a:cs typeface="Tahoma"/>
              </a:rPr>
              <a:t>_________________</a:t>
            </a:r>
          </a:p>
          <a:p>
            <a:pPr marL="12700">
              <a:lnSpc>
                <a:spcPct val="200000"/>
              </a:lnSpc>
              <a:tabLst>
                <a:tab pos="1499870" algn="l"/>
              </a:tabLst>
            </a:pPr>
            <a:r>
              <a:rPr lang="en-US" sz="1000" b="1" spc="-5" dirty="0">
                <a:latin typeface="Century Gothic" panose="020B0502020202020204" pitchFamily="34" charset="0"/>
                <a:cs typeface="Tahoma"/>
              </a:rPr>
              <a:t>Vertices: </a:t>
            </a:r>
            <a:r>
              <a:rPr lang="en-US" sz="1000" spc="-5" dirty="0">
                <a:latin typeface="Century Gothic" panose="020B0502020202020204" pitchFamily="34" charset="0"/>
                <a:cs typeface="Tahoma"/>
              </a:rPr>
              <a:t>________________________________________</a:t>
            </a:r>
            <a:br>
              <a:rPr lang="en-US" sz="1000" b="1" spc="-5" dirty="0">
                <a:latin typeface="Century Gothic" panose="020B0502020202020204" pitchFamily="34" charset="0"/>
                <a:cs typeface="Tahoma"/>
              </a:rPr>
            </a:br>
            <a:r>
              <a:rPr lang="en-US" sz="1000" b="1" spc="-5" dirty="0">
                <a:latin typeface="Century Gothic" panose="020B0502020202020204" pitchFamily="34" charset="0"/>
                <a:cs typeface="Tahoma"/>
              </a:rPr>
              <a:t>Co-Vertices: </a:t>
            </a:r>
            <a:r>
              <a:rPr lang="en-US" sz="1000" spc="-5" dirty="0">
                <a:latin typeface="Century Gothic" panose="020B0502020202020204" pitchFamily="34" charset="0"/>
                <a:cs typeface="Tahoma"/>
              </a:rPr>
              <a:t>_____________________________________</a:t>
            </a:r>
            <a:endParaRPr lang="en-US" sz="1000" b="1" spc="-5" dirty="0">
              <a:latin typeface="Century Gothic" panose="020B0502020202020204" pitchFamily="34" charset="0"/>
              <a:cs typeface="Tahoma"/>
            </a:endParaRPr>
          </a:p>
          <a:p>
            <a:pPr marL="12700">
              <a:lnSpc>
                <a:spcPct val="200000"/>
              </a:lnSpc>
              <a:tabLst>
                <a:tab pos="1499870" algn="l"/>
              </a:tabLst>
            </a:pPr>
            <a:r>
              <a:rPr lang="en-US" sz="1000" b="1" spc="-5" dirty="0">
                <a:latin typeface="Century Gothic" panose="020B0502020202020204" pitchFamily="34" charset="0"/>
                <a:cs typeface="Tahoma"/>
              </a:rPr>
              <a:t>Foci: </a:t>
            </a:r>
            <a:r>
              <a:rPr lang="en-US" sz="1000" spc="-5" dirty="0">
                <a:latin typeface="Century Gothic" panose="020B0502020202020204" pitchFamily="34" charset="0"/>
                <a:cs typeface="Tahoma"/>
              </a:rPr>
              <a:t>____________________________________________</a:t>
            </a:r>
            <a:endParaRPr sz="1000" b="1" dirty="0">
              <a:latin typeface="Times New Roman"/>
              <a:cs typeface="Times New Roman"/>
            </a:endParaRPr>
          </a:p>
        </p:txBody>
      </p:sp>
      <p:sp>
        <p:nvSpPr>
          <p:cNvPr id="28" name="object 120">
            <a:extLst>
              <a:ext uri="{FF2B5EF4-FFF2-40B4-BE49-F238E27FC236}">
                <a16:creationId xmlns:a16="http://schemas.microsoft.com/office/drawing/2014/main" id="{7839BA9B-155A-65F8-EE8F-C1DC20D07C9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61120" y="9318721"/>
            <a:ext cx="3299983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018155" algn="l"/>
              </a:tabLst>
            </a:pPr>
            <a:r>
              <a:rPr lang="en-US" sz="1000" b="1" spc="-5" dirty="0">
                <a:latin typeface="Century Gothic" panose="020B0502020202020204" pitchFamily="34" charset="0"/>
                <a:cs typeface="Tahoma"/>
              </a:rPr>
              <a:t>Standard</a:t>
            </a:r>
            <a:r>
              <a:rPr lang="en-US" sz="1000" b="1" spc="-60" dirty="0">
                <a:latin typeface="Century Gothic" panose="020B0502020202020204" pitchFamily="34" charset="0"/>
                <a:cs typeface="Tahoma"/>
              </a:rPr>
              <a:t> </a:t>
            </a:r>
            <a:r>
              <a:rPr lang="en-US" sz="1000" b="1" spc="-5" dirty="0">
                <a:latin typeface="Century Gothic" panose="020B0502020202020204" pitchFamily="34" charset="0"/>
                <a:cs typeface="Tahoma"/>
              </a:rPr>
              <a:t>Form: </a:t>
            </a:r>
            <a:r>
              <a:rPr lang="en-US" sz="1000" spc="-5" dirty="0">
                <a:latin typeface="Century Gothic" panose="020B0502020202020204" pitchFamily="34" charset="0"/>
                <a:cs typeface="Tahoma"/>
              </a:rPr>
              <a:t>_____________________________________</a:t>
            </a:r>
            <a:endParaRPr lang="en-US" sz="1000" dirty="0">
              <a:latin typeface="Century Gothic" panose="020B0502020202020204" pitchFamily="34" charset="0"/>
              <a:cs typeface="Times New Roman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B0E19B0-F380-A1D6-96B5-EFE8539DAD4C}"/>
              </a:ext>
            </a:extLst>
          </p:cNvPr>
          <p:cNvSpPr/>
          <p:nvPr/>
        </p:nvSpPr>
        <p:spPr>
          <a:xfrm>
            <a:off x="3975845" y="9278647"/>
            <a:ext cx="350416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tabLst>
                <a:tab pos="3018155" algn="l"/>
              </a:tabLst>
            </a:pPr>
            <a:r>
              <a:rPr lang="en-US" sz="1000" b="1" spc="-5" dirty="0">
                <a:latin typeface="Century Gothic" panose="020B0502020202020204" pitchFamily="34" charset="0"/>
                <a:cs typeface="Tahoma"/>
              </a:rPr>
              <a:t>Standard</a:t>
            </a:r>
            <a:r>
              <a:rPr lang="en-US" sz="1000" b="1" spc="-60" dirty="0">
                <a:latin typeface="Century Gothic" panose="020B0502020202020204" pitchFamily="34" charset="0"/>
                <a:cs typeface="Tahoma"/>
              </a:rPr>
              <a:t> </a:t>
            </a:r>
            <a:r>
              <a:rPr lang="en-US" sz="1000" b="1" spc="-5" dirty="0">
                <a:latin typeface="Century Gothic" panose="020B0502020202020204" pitchFamily="34" charset="0"/>
                <a:cs typeface="Tahoma"/>
              </a:rPr>
              <a:t>Form: </a:t>
            </a:r>
            <a:r>
              <a:rPr lang="en-US" sz="1000" spc="-5" dirty="0">
                <a:latin typeface="Century Gothic" panose="020B0502020202020204" pitchFamily="34" charset="0"/>
                <a:cs typeface="Tahoma"/>
              </a:rPr>
              <a:t>_____________________________________</a:t>
            </a:r>
            <a:endParaRPr lang="en-US" sz="1000" dirty="0">
              <a:latin typeface="Century Gothic" panose="020B0502020202020204" pitchFamily="34" charset="0"/>
              <a:cs typeface="Times New Roman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D5994D9-990E-8A59-030B-DC1C8302A2EB}"/>
              </a:ext>
            </a:extLst>
          </p:cNvPr>
          <p:cNvGrpSpPr/>
          <p:nvPr/>
        </p:nvGrpSpPr>
        <p:grpSpPr>
          <a:xfrm>
            <a:off x="1978499" y="706382"/>
            <a:ext cx="1814149" cy="1822358"/>
            <a:chOff x="0" y="-10636"/>
            <a:chExt cx="2320144" cy="2331720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D1969E0-A5EC-6CBE-A01E-BF9172940B66}"/>
                </a:ext>
              </a:extLst>
            </p:cNvPr>
            <p:cNvSpPr/>
            <p:nvPr/>
          </p:nvSpPr>
          <p:spPr>
            <a:xfrm>
              <a:off x="103755" y="104278"/>
              <a:ext cx="2102133" cy="2102133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43EFEE5-DCD9-E3C9-2E1D-FBC7257FB0EA}"/>
                </a:ext>
              </a:extLst>
            </p:cNvPr>
            <p:cNvCxnSpPr/>
            <p:nvPr/>
          </p:nvCxnSpPr>
          <p:spPr>
            <a:xfrm flipH="1">
              <a:off x="103755" y="1023962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22560C1-0679-285E-BC30-363682166DEF}"/>
                </a:ext>
              </a:extLst>
            </p:cNvPr>
            <p:cNvCxnSpPr>
              <a:cxnSpLocks/>
            </p:cNvCxnSpPr>
            <p:nvPr/>
          </p:nvCxnSpPr>
          <p:spPr>
            <a:xfrm>
              <a:off x="1154821" y="-10636"/>
              <a:ext cx="0" cy="2331720"/>
            </a:xfrm>
            <a:prstGeom prst="line">
              <a:avLst/>
            </a:prstGeom>
            <a:ln w="12700">
              <a:solidFill>
                <a:schemeClr val="tx1"/>
              </a:solidFill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64A56CD-8E16-2EC3-1893-9B6B38E943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0" y="1155346"/>
              <a:ext cx="232014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3BF1F7B-9AD4-1C7C-FC1D-3F6A6A64A5BA}"/>
                </a:ext>
              </a:extLst>
            </p:cNvPr>
            <p:cNvCxnSpPr/>
            <p:nvPr/>
          </p:nvCxnSpPr>
          <p:spPr>
            <a:xfrm>
              <a:off x="629288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5A7FD86-242F-8C40-1701-D24446645FFE}"/>
                </a:ext>
              </a:extLst>
            </p:cNvPr>
            <p:cNvCxnSpPr/>
            <p:nvPr/>
          </p:nvCxnSpPr>
          <p:spPr>
            <a:xfrm flipH="1">
              <a:off x="103755" y="892578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E80DC95F-137A-ED4E-1289-436733701741}"/>
                </a:ext>
              </a:extLst>
            </p:cNvPr>
            <p:cNvCxnSpPr/>
            <p:nvPr/>
          </p:nvCxnSpPr>
          <p:spPr>
            <a:xfrm flipH="1">
              <a:off x="103755" y="761195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CADFC5A-B649-8AB2-A506-82C6CF3F0312}"/>
                </a:ext>
              </a:extLst>
            </p:cNvPr>
            <p:cNvCxnSpPr/>
            <p:nvPr/>
          </p:nvCxnSpPr>
          <p:spPr>
            <a:xfrm flipH="1">
              <a:off x="103755" y="629812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B5E8DE7-B025-BBE7-5DEA-01D3B51CBE4A}"/>
                </a:ext>
              </a:extLst>
            </p:cNvPr>
            <p:cNvCxnSpPr/>
            <p:nvPr/>
          </p:nvCxnSpPr>
          <p:spPr>
            <a:xfrm flipH="1">
              <a:off x="103755" y="498428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38EF2D0-B0C3-0325-0B2A-1A3526398203}"/>
                </a:ext>
              </a:extLst>
            </p:cNvPr>
            <p:cNvCxnSpPr/>
            <p:nvPr/>
          </p:nvCxnSpPr>
          <p:spPr>
            <a:xfrm flipH="1">
              <a:off x="103755" y="367045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80F1B41-C4F4-A906-98EE-9BE65A396761}"/>
                </a:ext>
              </a:extLst>
            </p:cNvPr>
            <p:cNvCxnSpPr/>
            <p:nvPr/>
          </p:nvCxnSpPr>
          <p:spPr>
            <a:xfrm flipH="1">
              <a:off x="103755" y="235662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8965D39-9C15-5F0C-D95C-27B3F4DD2EF8}"/>
                </a:ext>
              </a:extLst>
            </p:cNvPr>
            <p:cNvCxnSpPr/>
            <p:nvPr/>
          </p:nvCxnSpPr>
          <p:spPr>
            <a:xfrm flipH="1">
              <a:off x="103755" y="2075028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51BA945B-836F-5CB1-B647-6AE0DE61ED22}"/>
                </a:ext>
              </a:extLst>
            </p:cNvPr>
            <p:cNvCxnSpPr/>
            <p:nvPr/>
          </p:nvCxnSpPr>
          <p:spPr>
            <a:xfrm flipH="1">
              <a:off x="103755" y="1943645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23B49754-CF56-C448-45DD-C0DF50D0126F}"/>
                </a:ext>
              </a:extLst>
            </p:cNvPr>
            <p:cNvCxnSpPr/>
            <p:nvPr/>
          </p:nvCxnSpPr>
          <p:spPr>
            <a:xfrm flipH="1">
              <a:off x="103755" y="1812262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76550DB2-A838-CB3C-7416-5B5743A130C2}"/>
                </a:ext>
              </a:extLst>
            </p:cNvPr>
            <p:cNvCxnSpPr/>
            <p:nvPr/>
          </p:nvCxnSpPr>
          <p:spPr>
            <a:xfrm flipH="1">
              <a:off x="103755" y="1680878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62E32C47-2BCF-B518-9758-701FFAC2E27D}"/>
                </a:ext>
              </a:extLst>
            </p:cNvPr>
            <p:cNvCxnSpPr/>
            <p:nvPr/>
          </p:nvCxnSpPr>
          <p:spPr>
            <a:xfrm flipH="1">
              <a:off x="103755" y="1549495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72E351BC-7901-D9B6-ABC8-4DBA7BFA3463}"/>
                </a:ext>
              </a:extLst>
            </p:cNvPr>
            <p:cNvCxnSpPr/>
            <p:nvPr/>
          </p:nvCxnSpPr>
          <p:spPr>
            <a:xfrm flipH="1">
              <a:off x="103755" y="1418112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26E98F00-7D44-D9DC-0C87-2D94ADD30094}"/>
                </a:ext>
              </a:extLst>
            </p:cNvPr>
            <p:cNvCxnSpPr/>
            <p:nvPr/>
          </p:nvCxnSpPr>
          <p:spPr>
            <a:xfrm flipH="1">
              <a:off x="103755" y="1286728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4A5AA96C-D376-DE0D-ED5C-61C6E3599F62}"/>
                </a:ext>
              </a:extLst>
            </p:cNvPr>
            <p:cNvCxnSpPr/>
            <p:nvPr/>
          </p:nvCxnSpPr>
          <p:spPr>
            <a:xfrm>
              <a:off x="1023438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E1C6B7A2-7509-A92E-D0AE-73AFAF31AC9C}"/>
                </a:ext>
              </a:extLst>
            </p:cNvPr>
            <p:cNvCxnSpPr/>
            <p:nvPr/>
          </p:nvCxnSpPr>
          <p:spPr>
            <a:xfrm>
              <a:off x="892054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C1C13030-3226-EBB0-3CE2-FF7FB7B1499D}"/>
                </a:ext>
              </a:extLst>
            </p:cNvPr>
            <p:cNvCxnSpPr/>
            <p:nvPr/>
          </p:nvCxnSpPr>
          <p:spPr>
            <a:xfrm>
              <a:off x="760671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7A08C710-4534-B019-D52B-713E8A2A7866}"/>
                </a:ext>
              </a:extLst>
            </p:cNvPr>
            <p:cNvCxnSpPr/>
            <p:nvPr/>
          </p:nvCxnSpPr>
          <p:spPr>
            <a:xfrm>
              <a:off x="497905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FDF90269-4F69-3D6F-F855-A4A7B1209609}"/>
                </a:ext>
              </a:extLst>
            </p:cNvPr>
            <p:cNvCxnSpPr/>
            <p:nvPr/>
          </p:nvCxnSpPr>
          <p:spPr>
            <a:xfrm>
              <a:off x="366521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38FFEC21-482B-3F75-9EE2-4094ACAAC20D}"/>
                </a:ext>
              </a:extLst>
            </p:cNvPr>
            <p:cNvCxnSpPr/>
            <p:nvPr/>
          </p:nvCxnSpPr>
          <p:spPr>
            <a:xfrm>
              <a:off x="235138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81A873E1-CACA-1F37-2D85-0004A25F88D1}"/>
                </a:ext>
              </a:extLst>
            </p:cNvPr>
            <p:cNvCxnSpPr/>
            <p:nvPr/>
          </p:nvCxnSpPr>
          <p:spPr>
            <a:xfrm>
              <a:off x="1680354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68922F24-EE50-461F-F236-DE2C92E8F5E7}"/>
                </a:ext>
              </a:extLst>
            </p:cNvPr>
            <p:cNvCxnSpPr/>
            <p:nvPr/>
          </p:nvCxnSpPr>
          <p:spPr>
            <a:xfrm>
              <a:off x="2074504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242C1D74-1A92-682A-3F8B-7A76B24B7A96}"/>
                </a:ext>
              </a:extLst>
            </p:cNvPr>
            <p:cNvCxnSpPr/>
            <p:nvPr/>
          </p:nvCxnSpPr>
          <p:spPr>
            <a:xfrm>
              <a:off x="1943121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3782C4F7-6356-0D10-A0DF-84C922366C90}"/>
                </a:ext>
              </a:extLst>
            </p:cNvPr>
            <p:cNvCxnSpPr/>
            <p:nvPr/>
          </p:nvCxnSpPr>
          <p:spPr>
            <a:xfrm>
              <a:off x="1811738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8C368866-AF49-55B6-8E65-EE3370E03753}"/>
                </a:ext>
              </a:extLst>
            </p:cNvPr>
            <p:cNvCxnSpPr/>
            <p:nvPr/>
          </p:nvCxnSpPr>
          <p:spPr>
            <a:xfrm>
              <a:off x="1548971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F9D6FB09-D966-6E88-7349-2FA82E62FFFD}"/>
                </a:ext>
              </a:extLst>
            </p:cNvPr>
            <p:cNvCxnSpPr/>
            <p:nvPr/>
          </p:nvCxnSpPr>
          <p:spPr>
            <a:xfrm>
              <a:off x="1417588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9AAA64A-A381-4146-7655-54CD132AFB3A}"/>
                </a:ext>
              </a:extLst>
            </p:cNvPr>
            <p:cNvCxnSpPr/>
            <p:nvPr/>
          </p:nvCxnSpPr>
          <p:spPr>
            <a:xfrm>
              <a:off x="1286204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F8B5ADF-C464-48CA-4694-E4B45F3617B9}"/>
              </a:ext>
            </a:extLst>
          </p:cNvPr>
          <p:cNvGrpSpPr/>
          <p:nvPr/>
        </p:nvGrpSpPr>
        <p:grpSpPr>
          <a:xfrm>
            <a:off x="5636123" y="706382"/>
            <a:ext cx="1814149" cy="1822358"/>
            <a:chOff x="0" y="-10636"/>
            <a:chExt cx="2320144" cy="2331720"/>
          </a:xfrm>
        </p:grpSpPr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B20546F6-E0CC-0298-0EA5-9013D1983BA8}"/>
                </a:ext>
              </a:extLst>
            </p:cNvPr>
            <p:cNvSpPr/>
            <p:nvPr/>
          </p:nvSpPr>
          <p:spPr>
            <a:xfrm>
              <a:off x="103755" y="104278"/>
              <a:ext cx="2102133" cy="2102133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49601EBB-3C9C-145A-DB18-4427EC361717}"/>
                </a:ext>
              </a:extLst>
            </p:cNvPr>
            <p:cNvCxnSpPr/>
            <p:nvPr/>
          </p:nvCxnSpPr>
          <p:spPr>
            <a:xfrm flipH="1">
              <a:off x="103755" y="1023962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6343D7ED-A5B8-0BE4-B456-158594FAF9CE}"/>
                </a:ext>
              </a:extLst>
            </p:cNvPr>
            <p:cNvCxnSpPr>
              <a:cxnSpLocks/>
            </p:cNvCxnSpPr>
            <p:nvPr/>
          </p:nvCxnSpPr>
          <p:spPr>
            <a:xfrm>
              <a:off x="1154821" y="-10636"/>
              <a:ext cx="0" cy="2331720"/>
            </a:xfrm>
            <a:prstGeom prst="line">
              <a:avLst/>
            </a:prstGeom>
            <a:ln w="12700">
              <a:solidFill>
                <a:schemeClr val="tx1"/>
              </a:solidFill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68CEBD3-6C5A-0BCC-E2DB-8E16728B64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0" y="1155346"/>
              <a:ext cx="232014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9D472641-1D5A-575E-D48F-CDCB290DABA6}"/>
                </a:ext>
              </a:extLst>
            </p:cNvPr>
            <p:cNvCxnSpPr/>
            <p:nvPr/>
          </p:nvCxnSpPr>
          <p:spPr>
            <a:xfrm>
              <a:off x="629288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52B87259-D9E3-2607-F376-AF16699C4A42}"/>
                </a:ext>
              </a:extLst>
            </p:cNvPr>
            <p:cNvCxnSpPr/>
            <p:nvPr/>
          </p:nvCxnSpPr>
          <p:spPr>
            <a:xfrm flipH="1">
              <a:off x="103755" y="892578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7E655F7-4E53-0EA8-DA9D-7DDA4C35674D}"/>
                </a:ext>
              </a:extLst>
            </p:cNvPr>
            <p:cNvCxnSpPr/>
            <p:nvPr/>
          </p:nvCxnSpPr>
          <p:spPr>
            <a:xfrm flipH="1">
              <a:off x="103755" y="761195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4AEE868A-004F-2890-93F4-9C7B017E82CC}"/>
                </a:ext>
              </a:extLst>
            </p:cNvPr>
            <p:cNvCxnSpPr/>
            <p:nvPr/>
          </p:nvCxnSpPr>
          <p:spPr>
            <a:xfrm flipH="1">
              <a:off x="103755" y="629812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BC71CE21-0FA6-8335-68A6-D5622AFD5E92}"/>
                </a:ext>
              </a:extLst>
            </p:cNvPr>
            <p:cNvCxnSpPr/>
            <p:nvPr/>
          </p:nvCxnSpPr>
          <p:spPr>
            <a:xfrm flipH="1">
              <a:off x="103755" y="498428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0FA2FC7B-E169-8D4A-4283-FB859BE8BCBA}"/>
                </a:ext>
              </a:extLst>
            </p:cNvPr>
            <p:cNvCxnSpPr/>
            <p:nvPr/>
          </p:nvCxnSpPr>
          <p:spPr>
            <a:xfrm flipH="1">
              <a:off x="103755" y="367045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D3C0DCE0-8568-C0BD-11E4-94F2DD904645}"/>
                </a:ext>
              </a:extLst>
            </p:cNvPr>
            <p:cNvCxnSpPr/>
            <p:nvPr/>
          </p:nvCxnSpPr>
          <p:spPr>
            <a:xfrm flipH="1">
              <a:off x="103755" y="235662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0E998E30-70B7-264C-2C1D-90EE28075C10}"/>
                </a:ext>
              </a:extLst>
            </p:cNvPr>
            <p:cNvCxnSpPr/>
            <p:nvPr/>
          </p:nvCxnSpPr>
          <p:spPr>
            <a:xfrm flipH="1">
              <a:off x="103755" y="2075028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66C53599-7076-D6C6-9BA6-7A551984BBEA}"/>
                </a:ext>
              </a:extLst>
            </p:cNvPr>
            <p:cNvCxnSpPr/>
            <p:nvPr/>
          </p:nvCxnSpPr>
          <p:spPr>
            <a:xfrm flipH="1">
              <a:off x="103755" y="1943645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5EF85E7D-61DB-2014-7A67-3537578E2E15}"/>
                </a:ext>
              </a:extLst>
            </p:cNvPr>
            <p:cNvCxnSpPr/>
            <p:nvPr/>
          </p:nvCxnSpPr>
          <p:spPr>
            <a:xfrm flipH="1">
              <a:off x="103755" y="1812262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E79AF9D1-AF26-475A-E086-D066218983FF}"/>
                </a:ext>
              </a:extLst>
            </p:cNvPr>
            <p:cNvCxnSpPr/>
            <p:nvPr/>
          </p:nvCxnSpPr>
          <p:spPr>
            <a:xfrm flipH="1">
              <a:off x="103755" y="1680878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D4C75C64-FC91-2DB3-8837-E7851994ABB7}"/>
                </a:ext>
              </a:extLst>
            </p:cNvPr>
            <p:cNvCxnSpPr/>
            <p:nvPr/>
          </p:nvCxnSpPr>
          <p:spPr>
            <a:xfrm flipH="1">
              <a:off x="103755" y="1549495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6EAB7FFF-C56F-C73F-9D4E-CF7DC44D2DDD}"/>
                </a:ext>
              </a:extLst>
            </p:cNvPr>
            <p:cNvCxnSpPr/>
            <p:nvPr/>
          </p:nvCxnSpPr>
          <p:spPr>
            <a:xfrm flipH="1">
              <a:off x="103755" y="1418112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A62A44F0-330B-6BF4-760B-70C8D3DC3862}"/>
                </a:ext>
              </a:extLst>
            </p:cNvPr>
            <p:cNvCxnSpPr/>
            <p:nvPr/>
          </p:nvCxnSpPr>
          <p:spPr>
            <a:xfrm flipH="1">
              <a:off x="103755" y="1286728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A2F0D640-184A-DB7A-DBAA-1A5D649F2012}"/>
                </a:ext>
              </a:extLst>
            </p:cNvPr>
            <p:cNvCxnSpPr/>
            <p:nvPr/>
          </p:nvCxnSpPr>
          <p:spPr>
            <a:xfrm>
              <a:off x="1023438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8281ACE6-1D6E-CFF4-FBBD-1E28EB57236A}"/>
                </a:ext>
              </a:extLst>
            </p:cNvPr>
            <p:cNvCxnSpPr/>
            <p:nvPr/>
          </p:nvCxnSpPr>
          <p:spPr>
            <a:xfrm>
              <a:off x="892054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04CB0F87-3D97-0ECC-DE9B-A6B3292CA606}"/>
                </a:ext>
              </a:extLst>
            </p:cNvPr>
            <p:cNvCxnSpPr/>
            <p:nvPr/>
          </p:nvCxnSpPr>
          <p:spPr>
            <a:xfrm>
              <a:off x="760671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3BFC6EDB-C2C5-0340-E45B-797F625041CD}"/>
                </a:ext>
              </a:extLst>
            </p:cNvPr>
            <p:cNvCxnSpPr/>
            <p:nvPr/>
          </p:nvCxnSpPr>
          <p:spPr>
            <a:xfrm>
              <a:off x="497905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CDD93C43-D68D-E894-D648-AD991D907276}"/>
                </a:ext>
              </a:extLst>
            </p:cNvPr>
            <p:cNvCxnSpPr/>
            <p:nvPr/>
          </p:nvCxnSpPr>
          <p:spPr>
            <a:xfrm>
              <a:off x="366521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20C88821-0E07-1842-26FE-8CBB5A8394BA}"/>
                </a:ext>
              </a:extLst>
            </p:cNvPr>
            <p:cNvCxnSpPr/>
            <p:nvPr/>
          </p:nvCxnSpPr>
          <p:spPr>
            <a:xfrm>
              <a:off x="235138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3813D7C2-6FC9-24E8-85AC-C33BD81EF331}"/>
                </a:ext>
              </a:extLst>
            </p:cNvPr>
            <p:cNvCxnSpPr/>
            <p:nvPr/>
          </p:nvCxnSpPr>
          <p:spPr>
            <a:xfrm>
              <a:off x="1680354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762E9B2E-4651-F1DD-1145-9DEC5F701573}"/>
                </a:ext>
              </a:extLst>
            </p:cNvPr>
            <p:cNvCxnSpPr/>
            <p:nvPr/>
          </p:nvCxnSpPr>
          <p:spPr>
            <a:xfrm>
              <a:off x="2074504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D31928A6-8D71-FF5B-AEBC-3DBD9D33968E}"/>
                </a:ext>
              </a:extLst>
            </p:cNvPr>
            <p:cNvCxnSpPr/>
            <p:nvPr/>
          </p:nvCxnSpPr>
          <p:spPr>
            <a:xfrm>
              <a:off x="1943121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448FB00F-2DAA-D2A2-5272-AB802054F779}"/>
                </a:ext>
              </a:extLst>
            </p:cNvPr>
            <p:cNvCxnSpPr/>
            <p:nvPr/>
          </p:nvCxnSpPr>
          <p:spPr>
            <a:xfrm>
              <a:off x="1811738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BD7FCD8F-4727-800B-73CC-1F4EA47927C2}"/>
                </a:ext>
              </a:extLst>
            </p:cNvPr>
            <p:cNvCxnSpPr/>
            <p:nvPr/>
          </p:nvCxnSpPr>
          <p:spPr>
            <a:xfrm>
              <a:off x="1548971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D1E1EFBD-3C76-CA8E-A330-6B5B8BDB3ED1}"/>
                </a:ext>
              </a:extLst>
            </p:cNvPr>
            <p:cNvCxnSpPr/>
            <p:nvPr/>
          </p:nvCxnSpPr>
          <p:spPr>
            <a:xfrm>
              <a:off x="1417588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96A0EF1E-74CA-B4C5-8541-3535776F1A6B}"/>
                </a:ext>
              </a:extLst>
            </p:cNvPr>
            <p:cNvCxnSpPr/>
            <p:nvPr/>
          </p:nvCxnSpPr>
          <p:spPr>
            <a:xfrm>
              <a:off x="1286204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</TotalTime>
  <Words>333</Words>
  <Application>Microsoft Office PowerPoint</Application>
  <PresentationFormat>Custom</PresentationFormat>
  <Paragraphs>47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Calibri</vt:lpstr>
      <vt:lpstr>Century Gothic</vt:lpstr>
      <vt:lpstr>Tahoma</vt:lpstr>
      <vt:lpstr>Times New Roman</vt:lpstr>
      <vt:lpstr>Office Theme</vt:lpstr>
      <vt:lpstr>Equation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Word - 8 - Quiz 9-1</dc:title>
  <dc:creator>allth</dc:creator>
  <cp:lastModifiedBy>Gina Wilson</cp:lastModifiedBy>
  <cp:revision>13</cp:revision>
  <dcterms:created xsi:type="dcterms:W3CDTF">2017-12-04T16:20:52Z</dcterms:created>
  <dcterms:modified xsi:type="dcterms:W3CDTF">2024-11-16T15:12:29Z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2015-12-09T00:00:00Z</vt:filetime>
  </property>
  <property fmtid="{D5CDD505-2E9C-101B-9397-08002B2CF9AE}" pid="3" name="Creator">
    <vt:lpwstr>PrimoPDF http://www.primopdf.com</vt:lpwstr>
  </property>
  <property fmtid="{D5CDD505-2E9C-101B-9397-08002B2CF9AE}" pid="4" name="LastSaved">
    <vt:filetime>2017-12-04T00:00:00Z</vt:filetime>
  </property>
</Properties>
</file>