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8747" y="9510711"/>
            <a:ext cx="3056890" cy="17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60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155485" y="9510711"/>
            <a:ext cx="3076575" cy="384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3555" algn="l"/>
              </a:tabLst>
            </a:pPr>
            <a:r>
              <a:rPr spc="-5" dirty="0"/>
              <a:t>Standard</a:t>
            </a:r>
            <a:r>
              <a:rPr spc="-55" dirty="0"/>
              <a:t> </a:t>
            </a:r>
            <a:r>
              <a:rPr spc="-5" dirty="0"/>
              <a:t>Form:</a:t>
            </a:r>
            <a:r>
              <a:rPr spc="15" dirty="0"/>
              <a:t> </a:t>
            </a:r>
            <a:r>
              <a:rPr b="0" u="sng" spc="-5" dirty="0">
                <a:latin typeface="Times New Roman"/>
                <a:cs typeface="Times New Roman"/>
              </a:rPr>
              <a:t> </a:t>
            </a:r>
            <a:r>
              <a:rPr b="0" u="sng" dirty="0">
                <a:latin typeface="Times New Roman"/>
                <a:cs typeface="Times New Roman"/>
              </a:rPr>
              <a:t>	</a:t>
            </a:r>
          </a:p>
          <a:p>
            <a:pPr marL="1577340">
              <a:lnSpc>
                <a:spcPct val="100000"/>
              </a:lnSpc>
              <a:spcBef>
                <a:spcPts val="750"/>
              </a:spcBef>
            </a:pPr>
            <a:r>
              <a:rPr sz="700" b="0" spc="5" dirty="0">
                <a:latin typeface="Calibri"/>
                <a:cs typeface="Calibri"/>
              </a:rPr>
              <a:t>© </a:t>
            </a:r>
            <a:r>
              <a:rPr sz="700" b="0" dirty="0">
                <a:latin typeface="Calibri"/>
                <a:cs typeface="Calibri"/>
              </a:rPr>
              <a:t>Gina Wilson </a:t>
            </a:r>
            <a:r>
              <a:rPr sz="700" b="0" spc="-5" dirty="0">
                <a:latin typeface="Calibri"/>
                <a:cs typeface="Calibri"/>
              </a:rPr>
              <a:t>(All </a:t>
            </a:r>
            <a:r>
              <a:rPr sz="700" b="0" dirty="0">
                <a:latin typeface="Calibri"/>
                <a:cs typeface="Calibri"/>
              </a:rPr>
              <a:t>Things Algebra),</a:t>
            </a:r>
            <a:r>
              <a:rPr sz="700" b="0" spc="-25" dirty="0">
                <a:latin typeface="Calibri"/>
                <a:cs typeface="Calibri"/>
              </a:rPr>
              <a:t> </a:t>
            </a:r>
            <a:r>
              <a:rPr sz="700" b="0" dirty="0">
                <a:latin typeface="Calibri"/>
                <a:cs typeface="Calibri"/>
              </a:rPr>
              <a:t>2015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7">
            <a:extLst>
              <a:ext uri="{FF2B5EF4-FFF2-40B4-BE49-F238E27FC236}">
                <a16:creationId xmlns:a16="http://schemas.microsoft.com/office/drawing/2014/main" id="{3D031F95-EA6A-A7FD-14B9-FD4B5B00903D}"/>
              </a:ext>
            </a:extLst>
          </p:cNvPr>
          <p:cNvSpPr txBox="1"/>
          <p:nvPr/>
        </p:nvSpPr>
        <p:spPr>
          <a:xfrm>
            <a:off x="3874178" y="1820165"/>
            <a:ext cx="1593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6" name="object 14">
            <a:extLst>
              <a:ext uri="{FF2B5EF4-FFF2-40B4-BE49-F238E27FC236}">
                <a16:creationId xmlns:a16="http://schemas.microsoft.com/office/drawing/2014/main" id="{82406857-39CB-7FB2-DA97-B3A2FDDB8045}"/>
              </a:ext>
            </a:extLst>
          </p:cNvPr>
          <p:cNvSpPr txBox="1"/>
          <p:nvPr/>
        </p:nvSpPr>
        <p:spPr>
          <a:xfrm>
            <a:off x="541270" y="3223108"/>
            <a:ext cx="2812350" cy="1798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  <a:p>
            <a:pPr marL="12700" marR="5080">
              <a:lnSpc>
                <a:spcPct val="200000"/>
              </a:lnSpc>
              <a:tabLst>
                <a:tab pos="2697480" algn="l"/>
                <a:tab pos="271780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 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Asymptotes: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                       _______________________________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6AA8A5DE-4BCE-5AA9-3424-9B839CBCF8F7}"/>
              </a:ext>
            </a:extLst>
          </p:cNvPr>
          <p:cNvSpPr txBox="1"/>
          <p:nvPr/>
        </p:nvSpPr>
        <p:spPr>
          <a:xfrm>
            <a:off x="464312" y="7541463"/>
            <a:ext cx="6023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Write the equation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hyperbola in standard form with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given</a:t>
            </a:r>
            <a:r>
              <a:rPr sz="1100" b="1" spc="19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characteristics.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C2D9E57C-0BE7-DF69-99E1-B48E722F17B0}"/>
              </a:ext>
            </a:extLst>
          </p:cNvPr>
          <p:cNvSpPr txBox="1"/>
          <p:nvPr/>
        </p:nvSpPr>
        <p:spPr>
          <a:xfrm>
            <a:off x="464314" y="7788424"/>
            <a:ext cx="2355086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4.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-5, 9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-5, -11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2410">
              <a:lnSpc>
                <a:spcPct val="100000"/>
              </a:lnSpc>
              <a:spcBef>
                <a:spcPts val="10"/>
              </a:spcBef>
            </a:pPr>
            <a:r>
              <a:rPr sz="1100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2,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-12,</a:t>
            </a:r>
            <a:r>
              <a:rPr sz="1100" spc="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1F25E648-F869-FAC5-2CBD-AE032F950943}"/>
              </a:ext>
            </a:extLst>
          </p:cNvPr>
          <p:cNvSpPr txBox="1"/>
          <p:nvPr/>
        </p:nvSpPr>
        <p:spPr>
          <a:xfrm>
            <a:off x="3896360" y="7786915"/>
            <a:ext cx="1871980" cy="33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0899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5.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7, 2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1,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9, 2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-1, 2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BA9BE9-0DDE-A53D-C900-5EBB9F7CC1E2}"/>
              </a:ext>
            </a:extLst>
          </p:cNvPr>
          <p:cNvSpPr/>
          <p:nvPr/>
        </p:nvSpPr>
        <p:spPr>
          <a:xfrm>
            <a:off x="424130" y="1408629"/>
            <a:ext cx="734827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hyperbola.  Identify the center, vertices, co-vertices, foci, and asymptotes.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E86751-966E-6A4A-B72F-11A10D1218F0}"/>
              </a:ext>
            </a:extLst>
          </p:cNvPr>
          <p:cNvSpPr/>
          <p:nvPr/>
        </p:nvSpPr>
        <p:spPr>
          <a:xfrm>
            <a:off x="422696" y="176985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E127ED26-2994-0CC3-D418-CCD8DFD1F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914" y="1697212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393480" progId="Equation.DSMT4">
                  <p:embed/>
                </p:oleObj>
              </mc:Choice>
              <mc:Fallback>
                <p:oleObj name="Equation" r:id="rId3" imgW="698400" imgH="393480" progId="Equation.DSMT4">
                  <p:embed/>
                  <p:pic>
                    <p:nvPicPr>
                      <p:cNvPr id="597" name="Object 596">
                        <a:extLst>
                          <a:ext uri="{FF2B5EF4-FFF2-40B4-BE49-F238E27FC236}">
                            <a16:creationId xmlns:a16="http://schemas.microsoft.com/office/drawing/2014/main" id="{E127ED26-2994-0CC3-D418-CCD8DFD1F7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914" y="1697212"/>
                        <a:ext cx="698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C2CDC784-27B4-9F37-C21E-65F8C2B28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0485" y="1703981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393480" progId="Equation.DSMT4">
                  <p:embed/>
                </p:oleObj>
              </mc:Choice>
              <mc:Fallback>
                <p:oleObj name="Equation" r:id="rId5" imgW="1295280" imgH="393480" progId="Equation.DSMT4">
                  <p:embed/>
                  <p:pic>
                    <p:nvPicPr>
                      <p:cNvPr id="598" name="Object 597">
                        <a:extLst>
                          <a:ext uri="{FF2B5EF4-FFF2-40B4-BE49-F238E27FC236}">
                            <a16:creationId xmlns:a16="http://schemas.microsoft.com/office/drawing/2014/main" id="{C2CDC784-27B4-9F37-C21E-65F8C2B282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80485" y="1703981"/>
                        <a:ext cx="1295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73B82915-A12F-2029-B492-3B0F8F084A9F}"/>
              </a:ext>
            </a:extLst>
          </p:cNvPr>
          <p:cNvSpPr/>
          <p:nvPr/>
        </p:nvSpPr>
        <p:spPr>
          <a:xfrm>
            <a:off x="389626" y="518147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57DB17B8-DE2A-0F84-46D0-7438A9F96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747" y="5197983"/>
          <a:ext cx="1130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228600" progId="Equation.DSMT4">
                  <p:embed/>
                </p:oleObj>
              </mc:Choice>
              <mc:Fallback>
                <p:oleObj name="Equation" r:id="rId7" imgW="1130040" imgH="228600" progId="Equation.DSMT4">
                  <p:embed/>
                  <p:pic>
                    <p:nvPicPr>
                      <p:cNvPr id="602" name="Object 601">
                        <a:extLst>
                          <a:ext uri="{FF2B5EF4-FFF2-40B4-BE49-F238E27FC236}">
                            <a16:creationId xmlns:a16="http://schemas.microsoft.com/office/drawing/2014/main" id="{57DB17B8-DE2A-0F84-46D0-7438A9F96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8747" y="5197983"/>
                        <a:ext cx="1130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D23EA5E9-8CAA-E4F4-6498-9CFEF0530F5B}"/>
              </a:ext>
            </a:extLst>
          </p:cNvPr>
          <p:cNvSpPr/>
          <p:nvPr/>
        </p:nvSpPr>
        <p:spPr>
          <a:xfrm>
            <a:off x="4098265" y="9315159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04FB64-3B66-C399-78D7-D7DCFC11CC2F}"/>
              </a:ext>
            </a:extLst>
          </p:cNvPr>
          <p:cNvGrpSpPr/>
          <p:nvPr/>
        </p:nvGrpSpPr>
        <p:grpSpPr>
          <a:xfrm>
            <a:off x="1928413" y="1653912"/>
            <a:ext cx="1810512" cy="1810512"/>
            <a:chOff x="-36604" y="-25356"/>
            <a:chExt cx="2386434" cy="2387537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160F4DA-D44D-0574-7C68-2E2C39C6E0AE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95CA784-5195-DE72-4838-0B21AF3B8047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25995D7-10FD-1B6F-4625-E6B8C36CA8E2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-25356"/>
              <a:ext cx="0" cy="2387537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3D92229-7292-1B64-F121-40D6B80A0E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604" y="1155347"/>
              <a:ext cx="238643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9219F76-02A2-F173-E815-05F34F4E904B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76DB4E1-A02C-ABEA-8196-5C47D450DCE7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E4051096-1689-47CC-991A-C620DC4D6FF0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F385FFA5-A70A-654F-A36E-52B9A31EEC09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69A0087F-3A4A-2453-808F-131E6235A591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731EFB82-9A0A-8CD5-A400-B40DF273D2F0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7FEDF092-7BBF-0826-B9E9-A7AE4D4020FC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C60BF69B-635C-F763-D212-1EB2D047CF10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2B9491C2-57BF-7A18-B5BF-847299A9B273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F050E8CB-5F13-8FE8-19EA-30EC6D0886D8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4D6255C4-0E7D-02DA-B675-F38EDCA5DE6E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FB3ECD71-CFCC-6941-4185-D6284BBAE64D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B0BE2C7B-2C44-0E2D-16F5-10C2C23FCC45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B6F5EE87-3922-0AD8-3723-D705F23CD33D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F1D0D13C-8E99-3361-D04E-A17D720DA722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CCCEAB3E-31D9-01C9-4F92-385A5E00D168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673500D0-3D16-0FAB-A903-85CFFB0EC228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970E7611-6234-F471-A74F-D9F5FB32201E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07DB4744-F1D0-5B59-8282-B16FF059881B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5AC9CE82-0619-82E9-4750-83DCC949C156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4CBA2E56-235B-092A-3876-4CBE85E661A5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3D2EAFDB-7DA7-55F6-B54A-F24611247C6B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6380C50C-56D9-C645-EA51-3EB4CC4C65CD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91B8ACA9-1B59-C559-D769-4F73C4C5A3E0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AB3C77-D45E-5B33-6C94-65937F0990B2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64380C59-1CF9-265A-73DE-CA8032C8D2D5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F8CAE7E8-8B29-AF1F-DB40-010A189D40B7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0" name="object 14">
            <a:extLst>
              <a:ext uri="{FF2B5EF4-FFF2-40B4-BE49-F238E27FC236}">
                <a16:creationId xmlns:a16="http://schemas.microsoft.com/office/drawing/2014/main" id="{2C373CC3-0341-5AAA-3E88-A2306E2D30A4}"/>
              </a:ext>
            </a:extLst>
          </p:cNvPr>
          <p:cNvSpPr txBox="1"/>
          <p:nvPr/>
        </p:nvSpPr>
        <p:spPr>
          <a:xfrm>
            <a:off x="4059311" y="3223108"/>
            <a:ext cx="2812350" cy="1798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200000"/>
              </a:lnSpc>
              <a:tabLst>
                <a:tab pos="149987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  <a:p>
            <a:pPr marL="12700" marR="5080">
              <a:lnSpc>
                <a:spcPct val="200000"/>
              </a:lnSpc>
              <a:tabLst>
                <a:tab pos="2697480" algn="l"/>
                <a:tab pos="271780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 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Asymptotes: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                       _______________________________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3A115D18-579A-B90D-C5C3-CA10F5A2EB3D}"/>
              </a:ext>
            </a:extLst>
          </p:cNvPr>
          <p:cNvGrpSpPr/>
          <p:nvPr/>
        </p:nvGrpSpPr>
        <p:grpSpPr>
          <a:xfrm>
            <a:off x="1806427" y="5197554"/>
            <a:ext cx="2176272" cy="2176272"/>
            <a:chOff x="-90015" y="-91862"/>
            <a:chExt cx="5035371" cy="5034206"/>
          </a:xfrm>
        </p:grpSpPr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5943802D-46BF-3D86-9B6D-7DB3BAB821EE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CF66409C-4788-61FA-98D5-C4E62C698732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78234CC7-DAA9-55C0-58C7-202C532A4286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4CD11AEE-6001-ACB8-D847-79D74D3B8620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568E5D8E-3A25-B6F5-899F-0B66CA9FE6AF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55C9045D-C1C4-CD83-13DB-7E7D33951064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FF9D1642-E629-1580-0115-7BB0D292D017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919C45CB-FEF2-DA83-8384-3FA20178A560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0FF06D7E-50C7-CFCE-B8D6-B789AE80ABA3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5C227BD4-F57B-9D58-7CEE-CF12B5CD27BB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2FAE2471-EE37-83DC-00C2-2473A14FDA62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DCCB9EE8-40D9-C116-9ECE-FA71128185AA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E168D8B3-41A5-37A4-658B-8EF87D2ACDD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A5B72AE2-6A05-C787-22FC-EE82600C9693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3A6B18E4-36E6-9AF9-886E-7A307C3E0D5B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A758EEF7-9D7F-E580-29A4-CB5064801CA3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6A86455F-81FF-C5BB-76AA-696575EB3B73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CC005B84-12DA-04ED-48D7-B58E1476D021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26C0E68B-F9BE-D170-8D37-B73F261065AF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C5566282-9446-3E97-F262-6DC8062FCE59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7E0B8042-7A0C-0D56-02C2-9033579D38F6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1C015B05-063C-0FD6-1C4F-B2B6E04F9CA9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48C0ABF4-FD94-C24C-9ED7-14C5EFE9BE49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52B9595B-0959-846E-246D-E9E554E4DF13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DAAC5F3D-D1EC-83E3-6744-1A23B4245A38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A68CEFEA-B7A1-CCFC-D58E-C58C2D49B99D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69C1F232-EB1A-FB13-A075-013FFDC239EC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753A812C-53B9-F5CF-9DFE-0D10FD80AEC3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5FB4A0DB-A143-C642-D8CC-2D62E78FFAFA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D93D95D6-7776-ED75-8411-827FF7FB3A4E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A99E59A6-E7FA-A12E-43D3-4C05F6770A14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96E8D4A4-92EF-1579-4276-47F7BECD7F3D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B65B9C46-5CBF-0176-9CFE-D1C66129894C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1149C784-2747-F149-5FF1-5F61C399CD77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40DE3D11-2355-F1EE-AD7F-743700C92829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A51775A5-2E6C-39D0-FDC7-D6768F39ED95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1C135F73-C705-CF27-B366-B8C5D8CA1928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4CCC54A9-F1C0-80F3-43FE-0196DBCEA61D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687632BA-690C-46D9-B8B2-803603934F02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722" name="object 14">
            <a:extLst>
              <a:ext uri="{FF2B5EF4-FFF2-40B4-BE49-F238E27FC236}">
                <a16:creationId xmlns:a16="http://schemas.microsoft.com/office/drawing/2014/main" id="{DBD8CE78-D70A-F594-6F9C-F2909C659696}"/>
              </a:ext>
            </a:extLst>
          </p:cNvPr>
          <p:cNvSpPr txBox="1"/>
          <p:nvPr/>
        </p:nvSpPr>
        <p:spPr>
          <a:xfrm>
            <a:off x="4257379" y="5257800"/>
            <a:ext cx="3021922" cy="2147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204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 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Center: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  <a:p>
            <a:pPr marL="12700" marR="5080">
              <a:lnSpc>
                <a:spcPct val="204000"/>
              </a:lnSpc>
              <a:tabLst>
                <a:tab pos="2697480" algn="l"/>
                <a:tab pos="2717800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Co-Vertices: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 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Foci: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sz="1000" b="1" spc="-5" dirty="0">
                <a:latin typeface="Century Gothic" panose="020B0502020202020204" pitchFamily="34" charset="0"/>
                <a:cs typeface="Tahoma"/>
              </a:rPr>
              <a:t>Asymptotes: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                       __________________________________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8732F4E-12DD-2ABD-8A6F-CBEF1BFC728C}"/>
              </a:ext>
            </a:extLst>
          </p:cNvPr>
          <p:cNvGrpSpPr/>
          <p:nvPr/>
        </p:nvGrpSpPr>
        <p:grpSpPr>
          <a:xfrm>
            <a:off x="5537758" y="1653912"/>
            <a:ext cx="1810512" cy="1810512"/>
            <a:chOff x="-36604" y="-25356"/>
            <a:chExt cx="2386434" cy="2387537"/>
          </a:xfrm>
        </p:grpSpPr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76691C6F-BF1D-A2E3-D6CB-F5ECE75591CA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BC9F7315-5849-6DA0-34F9-BF1ED0026D72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B0344429-0333-4FBD-9CA7-3FF3E3A72B3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-25356"/>
              <a:ext cx="0" cy="2387537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76868E6C-FF22-D0AB-CAFB-75D35F017A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604" y="1155347"/>
              <a:ext cx="238643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28E86B75-92EB-0A5F-2A25-BF06BEAAE215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327ACD75-74A5-C4FF-07A7-F230FB43223D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B72390F0-7FD5-514C-6336-4990D2DE9804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69171999-739E-5ADE-5DE1-85A084B9BDAF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48F22CFA-5746-D9CA-2DB1-99F4426C5FBB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34E9F17C-791A-5D11-B7C0-97984577675D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3E307D1F-E883-79CF-AC8D-4C51FB8D632E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EA2797BE-9855-216C-FB2E-1F4E040694C8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60A448E1-E791-3C29-2120-F660C90FBB9F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3AF921E9-A3A3-343E-65D8-2991D8F0C4B5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ACB2D12A-79A8-A51C-5879-59AFF9049E9C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30843874-AE6C-7D72-3531-1B70899C724E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C75E6F6E-AC41-20E2-50A6-1B99662F80B2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40A2314D-E25D-BFB5-A5ED-DFD4F7789C9F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63B6F68B-75DC-9174-6CE2-2DB185E8A6B0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046D0FD5-CEED-3E10-C0DD-B134AE34F8A6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C99807A5-E370-8901-22BF-7540ABF19341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69CBE863-7B78-2D75-84D3-52D01997A93E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7D54DE35-15BE-3DFA-DA2F-019ED2BF970C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5343D61E-4549-C559-C14C-08D1161910D8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F8FFC5F8-4907-2D2C-9E3C-58A48137BB14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92B75D83-6B63-941D-BC6D-DDBCDB96FA70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4C853C00-00AA-DE04-0F07-23A106159A81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0DFA1A9F-7CF2-EAF0-988B-F65DF9C70A1C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A892DE8F-646F-D943-3249-2601E7B62FB7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5531D32D-B146-D5E3-FFA9-1155E85F8E68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EE07E539-B301-9F35-B4A2-89C40FF3550C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5" name="Rectangle 754">
            <a:extLst>
              <a:ext uri="{FF2B5EF4-FFF2-40B4-BE49-F238E27FC236}">
                <a16:creationId xmlns:a16="http://schemas.microsoft.com/office/drawing/2014/main" id="{C709FDE6-93CA-0DCB-A650-7AC5EAAEDFC5}"/>
              </a:ext>
            </a:extLst>
          </p:cNvPr>
          <p:cNvSpPr/>
          <p:nvPr/>
        </p:nvSpPr>
        <p:spPr>
          <a:xfrm>
            <a:off x="577292" y="9315159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56" name="object 58">
            <a:extLst>
              <a:ext uri="{FF2B5EF4-FFF2-40B4-BE49-F238E27FC236}">
                <a16:creationId xmlns:a16="http://schemas.microsoft.com/office/drawing/2014/main" id="{10E0CE0E-5507-8805-547C-BF0411CE43DD}"/>
              </a:ext>
            </a:extLst>
          </p:cNvPr>
          <p:cNvSpPr txBox="1">
            <a:spLocks/>
          </p:cNvSpPr>
          <p:nvPr/>
        </p:nvSpPr>
        <p:spPr>
          <a:xfrm>
            <a:off x="5167804" y="9599651"/>
            <a:ext cx="216916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815"/>
              </a:lnSpc>
            </a:pPr>
            <a:r>
              <a:rPr lang="en-US" spc="5" dirty="0">
                <a:latin typeface="Century Gothic" panose="020B0502020202020204" pitchFamily="34" charset="0"/>
              </a:rPr>
              <a:t>© </a:t>
            </a:r>
            <a:r>
              <a:rPr lang="en-US" dirty="0">
                <a:latin typeface="Century Gothic" panose="020B0502020202020204" pitchFamily="34" charset="0"/>
              </a:rPr>
              <a:t>Gina </a:t>
            </a:r>
            <a:r>
              <a:rPr lang="en-US" spc="-5" dirty="0">
                <a:latin typeface="Century Gothic" panose="020B0502020202020204" pitchFamily="34" charset="0"/>
              </a:rPr>
              <a:t>Wilson (All Things Algebra</a:t>
            </a:r>
            <a:r>
              <a:rPr lang="en-US" spc="-5" baseline="30000" dirty="0">
                <a:latin typeface="Century Gothic" panose="020B0502020202020204" pitchFamily="34" charset="0"/>
              </a:rPr>
              <a:t>®</a:t>
            </a:r>
            <a:r>
              <a:rPr lang="en-US" spc="-5" dirty="0">
                <a:latin typeface="Century Gothic" panose="020B0502020202020204" pitchFamily="34" charset="0"/>
              </a:rPr>
              <a:t>, LLC),</a:t>
            </a:r>
            <a:r>
              <a:rPr lang="en-US" spc="-15" dirty="0">
                <a:latin typeface="Century Gothic" panose="020B0502020202020204" pitchFamily="34" charset="0"/>
              </a:rPr>
              <a:t> </a:t>
            </a:r>
            <a:r>
              <a:rPr lang="en-US" spc="-5" dirty="0">
                <a:latin typeface="Century Gothic" panose="020B0502020202020204" pitchFamily="34" charset="0"/>
              </a:rPr>
              <a:t>2015-2024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object 2">
            <a:extLst>
              <a:ext uri="{FF2B5EF4-FFF2-40B4-BE49-F238E27FC236}">
                <a16:creationId xmlns:a16="http://schemas.microsoft.com/office/drawing/2014/main" id="{76A53771-43B1-1DDD-12B3-451B585B4A14}"/>
              </a:ext>
            </a:extLst>
          </p:cNvPr>
          <p:cNvSpPr txBox="1"/>
          <p:nvPr/>
        </p:nvSpPr>
        <p:spPr>
          <a:xfrm>
            <a:off x="418866" y="478297"/>
            <a:ext cx="586803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Graph each parabola.  Identify the vertex, axis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symmetry, focus, and</a:t>
            </a:r>
            <a:r>
              <a:rPr sz="1100" b="1" spc="16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directrix.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92" name="object 6">
            <a:extLst>
              <a:ext uri="{FF2B5EF4-FFF2-40B4-BE49-F238E27FC236}">
                <a16:creationId xmlns:a16="http://schemas.microsoft.com/office/drawing/2014/main" id="{857F4D92-46B0-8C78-EDFB-6A8F9453015F}"/>
              </a:ext>
            </a:extLst>
          </p:cNvPr>
          <p:cNvSpPr txBox="1"/>
          <p:nvPr/>
        </p:nvSpPr>
        <p:spPr>
          <a:xfrm>
            <a:off x="4179186" y="2669846"/>
            <a:ext cx="131953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06195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Vertex:</a:t>
            </a:r>
            <a:r>
              <a:rPr sz="1000" b="1" spc="-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0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599" name="object 7">
            <a:extLst>
              <a:ext uri="{FF2B5EF4-FFF2-40B4-BE49-F238E27FC236}">
                <a16:creationId xmlns:a16="http://schemas.microsoft.com/office/drawing/2014/main" id="{404B4FAF-2DB9-B3F2-28FB-A95A6D212E51}"/>
              </a:ext>
            </a:extLst>
          </p:cNvPr>
          <p:cNvSpPr txBox="1"/>
          <p:nvPr/>
        </p:nvSpPr>
        <p:spPr>
          <a:xfrm>
            <a:off x="5620894" y="2669846"/>
            <a:ext cx="163957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6235" algn="l"/>
              </a:tabLst>
            </a:pPr>
            <a:r>
              <a:rPr sz="1000" b="1" spc="-10" dirty="0">
                <a:latin typeface="Century Gothic" panose="020B0502020202020204" pitchFamily="34" charset="0"/>
                <a:cs typeface="Tahoma"/>
              </a:rPr>
              <a:t>Axis of</a:t>
            </a:r>
            <a:r>
              <a:rPr sz="10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b="1" spc="-5" dirty="0">
                <a:latin typeface="Century Gothic" panose="020B0502020202020204" pitchFamily="34" charset="0"/>
                <a:cs typeface="Tahoma"/>
              </a:rPr>
              <a:t>Sym:</a:t>
            </a:r>
            <a:r>
              <a:rPr sz="1000" b="1" spc="-2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0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00" name="object 8">
            <a:extLst>
              <a:ext uri="{FF2B5EF4-FFF2-40B4-BE49-F238E27FC236}">
                <a16:creationId xmlns:a16="http://schemas.microsoft.com/office/drawing/2014/main" id="{0194A2E1-FF53-7EBE-7CB1-5421D0154CBD}"/>
              </a:ext>
            </a:extLst>
          </p:cNvPr>
          <p:cNvSpPr txBox="1"/>
          <p:nvPr/>
        </p:nvSpPr>
        <p:spPr>
          <a:xfrm>
            <a:off x="4179254" y="2967026"/>
            <a:ext cx="132715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13815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Focus:</a:t>
            </a:r>
            <a:r>
              <a:rPr sz="1000" b="1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0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01" name="object 9">
            <a:extLst>
              <a:ext uri="{FF2B5EF4-FFF2-40B4-BE49-F238E27FC236}">
                <a16:creationId xmlns:a16="http://schemas.microsoft.com/office/drawing/2014/main" id="{184A64BC-A82B-02BF-26F9-F0FD754A9FA1}"/>
              </a:ext>
            </a:extLst>
          </p:cNvPr>
          <p:cNvSpPr txBox="1"/>
          <p:nvPr/>
        </p:nvSpPr>
        <p:spPr>
          <a:xfrm>
            <a:off x="5628577" y="2967026"/>
            <a:ext cx="164592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32585" algn="l"/>
              </a:tabLst>
            </a:pPr>
            <a:r>
              <a:rPr sz="1000" b="1" spc="-5" dirty="0">
                <a:latin typeface="Century Gothic" panose="020B0502020202020204" pitchFamily="34" charset="0"/>
                <a:cs typeface="Tahoma"/>
              </a:rPr>
              <a:t>Directrix:</a:t>
            </a:r>
            <a:r>
              <a:rPr sz="1000" b="1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0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B2D3FB13-27FC-5666-95A0-F8CE85473632}"/>
              </a:ext>
            </a:extLst>
          </p:cNvPr>
          <p:cNvSpPr/>
          <p:nvPr/>
        </p:nvSpPr>
        <p:spPr>
          <a:xfrm>
            <a:off x="379177" y="724840"/>
            <a:ext cx="3465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D2E497C-39DC-E7E6-B8B7-FF0B80AF7EC6}"/>
              </a:ext>
            </a:extLst>
          </p:cNvPr>
          <p:cNvSpPr/>
          <p:nvPr/>
        </p:nvSpPr>
        <p:spPr>
          <a:xfrm>
            <a:off x="3810000" y="740229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07" name="Object 606">
            <a:extLst>
              <a:ext uri="{FF2B5EF4-FFF2-40B4-BE49-F238E27FC236}">
                <a16:creationId xmlns:a16="http://schemas.microsoft.com/office/drawing/2014/main" id="{0AE402A1-1492-2E0D-F13D-C7A908941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16" y="761624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8840" imgH="228600" progId="Equation.DSMT4">
                  <p:embed/>
                </p:oleObj>
              </mc:Choice>
              <mc:Fallback>
                <p:oleObj name="Equation" r:id="rId3" imgW="888840" imgH="228600" progId="Equation.DSMT4">
                  <p:embed/>
                  <p:pic>
                    <p:nvPicPr>
                      <p:cNvPr id="589" name="Object 588">
                        <a:extLst>
                          <a:ext uri="{FF2B5EF4-FFF2-40B4-BE49-F238E27FC236}">
                            <a16:creationId xmlns:a16="http://schemas.microsoft.com/office/drawing/2014/main" id="{0AE402A1-1492-2E0D-F13D-C7A9089416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0516" y="761624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" name="Object 652">
            <a:extLst>
              <a:ext uri="{FF2B5EF4-FFF2-40B4-BE49-F238E27FC236}">
                <a16:creationId xmlns:a16="http://schemas.microsoft.com/office/drawing/2014/main" id="{8D5D02FE-7E38-6DBC-4EF7-074D6EA417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2100" y="752929"/>
          <a:ext cx="1193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228600" progId="Equation.DSMT4">
                  <p:embed/>
                </p:oleObj>
              </mc:Choice>
              <mc:Fallback>
                <p:oleObj name="Equation" r:id="rId5" imgW="1193760" imgH="228600" progId="Equation.DSMT4">
                  <p:embed/>
                  <p:pic>
                    <p:nvPicPr>
                      <p:cNvPr id="590" name="Object 589">
                        <a:extLst>
                          <a:ext uri="{FF2B5EF4-FFF2-40B4-BE49-F238E27FC236}">
                            <a16:creationId xmlns:a16="http://schemas.microsoft.com/office/drawing/2014/main" id="{8D5D02FE-7E38-6DBC-4EF7-074D6EA417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02100" y="752929"/>
                        <a:ext cx="1193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4" name="Rectangle 653">
            <a:extLst>
              <a:ext uri="{FF2B5EF4-FFF2-40B4-BE49-F238E27FC236}">
                <a16:creationId xmlns:a16="http://schemas.microsoft.com/office/drawing/2014/main" id="{836892E6-7691-3B6E-9FEB-EF7784BC136E}"/>
              </a:ext>
            </a:extLst>
          </p:cNvPr>
          <p:cNvSpPr/>
          <p:nvPr/>
        </p:nvSpPr>
        <p:spPr>
          <a:xfrm>
            <a:off x="388192" y="2924255"/>
            <a:ext cx="150233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Focus: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018448DC-FAD6-8B1D-3CE5-711DD21A3E2B}"/>
              </a:ext>
            </a:extLst>
          </p:cNvPr>
          <p:cNvSpPr/>
          <p:nvPr/>
        </p:nvSpPr>
        <p:spPr>
          <a:xfrm>
            <a:off x="1828800" y="2924255"/>
            <a:ext cx="17892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Directrix: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E2E937B-64B1-5B14-B540-2A0281209493}"/>
              </a:ext>
            </a:extLst>
          </p:cNvPr>
          <p:cNvSpPr/>
          <p:nvPr/>
        </p:nvSpPr>
        <p:spPr>
          <a:xfrm>
            <a:off x="382434" y="2638141"/>
            <a:ext cx="14975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990F4CED-7501-C389-EE88-B1727D347D81}"/>
              </a:ext>
            </a:extLst>
          </p:cNvPr>
          <p:cNvSpPr/>
          <p:nvPr/>
        </p:nvSpPr>
        <p:spPr>
          <a:xfrm>
            <a:off x="1820174" y="2636707"/>
            <a:ext cx="1784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Axis of Sym: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4DB692D9-2E07-BB52-3886-C89D6CCEB732}"/>
              </a:ext>
            </a:extLst>
          </p:cNvPr>
          <p:cNvSpPr/>
          <p:nvPr/>
        </p:nvSpPr>
        <p:spPr>
          <a:xfrm>
            <a:off x="379177" y="334519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59" name="Object 658">
            <a:extLst>
              <a:ext uri="{FF2B5EF4-FFF2-40B4-BE49-F238E27FC236}">
                <a16:creationId xmlns:a16="http://schemas.microsoft.com/office/drawing/2014/main" id="{44EA016D-81B8-FA06-1DF2-0D18BD991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858" y="3361696"/>
          <a:ext cx="1333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228600" progId="Equation.DSMT4">
                  <p:embed/>
                </p:oleObj>
              </mc:Choice>
              <mc:Fallback>
                <p:oleObj name="Equation" r:id="rId7" imgW="1333440" imgH="228600" progId="Equation.DSMT4">
                  <p:embed/>
                  <p:pic>
                    <p:nvPicPr>
                      <p:cNvPr id="598" name="Object 597">
                        <a:extLst>
                          <a:ext uri="{FF2B5EF4-FFF2-40B4-BE49-F238E27FC236}">
                            <a16:creationId xmlns:a16="http://schemas.microsoft.com/office/drawing/2014/main" id="{44EA016D-81B8-FA06-1DF2-0D18BD991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858" y="3361696"/>
                        <a:ext cx="1333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" name="Rectangle 659">
            <a:extLst>
              <a:ext uri="{FF2B5EF4-FFF2-40B4-BE49-F238E27FC236}">
                <a16:creationId xmlns:a16="http://schemas.microsoft.com/office/drawing/2014/main" id="{2725C62E-0365-C317-6465-0B103A480085}"/>
              </a:ext>
            </a:extLst>
          </p:cNvPr>
          <p:cNvSpPr/>
          <p:nvPr/>
        </p:nvSpPr>
        <p:spPr>
          <a:xfrm>
            <a:off x="379177" y="5670985"/>
            <a:ext cx="6743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parabola in standard form with the given characteristics.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8FC9A418-F84E-C77F-8EC4-D178C61B2250}"/>
              </a:ext>
            </a:extLst>
          </p:cNvPr>
          <p:cNvSpPr/>
          <p:nvPr/>
        </p:nvSpPr>
        <p:spPr>
          <a:xfrm>
            <a:off x="379177" y="5908211"/>
            <a:ext cx="21980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0, 0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Focus: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0, -6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31FB6F30-5F13-0F1E-ED01-ACAE2B8654B9}"/>
              </a:ext>
            </a:extLst>
          </p:cNvPr>
          <p:cNvSpPr/>
          <p:nvPr/>
        </p:nvSpPr>
        <p:spPr>
          <a:xfrm>
            <a:off x="3810000" y="5916837"/>
            <a:ext cx="23391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3, -4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Focus: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5, -4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DA217A5-751D-604F-810F-05BB53EA82EB}"/>
              </a:ext>
            </a:extLst>
          </p:cNvPr>
          <p:cNvSpPr/>
          <p:nvPr/>
        </p:nvSpPr>
        <p:spPr>
          <a:xfrm>
            <a:off x="3810000" y="7802239"/>
            <a:ext cx="242887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Focus: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-5, 2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Directrix: </a:t>
            </a:r>
            <a:r>
              <a:rPr lang="en-US" sz="1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= 0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64" name="Object 663">
            <a:extLst>
              <a:ext uri="{FF2B5EF4-FFF2-40B4-BE49-F238E27FC236}">
                <a16:creationId xmlns:a16="http://schemas.microsoft.com/office/drawing/2014/main" id="{90D7BE7A-8E1D-A023-D9EB-0EF3CA69A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7320" y="7748894"/>
          <a:ext cx="469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9800" imgH="368280" progId="Equation.DSMT4">
                  <p:embed/>
                </p:oleObj>
              </mc:Choice>
              <mc:Fallback>
                <p:oleObj name="Equation" r:id="rId9" imgW="469800" imgH="368280" progId="Equation.DSMT4">
                  <p:embed/>
                  <p:pic>
                    <p:nvPicPr>
                      <p:cNvPr id="609" name="Object 608">
                        <a:extLst>
                          <a:ext uri="{FF2B5EF4-FFF2-40B4-BE49-F238E27FC236}">
                            <a16:creationId xmlns:a16="http://schemas.microsoft.com/office/drawing/2014/main" id="{90D7BE7A-8E1D-A023-D9EB-0EF3CA69AB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87320" y="7748894"/>
                        <a:ext cx="469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" name="Rectangle 664">
            <a:extLst>
              <a:ext uri="{FF2B5EF4-FFF2-40B4-BE49-F238E27FC236}">
                <a16:creationId xmlns:a16="http://schemas.microsoft.com/office/drawing/2014/main" id="{04A9567E-7619-EB5D-D4FC-4136961C4301}"/>
              </a:ext>
            </a:extLst>
          </p:cNvPr>
          <p:cNvSpPr/>
          <p:nvPr/>
        </p:nvSpPr>
        <p:spPr>
          <a:xfrm>
            <a:off x="379177" y="7802239"/>
            <a:ext cx="21499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-2, -6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Directrix: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E50254E4-9FB4-5945-7AB7-F70DC06BC9FA}"/>
              </a:ext>
            </a:extLst>
          </p:cNvPr>
          <p:cNvGrpSpPr/>
          <p:nvPr/>
        </p:nvGrpSpPr>
        <p:grpSpPr>
          <a:xfrm>
            <a:off x="1879960" y="749325"/>
            <a:ext cx="1810512" cy="1810512"/>
            <a:chOff x="-36604" y="-25356"/>
            <a:chExt cx="2386434" cy="2387537"/>
          </a:xfrm>
        </p:grpSpPr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F281E040-2A08-0629-A2F2-8321DE8F71D0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5C99EB89-A51E-B76D-2323-DC6D2CF30FF2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7051D828-795C-C1A9-5F14-573E3BA56850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-25356"/>
              <a:ext cx="0" cy="2387537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6EDD7E75-127C-E6AF-8228-7254E9B818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604" y="1155347"/>
              <a:ext cx="238643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A5A88FCF-9413-BA8E-B2E8-20E4B6EA6A7F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671">
              <a:extLst>
                <a:ext uri="{FF2B5EF4-FFF2-40B4-BE49-F238E27FC236}">
                  <a16:creationId xmlns:a16="http://schemas.microsoft.com/office/drawing/2014/main" id="{BFA7B5D6-BD15-0C60-2BC0-07CDBEA2F2CB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72092D8B-BD30-B2C7-D9D6-8CEE87DA6FF6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3CBD28E3-5FA7-EC0F-E69B-EB0DF012EF07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C88889A6-B2A7-A3F3-FA9E-2FE745908BBC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DA29AA2F-2A6D-F8F5-C637-39D78EB3AE70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D4CC8B30-98E6-0548-5EAD-87C59DA9C786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97737D04-7998-B802-5776-1F96E0C8595A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>
              <a:extLst>
                <a:ext uri="{FF2B5EF4-FFF2-40B4-BE49-F238E27FC236}">
                  <a16:creationId xmlns:a16="http://schemas.microsoft.com/office/drawing/2014/main" id="{F7BEA438-AC00-6F50-2C37-3F56C19BBE90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75EF6811-C24E-4CE9-8157-5B9B44B461AD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429EC9B0-DCC5-F246-6728-46FF800A17AD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D16F38D3-5798-605F-8E73-6F7234BBD95C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2B9DC608-9CE7-4E2F-57C7-C8184A7E793D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19D541C3-53A9-B2A9-4A33-DFC58045076D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B5C78179-D2B1-ECB2-E517-BBE6F8C4CC84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A3803689-31CA-2689-C231-5BBEA7463860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CE1AA5D3-6D1F-8B5D-4E3C-33E17ACA0BDD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20104C3F-21A9-626C-978D-8FDED3BE8042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>
              <a:extLst>
                <a:ext uri="{FF2B5EF4-FFF2-40B4-BE49-F238E27FC236}">
                  <a16:creationId xmlns:a16="http://schemas.microsoft.com/office/drawing/2014/main" id="{9131D485-4662-F6EB-4786-E6C88031A47F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764996EC-1E16-4EA6-ED8D-93CB944CCFF5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261B3889-E074-7116-E3DB-4DE0759BDF3F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>
              <a:extLst>
                <a:ext uri="{FF2B5EF4-FFF2-40B4-BE49-F238E27FC236}">
                  <a16:creationId xmlns:a16="http://schemas.microsoft.com/office/drawing/2014/main" id="{DDD0100B-2113-C395-91EE-0F820B723C4A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1961D9AD-3441-990E-AE2F-5E8BBD9511B5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CFA548B2-67C2-1DBD-2CE1-F68F5BACDA56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3E934781-D446-4107-825B-E6B9E6CEE91D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695">
              <a:extLst>
                <a:ext uri="{FF2B5EF4-FFF2-40B4-BE49-F238E27FC236}">
                  <a16:creationId xmlns:a16="http://schemas.microsoft.com/office/drawing/2014/main" id="{4A4F3E1A-ED62-759F-930E-E9765126ED47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8286FC21-1BDB-6DEA-D9DE-08A1E4ED0AF7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938EA307-B2F2-21B8-13E3-68E5D8C1BFEE}"/>
              </a:ext>
            </a:extLst>
          </p:cNvPr>
          <p:cNvGrpSpPr/>
          <p:nvPr/>
        </p:nvGrpSpPr>
        <p:grpSpPr>
          <a:xfrm>
            <a:off x="5489305" y="749325"/>
            <a:ext cx="1810512" cy="1810512"/>
            <a:chOff x="-36604" y="-25356"/>
            <a:chExt cx="2386434" cy="2387537"/>
          </a:xfrm>
        </p:grpSpPr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46D06C90-323C-555A-CB5B-D667438C8CB9}"/>
                </a:ext>
              </a:extLst>
            </p:cNvPr>
            <p:cNvSpPr/>
            <p:nvPr/>
          </p:nvSpPr>
          <p:spPr>
            <a:xfrm>
              <a:off x="103755" y="104278"/>
              <a:ext cx="2102133" cy="210213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B9C6A69D-6FE6-FE0A-0E0A-BE0911EF8262}"/>
                </a:ext>
              </a:extLst>
            </p:cNvPr>
            <p:cNvCxnSpPr/>
            <p:nvPr/>
          </p:nvCxnSpPr>
          <p:spPr>
            <a:xfrm flipH="1">
              <a:off x="103755" y="10239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CFB3BE94-2919-9E6C-9D04-638EDB8D8E3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822" y="-25356"/>
              <a:ext cx="0" cy="2387537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82C8C9A4-2DA4-631B-0687-32719B5F1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604" y="1155347"/>
              <a:ext cx="238643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EC1DBDB0-0614-A724-A324-C701928CAF7E}"/>
                </a:ext>
              </a:extLst>
            </p:cNvPr>
            <p:cNvCxnSpPr/>
            <p:nvPr/>
          </p:nvCxnSpPr>
          <p:spPr>
            <a:xfrm>
              <a:off x="6292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FB8AD14C-5ABC-8A0B-D713-070C2FCC1338}"/>
                </a:ext>
              </a:extLst>
            </p:cNvPr>
            <p:cNvCxnSpPr/>
            <p:nvPr/>
          </p:nvCxnSpPr>
          <p:spPr>
            <a:xfrm flipH="1">
              <a:off x="103755" y="8925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D807FB5A-C73E-1D79-8FAE-64F3CE92E782}"/>
                </a:ext>
              </a:extLst>
            </p:cNvPr>
            <p:cNvCxnSpPr/>
            <p:nvPr/>
          </p:nvCxnSpPr>
          <p:spPr>
            <a:xfrm flipH="1">
              <a:off x="103755" y="7611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60F7250D-4842-C08C-CE17-483C9F57DB6F}"/>
                </a:ext>
              </a:extLst>
            </p:cNvPr>
            <p:cNvCxnSpPr/>
            <p:nvPr/>
          </p:nvCxnSpPr>
          <p:spPr>
            <a:xfrm flipH="1">
              <a:off x="103755" y="6298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FBAC6D79-E0E8-4D06-A680-835AD9A727DB}"/>
                </a:ext>
              </a:extLst>
            </p:cNvPr>
            <p:cNvCxnSpPr/>
            <p:nvPr/>
          </p:nvCxnSpPr>
          <p:spPr>
            <a:xfrm flipH="1">
              <a:off x="103755" y="4984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3019BA4D-AED6-FAE2-2222-2FFCEF1CBB9F}"/>
                </a:ext>
              </a:extLst>
            </p:cNvPr>
            <p:cNvCxnSpPr/>
            <p:nvPr/>
          </p:nvCxnSpPr>
          <p:spPr>
            <a:xfrm flipH="1">
              <a:off x="103755" y="3670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0005F196-0F6C-B8B0-08D0-86C84D5BAEAB}"/>
                </a:ext>
              </a:extLst>
            </p:cNvPr>
            <p:cNvCxnSpPr/>
            <p:nvPr/>
          </p:nvCxnSpPr>
          <p:spPr>
            <a:xfrm flipH="1">
              <a:off x="103755" y="2356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A9136FE0-E7BC-1680-CDF4-9C77C62C931A}"/>
                </a:ext>
              </a:extLst>
            </p:cNvPr>
            <p:cNvCxnSpPr/>
            <p:nvPr/>
          </p:nvCxnSpPr>
          <p:spPr>
            <a:xfrm flipH="1">
              <a:off x="103755" y="20750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4D5D477D-A437-74C2-DC5B-5B2E95629659}"/>
                </a:ext>
              </a:extLst>
            </p:cNvPr>
            <p:cNvCxnSpPr/>
            <p:nvPr/>
          </p:nvCxnSpPr>
          <p:spPr>
            <a:xfrm flipH="1">
              <a:off x="103755" y="194364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1A8DAE2F-E5C0-A6FE-737C-E249BCE140CF}"/>
                </a:ext>
              </a:extLst>
            </p:cNvPr>
            <p:cNvCxnSpPr/>
            <p:nvPr/>
          </p:nvCxnSpPr>
          <p:spPr>
            <a:xfrm flipH="1">
              <a:off x="103755" y="181226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A44CF9DD-BEB5-E8EA-8FFB-ACB75FAB5CCD}"/>
                </a:ext>
              </a:extLst>
            </p:cNvPr>
            <p:cNvCxnSpPr/>
            <p:nvPr/>
          </p:nvCxnSpPr>
          <p:spPr>
            <a:xfrm flipH="1">
              <a:off x="103755" y="168087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49703223-4CB4-E549-3797-44858C00E485}"/>
                </a:ext>
              </a:extLst>
            </p:cNvPr>
            <p:cNvCxnSpPr/>
            <p:nvPr/>
          </p:nvCxnSpPr>
          <p:spPr>
            <a:xfrm flipH="1">
              <a:off x="103755" y="1549495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7E1AD853-D141-5919-0E33-B806E37A98DA}"/>
                </a:ext>
              </a:extLst>
            </p:cNvPr>
            <p:cNvCxnSpPr/>
            <p:nvPr/>
          </p:nvCxnSpPr>
          <p:spPr>
            <a:xfrm flipH="1">
              <a:off x="103755" y="1418112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E8181587-5421-1B93-08F9-1D3A1617C4EC}"/>
                </a:ext>
              </a:extLst>
            </p:cNvPr>
            <p:cNvCxnSpPr/>
            <p:nvPr/>
          </p:nvCxnSpPr>
          <p:spPr>
            <a:xfrm flipH="1">
              <a:off x="103755" y="1286728"/>
              <a:ext cx="210213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A198BF91-2B66-3AE1-023A-5D68614A60DF}"/>
                </a:ext>
              </a:extLst>
            </p:cNvPr>
            <p:cNvCxnSpPr/>
            <p:nvPr/>
          </p:nvCxnSpPr>
          <p:spPr>
            <a:xfrm>
              <a:off x="10234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2376E3DE-E1A8-9F5B-D30D-7895E5035044}"/>
                </a:ext>
              </a:extLst>
            </p:cNvPr>
            <p:cNvCxnSpPr/>
            <p:nvPr/>
          </p:nvCxnSpPr>
          <p:spPr>
            <a:xfrm>
              <a:off x="8920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A3D49A75-D65F-F09F-455A-21DB76A729C7}"/>
                </a:ext>
              </a:extLst>
            </p:cNvPr>
            <p:cNvCxnSpPr/>
            <p:nvPr/>
          </p:nvCxnSpPr>
          <p:spPr>
            <a:xfrm>
              <a:off x="7606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6C7DFCCA-2549-9176-438C-8A0113BE65AD}"/>
                </a:ext>
              </a:extLst>
            </p:cNvPr>
            <p:cNvCxnSpPr/>
            <p:nvPr/>
          </p:nvCxnSpPr>
          <p:spPr>
            <a:xfrm>
              <a:off x="497905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2CB40173-9C7D-6E2A-8B23-6B7E2BCD0BDD}"/>
                </a:ext>
              </a:extLst>
            </p:cNvPr>
            <p:cNvCxnSpPr/>
            <p:nvPr/>
          </p:nvCxnSpPr>
          <p:spPr>
            <a:xfrm>
              <a:off x="3665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09B999BC-0AAA-BA78-AB0D-49A7F12D70BA}"/>
                </a:ext>
              </a:extLst>
            </p:cNvPr>
            <p:cNvCxnSpPr/>
            <p:nvPr/>
          </p:nvCxnSpPr>
          <p:spPr>
            <a:xfrm>
              <a:off x="2351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2DDA646B-4687-96F4-EC32-57E30146D310}"/>
                </a:ext>
              </a:extLst>
            </p:cNvPr>
            <p:cNvCxnSpPr/>
            <p:nvPr/>
          </p:nvCxnSpPr>
          <p:spPr>
            <a:xfrm>
              <a:off x="168035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723">
              <a:extLst>
                <a:ext uri="{FF2B5EF4-FFF2-40B4-BE49-F238E27FC236}">
                  <a16:creationId xmlns:a16="http://schemas.microsoft.com/office/drawing/2014/main" id="{9DC504F1-C776-AB24-7818-3EC73BE696C4}"/>
                </a:ext>
              </a:extLst>
            </p:cNvPr>
            <p:cNvCxnSpPr/>
            <p:nvPr/>
          </p:nvCxnSpPr>
          <p:spPr>
            <a:xfrm>
              <a:off x="20745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B4912DFB-EA89-EEDF-7822-3EFCC46F5481}"/>
                </a:ext>
              </a:extLst>
            </p:cNvPr>
            <p:cNvCxnSpPr/>
            <p:nvPr/>
          </p:nvCxnSpPr>
          <p:spPr>
            <a:xfrm>
              <a:off x="194312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6CDCC7FB-806F-6FD0-5841-8FC0A8F158FB}"/>
                </a:ext>
              </a:extLst>
            </p:cNvPr>
            <p:cNvCxnSpPr/>
            <p:nvPr/>
          </p:nvCxnSpPr>
          <p:spPr>
            <a:xfrm>
              <a:off x="181173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173F8B35-91DD-F527-97C3-2B3CC27F84DC}"/>
                </a:ext>
              </a:extLst>
            </p:cNvPr>
            <p:cNvCxnSpPr/>
            <p:nvPr/>
          </p:nvCxnSpPr>
          <p:spPr>
            <a:xfrm>
              <a:off x="1548971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F123E7BD-9F1D-06F9-4D58-75AE9C0A96E2}"/>
                </a:ext>
              </a:extLst>
            </p:cNvPr>
            <p:cNvCxnSpPr/>
            <p:nvPr/>
          </p:nvCxnSpPr>
          <p:spPr>
            <a:xfrm>
              <a:off x="1417588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04E43078-B013-767A-0A9F-C7B512614E48}"/>
                </a:ext>
              </a:extLst>
            </p:cNvPr>
            <p:cNvCxnSpPr/>
            <p:nvPr/>
          </p:nvCxnSpPr>
          <p:spPr>
            <a:xfrm>
              <a:off x="1286204" y="104278"/>
              <a:ext cx="0" cy="210213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2A9B572A-D949-E480-3C70-B83A08D9084A}"/>
              </a:ext>
            </a:extLst>
          </p:cNvPr>
          <p:cNvGrpSpPr/>
          <p:nvPr/>
        </p:nvGrpSpPr>
        <p:grpSpPr>
          <a:xfrm>
            <a:off x="2025876" y="3360531"/>
            <a:ext cx="2176272" cy="2176272"/>
            <a:chOff x="-90015" y="-91862"/>
            <a:chExt cx="5035371" cy="5034206"/>
          </a:xfrm>
        </p:grpSpPr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5940C7BD-86A1-0D14-13CD-008D3789134A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5560B9AC-5C28-F753-DF22-29B7420CCBE1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B64B9615-6C41-E6F1-C63E-C065F1D37BC6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48C1072E-12A3-4769-435D-8797620BADB7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D20B6359-3255-367B-17FD-003384E5B19F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6DB293A3-7243-1588-ACDD-F2408980E4D4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948FA792-DEC1-715E-1E59-1FC5B960AE36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58F3C2EB-3417-28FF-B37E-127658E44ADC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C239BD29-12C9-9B94-2E88-0E0C1EFF45B1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3A225737-9970-E1F3-CAE6-DB52F7E147B6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7A17020A-DF85-F432-8B38-9D05634CF07B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D95ADACF-0FBC-9CFD-C0E9-721A122EBAF6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6DCBD41E-230F-3667-4B5D-21A6EF962C3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6216F111-DB4A-CC34-B938-5F484B7CD162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A9D90745-EE33-5547-CD5A-04C89C85EDB9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C1CBAE42-E11E-0209-FDB1-53EF95668416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44EA355C-55CF-B378-FC6B-410BD67E89EE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2C72404D-B061-2CF7-055D-C67FEC3D48FF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4B263796-D0E5-81B0-026F-19EC1014553E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5C8C1793-5C1D-9FFB-7B16-E2577FB9FA68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5D5DEE3B-A10F-E29C-7DBE-29A9591B5965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DD5D6905-D2D0-CE24-5BC8-6BCA8EB344EE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1D178C40-ADAC-1DB1-74A1-95894C1B2391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E7944653-CB33-8C0F-2539-53F4A48A1C4B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5" name="Straight Connector 754">
              <a:extLst>
                <a:ext uri="{FF2B5EF4-FFF2-40B4-BE49-F238E27FC236}">
                  <a16:creationId xmlns:a16="http://schemas.microsoft.com/office/drawing/2014/main" id="{3A82529E-99D5-902E-68BA-FA70E72392E9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2E2E3199-B569-4147-7B19-F33729CA1637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F8444BBE-97C6-FD9F-70F3-87C0750629E4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12046CD0-732D-A476-3DEB-DF147206EF3B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17550DC9-A770-D5D1-02B2-1A8CC9700E28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EAB470A3-F794-7D39-33C5-8B97EA2F7A8A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1" name="Straight Connector 760">
              <a:extLst>
                <a:ext uri="{FF2B5EF4-FFF2-40B4-BE49-F238E27FC236}">
                  <a16:creationId xmlns:a16="http://schemas.microsoft.com/office/drawing/2014/main" id="{E00AE72A-35FE-1084-D195-0C7C6A74E4E9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8B2948B7-626B-AA6B-4B83-A9D22FD0B574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3" name="Straight Connector 762">
              <a:extLst>
                <a:ext uri="{FF2B5EF4-FFF2-40B4-BE49-F238E27FC236}">
                  <a16:creationId xmlns:a16="http://schemas.microsoft.com/office/drawing/2014/main" id="{3DC5426D-0E75-7571-EF2B-6F0B5C32C3C4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9FC6FD5C-B024-48BF-0CD3-05E861BFB34C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EC350828-0357-06D1-C033-00929A2EA948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6" name="Straight Connector 765">
              <a:extLst>
                <a:ext uri="{FF2B5EF4-FFF2-40B4-BE49-F238E27FC236}">
                  <a16:creationId xmlns:a16="http://schemas.microsoft.com/office/drawing/2014/main" id="{F99ABFE3-FF85-B951-B3FF-14A9E097F45F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BD2AE1BF-A3B4-0AB3-A558-01F88EF78F3C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10AB5838-04FF-E124-7729-2FD95E27A9DA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69" name="Straight Connector 768">
              <a:extLst>
                <a:ext uri="{FF2B5EF4-FFF2-40B4-BE49-F238E27FC236}">
                  <a16:creationId xmlns:a16="http://schemas.microsoft.com/office/drawing/2014/main" id="{A1A0BFD5-8605-9A9B-A703-9843D4DB91F9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770" name="object 14">
            <a:extLst>
              <a:ext uri="{FF2B5EF4-FFF2-40B4-BE49-F238E27FC236}">
                <a16:creationId xmlns:a16="http://schemas.microsoft.com/office/drawing/2014/main" id="{297FF80B-354B-BAC0-1116-7B43166E4055}"/>
              </a:ext>
            </a:extLst>
          </p:cNvPr>
          <p:cNvSpPr txBox="1"/>
          <p:nvPr/>
        </p:nvSpPr>
        <p:spPr>
          <a:xfrm>
            <a:off x="4202148" y="3779113"/>
            <a:ext cx="3021922" cy="183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204000"/>
              </a:lnSpc>
              <a:tabLst>
                <a:tab pos="149987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Standard Form: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Vertex</a:t>
            </a:r>
            <a:r>
              <a:rPr sz="1000" b="1" spc="-5" dirty="0">
                <a:latin typeface="Century Gothic" panose="020B0502020202020204" pitchFamily="34" charset="0"/>
                <a:cs typeface="Tahoma"/>
              </a:rPr>
              <a:t>:</a:t>
            </a: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</a:t>
            </a:r>
            <a:endParaRPr sz="1000" dirty="0">
              <a:latin typeface="Century Gothic" panose="020B0502020202020204" pitchFamily="34" charset="0"/>
              <a:cs typeface="Times New Roman"/>
            </a:endParaRPr>
          </a:p>
          <a:p>
            <a:pPr marL="12700" marR="5080" algn="r">
              <a:lnSpc>
                <a:spcPct val="204000"/>
              </a:lnSpc>
              <a:tabLst>
                <a:tab pos="2697480" algn="l"/>
                <a:tab pos="2717800" algn="l"/>
              </a:tabLst>
            </a:pP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Axis of Symmetry</a:t>
            </a:r>
            <a:r>
              <a:rPr sz="1000" b="1" spc="-5" dirty="0">
                <a:latin typeface="Century Gothic" panose="020B0502020202020204" pitchFamily="34" charset="0"/>
                <a:cs typeface="Tahoma"/>
              </a:rPr>
              <a:t>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</a:t>
            </a:r>
            <a:br>
              <a:rPr lang="en-US" sz="1000" b="1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Focus</a:t>
            </a:r>
            <a:r>
              <a:rPr sz="1000" b="1" spc="-5" dirty="0">
                <a:latin typeface="Century Gothic" panose="020B0502020202020204" pitchFamily="34" charset="0"/>
                <a:cs typeface="Tahoma"/>
              </a:rPr>
              <a:t>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________________ 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r>
              <a:rPr lang="en-US" sz="1000" b="1" spc="-5" dirty="0">
                <a:latin typeface="Century Gothic" panose="020B0502020202020204" pitchFamily="34" charset="0"/>
                <a:cs typeface="Tahoma"/>
              </a:rPr>
              <a:t>Directrix</a:t>
            </a:r>
            <a:r>
              <a:rPr sz="1000" b="1" spc="-5" dirty="0">
                <a:latin typeface="Century Gothic" panose="020B0502020202020204" pitchFamily="34" charset="0"/>
                <a:cs typeface="Tahoma"/>
              </a:rPr>
              <a:t>: </a:t>
            </a:r>
            <a:r>
              <a:rPr lang="en-US" sz="1000" spc="-5" dirty="0">
                <a:latin typeface="Century Gothic" panose="020B0502020202020204" pitchFamily="34" charset="0"/>
                <a:cs typeface="Tahoma"/>
              </a:rPr>
              <a:t>_______________</a:t>
            </a:r>
            <a:br>
              <a:rPr lang="en-US" sz="1000" spc="-5" dirty="0">
                <a:latin typeface="Century Gothic" panose="020B0502020202020204" pitchFamily="34" charset="0"/>
                <a:cs typeface="Tahoma"/>
              </a:rPr>
            </a:br>
            <a:endParaRPr sz="100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4923D590-7028-C355-67C1-7A4AA3CF46D0}"/>
              </a:ext>
            </a:extLst>
          </p:cNvPr>
          <p:cNvSpPr/>
          <p:nvPr/>
        </p:nvSpPr>
        <p:spPr>
          <a:xfrm>
            <a:off x="4098265" y="9315159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3C6EDC6D-9412-10FA-C0CC-BBB5297B91C7}"/>
              </a:ext>
            </a:extLst>
          </p:cNvPr>
          <p:cNvSpPr/>
          <p:nvPr/>
        </p:nvSpPr>
        <p:spPr>
          <a:xfrm>
            <a:off x="577292" y="9315159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A34FEE6A-633F-1625-25CB-7BE5B12A91A7}"/>
              </a:ext>
            </a:extLst>
          </p:cNvPr>
          <p:cNvSpPr/>
          <p:nvPr/>
        </p:nvSpPr>
        <p:spPr>
          <a:xfrm>
            <a:off x="4124225" y="7460343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8AF071AD-5499-84A9-767E-1852D6209B2D}"/>
              </a:ext>
            </a:extLst>
          </p:cNvPr>
          <p:cNvSpPr/>
          <p:nvPr/>
        </p:nvSpPr>
        <p:spPr>
          <a:xfrm>
            <a:off x="603252" y="7460343"/>
            <a:ext cx="32127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Form:</a:t>
            </a:r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349</Words>
  <Application>Microsoft Office PowerPoint</Application>
  <PresentationFormat>Custom</PresentationFormat>
  <Paragraphs>40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- 17 - Quiz 9-2</dc:title>
  <dc:creator>allth</dc:creator>
  <cp:lastModifiedBy>Gina Wilson</cp:lastModifiedBy>
  <cp:revision>21</cp:revision>
  <dcterms:created xsi:type="dcterms:W3CDTF">2017-12-04T16:21:10Z</dcterms:created>
  <dcterms:modified xsi:type="dcterms:W3CDTF">2024-11-16T15:13:54Z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2015-12-14T00:00:00Z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2017-12-04T00:00:00Z</vt:filetime>
  </property>
</Properties>
</file>