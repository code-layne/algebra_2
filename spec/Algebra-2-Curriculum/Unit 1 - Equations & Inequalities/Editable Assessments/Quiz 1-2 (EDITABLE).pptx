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899" autoAdjust="0"/>
  </p:normalViewPr>
  <p:slideViewPr>
    <p:cSldViewPr>
      <p:cViewPr varScale="1">
        <p:scale>
          <a:sx n="70" d="100"/>
          <a:sy n="70" d="100"/>
        </p:scale>
        <p:origin x="2031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762091" y="9796540"/>
            <a:ext cx="1416684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dirty="0"/>
              <a:t>Gina Wilson </a:t>
            </a:r>
            <a:r>
              <a:rPr spc="-5" dirty="0"/>
              <a:t>(All </a:t>
            </a:r>
            <a:r>
              <a:rPr dirty="0"/>
              <a:t>Things Algebra),</a:t>
            </a:r>
            <a:r>
              <a:rPr spc="-25" dirty="0"/>
              <a:t> </a:t>
            </a:r>
            <a:r>
              <a:rPr dirty="0"/>
              <a:t>2015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image" Target="../media/image7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png"/><Relationship Id="rId4" Type="http://schemas.openxmlformats.org/officeDocument/2006/relationships/image" Target="../media/image2.wmf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6.png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5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wmf"/><Relationship Id="rId11" Type="http://schemas.openxmlformats.org/officeDocument/2006/relationships/image" Target="../media/image14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C5A7F007-4728-F6B7-A8BE-783FBFFB76B3}"/>
              </a:ext>
            </a:extLst>
          </p:cNvPr>
          <p:cNvSpPr txBox="1"/>
          <p:nvPr/>
        </p:nvSpPr>
        <p:spPr>
          <a:xfrm>
            <a:off x="517868" y="4259383"/>
            <a:ext cx="300799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4660" algn="l"/>
              </a:tabLst>
            </a:pPr>
            <a:r>
              <a:rPr sz="900" b="1" spc="-5" dirty="0">
                <a:latin typeface="Century Gothic" panose="020B0502020202020204" pitchFamily="34" charset="0"/>
                <a:cs typeface="Tahoma"/>
              </a:rPr>
              <a:t>Interval</a:t>
            </a:r>
            <a:r>
              <a:rPr sz="9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900" b="1" spc="-5" dirty="0">
                <a:latin typeface="Century Gothic" panose="020B0502020202020204" pitchFamily="34" charset="0"/>
                <a:cs typeface="Tahoma"/>
              </a:rPr>
              <a:t>Notation:</a:t>
            </a: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67ABA34C-0C00-2BB5-0A25-348763A9A132}"/>
              </a:ext>
            </a:extLst>
          </p:cNvPr>
          <p:cNvSpPr txBox="1"/>
          <p:nvPr/>
        </p:nvSpPr>
        <p:spPr>
          <a:xfrm>
            <a:off x="4102529" y="4259383"/>
            <a:ext cx="300799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4660" algn="l"/>
              </a:tabLst>
            </a:pP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Interval</a:t>
            </a:r>
            <a:r>
              <a:rPr lang="en-US" sz="9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Notation: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lang="en-US" sz="900" dirty="0">
              <a:latin typeface="Times New Roman"/>
              <a:cs typeface="Times New Roman"/>
            </a:endParaRPr>
          </a:p>
        </p:txBody>
      </p:sp>
      <p:sp>
        <p:nvSpPr>
          <p:cNvPr id="12" name="object 5">
            <a:extLst>
              <a:ext uri="{FF2B5EF4-FFF2-40B4-BE49-F238E27FC236}">
                <a16:creationId xmlns:a16="http://schemas.microsoft.com/office/drawing/2014/main" id="{834FE810-6A51-1521-2593-D1CD9E38BB85}"/>
              </a:ext>
            </a:extLst>
          </p:cNvPr>
          <p:cNvSpPr txBox="1"/>
          <p:nvPr/>
        </p:nvSpPr>
        <p:spPr>
          <a:xfrm>
            <a:off x="522222" y="4609618"/>
            <a:ext cx="196405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3.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2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7</a:t>
            </a:r>
            <a:r>
              <a:rPr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i="1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– 1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– 11</a:t>
            </a:r>
            <a:r>
              <a:rPr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i="1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≥  3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100" i="1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–</a:t>
            </a:r>
            <a:r>
              <a:rPr sz="1100" spc="-1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4</a:t>
            </a:r>
            <a:r>
              <a:rPr lang="en-US"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95853134-36BC-55F7-1A63-96B62E0D036D}"/>
              </a:ext>
            </a:extLst>
          </p:cNvPr>
          <p:cNvSpPr txBox="1"/>
          <p:nvPr/>
        </p:nvSpPr>
        <p:spPr>
          <a:xfrm>
            <a:off x="517868" y="6778327"/>
            <a:ext cx="300799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4660" algn="l"/>
              </a:tabLst>
            </a:pP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Interval</a:t>
            </a:r>
            <a:r>
              <a:rPr lang="en-US" sz="9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Notation: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lang="en-US" sz="900" dirty="0">
              <a:latin typeface="Times New Roman"/>
              <a:cs typeface="Times New Roman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3D2710D1-E078-AA0E-7C74-C3AF366F6D45}"/>
              </a:ext>
            </a:extLst>
          </p:cNvPr>
          <p:cNvSpPr txBox="1"/>
          <p:nvPr/>
        </p:nvSpPr>
        <p:spPr>
          <a:xfrm>
            <a:off x="4102529" y="6778327"/>
            <a:ext cx="300799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4660" algn="l"/>
              </a:tabLst>
            </a:pP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Interval</a:t>
            </a:r>
            <a:r>
              <a:rPr lang="en-US" sz="9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Notation: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lang="en-US" sz="900" dirty="0">
              <a:latin typeface="Times New Roman"/>
              <a:cs typeface="Times New Roman"/>
            </a:endParaRPr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1E72D817-9C09-7FE6-9A65-C25784BF75D8}"/>
              </a:ext>
            </a:extLst>
          </p:cNvPr>
          <p:cNvSpPr txBox="1"/>
          <p:nvPr/>
        </p:nvSpPr>
        <p:spPr>
          <a:xfrm>
            <a:off x="524843" y="7083235"/>
            <a:ext cx="2363470" cy="1769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b="1" spc="-5" dirty="0">
                <a:latin typeface="Century Gothic" panose="020B0502020202020204" pitchFamily="34" charset="0"/>
                <a:cs typeface="Tahoma"/>
              </a:rPr>
              <a:t>Part II:  </a:t>
            </a:r>
            <a:r>
              <a:rPr sz="1150" spc="-5" dirty="0">
                <a:latin typeface="Century Gothic" panose="020B0502020202020204" pitchFamily="34" charset="0"/>
                <a:cs typeface="Tahoma"/>
              </a:rPr>
              <a:t>Compound Inequalities</a:t>
            </a:r>
            <a:endParaRPr sz="115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6" name="object 19">
            <a:extLst>
              <a:ext uri="{FF2B5EF4-FFF2-40B4-BE49-F238E27FC236}">
                <a16:creationId xmlns:a16="http://schemas.microsoft.com/office/drawing/2014/main" id="{3314406B-A704-C086-4AC9-434F216B60BF}"/>
              </a:ext>
            </a:extLst>
          </p:cNvPr>
          <p:cNvSpPr txBox="1"/>
          <p:nvPr/>
        </p:nvSpPr>
        <p:spPr>
          <a:xfrm>
            <a:off x="4102529" y="9370199"/>
            <a:ext cx="300799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4660" algn="l"/>
              </a:tabLst>
            </a:pP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Interval</a:t>
            </a:r>
            <a:r>
              <a:rPr lang="en-US" sz="9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Notation: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lang="en-US" sz="900" dirty="0">
              <a:latin typeface="Times New Roman"/>
              <a:cs typeface="Times New Roman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7AD1C8-0412-F16E-3290-A7A1AB638969}"/>
              </a:ext>
            </a:extLst>
          </p:cNvPr>
          <p:cNvSpPr/>
          <p:nvPr/>
        </p:nvSpPr>
        <p:spPr>
          <a:xfrm>
            <a:off x="435861" y="1488057"/>
            <a:ext cx="5246143" cy="2693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Solve, graph, and write all final answers in interval notation.</a:t>
            </a:r>
            <a:endParaRPr lang="en-US" sz="1100" b="1" dirty="0">
              <a:latin typeface="Century Gothic" panose="020B0502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8AA08F-721F-B799-3D3E-330E2F0C312F}"/>
              </a:ext>
            </a:extLst>
          </p:cNvPr>
          <p:cNvSpPr/>
          <p:nvPr/>
        </p:nvSpPr>
        <p:spPr>
          <a:xfrm>
            <a:off x="433282" y="1762678"/>
            <a:ext cx="214193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Part I: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Multi-Step Inequalities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2E7F10-A9E6-5110-1985-A4C636FC1053}"/>
              </a:ext>
            </a:extLst>
          </p:cNvPr>
          <p:cNvSpPr/>
          <p:nvPr/>
        </p:nvSpPr>
        <p:spPr>
          <a:xfrm>
            <a:off x="436058" y="1996863"/>
            <a:ext cx="15295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 – 4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– 7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&lt; -39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F1D372-3065-61CE-7C41-8FA36BE7EB61}"/>
              </a:ext>
            </a:extLst>
          </p:cNvPr>
          <p:cNvSpPr/>
          <p:nvPr/>
        </p:nvSpPr>
        <p:spPr>
          <a:xfrm>
            <a:off x="4070392" y="2000747"/>
            <a:ext cx="20633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+ 2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≤ 2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– 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+ 8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25DFBA-A812-9D6C-0467-44B7CEFEE201}"/>
              </a:ext>
            </a:extLst>
          </p:cNvPr>
          <p:cNvSpPr/>
          <p:nvPr/>
        </p:nvSpPr>
        <p:spPr>
          <a:xfrm>
            <a:off x="4066137" y="4547271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4D29C5B9-789E-4038-A7DC-09613A0BF5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2004" y="4536560"/>
          <a:ext cx="1270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9720" imgH="368280" progId="Equation.DSMT4">
                  <p:embed/>
                </p:oleObj>
              </mc:Choice>
              <mc:Fallback>
                <p:oleObj name="Equation" r:id="rId3" imgW="1269720" imgH="368280" progId="Equation.DSMT4">
                  <p:embed/>
                  <p:pic>
                    <p:nvPicPr>
                      <p:cNvPr id="148" name="Object 147">
                        <a:extLst>
                          <a:ext uri="{FF2B5EF4-FFF2-40B4-BE49-F238E27FC236}">
                            <a16:creationId xmlns:a16="http://schemas.microsoft.com/office/drawing/2014/main" id="{4D29C5B9-789E-4038-A7DC-09613A0BF5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12004" y="4536560"/>
                        <a:ext cx="1270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C4573D95-8FC1-AC41-FF1D-CB6C2E6AA2DC}"/>
              </a:ext>
            </a:extLst>
          </p:cNvPr>
          <p:cNvSpPr/>
          <p:nvPr/>
        </p:nvSpPr>
        <p:spPr>
          <a:xfrm>
            <a:off x="445386" y="7421221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5.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9E618E-57D6-1285-E9FA-B0BC0C08B164}"/>
              </a:ext>
            </a:extLst>
          </p:cNvPr>
          <p:cNvSpPr/>
          <p:nvPr/>
        </p:nvSpPr>
        <p:spPr>
          <a:xfrm>
            <a:off x="4060507" y="7400880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6.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096E032A-81C8-6239-31F1-1D7CDAD3DB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4477" y="7381957"/>
          <a:ext cx="1701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01720" imgH="368280" progId="Equation.DSMT4">
                  <p:embed/>
                </p:oleObj>
              </mc:Choice>
              <mc:Fallback>
                <p:oleObj name="Equation" r:id="rId5" imgW="1701720" imgH="368280" progId="Equation.DSMT4">
                  <p:embed/>
                  <p:pic>
                    <p:nvPicPr>
                      <p:cNvPr id="151" name="Object 150">
                        <a:extLst>
                          <a:ext uri="{FF2B5EF4-FFF2-40B4-BE49-F238E27FC236}">
                            <a16:creationId xmlns:a16="http://schemas.microsoft.com/office/drawing/2014/main" id="{096E032A-81C8-6239-31F1-1D7CDAD3DB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4477" y="7381957"/>
                        <a:ext cx="1701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5F8CABC6-5E89-9DAA-7BA8-B8EB4FEF24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2004" y="7347535"/>
          <a:ext cx="2032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31840" imgH="368280" progId="Equation.DSMT4">
                  <p:embed/>
                </p:oleObj>
              </mc:Choice>
              <mc:Fallback>
                <p:oleObj name="Equation" r:id="rId7" imgW="2031840" imgH="368280" progId="Equation.DSMT4">
                  <p:embed/>
                  <p:pic>
                    <p:nvPicPr>
                      <p:cNvPr id="152" name="Object 151">
                        <a:extLst>
                          <a:ext uri="{FF2B5EF4-FFF2-40B4-BE49-F238E27FC236}">
                            <a16:creationId xmlns:a16="http://schemas.microsoft.com/office/drawing/2014/main" id="{5F8CABC6-5E89-9DAA-7BA8-B8EB4FEF24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12004" y="7347535"/>
                        <a:ext cx="2032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object 19">
            <a:extLst>
              <a:ext uri="{FF2B5EF4-FFF2-40B4-BE49-F238E27FC236}">
                <a16:creationId xmlns:a16="http://schemas.microsoft.com/office/drawing/2014/main" id="{E8E14B0F-D081-07CF-F875-029C11C8984A}"/>
              </a:ext>
            </a:extLst>
          </p:cNvPr>
          <p:cNvSpPr txBox="1"/>
          <p:nvPr/>
        </p:nvSpPr>
        <p:spPr>
          <a:xfrm>
            <a:off x="517868" y="9370199"/>
            <a:ext cx="300799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4660" algn="l"/>
              </a:tabLst>
            </a:pP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Interval</a:t>
            </a:r>
            <a:r>
              <a:rPr lang="en-US" sz="9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Notation: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lang="en-US" sz="900" dirty="0">
              <a:latin typeface="Times New Roman"/>
              <a:cs typeface="Times New Roman"/>
            </a:endParaRPr>
          </a:p>
        </p:txBody>
      </p:sp>
      <p:pic>
        <p:nvPicPr>
          <p:cNvPr id="358" name="Picture 357">
            <a:extLst>
              <a:ext uri="{FF2B5EF4-FFF2-40B4-BE49-F238E27FC236}">
                <a16:creationId xmlns:a16="http://schemas.microsoft.com/office/drawing/2014/main" id="{98F08180-DCF7-B32E-04BD-C88C56E0B5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3779274"/>
            <a:ext cx="2706859" cy="335309"/>
          </a:xfrm>
          <a:prstGeom prst="rect">
            <a:avLst/>
          </a:prstGeom>
        </p:spPr>
      </p:pic>
      <p:pic>
        <p:nvPicPr>
          <p:cNvPr id="359" name="Picture 358">
            <a:extLst>
              <a:ext uri="{FF2B5EF4-FFF2-40B4-BE49-F238E27FC236}">
                <a16:creationId xmlns:a16="http://schemas.microsoft.com/office/drawing/2014/main" id="{E03C0A5B-9D71-D48C-3E8B-DD5C755DDA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1539" y="3779274"/>
            <a:ext cx="2706859" cy="335309"/>
          </a:xfrm>
          <a:prstGeom prst="rect">
            <a:avLst/>
          </a:prstGeom>
        </p:spPr>
      </p:pic>
      <p:pic>
        <p:nvPicPr>
          <p:cNvPr id="360" name="Picture 359">
            <a:extLst>
              <a:ext uri="{FF2B5EF4-FFF2-40B4-BE49-F238E27FC236}">
                <a16:creationId xmlns:a16="http://schemas.microsoft.com/office/drawing/2014/main" id="{E12B1390-D7B0-D82A-10A0-EB0201D22B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6341325"/>
            <a:ext cx="2706859" cy="335309"/>
          </a:xfrm>
          <a:prstGeom prst="rect">
            <a:avLst/>
          </a:prstGeom>
        </p:spPr>
      </p:pic>
      <p:pic>
        <p:nvPicPr>
          <p:cNvPr id="361" name="Picture 360">
            <a:extLst>
              <a:ext uri="{FF2B5EF4-FFF2-40B4-BE49-F238E27FC236}">
                <a16:creationId xmlns:a16="http://schemas.microsoft.com/office/drawing/2014/main" id="{D92E3641-A4FD-C943-05CC-5DEE20BA0A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1539" y="8961962"/>
            <a:ext cx="2706859" cy="335309"/>
          </a:xfrm>
          <a:prstGeom prst="rect">
            <a:avLst/>
          </a:prstGeom>
        </p:spPr>
      </p:pic>
      <p:pic>
        <p:nvPicPr>
          <p:cNvPr id="362" name="Picture 361">
            <a:extLst>
              <a:ext uri="{FF2B5EF4-FFF2-40B4-BE49-F238E27FC236}">
                <a16:creationId xmlns:a16="http://schemas.microsoft.com/office/drawing/2014/main" id="{7B6606AF-1086-AE43-EA3A-12EE82CD38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1539" y="6379519"/>
            <a:ext cx="2706859" cy="335309"/>
          </a:xfrm>
          <a:prstGeom prst="rect">
            <a:avLst/>
          </a:prstGeom>
        </p:spPr>
      </p:pic>
      <p:pic>
        <p:nvPicPr>
          <p:cNvPr id="363" name="Picture 362">
            <a:extLst>
              <a:ext uri="{FF2B5EF4-FFF2-40B4-BE49-F238E27FC236}">
                <a16:creationId xmlns:a16="http://schemas.microsoft.com/office/drawing/2014/main" id="{439592C5-B6B6-1496-BA81-6ABB1CA02CB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8948256"/>
            <a:ext cx="2706859" cy="3353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grayscl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D337751B-7992-9974-AF19-5C7F9EC5D6E3}"/>
              </a:ext>
            </a:extLst>
          </p:cNvPr>
          <p:cNvSpPr txBox="1"/>
          <p:nvPr/>
        </p:nvSpPr>
        <p:spPr>
          <a:xfrm>
            <a:off x="3942086" y="624585"/>
            <a:ext cx="142113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8. 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-5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&lt;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10</a:t>
            </a:r>
            <a:r>
              <a:rPr sz="11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100" i="1" spc="-10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– 1 &lt;</a:t>
            </a:r>
            <a:r>
              <a:rPr sz="1100" spc="5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74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A41A273F-49A9-6F93-73A4-039565726FD0}"/>
              </a:ext>
            </a:extLst>
          </p:cNvPr>
          <p:cNvSpPr txBox="1"/>
          <p:nvPr/>
        </p:nvSpPr>
        <p:spPr>
          <a:xfrm>
            <a:off x="3942086" y="3791964"/>
            <a:ext cx="32511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94970" algn="l"/>
              </a:tabLst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10.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8B721691-3526-2A1E-7BA0-3D674FDCCC1C}"/>
              </a:ext>
            </a:extLst>
          </p:cNvPr>
          <p:cNvSpPr txBox="1"/>
          <p:nvPr/>
        </p:nvSpPr>
        <p:spPr>
          <a:xfrm>
            <a:off x="522222" y="6839966"/>
            <a:ext cx="314451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11.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 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7" name="object 18">
            <a:extLst>
              <a:ext uri="{FF2B5EF4-FFF2-40B4-BE49-F238E27FC236}">
                <a16:creationId xmlns:a16="http://schemas.microsoft.com/office/drawing/2014/main" id="{11907B9E-E275-5180-53F1-DB9A1B55C255}"/>
              </a:ext>
            </a:extLst>
          </p:cNvPr>
          <p:cNvSpPr txBox="1"/>
          <p:nvPr/>
        </p:nvSpPr>
        <p:spPr>
          <a:xfrm>
            <a:off x="3942087" y="6809484"/>
            <a:ext cx="303762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84175" algn="l"/>
              </a:tabLst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12.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1" name="object 141">
            <a:extLst>
              <a:ext uri="{FF2B5EF4-FFF2-40B4-BE49-F238E27FC236}">
                <a16:creationId xmlns:a16="http://schemas.microsoft.com/office/drawing/2014/main" id="{ABDB5C4F-A038-C2D3-7186-02D4C262486C}"/>
              </a:ext>
            </a:extLst>
          </p:cNvPr>
          <p:cNvSpPr txBox="1"/>
          <p:nvPr/>
        </p:nvSpPr>
        <p:spPr>
          <a:xfrm>
            <a:off x="522222" y="624585"/>
            <a:ext cx="222694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7. 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7 – </a:t>
            </a:r>
            <a:r>
              <a:rPr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100" i="1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≥ 6 and 2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3</a:t>
            </a:r>
            <a:r>
              <a:rPr sz="12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100" i="1" spc="-5" dirty="0">
                <a:latin typeface="Century Gothic" panose="020B0502020202020204" pitchFamily="34" charset="0"/>
                <a:cs typeface="Times New Roman"/>
              </a:rPr>
              <a:t>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–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8</a:t>
            </a:r>
            <a:r>
              <a:rPr sz="11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 ≥</a:t>
            </a:r>
            <a:r>
              <a:rPr sz="1100" spc="17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1100" spc="-5" dirty="0">
                <a:latin typeface="Century Gothic" panose="020B0502020202020204" pitchFamily="34" charset="0"/>
                <a:cs typeface="Tahoma"/>
              </a:rPr>
              <a:t>2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0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3A8BB9A-3C7E-B1FC-0AF7-FA3F630B59A7}"/>
              </a:ext>
            </a:extLst>
          </p:cNvPr>
          <p:cNvGraphicFramePr>
            <a:graphicFrameLocks noGrp="1"/>
          </p:cNvGraphicFramePr>
          <p:nvPr/>
        </p:nvGraphicFramePr>
        <p:xfrm>
          <a:off x="464548" y="3512499"/>
          <a:ext cx="2962910" cy="237490"/>
        </p:xfrm>
        <a:graphic>
          <a:graphicData uri="http://schemas.openxmlformats.org/drawingml/2006/table">
            <a:tbl>
              <a:tblPr firstRow="1" firstCol="1" bandRow="1"/>
              <a:tblGrid>
                <a:gridCol w="2962910">
                  <a:extLst>
                    <a:ext uri="{9D8B030D-6E8A-4147-A177-3AD203B41FA5}">
                      <a16:colId xmlns:a16="http://schemas.microsoft.com/office/drawing/2014/main" val="3985936254"/>
                    </a:ext>
                  </a:extLst>
                </a:gridCol>
              </a:tblGrid>
              <a:tr h="2374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Part III:  </a:t>
                      </a:r>
                      <a:r>
                        <a:rPr lang="en-US" sz="1100" b="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Absolute Value Inequalities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3572834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D7B20FA0-FA8E-E30C-546C-5393369EC472}"/>
              </a:ext>
            </a:extLst>
          </p:cNvPr>
          <p:cNvSpPr/>
          <p:nvPr/>
        </p:nvSpPr>
        <p:spPr>
          <a:xfrm>
            <a:off x="435200" y="3726590"/>
            <a:ext cx="351378" cy="269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latin typeface="Century Gothic" panose="020B0502020202020204" pitchFamily="34" charset="0"/>
                <a:ea typeface="Calibri" panose="020F0502020204030204" pitchFamily="34" charset="0"/>
              </a:rPr>
              <a:t>9. </a:t>
            </a:r>
            <a:endParaRPr lang="en-US" sz="1100" dirty="0">
              <a:latin typeface="Century Gothic" panose="020B0502020202020204" pitchFamily="34" charset="0"/>
            </a:endParaRPr>
          </a:p>
        </p:txBody>
      </p:sp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1FBA0C9D-78BA-8DF3-6B7C-F6362983DA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058" y="3756758"/>
          <a:ext cx="698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228600" progId="Equation.DSMT4">
                  <p:embed/>
                </p:oleObj>
              </mc:Choice>
              <mc:Fallback>
                <p:oleObj name="Equation" r:id="rId3" imgW="698400" imgH="228600" progId="Equation.DSMT4">
                  <p:embed/>
                  <p:pic>
                    <p:nvPicPr>
                      <p:cNvPr id="145" name="Object 144">
                        <a:extLst>
                          <a:ext uri="{FF2B5EF4-FFF2-40B4-BE49-F238E27FC236}">
                            <a16:creationId xmlns:a16="http://schemas.microsoft.com/office/drawing/2014/main" id="{1FBA0C9D-78BA-8DF3-6B7C-F6362983DA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2058" y="3756758"/>
                        <a:ext cx="698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8DA064FA-360B-28C7-E654-A30751D9B8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2604" y="3771965"/>
          <a:ext cx="965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160" imgH="228600" progId="Equation.DSMT4">
                  <p:embed/>
                </p:oleObj>
              </mc:Choice>
              <mc:Fallback>
                <p:oleObj name="Equation" r:id="rId5" imgW="965160" imgH="228600" progId="Equation.DSMT4">
                  <p:embed/>
                  <p:pic>
                    <p:nvPicPr>
                      <p:cNvPr id="146" name="Object 145">
                        <a:extLst>
                          <a:ext uri="{FF2B5EF4-FFF2-40B4-BE49-F238E27FC236}">
                            <a16:creationId xmlns:a16="http://schemas.microsoft.com/office/drawing/2014/main" id="{8DA064FA-360B-28C7-E654-A30751D9B8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02604" y="3771965"/>
                        <a:ext cx="965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33">
            <a:extLst>
              <a:ext uri="{FF2B5EF4-FFF2-40B4-BE49-F238E27FC236}">
                <a16:creationId xmlns:a16="http://schemas.microsoft.com/office/drawing/2014/main" id="{69EC3F49-D060-9F5E-5B09-916973394B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945" y="6820937"/>
          <a:ext cx="939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39600" imgH="228600" progId="Equation.DSMT4">
                  <p:embed/>
                </p:oleObj>
              </mc:Choice>
              <mc:Fallback>
                <p:oleObj name="Equation" r:id="rId7" imgW="939600" imgH="228600" progId="Equation.DSMT4">
                  <p:embed/>
                  <p:pic>
                    <p:nvPicPr>
                      <p:cNvPr id="147" name="Object 146">
                        <a:extLst>
                          <a:ext uri="{FF2B5EF4-FFF2-40B4-BE49-F238E27FC236}">
                            <a16:creationId xmlns:a16="http://schemas.microsoft.com/office/drawing/2014/main" id="{69EC3F49-D060-9F5E-5B09-916973394B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5945" y="6820937"/>
                        <a:ext cx="939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1E7F7A30-2433-A616-47AF-89155CAB9F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6799263"/>
          <a:ext cx="1346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46040" imgH="228600" progId="Equation.DSMT4">
                  <p:embed/>
                </p:oleObj>
              </mc:Choice>
              <mc:Fallback>
                <p:oleObj name="Equation" r:id="rId9" imgW="1346040" imgH="228600" progId="Equation.DSMT4">
                  <p:embed/>
                  <p:pic>
                    <p:nvPicPr>
                      <p:cNvPr id="148" name="Object 147">
                        <a:extLst>
                          <a:ext uri="{FF2B5EF4-FFF2-40B4-BE49-F238E27FC236}">
                            <a16:creationId xmlns:a16="http://schemas.microsoft.com/office/drawing/2014/main" id="{1E7F7A30-2433-A616-47AF-89155CAB9F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91000" y="6799263"/>
                        <a:ext cx="1346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object 2">
            <a:extLst>
              <a:ext uri="{FF2B5EF4-FFF2-40B4-BE49-F238E27FC236}">
                <a16:creationId xmlns:a16="http://schemas.microsoft.com/office/drawing/2014/main" id="{9FCAD804-AA04-24B9-20C6-312814983D0A}"/>
              </a:ext>
            </a:extLst>
          </p:cNvPr>
          <p:cNvSpPr txBox="1"/>
          <p:nvPr/>
        </p:nvSpPr>
        <p:spPr>
          <a:xfrm>
            <a:off x="517868" y="3220210"/>
            <a:ext cx="300799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4660" algn="l"/>
              </a:tabLst>
            </a:pPr>
            <a:r>
              <a:rPr sz="900" b="1" spc="-5" dirty="0">
                <a:latin typeface="Century Gothic" panose="020B0502020202020204" pitchFamily="34" charset="0"/>
                <a:cs typeface="Tahoma"/>
              </a:rPr>
              <a:t>Interval</a:t>
            </a:r>
            <a:r>
              <a:rPr sz="9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900" b="1" spc="-5" dirty="0">
                <a:latin typeface="Century Gothic" panose="020B0502020202020204" pitchFamily="34" charset="0"/>
                <a:cs typeface="Tahoma"/>
              </a:rPr>
              <a:t>Notation:</a:t>
            </a: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37" name="object 4">
            <a:extLst>
              <a:ext uri="{FF2B5EF4-FFF2-40B4-BE49-F238E27FC236}">
                <a16:creationId xmlns:a16="http://schemas.microsoft.com/office/drawing/2014/main" id="{C620D545-D9D8-2FAB-D506-F51CE7627781}"/>
              </a:ext>
            </a:extLst>
          </p:cNvPr>
          <p:cNvSpPr txBox="1"/>
          <p:nvPr/>
        </p:nvSpPr>
        <p:spPr>
          <a:xfrm>
            <a:off x="4102529" y="3220210"/>
            <a:ext cx="300799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4660" algn="l"/>
              </a:tabLst>
            </a:pP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Interval</a:t>
            </a:r>
            <a:r>
              <a:rPr lang="en-US" sz="9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Notation: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lang="en-US" sz="900" dirty="0">
              <a:latin typeface="Times New Roman"/>
              <a:cs typeface="Times New Roman"/>
            </a:endParaRPr>
          </a:p>
        </p:txBody>
      </p:sp>
      <p:sp>
        <p:nvSpPr>
          <p:cNvPr id="200" name="object 2">
            <a:extLst>
              <a:ext uri="{FF2B5EF4-FFF2-40B4-BE49-F238E27FC236}">
                <a16:creationId xmlns:a16="http://schemas.microsoft.com/office/drawing/2014/main" id="{666822A0-D7AE-DC95-718B-4B844D9DC986}"/>
              </a:ext>
            </a:extLst>
          </p:cNvPr>
          <p:cNvSpPr txBox="1"/>
          <p:nvPr/>
        </p:nvSpPr>
        <p:spPr>
          <a:xfrm>
            <a:off x="516210" y="6551744"/>
            <a:ext cx="300799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4660" algn="l"/>
              </a:tabLst>
            </a:pPr>
            <a:r>
              <a:rPr sz="900" b="1" spc="-5" dirty="0">
                <a:latin typeface="Century Gothic" panose="020B0502020202020204" pitchFamily="34" charset="0"/>
                <a:cs typeface="Tahoma"/>
              </a:rPr>
              <a:t>Interval</a:t>
            </a:r>
            <a:r>
              <a:rPr sz="9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900" b="1" spc="-5" dirty="0">
                <a:latin typeface="Century Gothic" panose="020B0502020202020204" pitchFamily="34" charset="0"/>
                <a:cs typeface="Tahoma"/>
              </a:rPr>
              <a:t>Notation:</a:t>
            </a: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201" name="object 4">
            <a:extLst>
              <a:ext uri="{FF2B5EF4-FFF2-40B4-BE49-F238E27FC236}">
                <a16:creationId xmlns:a16="http://schemas.microsoft.com/office/drawing/2014/main" id="{DD44443B-79AC-C021-18D2-0CFC60D70DCB}"/>
              </a:ext>
            </a:extLst>
          </p:cNvPr>
          <p:cNvSpPr txBox="1"/>
          <p:nvPr/>
        </p:nvSpPr>
        <p:spPr>
          <a:xfrm>
            <a:off x="4100871" y="6551744"/>
            <a:ext cx="300799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4660" algn="l"/>
              </a:tabLst>
            </a:pP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Interval</a:t>
            </a:r>
            <a:r>
              <a:rPr lang="en-US" sz="9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Notation: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lang="en-US" sz="900" dirty="0">
              <a:latin typeface="Times New Roman"/>
              <a:cs typeface="Times New Roman"/>
            </a:endParaRPr>
          </a:p>
        </p:txBody>
      </p:sp>
      <p:sp>
        <p:nvSpPr>
          <p:cNvPr id="225" name="object 2">
            <a:extLst>
              <a:ext uri="{FF2B5EF4-FFF2-40B4-BE49-F238E27FC236}">
                <a16:creationId xmlns:a16="http://schemas.microsoft.com/office/drawing/2014/main" id="{5140BA51-474C-FF2A-030F-CCDFE8B26092}"/>
              </a:ext>
            </a:extLst>
          </p:cNvPr>
          <p:cNvSpPr txBox="1"/>
          <p:nvPr/>
        </p:nvSpPr>
        <p:spPr>
          <a:xfrm>
            <a:off x="519753" y="9330387"/>
            <a:ext cx="300799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4660" algn="l"/>
              </a:tabLst>
            </a:pPr>
            <a:r>
              <a:rPr sz="900" b="1" spc="-5" dirty="0">
                <a:latin typeface="Century Gothic" panose="020B0502020202020204" pitchFamily="34" charset="0"/>
                <a:cs typeface="Tahoma"/>
              </a:rPr>
              <a:t>Interval</a:t>
            </a:r>
            <a:r>
              <a:rPr sz="9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sz="900" b="1" spc="-5" dirty="0">
                <a:latin typeface="Century Gothic" panose="020B0502020202020204" pitchFamily="34" charset="0"/>
                <a:cs typeface="Tahoma"/>
              </a:rPr>
              <a:t>Notation:</a:t>
            </a: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226" name="object 4">
            <a:extLst>
              <a:ext uri="{FF2B5EF4-FFF2-40B4-BE49-F238E27FC236}">
                <a16:creationId xmlns:a16="http://schemas.microsoft.com/office/drawing/2014/main" id="{349BA3C4-CBD0-9ADD-DFAA-F8127C5EC278}"/>
              </a:ext>
            </a:extLst>
          </p:cNvPr>
          <p:cNvSpPr txBox="1"/>
          <p:nvPr/>
        </p:nvSpPr>
        <p:spPr>
          <a:xfrm>
            <a:off x="4104414" y="9330387"/>
            <a:ext cx="300799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4660" algn="l"/>
              </a:tabLst>
            </a:pP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Interval</a:t>
            </a:r>
            <a:r>
              <a:rPr lang="en-US" sz="900" b="1" spc="-50" dirty="0">
                <a:latin typeface="Century Gothic" panose="020B0502020202020204" pitchFamily="34" charset="0"/>
                <a:cs typeface="Tahoma"/>
              </a:rPr>
              <a:t> </a:t>
            </a:r>
            <a:r>
              <a:rPr lang="en-US" sz="900" b="1" spc="-5" dirty="0">
                <a:latin typeface="Century Gothic" panose="020B0502020202020204" pitchFamily="34" charset="0"/>
                <a:cs typeface="Tahoma"/>
              </a:rPr>
              <a:t>Notation: </a:t>
            </a:r>
            <a:r>
              <a:rPr lang="en-US" sz="900" spc="-5" dirty="0">
                <a:latin typeface="Century Gothic" panose="020B0502020202020204" pitchFamily="34" charset="0"/>
                <a:cs typeface="Tahoma"/>
              </a:rPr>
              <a:t>___________________________________</a:t>
            </a:r>
            <a:endParaRPr lang="en-US" sz="900" dirty="0">
              <a:latin typeface="Times New Roman"/>
              <a:cs typeface="Times New Roman"/>
            </a:endParaRPr>
          </a:p>
        </p:txBody>
      </p:sp>
      <p:pic>
        <p:nvPicPr>
          <p:cNvPr id="353" name="Picture 352">
            <a:extLst>
              <a:ext uri="{FF2B5EF4-FFF2-40B4-BE49-F238E27FC236}">
                <a16:creationId xmlns:a16="http://schemas.microsoft.com/office/drawing/2014/main" id="{9519B1A4-5F62-2995-E696-F0A333AB09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673" y="2801909"/>
            <a:ext cx="2706859" cy="341406"/>
          </a:xfrm>
          <a:prstGeom prst="rect">
            <a:avLst/>
          </a:prstGeom>
        </p:spPr>
      </p:pic>
      <p:pic>
        <p:nvPicPr>
          <p:cNvPr id="354" name="Picture 353">
            <a:extLst>
              <a:ext uri="{FF2B5EF4-FFF2-40B4-BE49-F238E27FC236}">
                <a16:creationId xmlns:a16="http://schemas.microsoft.com/office/drawing/2014/main" id="{6A4B856F-B87F-2C0F-76F9-7BA46678B6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8915223"/>
            <a:ext cx="2706859" cy="341406"/>
          </a:xfrm>
          <a:prstGeom prst="rect">
            <a:avLst/>
          </a:prstGeom>
        </p:spPr>
      </p:pic>
      <p:pic>
        <p:nvPicPr>
          <p:cNvPr id="355" name="Picture 354">
            <a:extLst>
              <a:ext uri="{FF2B5EF4-FFF2-40B4-BE49-F238E27FC236}">
                <a16:creationId xmlns:a16="http://schemas.microsoft.com/office/drawing/2014/main" id="{815F6FC3-9701-96E5-AFDA-BE8102FF914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02007" y="8924914"/>
            <a:ext cx="2706859" cy="341406"/>
          </a:xfrm>
          <a:prstGeom prst="rect">
            <a:avLst/>
          </a:prstGeom>
        </p:spPr>
      </p:pic>
      <p:pic>
        <p:nvPicPr>
          <p:cNvPr id="356" name="Picture 355">
            <a:extLst>
              <a:ext uri="{FF2B5EF4-FFF2-40B4-BE49-F238E27FC236}">
                <a16:creationId xmlns:a16="http://schemas.microsoft.com/office/drawing/2014/main" id="{87D62EFC-8181-F070-D854-337499E32B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5537" y="5967420"/>
            <a:ext cx="2706859" cy="341406"/>
          </a:xfrm>
          <a:prstGeom prst="rect">
            <a:avLst/>
          </a:prstGeom>
        </p:spPr>
      </p:pic>
      <p:pic>
        <p:nvPicPr>
          <p:cNvPr id="359" name="Picture 358">
            <a:extLst>
              <a:ext uri="{FF2B5EF4-FFF2-40B4-BE49-F238E27FC236}">
                <a16:creationId xmlns:a16="http://schemas.microsoft.com/office/drawing/2014/main" id="{ACDCD789-5377-BE9E-4398-457D2EE5DE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2761804"/>
            <a:ext cx="2706859" cy="3414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A816FF-DFC6-0A87-0EC9-98A69ABCDEA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5419" y="5974157"/>
            <a:ext cx="2706859" cy="3353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158</Words>
  <Application>Microsoft Office PowerPoint</Application>
  <PresentationFormat>Custom</PresentationFormat>
  <Paragraphs>28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- 16 - Quiz 1-2</dc:title>
  <dc:creator>Gina</dc:creator>
  <cp:lastModifiedBy>Gina Wilson</cp:lastModifiedBy>
  <cp:revision>8</cp:revision>
  <cp:lastPrinted>2024-03-06T15:09:49Z</cp:lastPrinted>
  <dcterms:created xsi:type="dcterms:W3CDTF">2017-06-19T15:34:00Z</dcterms:created>
  <dcterms:modified xsi:type="dcterms:W3CDTF">2025-01-04T15:26:46Z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2015-05-29T00:00:00Z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2017-06-19T00:00:00Z</vt:filetime>
  </property>
</Properties>
</file>