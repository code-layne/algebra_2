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1" d="100"/>
          <a:sy n="51" d="100"/>
        </p:scale>
        <p:origin x="1779" y="5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19724" y="9737975"/>
            <a:ext cx="1417954" cy="11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26" Type="http://schemas.openxmlformats.org/officeDocument/2006/relationships/image" Target="../media/image13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2" Type="http://schemas.openxmlformats.org/officeDocument/2006/relationships/image" Target="../media/image1.JPG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29" Type="http://schemas.openxmlformats.org/officeDocument/2006/relationships/oleObject" Target="../embeddings/oleObject14.bin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2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4.wmf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Relationship Id="rId22" Type="http://schemas.openxmlformats.org/officeDocument/2006/relationships/image" Target="../media/image11.w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5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oleObject" Target="../embeddings/oleObject20.bin"/><Relationship Id="rId18" Type="http://schemas.openxmlformats.org/officeDocument/2006/relationships/image" Target="../media/image24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22.bin"/><Relationship Id="rId2" Type="http://schemas.openxmlformats.org/officeDocument/2006/relationships/image" Target="../media/image16.JPG"/><Relationship Id="rId16" Type="http://schemas.openxmlformats.org/officeDocument/2006/relationships/image" Target="../media/image23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1.bin"/><Relationship Id="rId10" Type="http://schemas.openxmlformats.org/officeDocument/2006/relationships/image" Target="../media/image20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6D4F838-4AFE-7B91-DE0C-9B9A4EC22992}"/>
              </a:ext>
            </a:extLst>
          </p:cNvPr>
          <p:cNvSpPr/>
          <p:nvPr/>
        </p:nvSpPr>
        <p:spPr>
          <a:xfrm>
            <a:off x="504646" y="7846576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11.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01F625-EA82-F239-371A-4A90F17E73FD}"/>
              </a:ext>
            </a:extLst>
          </p:cNvPr>
          <p:cNvSpPr/>
          <p:nvPr/>
        </p:nvSpPr>
        <p:spPr>
          <a:xfrm>
            <a:off x="3311261" y="7846576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12.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AC948A52-C663-C964-AE69-5F933596144A}"/>
              </a:ext>
            </a:extLst>
          </p:cNvPr>
          <p:cNvSpPr txBox="1"/>
          <p:nvPr/>
        </p:nvSpPr>
        <p:spPr>
          <a:xfrm>
            <a:off x="604513" y="3736330"/>
            <a:ext cx="228925" cy="1769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47345" algn="l"/>
              </a:tabLst>
            </a:pPr>
            <a:r>
              <a:rPr lang="en-US" sz="1150" b="1" spc="-5" dirty="0">
                <a:latin typeface="Century Gothic" panose="020B0502020202020204" pitchFamily="34" charset="0"/>
                <a:cs typeface="Tahoma"/>
              </a:rPr>
              <a:t>5</a:t>
            </a:r>
            <a:r>
              <a:rPr sz="1150" b="1" spc="-5" dirty="0">
                <a:latin typeface="Century Gothic" panose="020B0502020202020204" pitchFamily="34" charset="0"/>
                <a:cs typeface="Tahoma"/>
              </a:rPr>
              <a:t>.</a:t>
            </a:r>
            <a:endParaRPr sz="105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8F3EAE00-C47A-E793-02DE-4B8B7FC0A61C}"/>
              </a:ext>
            </a:extLst>
          </p:cNvPr>
          <p:cNvSpPr txBox="1"/>
          <p:nvPr/>
        </p:nvSpPr>
        <p:spPr>
          <a:xfrm>
            <a:off x="604519" y="4135508"/>
            <a:ext cx="164465" cy="1769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50" b="1" spc="-5" dirty="0">
                <a:latin typeface="Century Gothic" panose="020B0502020202020204" pitchFamily="34" charset="0"/>
                <a:cs typeface="Tahoma"/>
              </a:rPr>
              <a:t>6</a:t>
            </a:r>
            <a:r>
              <a:rPr sz="1150" b="1" spc="-5" dirty="0">
                <a:latin typeface="Century Gothic" panose="020B0502020202020204" pitchFamily="34" charset="0"/>
                <a:cs typeface="Tahoma"/>
              </a:rPr>
              <a:t>.</a:t>
            </a:r>
            <a:endParaRPr sz="115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5" name="object 11">
            <a:extLst>
              <a:ext uri="{FF2B5EF4-FFF2-40B4-BE49-F238E27FC236}">
                <a16:creationId xmlns:a16="http://schemas.microsoft.com/office/drawing/2014/main" id="{24BBD2FC-ACFC-C2D0-FB83-6970101E19FD}"/>
              </a:ext>
            </a:extLst>
          </p:cNvPr>
          <p:cNvSpPr txBox="1"/>
          <p:nvPr/>
        </p:nvSpPr>
        <p:spPr>
          <a:xfrm>
            <a:off x="604519" y="4534686"/>
            <a:ext cx="17081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200" b="1" dirty="0">
                <a:latin typeface="Century Gothic" panose="020B0502020202020204" pitchFamily="34" charset="0"/>
                <a:cs typeface="Tahoma"/>
              </a:rPr>
              <a:t>7</a:t>
            </a:r>
            <a:r>
              <a:rPr sz="1200" b="1" spc="-5" dirty="0">
                <a:latin typeface="Century Gothic" panose="020B0502020202020204" pitchFamily="34" charset="0"/>
                <a:cs typeface="Tahoma"/>
              </a:rPr>
              <a:t>.</a:t>
            </a:r>
            <a:endParaRPr sz="12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6" name="object 12">
            <a:extLst>
              <a:ext uri="{FF2B5EF4-FFF2-40B4-BE49-F238E27FC236}">
                <a16:creationId xmlns:a16="http://schemas.microsoft.com/office/drawing/2014/main" id="{8FD4C05F-F59D-0322-3510-1C5AC265D052}"/>
              </a:ext>
            </a:extLst>
          </p:cNvPr>
          <p:cNvSpPr txBox="1"/>
          <p:nvPr/>
        </p:nvSpPr>
        <p:spPr>
          <a:xfrm>
            <a:off x="604519" y="4941558"/>
            <a:ext cx="17081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200" b="1" dirty="0">
                <a:latin typeface="Century Gothic" panose="020B0502020202020204" pitchFamily="34" charset="0"/>
                <a:cs typeface="Tahoma"/>
              </a:rPr>
              <a:t>8</a:t>
            </a:r>
            <a:r>
              <a:rPr sz="1200" b="1" spc="-5" dirty="0">
                <a:latin typeface="Century Gothic" panose="020B0502020202020204" pitchFamily="34" charset="0"/>
                <a:cs typeface="Tahoma"/>
              </a:rPr>
              <a:t>.</a:t>
            </a:r>
            <a:endParaRPr sz="12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7" name="object 46">
            <a:extLst>
              <a:ext uri="{FF2B5EF4-FFF2-40B4-BE49-F238E27FC236}">
                <a16:creationId xmlns:a16="http://schemas.microsoft.com/office/drawing/2014/main" id="{1EABA4EA-B6D8-ADF2-596B-8EF484F474AA}"/>
              </a:ext>
            </a:extLst>
          </p:cNvPr>
          <p:cNvSpPr txBox="1"/>
          <p:nvPr/>
        </p:nvSpPr>
        <p:spPr>
          <a:xfrm>
            <a:off x="1956280" y="7885503"/>
            <a:ext cx="1072515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" dirty="0">
                <a:latin typeface="Tahoma"/>
                <a:cs typeface="Tahoma"/>
              </a:rPr>
              <a:t>(</a:t>
            </a:r>
            <a:r>
              <a:rPr sz="900" spc="-5" dirty="0">
                <a:latin typeface="Century Gothic" panose="020B0502020202020204" pitchFamily="34" charset="0"/>
                <a:cs typeface="Tahoma"/>
              </a:rPr>
              <a:t>if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1000" i="1" spc="-5" dirty="0">
                <a:latin typeface="Times New Roman"/>
                <a:cs typeface="Times New Roman"/>
              </a:rPr>
              <a:t>a </a:t>
            </a:r>
            <a:r>
              <a:rPr sz="900" spc="-5" dirty="0">
                <a:latin typeface="Century Gothic" panose="020B0502020202020204" pitchFamily="34" charset="0"/>
                <a:cs typeface="Tahoma"/>
              </a:rPr>
              <a:t>= 2 and </a:t>
            </a:r>
            <a:r>
              <a:rPr sz="1000" i="1" spc="-5" dirty="0">
                <a:latin typeface="Times New Roman"/>
                <a:cs typeface="Times New Roman"/>
              </a:rPr>
              <a:t>b </a:t>
            </a:r>
            <a:r>
              <a:rPr sz="900" spc="-5" dirty="0">
                <a:latin typeface="Century Gothic" panose="020B0502020202020204" pitchFamily="34" charset="0"/>
                <a:cs typeface="Tahoma"/>
              </a:rPr>
              <a:t>=</a:t>
            </a:r>
            <a:r>
              <a:rPr sz="900" spc="2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900" spc="-5" dirty="0">
                <a:latin typeface="Century Gothic" panose="020B0502020202020204" pitchFamily="34" charset="0"/>
                <a:cs typeface="Tahoma"/>
              </a:rPr>
              <a:t>-6</a:t>
            </a:r>
            <a:r>
              <a:rPr sz="900" spc="-5" dirty="0">
                <a:latin typeface="Tahoma"/>
                <a:cs typeface="Tahoma"/>
              </a:rPr>
              <a:t>)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1FE7A3-7746-D019-7658-7347F7F09DF8}"/>
              </a:ext>
            </a:extLst>
          </p:cNvPr>
          <p:cNvSpPr/>
          <p:nvPr/>
        </p:nvSpPr>
        <p:spPr>
          <a:xfrm>
            <a:off x="510911" y="3352800"/>
            <a:ext cx="56007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Name all sets to which each value belongs.  (Use </a:t>
            </a:r>
            <a:r>
              <a:rPr lang="en-US" sz="11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,</a:t>
            </a:r>
            <a:r>
              <a:rPr lang="en-US" sz="1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, </a:t>
            </a:r>
            <a:r>
              <a:rPr lang="en-US" sz="11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, </a:t>
            </a:r>
            <a:r>
              <a:rPr lang="en-US" sz="11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, </a:t>
            </a:r>
            <a:r>
              <a:rPr lang="en-US" sz="11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, </a:t>
            </a:r>
            <a:r>
              <a:rPr lang="en-US" sz="11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)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B50187-97B3-D2B7-937D-533513E18758}"/>
              </a:ext>
            </a:extLst>
          </p:cNvPr>
          <p:cNvSpPr/>
          <p:nvPr/>
        </p:nvSpPr>
        <p:spPr>
          <a:xfrm>
            <a:off x="529363" y="5436124"/>
            <a:ext cx="191430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Simplify each expression.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24EC65-D82E-910A-F072-AAAAD93FCEA0}"/>
              </a:ext>
            </a:extLst>
          </p:cNvPr>
          <p:cNvSpPr/>
          <p:nvPr/>
        </p:nvSpPr>
        <p:spPr>
          <a:xfrm>
            <a:off x="524501" y="5746248"/>
            <a:ext cx="35137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9.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C7529466-2BF6-2C0A-797C-FFD1424887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944" y="3702954"/>
          <a:ext cx="304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4560" imgH="228600" progId="Equation.DSMT4">
                  <p:embed/>
                </p:oleObj>
              </mc:Choice>
              <mc:Fallback>
                <p:oleObj name="Equation" r:id="rId3" imgW="304560" imgH="228600" progId="Equation.DSMT4">
                  <p:embed/>
                  <p:pic>
                    <p:nvPicPr>
                      <p:cNvPr id="77" name="Object 76">
                        <a:extLst>
                          <a:ext uri="{FF2B5EF4-FFF2-40B4-BE49-F238E27FC236}">
                            <a16:creationId xmlns:a16="http://schemas.microsoft.com/office/drawing/2014/main" id="{C7529466-2BF6-2C0A-797C-FFD1424887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7944" y="3702954"/>
                        <a:ext cx="304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85147EA0-5E37-CF6E-078C-3F9BFA951E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5244" y="4051643"/>
          <a:ext cx="317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17160" imgH="368280" progId="Equation.DSMT4">
                  <p:embed/>
                </p:oleObj>
              </mc:Choice>
              <mc:Fallback>
                <p:oleObj name="Equation" r:id="rId5" imgW="317160" imgH="368280" progId="Equation.DSMT4">
                  <p:embed/>
                  <p:pic>
                    <p:nvPicPr>
                      <p:cNvPr id="78" name="Object 77">
                        <a:extLst>
                          <a:ext uri="{FF2B5EF4-FFF2-40B4-BE49-F238E27FC236}">
                            <a16:creationId xmlns:a16="http://schemas.microsoft.com/office/drawing/2014/main" id="{85147EA0-5E37-CF6E-078C-3F9BFA951E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15244" y="4051643"/>
                        <a:ext cx="3175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DE4235CA-CE11-079C-812F-A5FA8A2A54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944" y="4859829"/>
          <a:ext cx="304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04560" imgH="419040" progId="Equation.DSMT4">
                  <p:embed/>
                </p:oleObj>
              </mc:Choice>
              <mc:Fallback>
                <p:oleObj name="Equation" r:id="rId7" imgW="304560" imgH="419040" progId="Equation.DSMT4">
                  <p:embed/>
                  <p:pic>
                    <p:nvPicPr>
                      <p:cNvPr id="79" name="Object 78">
                        <a:extLst>
                          <a:ext uri="{FF2B5EF4-FFF2-40B4-BE49-F238E27FC236}">
                            <a16:creationId xmlns:a16="http://schemas.microsoft.com/office/drawing/2014/main" id="{DE4235CA-CE11-079C-812F-A5FA8A2A54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27944" y="4859829"/>
                        <a:ext cx="3048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370D3AA8-79C4-4917-27BD-D6AA52DE5C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6093" y="4578042"/>
          <a:ext cx="34290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42720" imgH="126720" progId="Equation.DSMT4">
                  <p:embed/>
                </p:oleObj>
              </mc:Choice>
              <mc:Fallback>
                <p:oleObj name="Equation" r:id="rId9" imgW="342720" imgH="126720" progId="Equation.DSMT4">
                  <p:embed/>
                  <p:pic>
                    <p:nvPicPr>
                      <p:cNvPr id="80" name="Object 79">
                        <a:extLst>
                          <a:ext uri="{FF2B5EF4-FFF2-40B4-BE49-F238E27FC236}">
                            <a16:creationId xmlns:a16="http://schemas.microsoft.com/office/drawing/2014/main" id="{370D3AA8-79C4-4917-27BD-D6AA52DE5C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56093" y="4578042"/>
                        <a:ext cx="342900" cy="12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2">
            <a:extLst>
              <a:ext uri="{FF2B5EF4-FFF2-40B4-BE49-F238E27FC236}">
                <a16:creationId xmlns:a16="http://schemas.microsoft.com/office/drawing/2014/main" id="{F13AAA63-BC25-198A-CAE3-0F1A7F1FE0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7819" y="5772342"/>
          <a:ext cx="1422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22360" imgH="228600" progId="Equation.DSMT4">
                  <p:embed/>
                </p:oleObj>
              </mc:Choice>
              <mc:Fallback>
                <p:oleObj name="Equation" r:id="rId11" imgW="1422360" imgH="228600" progId="Equation.DSMT4">
                  <p:embed/>
                  <p:pic>
                    <p:nvPicPr>
                      <p:cNvPr id="87" name="Object 86">
                        <a:extLst>
                          <a:ext uri="{FF2B5EF4-FFF2-40B4-BE49-F238E27FC236}">
                            <a16:creationId xmlns:a16="http://schemas.microsoft.com/office/drawing/2014/main" id="{F13AAA63-BC25-198A-CAE3-0F1A7F1FE0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87819" y="5772342"/>
                        <a:ext cx="1422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4">
            <a:extLst>
              <a:ext uri="{FF2B5EF4-FFF2-40B4-BE49-F238E27FC236}">
                <a16:creationId xmlns:a16="http://schemas.microsoft.com/office/drawing/2014/main" id="{9B7A9B4D-8123-6A6C-6184-25EA58AE97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61979" y="5710001"/>
          <a:ext cx="1257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57120" imgH="431640" progId="Equation.DSMT4">
                  <p:embed/>
                </p:oleObj>
              </mc:Choice>
              <mc:Fallback>
                <p:oleObj name="Equation" r:id="rId13" imgW="1257120" imgH="431640" progId="Equation.DSMT4">
                  <p:embed/>
                  <p:pic>
                    <p:nvPicPr>
                      <p:cNvPr id="88" name="Object 87">
                        <a:extLst>
                          <a:ext uri="{FF2B5EF4-FFF2-40B4-BE49-F238E27FC236}">
                            <a16:creationId xmlns:a16="http://schemas.microsoft.com/office/drawing/2014/main" id="{9B7A9B4D-8123-6A6C-6184-25EA58AE97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661979" y="5710001"/>
                        <a:ext cx="12573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40">
            <a:extLst>
              <a:ext uri="{FF2B5EF4-FFF2-40B4-BE49-F238E27FC236}">
                <a16:creationId xmlns:a16="http://schemas.microsoft.com/office/drawing/2014/main" id="{6FBE6300-295B-D0C8-E3AE-9D5BC11541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3170" y="7865589"/>
          <a:ext cx="8890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88840" imgH="203040" progId="Equation.DSMT4">
                  <p:embed/>
                </p:oleObj>
              </mc:Choice>
              <mc:Fallback>
                <p:oleObj name="Equation" r:id="rId15" imgW="888840" imgH="203040" progId="Equation.DSMT4">
                  <p:embed/>
                  <p:pic>
                    <p:nvPicPr>
                      <p:cNvPr id="89" name="Object 88">
                        <a:extLst>
                          <a:ext uri="{FF2B5EF4-FFF2-40B4-BE49-F238E27FC236}">
                            <a16:creationId xmlns:a16="http://schemas.microsoft.com/office/drawing/2014/main" id="{6FBE6300-295B-D0C8-E3AE-9D5BC11541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73170" y="7865589"/>
                        <a:ext cx="8890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41">
            <a:extLst>
              <a:ext uri="{FF2B5EF4-FFF2-40B4-BE49-F238E27FC236}">
                <a16:creationId xmlns:a16="http://schemas.microsoft.com/office/drawing/2014/main" id="{03A2AA34-3AB3-B37B-21C0-8380645116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1575" y="7891645"/>
          <a:ext cx="4953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95000" imgH="203040" progId="Equation.DSMT4">
                  <p:embed/>
                </p:oleObj>
              </mc:Choice>
              <mc:Fallback>
                <p:oleObj name="Equation" r:id="rId17" imgW="495000" imgH="203040" progId="Equation.DSMT4">
                  <p:embed/>
                  <p:pic>
                    <p:nvPicPr>
                      <p:cNvPr id="90" name="Object 89">
                        <a:extLst>
                          <a:ext uri="{FF2B5EF4-FFF2-40B4-BE49-F238E27FC236}">
                            <a16:creationId xmlns:a16="http://schemas.microsoft.com/office/drawing/2014/main" id="{03A2AA34-3AB3-B37B-21C0-8380645116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651575" y="7891645"/>
                        <a:ext cx="4953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42">
            <a:extLst>
              <a:ext uri="{FF2B5EF4-FFF2-40B4-BE49-F238E27FC236}">
                <a16:creationId xmlns:a16="http://schemas.microsoft.com/office/drawing/2014/main" id="{B05EC2AF-37C8-B2D3-17E4-64C0672DEB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35513" y="7805438"/>
          <a:ext cx="139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39680" imgH="330120" progId="Equation.DSMT4">
                  <p:embed/>
                </p:oleObj>
              </mc:Choice>
              <mc:Fallback>
                <p:oleObj name="Equation" r:id="rId19" imgW="139680" imgH="330120" progId="Equation.DSMT4">
                  <p:embed/>
                  <p:pic>
                    <p:nvPicPr>
                      <p:cNvPr id="91" name="Object 90">
                        <a:extLst>
                          <a:ext uri="{FF2B5EF4-FFF2-40B4-BE49-F238E27FC236}">
                            <a16:creationId xmlns:a16="http://schemas.microsoft.com/office/drawing/2014/main" id="{B05EC2AF-37C8-B2D3-17E4-64C0672DEB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735513" y="7805438"/>
                        <a:ext cx="1397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3">
            <a:extLst>
              <a:ext uri="{FF2B5EF4-FFF2-40B4-BE49-F238E27FC236}">
                <a16:creationId xmlns:a16="http://schemas.microsoft.com/office/drawing/2014/main" id="{E94EE7A5-022E-D86A-0B60-B85F3541FD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43650" y="7805438"/>
          <a:ext cx="139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39680" imgH="330120" progId="Equation.DSMT4">
                  <p:embed/>
                </p:oleObj>
              </mc:Choice>
              <mc:Fallback>
                <p:oleObj name="Equation" r:id="rId21" imgW="139680" imgH="330120" progId="Equation.DSMT4">
                  <p:embed/>
                  <p:pic>
                    <p:nvPicPr>
                      <p:cNvPr id="92" name="Object 91">
                        <a:extLst>
                          <a:ext uri="{FF2B5EF4-FFF2-40B4-BE49-F238E27FC236}">
                            <a16:creationId xmlns:a16="http://schemas.microsoft.com/office/drawing/2014/main" id="{E94EE7A5-022E-D86A-0B60-B85F3541FD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343650" y="7805438"/>
                        <a:ext cx="1397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object 49">
            <a:extLst>
              <a:ext uri="{FF2B5EF4-FFF2-40B4-BE49-F238E27FC236}">
                <a16:creationId xmlns:a16="http://schemas.microsoft.com/office/drawing/2014/main" id="{2521BA16-7600-C3D9-F128-AD5E46894A31}"/>
              </a:ext>
            </a:extLst>
          </p:cNvPr>
          <p:cNvSpPr txBox="1"/>
          <p:nvPr/>
        </p:nvSpPr>
        <p:spPr>
          <a:xfrm>
            <a:off x="4397016" y="7885503"/>
            <a:ext cx="1313146" cy="153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  <a:tabLst>
                <a:tab pos="1036319" algn="l"/>
              </a:tabLst>
            </a:pPr>
            <a:r>
              <a:rPr sz="900" spc="-5" dirty="0">
                <a:latin typeface="Tahoma"/>
                <a:cs typeface="Tahoma"/>
              </a:rPr>
              <a:t>(</a:t>
            </a:r>
            <a:r>
              <a:rPr sz="900" spc="-5" dirty="0">
                <a:latin typeface="Century Gothic" panose="020B0502020202020204" pitchFamily="34" charset="0"/>
                <a:cs typeface="Tahoma"/>
              </a:rPr>
              <a:t>if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1000" i="1" spc="-5" dirty="0">
                <a:latin typeface="Times New Roman"/>
                <a:cs typeface="Times New Roman"/>
              </a:rPr>
              <a:t>x </a:t>
            </a:r>
            <a:r>
              <a:rPr sz="900" spc="-5" dirty="0">
                <a:latin typeface="Tahoma"/>
                <a:cs typeface="Tahoma"/>
              </a:rPr>
              <a:t>= </a:t>
            </a:r>
            <a:r>
              <a:rPr lang="en-US" sz="900" spc="-5" dirty="0">
                <a:latin typeface="Tahoma"/>
                <a:cs typeface="Tahoma"/>
              </a:rPr>
              <a:t> </a:t>
            </a:r>
            <a:r>
              <a:rPr sz="1350" spc="-7" baseline="37037" dirty="0">
                <a:latin typeface="Tahoma"/>
                <a:cs typeface="Tahoma"/>
              </a:rPr>
              <a:t> </a:t>
            </a:r>
            <a:r>
              <a:rPr lang="en-US" sz="1350" spc="-7" baseline="37037" dirty="0">
                <a:latin typeface="Tahoma"/>
                <a:cs typeface="Tahoma"/>
              </a:rPr>
              <a:t>  </a:t>
            </a:r>
            <a:r>
              <a:rPr sz="900" spc="-5" dirty="0">
                <a:latin typeface="Century Gothic" panose="020B0502020202020204" pitchFamily="34" charset="0"/>
                <a:cs typeface="Tahoma"/>
              </a:rPr>
              <a:t>and </a:t>
            </a:r>
            <a:r>
              <a:rPr lang="en-US" sz="900" spc="-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000" i="1" spc="-5" dirty="0">
                <a:latin typeface="Times New Roman"/>
                <a:cs typeface="Times New Roman"/>
              </a:rPr>
              <a:t>y </a:t>
            </a:r>
            <a:r>
              <a:rPr sz="900" spc="-5" dirty="0">
                <a:latin typeface="Century Gothic" panose="020B0502020202020204" pitchFamily="34" charset="0"/>
                <a:cs typeface="Tahoma"/>
              </a:rPr>
              <a:t>=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lang="en-US" sz="900" spc="-5" dirty="0">
                <a:latin typeface="Tahoma"/>
                <a:cs typeface="Tahoma"/>
              </a:rPr>
              <a:t>   )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2FDEC8E-2320-AE20-DF06-17AA032F6D0A}"/>
              </a:ext>
            </a:extLst>
          </p:cNvPr>
          <p:cNvSpPr/>
          <p:nvPr/>
        </p:nvSpPr>
        <p:spPr>
          <a:xfrm>
            <a:off x="3311261" y="5750095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10.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C4482BC-D5D9-3A68-D593-9742444A688E}"/>
              </a:ext>
            </a:extLst>
          </p:cNvPr>
          <p:cNvSpPr/>
          <p:nvPr/>
        </p:nvSpPr>
        <p:spPr>
          <a:xfrm>
            <a:off x="510646" y="1396702"/>
            <a:ext cx="253735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Simplify each radical expression. 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501CCD1-C993-FE29-937D-8361BC6CFAAB}"/>
              </a:ext>
            </a:extLst>
          </p:cNvPr>
          <p:cNvSpPr/>
          <p:nvPr/>
        </p:nvSpPr>
        <p:spPr>
          <a:xfrm>
            <a:off x="521694" y="1618969"/>
            <a:ext cx="35137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DD0B585-2E1A-34DC-A14A-6E0E5B7B5AE8}"/>
              </a:ext>
            </a:extLst>
          </p:cNvPr>
          <p:cNvSpPr/>
          <p:nvPr/>
        </p:nvSpPr>
        <p:spPr>
          <a:xfrm>
            <a:off x="3271879" y="1622816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3DB8825-76B1-8522-7FC0-F5BD69451335}"/>
              </a:ext>
            </a:extLst>
          </p:cNvPr>
          <p:cNvSpPr/>
          <p:nvPr/>
        </p:nvSpPr>
        <p:spPr>
          <a:xfrm>
            <a:off x="521694" y="2492630"/>
            <a:ext cx="35137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3.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FE3F041-DCC8-8C9E-A1A1-E9724F3F21CD}"/>
              </a:ext>
            </a:extLst>
          </p:cNvPr>
          <p:cNvSpPr/>
          <p:nvPr/>
        </p:nvSpPr>
        <p:spPr>
          <a:xfrm>
            <a:off x="3271879" y="2496477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4.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55" name="Object 54">
            <a:extLst>
              <a:ext uri="{FF2B5EF4-FFF2-40B4-BE49-F238E27FC236}">
                <a16:creationId xmlns:a16="http://schemas.microsoft.com/office/drawing/2014/main" id="{A04209B7-E123-2D2A-9B5D-6826FF664D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7414" y="1625542"/>
          <a:ext cx="304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304560" imgH="228600" progId="Equation.DSMT4">
                  <p:embed/>
                </p:oleObj>
              </mc:Choice>
              <mc:Fallback>
                <p:oleObj name="Equation" r:id="rId23" imgW="304560" imgH="228600" progId="Equation.DSMT4">
                  <p:embed/>
                  <p:pic>
                    <p:nvPicPr>
                      <p:cNvPr id="34" name="Object 33">
                        <a:extLst>
                          <a:ext uri="{FF2B5EF4-FFF2-40B4-BE49-F238E27FC236}">
                            <a16:creationId xmlns:a16="http://schemas.microsoft.com/office/drawing/2014/main" id="{A04209B7-E123-2D2A-9B5D-6826FF664D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47414" y="1625542"/>
                        <a:ext cx="304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55">
            <a:extLst>
              <a:ext uri="{FF2B5EF4-FFF2-40B4-BE49-F238E27FC236}">
                <a16:creationId xmlns:a16="http://schemas.microsoft.com/office/drawing/2014/main" id="{043AE1AB-BA46-C758-21B7-7D7767F635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0775" y="1625542"/>
          <a:ext cx="444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444240" imgH="228600" progId="Equation.DSMT4">
                  <p:embed/>
                </p:oleObj>
              </mc:Choice>
              <mc:Fallback>
                <p:oleObj name="Equation" r:id="rId25" imgW="444240" imgH="228600" progId="Equation.DSMT4">
                  <p:embed/>
                  <p:pic>
                    <p:nvPicPr>
                      <p:cNvPr id="36" name="Object 35">
                        <a:extLst>
                          <a:ext uri="{FF2B5EF4-FFF2-40B4-BE49-F238E27FC236}">
                            <a16:creationId xmlns:a16="http://schemas.microsoft.com/office/drawing/2014/main" id="{043AE1AB-BA46-C758-21B7-7D7767F635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500775" y="1625542"/>
                        <a:ext cx="444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56">
            <a:extLst>
              <a:ext uri="{FF2B5EF4-FFF2-40B4-BE49-F238E27FC236}">
                <a16:creationId xmlns:a16="http://schemas.microsoft.com/office/drawing/2014/main" id="{B62BED78-0F48-BDF4-CF99-04E0E4C121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1744" y="2494706"/>
          <a:ext cx="381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380880" imgH="228600" progId="Equation.DSMT4">
                  <p:embed/>
                </p:oleObj>
              </mc:Choice>
              <mc:Fallback>
                <p:oleObj name="Equation" r:id="rId27" imgW="380880" imgH="228600" progId="Equation.DSMT4">
                  <p:embed/>
                  <p:pic>
                    <p:nvPicPr>
                      <p:cNvPr id="37" name="Object 36">
                        <a:extLst>
                          <a:ext uri="{FF2B5EF4-FFF2-40B4-BE49-F238E27FC236}">
                            <a16:creationId xmlns:a16="http://schemas.microsoft.com/office/drawing/2014/main" id="{B62BED78-0F48-BDF4-CF99-04E0E4C121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51744" y="2494706"/>
                        <a:ext cx="381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57">
            <a:extLst>
              <a:ext uri="{FF2B5EF4-FFF2-40B4-BE49-F238E27FC236}">
                <a16:creationId xmlns:a16="http://schemas.microsoft.com/office/drawing/2014/main" id="{DC3EBB13-C328-E702-9402-2F038E30FA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11614" y="2494706"/>
          <a:ext cx="381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380880" imgH="228600" progId="Equation.DSMT4">
                  <p:embed/>
                </p:oleObj>
              </mc:Choice>
              <mc:Fallback>
                <p:oleObj name="Equation" r:id="rId29" imgW="380880" imgH="228600" progId="Equation.DSMT4">
                  <p:embed/>
                  <p:pic>
                    <p:nvPicPr>
                      <p:cNvPr id="38" name="Object 37">
                        <a:extLst>
                          <a:ext uri="{FF2B5EF4-FFF2-40B4-BE49-F238E27FC236}">
                            <a16:creationId xmlns:a16="http://schemas.microsoft.com/office/drawing/2014/main" id="{DC3EBB13-C328-E702-9402-2F038E30FA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511614" y="2494706"/>
                        <a:ext cx="381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12">
            <a:extLst>
              <a:ext uri="{FF2B5EF4-FFF2-40B4-BE49-F238E27FC236}">
                <a16:creationId xmlns:a16="http://schemas.microsoft.com/office/drawing/2014/main" id="{76CE0BA6-0D88-24AD-F812-89E90C3927CB}"/>
              </a:ext>
            </a:extLst>
          </p:cNvPr>
          <p:cNvSpPr txBox="1"/>
          <p:nvPr/>
        </p:nvSpPr>
        <p:spPr>
          <a:xfrm>
            <a:off x="604518" y="3106163"/>
            <a:ext cx="257175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15.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5" name="object 16">
            <a:extLst>
              <a:ext uri="{FF2B5EF4-FFF2-40B4-BE49-F238E27FC236}">
                <a16:creationId xmlns:a16="http://schemas.microsoft.com/office/drawing/2014/main" id="{2DE844E0-747B-05F1-EC2E-A5BC2203884E}"/>
              </a:ext>
            </a:extLst>
          </p:cNvPr>
          <p:cNvSpPr txBox="1"/>
          <p:nvPr/>
        </p:nvSpPr>
        <p:spPr>
          <a:xfrm>
            <a:off x="3218189" y="3106166"/>
            <a:ext cx="257175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16.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9" name="object 20">
            <a:extLst>
              <a:ext uri="{FF2B5EF4-FFF2-40B4-BE49-F238E27FC236}">
                <a16:creationId xmlns:a16="http://schemas.microsoft.com/office/drawing/2014/main" id="{935BD06E-B5C5-FE3D-C508-DEC20DE00F8A}"/>
              </a:ext>
            </a:extLst>
          </p:cNvPr>
          <p:cNvSpPr txBox="1"/>
          <p:nvPr/>
        </p:nvSpPr>
        <p:spPr>
          <a:xfrm>
            <a:off x="4382550" y="3083080"/>
            <a:ext cx="721995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5" dirty="0">
                <a:latin typeface="Tahoma"/>
                <a:cs typeface="Tahoma"/>
              </a:rPr>
              <a:t>(</a:t>
            </a:r>
            <a:r>
              <a:rPr sz="1000" spc="-5" dirty="0">
                <a:latin typeface="Century Gothic" panose="020B0502020202020204" pitchFamily="34" charset="0"/>
                <a:cs typeface="Tahoma"/>
              </a:rPr>
              <a:t>solve </a:t>
            </a:r>
            <a:r>
              <a:rPr sz="1000" spc="-10" dirty="0">
                <a:latin typeface="Century Gothic" panose="020B0502020202020204" pitchFamily="34" charset="0"/>
                <a:cs typeface="Tahoma"/>
              </a:rPr>
              <a:t>for</a:t>
            </a:r>
            <a:r>
              <a:rPr sz="1000" spc="-5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250" i="1" spc="-5" dirty="0">
                <a:latin typeface="Times New Roman"/>
                <a:cs typeface="Times New Roman"/>
              </a:rPr>
              <a:t>b</a:t>
            </a:r>
            <a:r>
              <a:rPr sz="1000" spc="-5" dirty="0">
                <a:latin typeface="Tahoma"/>
                <a:cs typeface="Tahoma"/>
              </a:rPr>
              <a:t>)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10" name="object 21">
            <a:extLst>
              <a:ext uri="{FF2B5EF4-FFF2-40B4-BE49-F238E27FC236}">
                <a16:creationId xmlns:a16="http://schemas.microsoft.com/office/drawing/2014/main" id="{895EAE7F-5817-F680-F424-D7A3D1CB087D}"/>
              </a:ext>
            </a:extLst>
          </p:cNvPr>
          <p:cNvSpPr txBox="1"/>
          <p:nvPr/>
        </p:nvSpPr>
        <p:spPr>
          <a:xfrm>
            <a:off x="604515" y="5128514"/>
            <a:ext cx="471678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Solve each equation.  Be sure to check for extraneous</a:t>
            </a:r>
            <a:r>
              <a:rPr sz="1100" b="1" spc="10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solutions.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1" name="object 24">
            <a:extLst>
              <a:ext uri="{FF2B5EF4-FFF2-40B4-BE49-F238E27FC236}">
                <a16:creationId xmlns:a16="http://schemas.microsoft.com/office/drawing/2014/main" id="{5B53B7C9-F631-D633-F5C0-0CC451BB8711}"/>
              </a:ext>
            </a:extLst>
          </p:cNvPr>
          <p:cNvSpPr txBox="1"/>
          <p:nvPr/>
        </p:nvSpPr>
        <p:spPr>
          <a:xfrm>
            <a:off x="604515" y="5479713"/>
            <a:ext cx="354698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72110" algn="l"/>
              </a:tabLst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1</a:t>
            </a: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7.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3" name="object 32">
            <a:extLst>
              <a:ext uri="{FF2B5EF4-FFF2-40B4-BE49-F238E27FC236}">
                <a16:creationId xmlns:a16="http://schemas.microsoft.com/office/drawing/2014/main" id="{1A0D5EC3-A817-C81A-26CB-C57CFEC1DBD0}"/>
              </a:ext>
            </a:extLst>
          </p:cNvPr>
          <p:cNvSpPr txBox="1"/>
          <p:nvPr/>
        </p:nvSpPr>
        <p:spPr>
          <a:xfrm>
            <a:off x="604528" y="7691882"/>
            <a:ext cx="287836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19. 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4" name="object 43">
            <a:extLst>
              <a:ext uri="{FF2B5EF4-FFF2-40B4-BE49-F238E27FC236}">
                <a16:creationId xmlns:a16="http://schemas.microsoft.com/office/drawing/2014/main" id="{7D8BBBAF-F1D2-9978-5115-E7CBF546C32F}"/>
              </a:ext>
            </a:extLst>
          </p:cNvPr>
          <p:cNvSpPr txBox="1"/>
          <p:nvPr/>
        </p:nvSpPr>
        <p:spPr>
          <a:xfrm>
            <a:off x="3175516" y="7688831"/>
            <a:ext cx="299224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20.</a:t>
            </a:r>
            <a:endParaRPr sz="1100" baseline="2645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CA6F1F-E3B7-B63A-573F-57E81A072B83}"/>
              </a:ext>
            </a:extLst>
          </p:cNvPr>
          <p:cNvSpPr/>
          <p:nvPr/>
        </p:nvSpPr>
        <p:spPr>
          <a:xfrm>
            <a:off x="524271" y="597373"/>
            <a:ext cx="163859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Solve each equation.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62A276-E150-2FAB-44CB-38C903B6FD7B}"/>
              </a:ext>
            </a:extLst>
          </p:cNvPr>
          <p:cNvSpPr/>
          <p:nvPr/>
        </p:nvSpPr>
        <p:spPr>
          <a:xfrm>
            <a:off x="524479" y="875983"/>
            <a:ext cx="434734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13.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68048486-93DD-61E2-1152-7A0AD4617A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5822" y="918416"/>
          <a:ext cx="13208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20480" imgH="203040" progId="Equation.DSMT4">
                  <p:embed/>
                </p:oleObj>
              </mc:Choice>
              <mc:Fallback>
                <p:oleObj name="Equation" r:id="rId3" imgW="1320480" imgH="203040" progId="Equation.DSMT4">
                  <p:embed/>
                  <p:pic>
                    <p:nvPicPr>
                      <p:cNvPr id="53" name="Object 52">
                        <a:extLst>
                          <a:ext uri="{FF2B5EF4-FFF2-40B4-BE49-F238E27FC236}">
                            <a16:creationId xmlns:a16="http://schemas.microsoft.com/office/drawing/2014/main" id="{68048486-93DD-61E2-1152-7A0AD4617A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65822" y="918416"/>
                        <a:ext cx="13208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65E4EE08-A191-DF78-4E24-0CEED0B117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86837" y="813785"/>
          <a:ext cx="1511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11280" imgH="393480" progId="Equation.DSMT4">
                  <p:embed/>
                </p:oleObj>
              </mc:Choice>
              <mc:Fallback>
                <p:oleObj name="Equation" r:id="rId5" imgW="1511280" imgH="393480" progId="Equation.DSMT4">
                  <p:embed/>
                  <p:pic>
                    <p:nvPicPr>
                      <p:cNvPr id="54" name="Object 53">
                        <a:extLst>
                          <a:ext uri="{FF2B5EF4-FFF2-40B4-BE49-F238E27FC236}">
                            <a16:creationId xmlns:a16="http://schemas.microsoft.com/office/drawing/2014/main" id="{65E4EE08-A191-DF78-4E24-0CEED0B117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86837" y="813785"/>
                        <a:ext cx="15113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3FE0B571-990D-DE31-C117-660DD510E6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4567" y="3014529"/>
          <a:ext cx="1003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02960" imgH="368280" progId="Equation.DSMT4">
                  <p:embed/>
                </p:oleObj>
              </mc:Choice>
              <mc:Fallback>
                <p:oleObj name="Equation" r:id="rId7" imgW="1002960" imgH="368280" progId="Equation.DSMT4">
                  <p:embed/>
                  <p:pic>
                    <p:nvPicPr>
                      <p:cNvPr id="55" name="Object 54">
                        <a:extLst>
                          <a:ext uri="{FF2B5EF4-FFF2-40B4-BE49-F238E27FC236}">
                            <a16:creationId xmlns:a16="http://schemas.microsoft.com/office/drawing/2014/main" id="{3FE0B571-990D-DE31-C117-660DD510E6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84567" y="3014529"/>
                        <a:ext cx="10033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E0DA27DB-9303-171A-7F78-E7339C5A5B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22338" y="3023652"/>
          <a:ext cx="774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74360" imgH="368280" progId="Equation.DSMT4">
                  <p:embed/>
                </p:oleObj>
              </mc:Choice>
              <mc:Fallback>
                <p:oleObj name="Equation" r:id="rId9" imgW="774360" imgH="368280" progId="Equation.DSMT4">
                  <p:embed/>
                  <p:pic>
                    <p:nvPicPr>
                      <p:cNvPr id="56" name="Object 55">
                        <a:extLst>
                          <a:ext uri="{FF2B5EF4-FFF2-40B4-BE49-F238E27FC236}">
                            <a16:creationId xmlns:a16="http://schemas.microsoft.com/office/drawing/2014/main" id="{E0DA27DB-9303-171A-7F78-E7339C5A5B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22338" y="3023652"/>
                        <a:ext cx="774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94684AEE-628B-5204-1305-F389A4471F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2364" y="5453648"/>
          <a:ext cx="838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38080" imgH="228600" progId="Equation.DSMT4">
                  <p:embed/>
                </p:oleObj>
              </mc:Choice>
              <mc:Fallback>
                <p:oleObj name="Equation" r:id="rId11" imgW="838080" imgH="228600" progId="Equation.DSMT4">
                  <p:embed/>
                  <p:pic>
                    <p:nvPicPr>
                      <p:cNvPr id="57" name="Object 56">
                        <a:extLst>
                          <a:ext uri="{FF2B5EF4-FFF2-40B4-BE49-F238E27FC236}">
                            <a16:creationId xmlns:a16="http://schemas.microsoft.com/office/drawing/2014/main" id="{94684AEE-628B-5204-1305-F389A4471F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92364" y="5453648"/>
                        <a:ext cx="838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FC67E0F1-BE0D-D44C-A46F-2DF679459A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70324" y="5373851"/>
          <a:ext cx="711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11000" imgH="380880" progId="Equation.DSMT4">
                  <p:embed/>
                </p:oleObj>
              </mc:Choice>
              <mc:Fallback>
                <p:oleObj name="Equation" r:id="rId13" imgW="711000" imgH="380880" progId="Equation.DSMT4">
                  <p:embed/>
                  <p:pic>
                    <p:nvPicPr>
                      <p:cNvPr id="58" name="Object 57">
                        <a:extLst>
                          <a:ext uri="{FF2B5EF4-FFF2-40B4-BE49-F238E27FC236}">
                            <a16:creationId xmlns:a16="http://schemas.microsoft.com/office/drawing/2014/main" id="{FC67E0F1-BE0D-D44C-A46F-2DF679459A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470324" y="5373851"/>
                        <a:ext cx="711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460E4DB6-FEF2-E42C-635F-2B3B6A757E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5946" y="7675563"/>
          <a:ext cx="10922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091880" imgH="203040" progId="Equation.DSMT4">
                  <p:embed/>
                </p:oleObj>
              </mc:Choice>
              <mc:Fallback>
                <p:oleObj name="Equation" r:id="rId15" imgW="1091880" imgH="203040" progId="Equation.DSMT4">
                  <p:embed/>
                  <p:pic>
                    <p:nvPicPr>
                      <p:cNvPr id="59" name="Object 58">
                        <a:extLst>
                          <a:ext uri="{FF2B5EF4-FFF2-40B4-BE49-F238E27FC236}">
                            <a16:creationId xmlns:a16="http://schemas.microsoft.com/office/drawing/2014/main" id="{460E4DB6-FEF2-E42C-635F-2B3B6A757E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65946" y="7675563"/>
                        <a:ext cx="10922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C55C46F0-18E0-2010-F992-1B34E68D74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48148" y="7675563"/>
          <a:ext cx="1295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295280" imgH="228600" progId="Equation.DSMT4">
                  <p:embed/>
                </p:oleObj>
              </mc:Choice>
              <mc:Fallback>
                <p:oleObj name="Equation" r:id="rId17" imgW="1295280" imgH="228600" progId="Equation.DSMT4">
                  <p:embed/>
                  <p:pic>
                    <p:nvPicPr>
                      <p:cNvPr id="60" name="Object 59">
                        <a:extLst>
                          <a:ext uri="{FF2B5EF4-FFF2-40B4-BE49-F238E27FC236}">
                            <a16:creationId xmlns:a16="http://schemas.microsoft.com/office/drawing/2014/main" id="{C55C46F0-18E0-2010-F992-1B34E68D74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448148" y="7675563"/>
                        <a:ext cx="1295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object 24">
            <a:extLst>
              <a:ext uri="{FF2B5EF4-FFF2-40B4-BE49-F238E27FC236}">
                <a16:creationId xmlns:a16="http://schemas.microsoft.com/office/drawing/2014/main" id="{0C0A8EB5-5023-3FD4-FC04-84074C51ADE4}"/>
              </a:ext>
            </a:extLst>
          </p:cNvPr>
          <p:cNvSpPr txBox="1"/>
          <p:nvPr/>
        </p:nvSpPr>
        <p:spPr>
          <a:xfrm>
            <a:off x="3169427" y="5479713"/>
            <a:ext cx="354698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72110" algn="l"/>
              </a:tabLst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1</a:t>
            </a: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8.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30" name="object 12">
            <a:extLst>
              <a:ext uri="{FF2B5EF4-FFF2-40B4-BE49-F238E27FC236}">
                <a16:creationId xmlns:a16="http://schemas.microsoft.com/office/drawing/2014/main" id="{27B8DBBE-E91D-5657-053A-D6813849039D}"/>
              </a:ext>
            </a:extLst>
          </p:cNvPr>
          <p:cNvSpPr txBox="1"/>
          <p:nvPr/>
        </p:nvSpPr>
        <p:spPr>
          <a:xfrm>
            <a:off x="3225072" y="922991"/>
            <a:ext cx="257175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1</a:t>
            </a: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4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115</Words>
  <Application>Microsoft Office PowerPoint</Application>
  <PresentationFormat>Custom</PresentationFormat>
  <Paragraphs>28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Calibri</vt:lpstr>
      <vt:lpstr>Century Gothic</vt:lpstr>
      <vt:lpstr>Tahoma</vt:lpstr>
      <vt:lpstr>Times New Roman</vt:lpstr>
      <vt:lpstr>Office Theme</vt:lpstr>
      <vt:lpstr>Equation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- 10 - Quiz 1-1</dc:title>
  <dc:creator>Gina</dc:creator>
  <cp:lastModifiedBy>Gina Wilson</cp:lastModifiedBy>
  <cp:revision>7</cp:revision>
  <dcterms:created xsi:type="dcterms:W3CDTF">2017-06-19T15:33:49Z</dcterms:created>
  <dcterms:modified xsi:type="dcterms:W3CDTF">2024-03-05T21:20:37Z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2015-05-27T00:00:00Z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2017-06-19T00:00:00Z</vt:filetime>
  </property>
</Properties>
</file>