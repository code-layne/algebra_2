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551" y="26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05093" y="9796540"/>
            <a:ext cx="1417320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19" Type="http://schemas.openxmlformats.org/officeDocument/2006/relationships/image" Target="../media/image10.png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A085CA73-BA0B-CEF3-9303-DD5DC4332B6F}"/>
              </a:ext>
            </a:extLst>
          </p:cNvPr>
          <p:cNvSpPr txBox="1"/>
          <p:nvPr/>
        </p:nvSpPr>
        <p:spPr>
          <a:xfrm>
            <a:off x="684429" y="1583323"/>
            <a:ext cx="435927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For questions 1-2, solve the system by</a:t>
            </a:r>
            <a:r>
              <a:rPr sz="1100" b="1" spc="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graphing.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E76865DB-B15D-7EC7-305B-FB66AB6660C5}"/>
              </a:ext>
            </a:extLst>
          </p:cNvPr>
          <p:cNvSpPr txBox="1"/>
          <p:nvPr/>
        </p:nvSpPr>
        <p:spPr>
          <a:xfrm>
            <a:off x="613495" y="1915159"/>
            <a:ext cx="233870" cy="17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7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1. </a:t>
            </a:r>
            <a:endParaRPr lang="es-ES"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00B3E30B-1639-C240-C637-74E529C252D7}"/>
              </a:ext>
            </a:extLst>
          </p:cNvPr>
          <p:cNvSpPr txBox="1"/>
          <p:nvPr/>
        </p:nvSpPr>
        <p:spPr>
          <a:xfrm>
            <a:off x="631729" y="4590541"/>
            <a:ext cx="492696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For questions 3-4,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solve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the system using the substitution</a:t>
            </a:r>
            <a:r>
              <a:rPr sz="1100" b="1" spc="9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method.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77129F80-F5F5-19EE-348C-5D05D1EE0D6E}"/>
              </a:ext>
            </a:extLst>
          </p:cNvPr>
          <p:cNvSpPr txBox="1"/>
          <p:nvPr/>
        </p:nvSpPr>
        <p:spPr>
          <a:xfrm>
            <a:off x="631729" y="6503161"/>
            <a:ext cx="487235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For questions 5-8,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solve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the system using the elimination</a:t>
            </a:r>
            <a:r>
              <a:rPr sz="1100" b="1" spc="9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method.</a:t>
            </a:r>
            <a:endParaRPr sz="110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62FDC43-7FB3-2A92-4AEB-248EB6576A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7365" y="1831117"/>
          <a:ext cx="774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0" imgH="419040" progId="Equation.DSMT4">
                  <p:embed/>
                </p:oleObj>
              </mc:Choice>
              <mc:Fallback>
                <p:oleObj name="Equation" r:id="rId3" imgW="774360" imgH="41904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762FDC43-7FB3-2A92-4AEB-248EB6576A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7365" y="1831117"/>
                        <a:ext cx="774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object 5">
            <a:extLst>
              <a:ext uri="{FF2B5EF4-FFF2-40B4-BE49-F238E27FC236}">
                <a16:creationId xmlns:a16="http://schemas.microsoft.com/office/drawing/2014/main" id="{E2A6118F-9978-B1AE-7123-B8003E691A96}"/>
              </a:ext>
            </a:extLst>
          </p:cNvPr>
          <p:cNvSpPr txBox="1"/>
          <p:nvPr/>
        </p:nvSpPr>
        <p:spPr>
          <a:xfrm>
            <a:off x="3374079" y="1915159"/>
            <a:ext cx="233870" cy="17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100" b="1" dirty="0">
                <a:latin typeface="Century Gothic" panose="020B0502020202020204" pitchFamily="34" charset="0"/>
                <a:cs typeface="Tahoma"/>
              </a:rPr>
              <a:t>2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 </a:t>
            </a:r>
            <a:endParaRPr lang="es-ES"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070F6CB-F593-3618-B405-BC9F2A208B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7949" y="1810316"/>
          <a:ext cx="889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88840" imgH="419040" progId="Equation.DSMT4">
                  <p:embed/>
                </p:oleObj>
              </mc:Choice>
              <mc:Fallback>
                <p:oleObj name="Equation" r:id="rId5" imgW="888840" imgH="419040" progId="Equation.DSMT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4070F6CB-F593-3618-B405-BC9F2A208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07949" y="1810316"/>
                        <a:ext cx="889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" name="object 5">
            <a:extLst>
              <a:ext uri="{FF2B5EF4-FFF2-40B4-BE49-F238E27FC236}">
                <a16:creationId xmlns:a16="http://schemas.microsoft.com/office/drawing/2014/main" id="{B161B1C7-0364-63F6-7EDE-346CBE918E60}"/>
              </a:ext>
            </a:extLst>
          </p:cNvPr>
          <p:cNvSpPr txBox="1"/>
          <p:nvPr/>
        </p:nvSpPr>
        <p:spPr>
          <a:xfrm>
            <a:off x="608867" y="4906516"/>
            <a:ext cx="233870" cy="17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100" b="1" dirty="0">
                <a:latin typeface="Century Gothic" panose="020B0502020202020204" pitchFamily="34" charset="0"/>
                <a:cs typeface="Tahoma"/>
              </a:rPr>
              <a:t>3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 </a:t>
            </a:r>
            <a:endParaRPr lang="es-ES"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163" name="Object 162">
            <a:extLst>
              <a:ext uri="{FF2B5EF4-FFF2-40B4-BE49-F238E27FC236}">
                <a16:creationId xmlns:a16="http://schemas.microsoft.com/office/drawing/2014/main" id="{44EEB690-7A94-2D7D-434A-467DB7DB07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4705" y="4822825"/>
          <a:ext cx="91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419040" progId="Equation.DSMT4">
                  <p:embed/>
                </p:oleObj>
              </mc:Choice>
              <mc:Fallback>
                <p:oleObj name="Equation" r:id="rId7" imgW="914400" imgH="419040" progId="Equation.DSMT4">
                  <p:embed/>
                  <p:pic>
                    <p:nvPicPr>
                      <p:cNvPr id="105" name="Object 104">
                        <a:extLst>
                          <a:ext uri="{FF2B5EF4-FFF2-40B4-BE49-F238E27FC236}">
                            <a16:creationId xmlns:a16="http://schemas.microsoft.com/office/drawing/2014/main" id="{44EEB690-7A94-2D7D-434A-467DB7DB0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4705" y="4822825"/>
                        <a:ext cx="914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" name="object 5">
            <a:extLst>
              <a:ext uri="{FF2B5EF4-FFF2-40B4-BE49-F238E27FC236}">
                <a16:creationId xmlns:a16="http://schemas.microsoft.com/office/drawing/2014/main" id="{750770FD-88DA-CDF1-3CB1-3B05D3241804}"/>
              </a:ext>
            </a:extLst>
          </p:cNvPr>
          <p:cNvSpPr txBox="1"/>
          <p:nvPr/>
        </p:nvSpPr>
        <p:spPr>
          <a:xfrm>
            <a:off x="3369451" y="4906516"/>
            <a:ext cx="233870" cy="17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100" b="1" dirty="0">
                <a:latin typeface="Century Gothic" panose="020B0502020202020204" pitchFamily="34" charset="0"/>
                <a:cs typeface="Tahoma"/>
              </a:rPr>
              <a:t>4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 </a:t>
            </a:r>
            <a:endParaRPr lang="es-ES"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165" name="Object 164">
            <a:extLst>
              <a:ext uri="{FF2B5EF4-FFF2-40B4-BE49-F238E27FC236}">
                <a16:creationId xmlns:a16="http://schemas.microsoft.com/office/drawing/2014/main" id="{11A70525-F646-C8EC-3274-11BB48D105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5441" y="4802188"/>
          <a:ext cx="812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12520" imgH="419040" progId="Equation.DSMT4">
                  <p:embed/>
                </p:oleObj>
              </mc:Choice>
              <mc:Fallback>
                <p:oleObj name="Equation" r:id="rId9" imgW="812520" imgH="419040" progId="Equation.DSMT4">
                  <p:embed/>
                  <p:pic>
                    <p:nvPicPr>
                      <p:cNvPr id="107" name="Object 106">
                        <a:extLst>
                          <a:ext uri="{FF2B5EF4-FFF2-40B4-BE49-F238E27FC236}">
                            <a16:creationId xmlns:a16="http://schemas.microsoft.com/office/drawing/2014/main" id="{11A70525-F646-C8EC-3274-11BB48D105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85441" y="4802188"/>
                        <a:ext cx="8128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" name="object 5">
            <a:extLst>
              <a:ext uri="{FF2B5EF4-FFF2-40B4-BE49-F238E27FC236}">
                <a16:creationId xmlns:a16="http://schemas.microsoft.com/office/drawing/2014/main" id="{C35B09A7-7B0C-D672-DA5E-A8D579FE025E}"/>
              </a:ext>
            </a:extLst>
          </p:cNvPr>
          <p:cNvSpPr txBox="1"/>
          <p:nvPr/>
        </p:nvSpPr>
        <p:spPr>
          <a:xfrm>
            <a:off x="609688" y="6827391"/>
            <a:ext cx="233870" cy="17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100" b="1" dirty="0">
                <a:latin typeface="Century Gothic" panose="020B0502020202020204" pitchFamily="34" charset="0"/>
                <a:cs typeface="Tahoma"/>
              </a:rPr>
              <a:t>5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 </a:t>
            </a:r>
            <a:endParaRPr lang="es-ES"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167" name="Object 166">
            <a:extLst>
              <a:ext uri="{FF2B5EF4-FFF2-40B4-BE49-F238E27FC236}">
                <a16:creationId xmlns:a16="http://schemas.microsoft.com/office/drawing/2014/main" id="{2499CB72-1499-E893-5805-EA373172FD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235" y="6739906"/>
          <a:ext cx="838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38080" imgH="419040" progId="Equation.DSMT4">
                  <p:embed/>
                </p:oleObj>
              </mc:Choice>
              <mc:Fallback>
                <p:oleObj name="Equation" r:id="rId11" imgW="838080" imgH="419040" progId="Equation.DSMT4">
                  <p:embed/>
                  <p:pic>
                    <p:nvPicPr>
                      <p:cNvPr id="109" name="Object 108">
                        <a:extLst>
                          <a:ext uri="{FF2B5EF4-FFF2-40B4-BE49-F238E27FC236}">
                            <a16:creationId xmlns:a16="http://schemas.microsoft.com/office/drawing/2014/main" id="{2499CB72-1499-E893-5805-EA373172FD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56235" y="6739906"/>
                        <a:ext cx="8382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" name="object 5">
            <a:extLst>
              <a:ext uri="{FF2B5EF4-FFF2-40B4-BE49-F238E27FC236}">
                <a16:creationId xmlns:a16="http://schemas.microsoft.com/office/drawing/2014/main" id="{5398B62D-1B2D-6C97-A15D-A9FA10320640}"/>
              </a:ext>
            </a:extLst>
          </p:cNvPr>
          <p:cNvSpPr txBox="1"/>
          <p:nvPr/>
        </p:nvSpPr>
        <p:spPr>
          <a:xfrm>
            <a:off x="3370272" y="6827391"/>
            <a:ext cx="233870" cy="17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100" b="1" dirty="0">
                <a:latin typeface="Century Gothic" panose="020B0502020202020204" pitchFamily="34" charset="0"/>
                <a:cs typeface="Tahoma"/>
              </a:rPr>
              <a:t>6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 </a:t>
            </a:r>
            <a:endParaRPr lang="es-ES"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169" name="Object 168">
            <a:extLst>
              <a:ext uri="{FF2B5EF4-FFF2-40B4-BE49-F238E27FC236}">
                <a16:creationId xmlns:a16="http://schemas.microsoft.com/office/drawing/2014/main" id="{8E6AE588-FDB9-7152-E3D2-3FD09D4E97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7529" y="6723063"/>
          <a:ext cx="927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7000" imgH="419040" progId="Equation.DSMT4">
                  <p:embed/>
                </p:oleObj>
              </mc:Choice>
              <mc:Fallback>
                <p:oleObj name="Equation" r:id="rId13" imgW="927000" imgH="419040" progId="Equation.DSMT4">
                  <p:embed/>
                  <p:pic>
                    <p:nvPicPr>
                      <p:cNvPr id="111" name="Object 110">
                        <a:extLst>
                          <a:ext uri="{FF2B5EF4-FFF2-40B4-BE49-F238E27FC236}">
                            <a16:creationId xmlns:a16="http://schemas.microsoft.com/office/drawing/2014/main" id="{8E6AE588-FDB9-7152-E3D2-3FD09D4E97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97529" y="6723063"/>
                        <a:ext cx="927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" name="object 5">
            <a:extLst>
              <a:ext uri="{FF2B5EF4-FFF2-40B4-BE49-F238E27FC236}">
                <a16:creationId xmlns:a16="http://schemas.microsoft.com/office/drawing/2014/main" id="{7A9B31F8-ADAC-D00D-2B22-7681F111C9B8}"/>
              </a:ext>
            </a:extLst>
          </p:cNvPr>
          <p:cNvSpPr txBox="1"/>
          <p:nvPr/>
        </p:nvSpPr>
        <p:spPr>
          <a:xfrm>
            <a:off x="608867" y="8351391"/>
            <a:ext cx="233870" cy="17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100" b="1" dirty="0">
                <a:latin typeface="Century Gothic" panose="020B0502020202020204" pitchFamily="34" charset="0"/>
                <a:cs typeface="Tahoma"/>
              </a:rPr>
              <a:t>7.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 </a:t>
            </a:r>
            <a:endParaRPr lang="es-ES"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171" name="Object 170">
            <a:extLst>
              <a:ext uri="{FF2B5EF4-FFF2-40B4-BE49-F238E27FC236}">
                <a16:creationId xmlns:a16="http://schemas.microsoft.com/office/drawing/2014/main" id="{0C985925-2933-AB9B-D15D-F99BDCC550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835" y="8267700"/>
          <a:ext cx="889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88840" imgH="419040" progId="Equation.DSMT4">
                  <p:embed/>
                </p:oleObj>
              </mc:Choice>
              <mc:Fallback>
                <p:oleObj name="Equation" r:id="rId15" imgW="888840" imgH="419040" progId="Equation.DSMT4">
                  <p:embed/>
                  <p:pic>
                    <p:nvPicPr>
                      <p:cNvPr id="113" name="Object 112">
                        <a:extLst>
                          <a:ext uri="{FF2B5EF4-FFF2-40B4-BE49-F238E27FC236}">
                            <a16:creationId xmlns:a16="http://schemas.microsoft.com/office/drawing/2014/main" id="{0C985925-2933-AB9B-D15D-F99BDCC550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6835" y="8267700"/>
                        <a:ext cx="889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" name="object 5">
            <a:extLst>
              <a:ext uri="{FF2B5EF4-FFF2-40B4-BE49-F238E27FC236}">
                <a16:creationId xmlns:a16="http://schemas.microsoft.com/office/drawing/2014/main" id="{EBCDE19D-08F4-40F1-4B85-F73EAAAE0A32}"/>
              </a:ext>
            </a:extLst>
          </p:cNvPr>
          <p:cNvSpPr txBox="1"/>
          <p:nvPr/>
        </p:nvSpPr>
        <p:spPr>
          <a:xfrm>
            <a:off x="3369451" y="8351391"/>
            <a:ext cx="233870" cy="17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100" b="1" dirty="0">
                <a:latin typeface="Century Gothic" panose="020B0502020202020204" pitchFamily="34" charset="0"/>
                <a:cs typeface="Tahoma"/>
              </a:rPr>
              <a:t>8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 </a:t>
            </a:r>
            <a:endParaRPr lang="es-ES"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173" name="Object 172">
            <a:extLst>
              <a:ext uri="{FF2B5EF4-FFF2-40B4-BE49-F238E27FC236}">
                <a16:creationId xmlns:a16="http://schemas.microsoft.com/office/drawing/2014/main" id="{FC0879DF-6015-83CE-28E3-67E44B0C53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9356" y="8247063"/>
          <a:ext cx="1054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54080" imgH="419040" progId="Equation.DSMT4">
                  <p:embed/>
                </p:oleObj>
              </mc:Choice>
              <mc:Fallback>
                <p:oleObj name="Equation" r:id="rId17" imgW="1054080" imgH="419040" progId="Equation.DSMT4">
                  <p:embed/>
                  <p:pic>
                    <p:nvPicPr>
                      <p:cNvPr id="115" name="Object 114">
                        <a:extLst>
                          <a:ext uri="{FF2B5EF4-FFF2-40B4-BE49-F238E27FC236}">
                            <a16:creationId xmlns:a16="http://schemas.microsoft.com/office/drawing/2014/main" id="{FC0879DF-6015-83CE-28E3-67E44B0C53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89356" y="8247063"/>
                        <a:ext cx="1054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" name="Picture 173">
            <a:extLst>
              <a:ext uri="{FF2B5EF4-FFF2-40B4-BE49-F238E27FC236}">
                <a16:creationId xmlns:a16="http://schemas.microsoft.com/office/drawing/2014/main" id="{81BC6BA4-3BB8-E25B-AC80-5C1F27A0964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1729" y="2219742"/>
            <a:ext cx="2286198" cy="2286198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5BB1AD6B-3085-CA7B-C7BF-72C0564EF1D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81530" y="2219742"/>
            <a:ext cx="2286198" cy="22861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5032A278-9D02-2005-F994-E928F4549671}"/>
              </a:ext>
            </a:extLst>
          </p:cNvPr>
          <p:cNvSpPr txBox="1"/>
          <p:nvPr/>
        </p:nvSpPr>
        <p:spPr>
          <a:xfrm>
            <a:off x="562352" y="586384"/>
            <a:ext cx="62014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For questions 9-11, solve using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a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system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equations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 with your method of choice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 </a:t>
            </a:r>
            <a:endParaRPr lang="en-US" sz="1100" b="1" spc="-5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4CBB027C-42F4-C2C1-8A89-8902D864409E}"/>
              </a:ext>
            </a:extLst>
          </p:cNvPr>
          <p:cNvSpPr txBox="1"/>
          <p:nvPr/>
        </p:nvSpPr>
        <p:spPr>
          <a:xfrm>
            <a:off x="485922" y="2977269"/>
            <a:ext cx="6785123" cy="501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ct val="100899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10. 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Owen has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collection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nickels and quarters worth $8.10.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If the nickels were quarters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and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 </a:t>
            </a:r>
            <a:br>
              <a:rPr lang="en-US" sz="1100" spc="-5" dirty="0">
                <a:latin typeface="Century Gothic" panose="020B0502020202020204" pitchFamily="34" charset="0"/>
                <a:cs typeface="Tahoma"/>
              </a:rPr>
            </a:b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    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quarters were nickels, the value would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be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$17.70.  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How many of each type of coin does Owen </a:t>
            </a:r>
            <a:br>
              <a:rPr lang="en-US" sz="1100" spc="-5" dirty="0">
                <a:latin typeface="Century Gothic" panose="020B0502020202020204" pitchFamily="34" charset="0"/>
                <a:cs typeface="Tahoma"/>
              </a:rPr>
            </a:b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      have?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EB9192A5-7944-A76F-D5D0-75D8E2BF6C63}"/>
              </a:ext>
            </a:extLst>
          </p:cNvPr>
          <p:cNvSpPr txBox="1"/>
          <p:nvPr/>
        </p:nvSpPr>
        <p:spPr>
          <a:xfrm>
            <a:off x="482314" y="4926201"/>
            <a:ext cx="6807772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ct val="100499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11.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Michelle invested $12,000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in stocks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and bonds, paying 4.8% and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7%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annual interest,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respectively. </a:t>
            </a:r>
            <a:br>
              <a:rPr lang="en-US" sz="1100" spc="-5" dirty="0">
                <a:latin typeface="Century Gothic" panose="020B0502020202020204" pitchFamily="34" charset="0"/>
                <a:cs typeface="Tahoma"/>
              </a:rPr>
            </a:b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   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If the total interest earned for the year was $763, how much was invested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in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stocks</a:t>
            </a:r>
            <a:r>
              <a:rPr lang="en-US" sz="1100" spc="-10" dirty="0">
                <a:latin typeface="Century Gothic" panose="020B0502020202020204" pitchFamily="34" charset="0"/>
                <a:cs typeface="Tahoma"/>
              </a:rPr>
              <a:t>?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69733A90-9FE7-1C36-40F5-622543BC8C22}"/>
              </a:ext>
            </a:extLst>
          </p:cNvPr>
          <p:cNvSpPr txBox="1"/>
          <p:nvPr/>
        </p:nvSpPr>
        <p:spPr>
          <a:xfrm>
            <a:off x="562352" y="6775734"/>
            <a:ext cx="4900930" cy="172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5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Solve the system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three variables below. 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6CCAA994-BCC9-4724-0500-2C31A01CD596}"/>
              </a:ext>
            </a:extLst>
          </p:cNvPr>
          <p:cNvSpPr txBox="1"/>
          <p:nvPr/>
        </p:nvSpPr>
        <p:spPr>
          <a:xfrm>
            <a:off x="562352" y="854893"/>
            <a:ext cx="4788857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9.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Casey bought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15.4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-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pound turkey and an 11.6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-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pound ham 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for</a:t>
            </a:r>
            <a:br>
              <a:rPr lang="en-US" sz="1100" spc="-5" dirty="0">
                <a:latin typeface="Century Gothic" panose="020B0502020202020204" pitchFamily="34" charset="0"/>
                <a:cs typeface="Tahoma"/>
              </a:rPr>
            </a:b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 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Thanksgiving and paid $38.51.  Her friend Jane bought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10.2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-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pound </a:t>
            </a:r>
            <a:br>
              <a:rPr lang="en-US" sz="1100" spc="-5" dirty="0">
                <a:latin typeface="Century Gothic" panose="020B0502020202020204" pitchFamily="34" charset="0"/>
                <a:cs typeface="Tahoma"/>
              </a:rPr>
            </a:b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 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turkey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and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7.3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-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pound ham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from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 same store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and</a:t>
            </a:r>
            <a:r>
              <a:rPr lang="en-US" sz="1100" spc="229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pai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d</a:t>
            </a:r>
            <a:r>
              <a:rPr lang="en-US" sz="110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$24.84.  </a:t>
            </a:r>
            <a:br>
              <a:rPr lang="en-US" sz="1100" spc="-5" dirty="0">
                <a:latin typeface="Century Gothic" panose="020B0502020202020204" pitchFamily="34" charset="0"/>
                <a:cs typeface="Tahoma"/>
              </a:rPr>
            </a:b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   Find the cost per pound </a:t>
            </a:r>
            <a:r>
              <a:rPr lang="en-US" sz="1100" dirty="0">
                <a:latin typeface="Century Gothic" panose="020B0502020202020204" pitchFamily="34" charset="0"/>
                <a:cs typeface="Tahoma"/>
              </a:rPr>
              <a:t>of 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turkey.</a:t>
            </a:r>
            <a:endParaRPr lang="en-US"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F11651D2-C41C-48AC-7C12-70B1594C922A}"/>
              </a:ext>
            </a:extLst>
          </p:cNvPr>
          <p:cNvSpPr txBox="1"/>
          <p:nvPr/>
        </p:nvSpPr>
        <p:spPr>
          <a:xfrm>
            <a:off x="544375" y="7217916"/>
            <a:ext cx="233870" cy="175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100" b="1" dirty="0">
                <a:latin typeface="Century Gothic" panose="020B0502020202020204" pitchFamily="34" charset="0"/>
                <a:cs typeface="Tahoma"/>
              </a:rPr>
              <a:t>12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. </a:t>
            </a:r>
            <a:endParaRPr lang="es-ES"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C770D11C-D57C-2F0C-01C1-117B851F82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854" y="6966643"/>
          <a:ext cx="1193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93760" imgH="622080" progId="Equation.DSMT4">
                  <p:embed/>
                </p:oleObj>
              </mc:Choice>
              <mc:Fallback>
                <p:oleObj name="Equation" r:id="rId3" imgW="1193760" imgH="62208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C770D11C-D57C-2F0C-01C1-117B851F82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0854" y="6966643"/>
                        <a:ext cx="11938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227</Words>
  <Application>Microsoft Office PowerPoint</Application>
  <PresentationFormat>Custom</PresentationFormat>
  <Paragraphs>17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Century Gothic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- 18 - Quiz 2-2</dc:title>
  <dc:creator>Gina</dc:creator>
  <cp:lastModifiedBy>Gina Wilson</cp:lastModifiedBy>
  <cp:revision>6</cp:revision>
  <dcterms:created xsi:type="dcterms:W3CDTF">2017-07-23T11:17:15Z</dcterms:created>
  <dcterms:modified xsi:type="dcterms:W3CDTF">2025-02-03T14:14:43Z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2015-06-12T00:00:00Z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2017-07-23T00:00:00Z</vt:filetime>
  </property>
</Properties>
</file>