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794" y="5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5093" y="9796538"/>
            <a:ext cx="141795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(All Things Algebra),</a:t>
            </a:r>
            <a:r>
              <a:rPr spc="-20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7.wmf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9.wmf"/><Relationship Id="rId2" Type="http://schemas.openxmlformats.org/officeDocument/2006/relationships/image" Target="../media/image1.JPG"/><Relationship Id="rId16" Type="http://schemas.openxmlformats.org/officeDocument/2006/relationships/oleObject" Target="../embeddings/oleObject7.bin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14">
            <a:extLst>
              <a:ext uri="{FF2B5EF4-FFF2-40B4-BE49-F238E27FC236}">
                <a16:creationId xmlns:a16="http://schemas.microsoft.com/office/drawing/2014/main" id="{B23A8E32-B636-8EDC-0405-EC4BDA0BB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754" y="1731619"/>
            <a:ext cx="2591025" cy="1097375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72B4B43C-1BD6-0544-A973-0DE21365FC79}"/>
              </a:ext>
            </a:extLst>
          </p:cNvPr>
          <p:cNvSpPr txBox="1"/>
          <p:nvPr/>
        </p:nvSpPr>
        <p:spPr>
          <a:xfrm>
            <a:off x="612345" y="3200400"/>
            <a:ext cx="479785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Give an example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linear equation that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perpendicular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200" i="1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</a:t>
            </a:r>
            <a:r>
              <a:rPr sz="1100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=</a:t>
            </a:r>
            <a:r>
              <a:rPr sz="1100" spc="16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5.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91BA0BD-BC8D-4211-8D2B-5422B84979BA}"/>
              </a:ext>
            </a:extLst>
          </p:cNvPr>
          <p:cNvSpPr txBox="1"/>
          <p:nvPr/>
        </p:nvSpPr>
        <p:spPr>
          <a:xfrm>
            <a:off x="612345" y="3862559"/>
            <a:ext cx="571055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Write the equation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the line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b="1" u="sng" spc="-5" dirty="0">
                <a:latin typeface="Century Gothic" panose="020B0502020202020204" pitchFamily="34" charset="0"/>
                <a:cs typeface="Tahoma"/>
              </a:rPr>
              <a:t>slope-intercept form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with the given</a:t>
            </a:r>
            <a:r>
              <a:rPr sz="1100" b="1" spc="1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information.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5E91ACBE-3ACC-F1AD-CB71-08C10346CFA9}"/>
              </a:ext>
            </a:extLst>
          </p:cNvPr>
          <p:cNvSpPr txBox="1"/>
          <p:nvPr/>
        </p:nvSpPr>
        <p:spPr>
          <a:xfrm>
            <a:off x="612345" y="4137239"/>
            <a:ext cx="292862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3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Passes through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,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7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with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slope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of</a:t>
            </a:r>
            <a:endParaRPr sz="1100" baseline="38647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3E2409BA-AEBC-15F2-B6D3-3596522C1A40}"/>
              </a:ext>
            </a:extLst>
          </p:cNvPr>
          <p:cNvSpPr txBox="1"/>
          <p:nvPr/>
        </p:nvSpPr>
        <p:spPr>
          <a:xfrm>
            <a:off x="612345" y="5254966"/>
            <a:ext cx="350245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4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Passes through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10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2, -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8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parallel to 7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– 2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= -8.</a:t>
            </a:r>
            <a:endParaRPr sz="1100" spc="-5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1031382F-96AB-FDD3-8641-4A7EC28395DC}"/>
              </a:ext>
            </a:extLst>
          </p:cNvPr>
          <p:cNvSpPr txBox="1"/>
          <p:nvPr/>
        </p:nvSpPr>
        <p:spPr>
          <a:xfrm>
            <a:off x="612345" y="6388082"/>
            <a:ext cx="25469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5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Passes through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, -2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-3,</a:t>
            </a:r>
            <a:r>
              <a:rPr sz="1100" spc="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-17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8AF989E1-7E57-8BC8-A075-7921F3FF7709}"/>
              </a:ext>
            </a:extLst>
          </p:cNvPr>
          <p:cNvSpPr txBox="1"/>
          <p:nvPr/>
        </p:nvSpPr>
        <p:spPr>
          <a:xfrm>
            <a:off x="612345" y="7505809"/>
            <a:ext cx="4232663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6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Passes through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5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, 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and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perpendicular to 5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– 2</a:t>
            </a:r>
            <a:r>
              <a:rPr lang="en-US"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= -6.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2DECEFB9-1590-39E0-B5AE-283C2CE1AD1F}"/>
              </a:ext>
            </a:extLst>
          </p:cNvPr>
          <p:cNvSpPr txBox="1"/>
          <p:nvPr/>
        </p:nvSpPr>
        <p:spPr>
          <a:xfrm>
            <a:off x="612345" y="8638925"/>
            <a:ext cx="373105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7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Passes through 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-8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, </a:t>
            </a: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-7</a:t>
            </a:r>
            <a:r>
              <a:rPr sz="1100" spc="-1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and perpendicular to the line </a:t>
            </a:r>
            <a:br>
              <a:rPr lang="en-US" sz="1100" spc="-5" dirty="0">
                <a:latin typeface="Century Gothic" panose="020B0502020202020204" pitchFamily="34" charset="0"/>
                <a:cs typeface="Tahoma"/>
              </a:rPr>
            </a:b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    passing through the points 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-6, 3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and 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-1, -7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C5D1157-36B3-ED39-1118-0C345EDD8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9798" y="4047594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368280" progId="Equation.DSMT4">
                  <p:embed/>
                </p:oleObj>
              </mc:Choice>
              <mc:Fallback>
                <p:oleObj name="Equation" r:id="rId4" imgW="241200" imgH="368280" progId="Equation.DSMT4">
                  <p:embed/>
                  <p:pic>
                    <p:nvPicPr>
                      <p:cNvPr id="92" name="Object 91">
                        <a:extLst>
                          <a:ext uri="{FF2B5EF4-FFF2-40B4-BE49-F238E27FC236}">
                            <a16:creationId xmlns:a16="http://schemas.microsoft.com/office/drawing/2014/main" id="{6C5D1157-36B3-ED39-1118-0C345EDD8D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89798" y="4047594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bject 5">
            <a:extLst>
              <a:ext uri="{FF2B5EF4-FFF2-40B4-BE49-F238E27FC236}">
                <a16:creationId xmlns:a16="http://schemas.microsoft.com/office/drawing/2014/main" id="{16DCAF6E-73F5-2D88-6490-E596BB09C07B}"/>
              </a:ext>
            </a:extLst>
          </p:cNvPr>
          <p:cNvSpPr txBox="1"/>
          <p:nvPr/>
        </p:nvSpPr>
        <p:spPr>
          <a:xfrm>
            <a:off x="612345" y="1683982"/>
            <a:ext cx="512572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Which equations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are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parallel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line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-3</a:t>
            </a:r>
            <a:r>
              <a:rPr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100" b="1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– 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6</a:t>
            </a:r>
            <a:r>
              <a:rPr sz="12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100" b="1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b="1" dirty="0">
                <a:latin typeface="Century Gothic" panose="020B0502020202020204" pitchFamily="34" charset="0"/>
                <a:cs typeface="Tahoma"/>
              </a:rPr>
              <a:t>= </a:t>
            </a:r>
            <a:r>
              <a:rPr sz="1100" b="1" spc="-10" dirty="0">
                <a:latin typeface="Century Gothic" panose="020B0502020202020204" pitchFamily="34" charset="0"/>
                <a:cs typeface="Tahoma"/>
              </a:rPr>
              <a:t>30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?  </a:t>
            </a:r>
            <a:br>
              <a:rPr lang="en-US" sz="1100" spc="-10" dirty="0">
                <a:latin typeface="Century Gothic" panose="020B0502020202020204" pitchFamily="34" charset="0"/>
                <a:cs typeface="Tahoma"/>
              </a:rPr>
            </a:br>
            <a:r>
              <a:rPr lang="en-US" sz="1100" spc="-10" dirty="0">
                <a:latin typeface="Century Gothic" panose="020B0502020202020204" pitchFamily="34" charset="0"/>
                <a:cs typeface="Tahoma"/>
              </a:rPr>
              <a:t>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Check all that</a:t>
            </a:r>
            <a:r>
              <a:rPr sz="1100" spc="21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apply.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62522709-9915-92C8-B3A1-F444385F72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9523" y="1847850"/>
          <a:ext cx="711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203040" progId="Equation.DSMT4">
                  <p:embed/>
                </p:oleObj>
              </mc:Choice>
              <mc:Fallback>
                <p:oleObj name="Equation" r:id="rId6" imgW="711000" imgH="203040" progId="Equation.DSMT4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62522709-9915-92C8-B3A1-F444385F72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59523" y="1847850"/>
                        <a:ext cx="711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F676D263-A3EA-208C-8CFF-2044C533D7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2130" y="2181793"/>
          <a:ext cx="800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203040" progId="Equation.DSMT4">
                  <p:embed/>
                </p:oleObj>
              </mc:Choice>
              <mc:Fallback>
                <p:oleObj name="Equation" r:id="rId8" imgW="799920" imgH="203040" progId="Equation.DSMT4">
                  <p:embed/>
                  <p:pic>
                    <p:nvPicPr>
                      <p:cNvPr id="85" name="Object 84">
                        <a:extLst>
                          <a:ext uri="{FF2B5EF4-FFF2-40B4-BE49-F238E27FC236}">
                            <a16:creationId xmlns:a16="http://schemas.microsoft.com/office/drawing/2014/main" id="{F676D263-A3EA-208C-8CFF-2044C533D7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32130" y="2181793"/>
                        <a:ext cx="800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F3A2D036-05E1-A815-3687-5B7AD6961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9523" y="2499700"/>
          <a:ext cx="711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203040" progId="Equation.DSMT4">
                  <p:embed/>
                </p:oleObj>
              </mc:Choice>
              <mc:Fallback>
                <p:oleObj name="Equation" r:id="rId10" imgW="711000" imgH="203040" progId="Equation.DSMT4">
                  <p:embed/>
                  <p:pic>
                    <p:nvPicPr>
                      <p:cNvPr id="86" name="Object 85">
                        <a:extLst>
                          <a:ext uri="{FF2B5EF4-FFF2-40B4-BE49-F238E27FC236}">
                            <a16:creationId xmlns:a16="http://schemas.microsoft.com/office/drawing/2014/main" id="{F3A2D036-05E1-A815-3687-5B7AD6961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59523" y="2499700"/>
                        <a:ext cx="711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AD98ACE9-90DA-912F-3EC8-CE30D8DC7C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7935" y="1836738"/>
          <a:ext cx="685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203040" progId="Equation.DSMT4">
                  <p:embed/>
                </p:oleObj>
              </mc:Choice>
              <mc:Fallback>
                <p:oleObj name="Equation" r:id="rId12" imgW="685800" imgH="203040" progId="Equation.DSMT4">
                  <p:embed/>
                  <p:pic>
                    <p:nvPicPr>
                      <p:cNvPr id="87" name="Object 86">
                        <a:extLst>
                          <a:ext uri="{FF2B5EF4-FFF2-40B4-BE49-F238E27FC236}">
                            <a16:creationId xmlns:a16="http://schemas.microsoft.com/office/drawing/2014/main" id="{AD98ACE9-90DA-912F-3EC8-CE30D8DC7C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327935" y="1836738"/>
                        <a:ext cx="685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2706CDA3-6263-EDC7-DF99-E9D35455B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39123" y="2170113"/>
          <a:ext cx="850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0680" imgH="203040" progId="Equation.DSMT4">
                  <p:embed/>
                </p:oleObj>
              </mc:Choice>
              <mc:Fallback>
                <p:oleObj name="Equation" r:id="rId14" imgW="850680" imgH="203040" progId="Equation.DSMT4">
                  <p:embed/>
                  <p:pic>
                    <p:nvPicPr>
                      <p:cNvPr id="88" name="Object 87">
                        <a:extLst>
                          <a:ext uri="{FF2B5EF4-FFF2-40B4-BE49-F238E27FC236}">
                            <a16:creationId xmlns:a16="http://schemas.microsoft.com/office/drawing/2014/main" id="{2706CDA3-6263-EDC7-DF99-E9D35455B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39123" y="2170113"/>
                        <a:ext cx="850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7CF44EAC-9B91-8746-AFDF-4312E875E2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0291" y="2509810"/>
          <a:ext cx="723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600" imgH="203040" progId="Equation.DSMT4">
                  <p:embed/>
                </p:oleObj>
              </mc:Choice>
              <mc:Fallback>
                <p:oleObj name="Equation" r:id="rId16" imgW="723600" imgH="203040" progId="Equation.DSMT4">
                  <p:embed/>
                  <p:pic>
                    <p:nvPicPr>
                      <p:cNvPr id="89" name="Object 88">
                        <a:extLst>
                          <a:ext uri="{FF2B5EF4-FFF2-40B4-BE49-F238E27FC236}">
                            <a16:creationId xmlns:a16="http://schemas.microsoft.com/office/drawing/2014/main" id="{7CF44EAC-9B91-8746-AFDF-4312E875E2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90291" y="2509810"/>
                        <a:ext cx="723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087B5271-3AB3-EF7F-A3FC-230E61515AE6}"/>
              </a:ext>
            </a:extLst>
          </p:cNvPr>
          <p:cNvSpPr txBox="1"/>
          <p:nvPr/>
        </p:nvSpPr>
        <p:spPr>
          <a:xfrm>
            <a:off x="704118" y="1929685"/>
            <a:ext cx="3509645" cy="33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3835" marR="5080" indent="-191770">
              <a:lnSpc>
                <a:spcPct val="100899"/>
              </a:lnSpc>
            </a:pPr>
            <a:r>
              <a:rPr sz="1100" b="1" dirty="0">
                <a:latin typeface="Century Gothic" panose="020B0502020202020204" pitchFamily="34" charset="0"/>
                <a:cs typeface="Tahoma"/>
              </a:rPr>
              <a:t>b)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Jack pays the property manager $165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each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month,  what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monthly rent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on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his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property?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DE27DB41-FB11-7287-D7A9-6762EA2DF5C3}"/>
              </a:ext>
            </a:extLst>
          </p:cNvPr>
          <p:cNvSpPr txBox="1"/>
          <p:nvPr/>
        </p:nvSpPr>
        <p:spPr>
          <a:xfrm>
            <a:off x="662972" y="2938287"/>
            <a:ext cx="3790315" cy="501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475" marR="5080" indent="-232410">
              <a:lnSpc>
                <a:spcPct val="100899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c)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If Jack raises the rent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house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$1,495, how much  more will he pay the property manager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each</a:t>
            </a:r>
            <a:r>
              <a:rPr sz="1100" spc="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month?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EC653AF6-FD47-0904-F2BC-1FD019456333}"/>
              </a:ext>
            </a:extLst>
          </p:cNvPr>
          <p:cNvSpPr txBox="1"/>
          <p:nvPr/>
        </p:nvSpPr>
        <p:spPr>
          <a:xfrm>
            <a:off x="457192" y="4120895"/>
            <a:ext cx="6553208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9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Katya tutors and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works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college bookstore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pay for her college tuition.  She</a:t>
            </a:r>
            <a:r>
              <a:rPr sz="1100" spc="20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makes</a:t>
            </a:r>
            <a:br>
              <a:rPr lang="en-US" sz="1100" dirty="0">
                <a:latin typeface="Century Gothic" panose="020B0502020202020204" pitchFamily="34" charset="0"/>
                <a:cs typeface="Tahoma"/>
              </a:rPr>
            </a:br>
            <a:r>
              <a:rPr lang="en-US" sz="1100" dirty="0">
                <a:latin typeface="Century Gothic" panose="020B0502020202020204" pitchFamily="34" charset="0"/>
                <a:cs typeface="Tahoma"/>
              </a:rPr>
              <a:t>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$20 per hour tutoring and $8.50 per hour working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</a:t>
            </a:r>
            <a:r>
              <a:rPr sz="1100" spc="7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bookstore.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037BA18A-0006-999D-6946-34326F054281}"/>
              </a:ext>
            </a:extLst>
          </p:cNvPr>
          <p:cNvSpPr txBox="1"/>
          <p:nvPr/>
        </p:nvSpPr>
        <p:spPr>
          <a:xfrm>
            <a:off x="786435" y="4690123"/>
            <a:ext cx="3808095" cy="501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0" marR="5080" indent="-197485">
              <a:lnSpc>
                <a:spcPct val="100899"/>
              </a:lnSpc>
            </a:pPr>
            <a:r>
              <a:rPr sz="1100" b="1" spc="-10" dirty="0">
                <a:latin typeface="Century Gothic" panose="020B0502020202020204" pitchFamily="34" charset="0"/>
                <a:cs typeface="Tahoma"/>
              </a:rPr>
              <a:t>a)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Write an equation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represent the total amount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money  Katya earns tutoring and working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</a:t>
            </a:r>
            <a:r>
              <a:rPr sz="1100" spc="1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bookstore.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5" name="object 6">
            <a:extLst>
              <a:ext uri="{FF2B5EF4-FFF2-40B4-BE49-F238E27FC236}">
                <a16:creationId xmlns:a16="http://schemas.microsoft.com/office/drawing/2014/main" id="{C80C936E-7029-A9CD-8243-1E6F2DCD7188}"/>
              </a:ext>
            </a:extLst>
          </p:cNvPr>
          <p:cNvSpPr txBox="1"/>
          <p:nvPr/>
        </p:nvSpPr>
        <p:spPr>
          <a:xfrm>
            <a:off x="786448" y="5590047"/>
            <a:ext cx="4023360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 marR="5080" indent="-196215">
              <a:lnSpc>
                <a:spcPct val="100899"/>
              </a:lnSpc>
            </a:pPr>
            <a:r>
              <a:rPr sz="1100" b="1" spc="-10" dirty="0">
                <a:latin typeface="Century Gothic" panose="020B0502020202020204" pitchFamily="34" charset="0"/>
                <a:cs typeface="Tahoma"/>
              </a:rPr>
              <a:t>b)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The tuition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for one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semester (16 weeks)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$5,736. If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Katya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works 21 hours each week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bookstore, how many hours  per week must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she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tutor to pay her</a:t>
            </a:r>
            <a:r>
              <a:rPr sz="1100" spc="3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tuition?</a:t>
            </a:r>
            <a:endParaRPr sz="110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D9DE9D1C-86A8-040A-3811-336B2451AC9B}"/>
              </a:ext>
            </a:extLst>
          </p:cNvPr>
          <p:cNvSpPr txBox="1"/>
          <p:nvPr/>
        </p:nvSpPr>
        <p:spPr>
          <a:xfrm>
            <a:off x="449916" y="7054997"/>
            <a:ext cx="633188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10</a:t>
            </a:r>
            <a:r>
              <a:rPr sz="1100" b="1" spc="-5" dirty="0">
                <a:latin typeface="Century Gothic" panose="020B0502020202020204" pitchFamily="34" charset="0"/>
                <a:cs typeface="Tahoma"/>
              </a:rPr>
              <a:t>. 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The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table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below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shows the average price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personal computer during certain</a:t>
            </a:r>
            <a:r>
              <a:rPr sz="1100" spc="9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years.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43C54760-A0D5-9D43-515B-06E18B37AB37}"/>
              </a:ext>
            </a:extLst>
          </p:cNvPr>
          <p:cNvSpPr txBox="1"/>
          <p:nvPr/>
        </p:nvSpPr>
        <p:spPr>
          <a:xfrm>
            <a:off x="786461" y="8075162"/>
            <a:ext cx="393446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10" dirty="0">
                <a:latin typeface="Century Gothic" panose="020B0502020202020204" pitchFamily="34" charset="0"/>
                <a:cs typeface="Tahoma"/>
              </a:rPr>
              <a:t>a) </a:t>
            </a:r>
            <a:r>
              <a:rPr lang="en-US" sz="1100" b="1" spc="-1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Write an equation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model the data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using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linear</a:t>
            </a:r>
            <a:r>
              <a:rPr sz="1100" spc="114" dirty="0">
                <a:latin typeface="Century Gothic" panose="020B0502020202020204" pitchFamily="34" charset="0"/>
                <a:cs typeface="Tahoma"/>
              </a:rPr>
              <a:t> </a:t>
            </a:r>
            <a:br>
              <a:rPr lang="en-US" sz="1100" spc="114" dirty="0">
                <a:latin typeface="Century Gothic" panose="020B0502020202020204" pitchFamily="34" charset="0"/>
                <a:cs typeface="Tahoma"/>
              </a:rPr>
            </a:br>
            <a:r>
              <a:rPr lang="en-US" sz="1100" spc="114" dirty="0">
                <a:latin typeface="Century Gothic" panose="020B0502020202020204" pitchFamily="34" charset="0"/>
                <a:cs typeface="Tahoma"/>
              </a:rPr>
              <a:t>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regression.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25" name="object 9">
            <a:extLst>
              <a:ext uri="{FF2B5EF4-FFF2-40B4-BE49-F238E27FC236}">
                <a16:creationId xmlns:a16="http://schemas.microsoft.com/office/drawing/2014/main" id="{8A6AA252-30B5-7972-C039-9693A5A5FB80}"/>
              </a:ext>
            </a:extLst>
          </p:cNvPr>
          <p:cNvSpPr txBox="1"/>
          <p:nvPr/>
        </p:nvSpPr>
        <p:spPr>
          <a:xfrm>
            <a:off x="786461" y="8796528"/>
            <a:ext cx="3246120" cy="349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 marR="5080" indent="-196215">
              <a:lnSpc>
                <a:spcPct val="100000"/>
              </a:lnSpc>
            </a:pPr>
            <a:r>
              <a:rPr sz="1100" b="1" spc="-10" dirty="0">
                <a:latin typeface="Century Gothic" panose="020B0502020202020204" pitchFamily="34" charset="0"/>
                <a:cs typeface="Tahoma"/>
              </a:rPr>
              <a:t>b)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Use the equation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predict the average cost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a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personal computer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</a:t>
            </a:r>
            <a:r>
              <a:rPr sz="1100" spc="-3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2020.</a:t>
            </a:r>
            <a:endParaRPr sz="110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26" name="object 14">
            <a:extLst>
              <a:ext uri="{FF2B5EF4-FFF2-40B4-BE49-F238E27FC236}">
                <a16:creationId xmlns:a16="http://schemas.microsoft.com/office/drawing/2014/main" id="{79946395-D9F9-E4DC-6EBE-8E8BE33DC381}"/>
              </a:ext>
            </a:extLst>
          </p:cNvPr>
          <p:cNvGraphicFramePr>
            <a:graphicFrameLocks noGrp="1"/>
          </p:cNvGraphicFramePr>
          <p:nvPr/>
        </p:nvGraphicFramePr>
        <p:xfrm>
          <a:off x="1380913" y="7428245"/>
          <a:ext cx="4469889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3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6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151765">
                        <a:lnSpc>
                          <a:spcPts val="1370"/>
                        </a:lnSpc>
                      </a:pPr>
                      <a:r>
                        <a:rPr sz="1200" b="1" i="1" spc="-5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1997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508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1999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508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2003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508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2007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508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2010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508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201</a:t>
                      </a: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2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508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132080">
                        <a:lnSpc>
                          <a:spcPts val="1370"/>
                        </a:lnSpc>
                      </a:pPr>
                      <a:r>
                        <a:rPr sz="1200" b="1" i="1" spc="-5" dirty="0">
                          <a:latin typeface="Times New Roman"/>
                          <a:cs typeface="Times New Roman"/>
                        </a:rPr>
                        <a:t>price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$1,950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635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$1,719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635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$1,420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635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$1,175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635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$949</a:t>
                      </a:r>
                      <a:endParaRPr sz="1100">
                        <a:latin typeface="Century Gothic" panose="020B0502020202020204" pitchFamily="34" charset="0"/>
                        <a:cs typeface="Tahoma"/>
                      </a:endParaRPr>
                    </a:p>
                  </a:txBody>
                  <a:tcPr marL="0" marR="0" marT="635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256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-5" dirty="0">
                          <a:latin typeface="Century Gothic" panose="020B0502020202020204" pitchFamily="34" charset="0"/>
                          <a:cs typeface="Tahoma"/>
                        </a:rPr>
                        <a:t>$72</a:t>
                      </a:r>
                      <a:r>
                        <a:rPr sz="1100" dirty="0">
                          <a:latin typeface="Century Gothic" panose="020B0502020202020204" pitchFamily="34" charset="0"/>
                          <a:cs typeface="Tahoma"/>
                        </a:rPr>
                        <a:t>5</a:t>
                      </a:r>
                    </a:p>
                  </a:txBody>
                  <a:tcPr marL="0" marR="0" marT="6350" marB="0" anchor="ctr">
                    <a:lnL w="6095">
                      <a:solidFill>
                        <a:srgbClr val="000000"/>
                      </a:solidFill>
                      <a:prstDash val="solid"/>
                    </a:lnL>
                    <a:lnR w="6095">
                      <a:solidFill>
                        <a:srgbClr val="000000"/>
                      </a:solidFill>
                      <a:prstDash val="solid"/>
                    </a:lnR>
                    <a:lnT w="6095">
                      <a:solidFill>
                        <a:srgbClr val="000000"/>
                      </a:solidFill>
                      <a:prstDash val="solid"/>
                    </a:lnT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object 17">
            <a:extLst>
              <a:ext uri="{FF2B5EF4-FFF2-40B4-BE49-F238E27FC236}">
                <a16:creationId xmlns:a16="http://schemas.microsoft.com/office/drawing/2014/main" id="{E69540F3-BEE0-2B27-F429-7AE4266D2017}"/>
              </a:ext>
            </a:extLst>
          </p:cNvPr>
          <p:cNvSpPr txBox="1"/>
          <p:nvPr/>
        </p:nvSpPr>
        <p:spPr>
          <a:xfrm>
            <a:off x="457192" y="533400"/>
            <a:ext cx="6617334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17500" algn="l"/>
              </a:tabLst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8.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To manage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rental property,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property manager charges $59 per month plus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8%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</a:t>
            </a:r>
            <a:r>
              <a:rPr sz="1100" spc="14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rent.</a:t>
            </a:r>
            <a:endParaRPr lang="en-US" sz="1100" dirty="0">
              <a:latin typeface="Century Gothic" panose="020B0502020202020204" pitchFamily="34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ahoma"/>
              <a:buAutoNum type="arabicPeriod" startAt="19"/>
            </a:pPr>
            <a:endParaRPr lang="en-US" sz="1450" dirty="0">
              <a:latin typeface="Century Gothic" panose="020B0502020202020204" pitchFamily="34" charset="0"/>
              <a:cs typeface="Times New Roman"/>
            </a:endParaRPr>
          </a:p>
          <a:p>
            <a:pPr marL="259080" lvl="1">
              <a:lnSpc>
                <a:spcPct val="100000"/>
              </a:lnSpc>
              <a:spcBef>
                <a:spcPts val="5"/>
              </a:spcBef>
              <a:tabLst>
                <a:tab pos="450215" algn="l"/>
                <a:tab pos="4651375" algn="l"/>
                <a:tab pos="6604000" algn="l"/>
              </a:tabLst>
            </a:pP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a)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Write an equation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to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represent the total monthly</a:t>
            </a:r>
            <a:r>
              <a:rPr sz="1100" spc="13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fees</a:t>
            </a:r>
            <a:r>
              <a:rPr sz="1100" spc="10" dirty="0">
                <a:latin typeface="Century Gothic" panose="020B0502020202020204" pitchFamily="34" charset="0"/>
                <a:cs typeface="Tahoma"/>
              </a:rPr>
              <a:t> </a:t>
            </a:r>
            <a:br>
              <a:rPr lang="en-US" sz="1100" spc="10" dirty="0">
                <a:latin typeface="Century Gothic" panose="020B0502020202020204" pitchFamily="34" charset="0"/>
                <a:cs typeface="Tahoma"/>
              </a:rPr>
            </a:br>
            <a:r>
              <a:rPr lang="en-US" sz="1100" spc="10" dirty="0">
                <a:latin typeface="Century Gothic" panose="020B0502020202020204" pitchFamily="34" charset="0"/>
                <a:cs typeface="Tahoma"/>
              </a:rPr>
              <a:t>    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charged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by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property</a:t>
            </a:r>
            <a:r>
              <a:rPr sz="1100" spc="-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manager.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tx1"/>
          </a:solidFill>
          <a:headEnd type="none"/>
          <a:tailEnd type="non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413</Words>
  <Application>Microsoft Office PowerPoint</Application>
  <PresentationFormat>Custom</PresentationFormat>
  <Paragraphs>33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- 10 - Quiz 2-1</dc:title>
  <dc:creator>Gina</dc:creator>
  <cp:lastModifiedBy>Gina Wilson</cp:lastModifiedBy>
  <cp:revision>18</cp:revision>
  <dcterms:created xsi:type="dcterms:W3CDTF">2017-07-23T11:16:56Z</dcterms:created>
  <dcterms:modified xsi:type="dcterms:W3CDTF">2025-01-28T14:21:54Z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2015-09-04T00:00:00Z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2017-07-23T00:00:00Z</vt:filetime>
  </property>
</Properties>
</file>