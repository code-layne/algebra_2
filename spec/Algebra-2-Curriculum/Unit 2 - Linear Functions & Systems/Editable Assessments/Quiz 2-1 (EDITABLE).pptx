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1488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5093" y="9796538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oleObject" Target="../embeddings/oleObject2.bin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91614AA7-9133-6D8A-2596-1D2E507B8482}"/>
              </a:ext>
            </a:extLst>
          </p:cNvPr>
          <p:cNvSpPr txBox="1"/>
          <p:nvPr/>
        </p:nvSpPr>
        <p:spPr>
          <a:xfrm>
            <a:off x="521969" y="1643415"/>
            <a:ext cx="49695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1.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Which relations represent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function?  Check all that</a:t>
            </a:r>
            <a:r>
              <a:rPr sz="1100" spc="7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apply.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6C0557-80A1-5074-527C-E041344AA4EF}"/>
              </a:ext>
            </a:extLst>
          </p:cNvPr>
          <p:cNvSpPr txBox="1"/>
          <p:nvPr/>
        </p:nvSpPr>
        <p:spPr>
          <a:xfrm>
            <a:off x="521969" y="3580929"/>
            <a:ext cx="331976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2.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Which graph does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not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</a:t>
            </a:r>
            <a:r>
              <a:rPr sz="1100" spc="9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function?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34144FA5-8597-1D71-CD62-1BC14AF86684}"/>
              </a:ext>
            </a:extLst>
          </p:cNvPr>
          <p:cNvSpPr txBox="1"/>
          <p:nvPr/>
        </p:nvSpPr>
        <p:spPr>
          <a:xfrm>
            <a:off x="546751" y="3919258"/>
            <a:ext cx="190309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50060" algn="l"/>
              </a:tabLst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A.	B.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2373AED4-9370-CECD-772F-91041A3837F6}"/>
              </a:ext>
            </a:extLst>
          </p:cNvPr>
          <p:cNvSpPr txBox="1"/>
          <p:nvPr/>
        </p:nvSpPr>
        <p:spPr>
          <a:xfrm>
            <a:off x="3939418" y="3919258"/>
            <a:ext cx="16256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C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22">
            <a:extLst>
              <a:ext uri="{FF2B5EF4-FFF2-40B4-BE49-F238E27FC236}">
                <a16:creationId xmlns:a16="http://schemas.microsoft.com/office/drawing/2014/main" id="{F5A3C313-E21C-D286-CE59-93CD6F29EC3F}"/>
              </a:ext>
            </a:extLst>
          </p:cNvPr>
          <p:cNvSpPr txBox="1"/>
          <p:nvPr/>
        </p:nvSpPr>
        <p:spPr>
          <a:xfrm>
            <a:off x="5649913" y="3919258"/>
            <a:ext cx="17589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D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2" name="object 62">
            <a:extLst>
              <a:ext uri="{FF2B5EF4-FFF2-40B4-BE49-F238E27FC236}">
                <a16:creationId xmlns:a16="http://schemas.microsoft.com/office/drawing/2014/main" id="{BBA583FA-BCB7-A627-852C-22FEA4A3689B}"/>
              </a:ext>
            </a:extLst>
          </p:cNvPr>
          <p:cNvSpPr/>
          <p:nvPr/>
        </p:nvSpPr>
        <p:spPr>
          <a:xfrm>
            <a:off x="562560" y="2029263"/>
            <a:ext cx="155575" cy="155575"/>
          </a:xfrm>
          <a:custGeom>
            <a:avLst/>
            <a:gdLst/>
            <a:ahLst/>
            <a:cxnLst/>
            <a:rect l="l" t="t" r="r" b="b"/>
            <a:pathLst>
              <a:path w="155575" h="155575">
                <a:moveTo>
                  <a:pt x="0" y="155447"/>
                </a:moveTo>
                <a:lnTo>
                  <a:pt x="155447" y="155447"/>
                </a:lnTo>
                <a:lnTo>
                  <a:pt x="155447" y="0"/>
                </a:lnTo>
                <a:lnTo>
                  <a:pt x="0" y="0"/>
                </a:lnTo>
                <a:lnTo>
                  <a:pt x="0" y="15544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63">
            <a:extLst>
              <a:ext uri="{FF2B5EF4-FFF2-40B4-BE49-F238E27FC236}">
                <a16:creationId xmlns:a16="http://schemas.microsoft.com/office/drawing/2014/main" id="{FB59DE4B-C4CF-0E0C-EE77-6C8357FE7D1E}"/>
              </a:ext>
            </a:extLst>
          </p:cNvPr>
          <p:cNvGraphicFramePr>
            <a:graphicFrameLocks noGrp="1"/>
          </p:cNvGraphicFramePr>
          <p:nvPr/>
        </p:nvGraphicFramePr>
        <p:xfrm>
          <a:off x="906983" y="2074983"/>
          <a:ext cx="691894" cy="11338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-8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7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-7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-6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7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-5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1</a:t>
                      </a:r>
                    </a:p>
                  </a:txBody>
                  <a:tcPr marL="0" marR="0" marT="24765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object 64">
            <a:extLst>
              <a:ext uri="{FF2B5EF4-FFF2-40B4-BE49-F238E27FC236}">
                <a16:creationId xmlns:a16="http://schemas.microsoft.com/office/drawing/2014/main" id="{8E977312-C3F6-DAA8-AA34-7FF27D37E9FE}"/>
              </a:ext>
            </a:extLst>
          </p:cNvPr>
          <p:cNvSpPr/>
          <p:nvPr/>
        </p:nvSpPr>
        <p:spPr>
          <a:xfrm>
            <a:off x="1915871" y="2035359"/>
            <a:ext cx="155575" cy="155575"/>
          </a:xfrm>
          <a:custGeom>
            <a:avLst/>
            <a:gdLst/>
            <a:ahLst/>
            <a:cxnLst/>
            <a:rect l="l" t="t" r="r" b="b"/>
            <a:pathLst>
              <a:path w="155575" h="155575">
                <a:moveTo>
                  <a:pt x="0" y="155447"/>
                </a:moveTo>
                <a:lnTo>
                  <a:pt x="155447" y="155447"/>
                </a:lnTo>
                <a:lnTo>
                  <a:pt x="155447" y="0"/>
                </a:lnTo>
                <a:lnTo>
                  <a:pt x="0" y="0"/>
                </a:lnTo>
                <a:lnTo>
                  <a:pt x="0" y="15544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5">
            <a:extLst>
              <a:ext uri="{FF2B5EF4-FFF2-40B4-BE49-F238E27FC236}">
                <a16:creationId xmlns:a16="http://schemas.microsoft.com/office/drawing/2014/main" id="{45C8AD7A-14B8-A63F-2E80-2660C71E79C6}"/>
              </a:ext>
            </a:extLst>
          </p:cNvPr>
          <p:cNvSpPr/>
          <p:nvPr/>
        </p:nvSpPr>
        <p:spPr>
          <a:xfrm>
            <a:off x="3724859" y="2035359"/>
            <a:ext cx="157480" cy="155575"/>
          </a:xfrm>
          <a:custGeom>
            <a:avLst/>
            <a:gdLst/>
            <a:ahLst/>
            <a:cxnLst/>
            <a:rect l="l" t="t" r="r" b="b"/>
            <a:pathLst>
              <a:path w="157479" h="155575">
                <a:moveTo>
                  <a:pt x="0" y="155447"/>
                </a:moveTo>
                <a:lnTo>
                  <a:pt x="156971" y="155447"/>
                </a:lnTo>
                <a:lnTo>
                  <a:pt x="156971" y="0"/>
                </a:lnTo>
                <a:lnTo>
                  <a:pt x="0" y="0"/>
                </a:lnTo>
                <a:lnTo>
                  <a:pt x="0" y="15544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6">
            <a:extLst>
              <a:ext uri="{FF2B5EF4-FFF2-40B4-BE49-F238E27FC236}">
                <a16:creationId xmlns:a16="http://schemas.microsoft.com/office/drawing/2014/main" id="{1BD82D0B-218E-0147-8455-E393F07762B8}"/>
              </a:ext>
            </a:extLst>
          </p:cNvPr>
          <p:cNvSpPr/>
          <p:nvPr/>
        </p:nvSpPr>
        <p:spPr>
          <a:xfrm>
            <a:off x="5520131" y="2058219"/>
            <a:ext cx="155575" cy="155575"/>
          </a:xfrm>
          <a:custGeom>
            <a:avLst/>
            <a:gdLst/>
            <a:ahLst/>
            <a:cxnLst/>
            <a:rect l="l" t="t" r="r" b="b"/>
            <a:pathLst>
              <a:path w="155575" h="155575">
                <a:moveTo>
                  <a:pt x="0" y="155447"/>
                </a:moveTo>
                <a:lnTo>
                  <a:pt x="155447" y="155447"/>
                </a:lnTo>
                <a:lnTo>
                  <a:pt x="155447" y="0"/>
                </a:lnTo>
                <a:lnTo>
                  <a:pt x="0" y="0"/>
                </a:lnTo>
                <a:lnTo>
                  <a:pt x="0" y="15544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9">
            <a:extLst>
              <a:ext uri="{FF2B5EF4-FFF2-40B4-BE49-F238E27FC236}">
                <a16:creationId xmlns:a16="http://schemas.microsoft.com/office/drawing/2014/main" id="{D79E095E-246B-3BAF-25FB-D0FBB464D01A}"/>
              </a:ext>
            </a:extLst>
          </p:cNvPr>
          <p:cNvSpPr txBox="1"/>
          <p:nvPr/>
        </p:nvSpPr>
        <p:spPr>
          <a:xfrm>
            <a:off x="4311334" y="2259220"/>
            <a:ext cx="104775" cy="706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20" dirty="0">
                <a:latin typeface="Century Gothic" panose="020B0502020202020204" pitchFamily="34" charset="0"/>
                <a:cs typeface="Tahoma"/>
              </a:rPr>
              <a:t>0</a:t>
            </a:r>
            <a:endParaRPr sz="1100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spc="-10" dirty="0">
                <a:latin typeface="Century Gothic" panose="020B0502020202020204" pitchFamily="34" charset="0"/>
                <a:cs typeface="Tahoma"/>
              </a:rPr>
              <a:t>5</a:t>
            </a:r>
            <a:endParaRPr sz="1100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20" dirty="0">
                <a:latin typeface="Century Gothic" panose="020B0502020202020204" pitchFamily="34" charset="0"/>
                <a:cs typeface="Tahoma"/>
              </a:rPr>
              <a:t>9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6" name="object 70">
            <a:extLst>
              <a:ext uri="{FF2B5EF4-FFF2-40B4-BE49-F238E27FC236}">
                <a16:creationId xmlns:a16="http://schemas.microsoft.com/office/drawing/2014/main" id="{5B5E328C-9A20-CF40-9DCD-B8410F6D222E}"/>
              </a:ext>
            </a:extLst>
          </p:cNvPr>
          <p:cNvSpPr/>
          <p:nvPr/>
        </p:nvSpPr>
        <p:spPr>
          <a:xfrm>
            <a:off x="4432621" y="2348251"/>
            <a:ext cx="422909" cy="158115"/>
          </a:xfrm>
          <a:custGeom>
            <a:avLst/>
            <a:gdLst/>
            <a:ahLst/>
            <a:cxnLst/>
            <a:rect l="l" t="t" r="r" b="b"/>
            <a:pathLst>
              <a:path w="422910" h="158114">
                <a:moveTo>
                  <a:pt x="370815" y="136142"/>
                </a:moveTo>
                <a:lnTo>
                  <a:pt x="343128" y="157810"/>
                </a:lnTo>
                <a:lnTo>
                  <a:pt x="422757" y="147675"/>
                </a:lnTo>
                <a:lnTo>
                  <a:pt x="412876" y="137540"/>
                </a:lnTo>
                <a:lnTo>
                  <a:pt x="374980" y="137540"/>
                </a:lnTo>
                <a:lnTo>
                  <a:pt x="370815" y="136142"/>
                </a:lnTo>
                <a:close/>
              </a:path>
              <a:path w="422910" h="158114">
                <a:moveTo>
                  <a:pt x="374651" y="124389"/>
                </a:moveTo>
                <a:lnTo>
                  <a:pt x="376427" y="131749"/>
                </a:lnTo>
                <a:lnTo>
                  <a:pt x="370815" y="136142"/>
                </a:lnTo>
                <a:lnTo>
                  <a:pt x="374980" y="137540"/>
                </a:lnTo>
                <a:lnTo>
                  <a:pt x="379323" y="125958"/>
                </a:lnTo>
                <a:lnTo>
                  <a:pt x="374651" y="124389"/>
                </a:lnTo>
                <a:close/>
              </a:path>
              <a:path w="422910" h="158114">
                <a:moveTo>
                  <a:pt x="366293" y="89763"/>
                </a:moveTo>
                <a:lnTo>
                  <a:pt x="374651" y="124389"/>
                </a:lnTo>
                <a:lnTo>
                  <a:pt x="379323" y="125958"/>
                </a:lnTo>
                <a:lnTo>
                  <a:pt x="374980" y="137540"/>
                </a:lnTo>
                <a:lnTo>
                  <a:pt x="412876" y="137540"/>
                </a:lnTo>
                <a:lnTo>
                  <a:pt x="366293" y="89763"/>
                </a:lnTo>
                <a:close/>
              </a:path>
              <a:path w="422910" h="158114">
                <a:moveTo>
                  <a:pt x="4343" y="0"/>
                </a:moveTo>
                <a:lnTo>
                  <a:pt x="0" y="11582"/>
                </a:lnTo>
                <a:lnTo>
                  <a:pt x="370815" y="136142"/>
                </a:lnTo>
                <a:lnTo>
                  <a:pt x="376427" y="131749"/>
                </a:lnTo>
                <a:lnTo>
                  <a:pt x="374651" y="124389"/>
                </a:lnTo>
                <a:lnTo>
                  <a:pt x="4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1">
            <a:extLst>
              <a:ext uri="{FF2B5EF4-FFF2-40B4-BE49-F238E27FC236}">
                <a16:creationId xmlns:a16="http://schemas.microsoft.com/office/drawing/2014/main" id="{E248C361-0541-63FC-E32D-2621A6565D4C}"/>
              </a:ext>
            </a:extLst>
          </p:cNvPr>
          <p:cNvSpPr/>
          <p:nvPr/>
        </p:nvSpPr>
        <p:spPr>
          <a:xfrm>
            <a:off x="4425381" y="2284548"/>
            <a:ext cx="448945" cy="560705"/>
          </a:xfrm>
          <a:custGeom>
            <a:avLst/>
            <a:gdLst/>
            <a:ahLst/>
            <a:cxnLst/>
            <a:rect l="l" t="t" r="r" b="b"/>
            <a:pathLst>
              <a:path w="448945" h="560705">
                <a:moveTo>
                  <a:pt x="412167" y="37129"/>
                </a:moveTo>
                <a:lnTo>
                  <a:pt x="0" y="553059"/>
                </a:lnTo>
                <a:lnTo>
                  <a:pt x="10134" y="560298"/>
                </a:lnTo>
                <a:lnTo>
                  <a:pt x="422048" y="44686"/>
                </a:lnTo>
                <a:lnTo>
                  <a:pt x="420356" y="39237"/>
                </a:lnTo>
                <a:lnTo>
                  <a:pt x="417945" y="37515"/>
                </a:lnTo>
                <a:lnTo>
                  <a:pt x="412167" y="37129"/>
                </a:lnTo>
                <a:close/>
              </a:path>
              <a:path w="448945" h="560705">
                <a:moveTo>
                  <a:pt x="441868" y="34747"/>
                </a:moveTo>
                <a:lnTo>
                  <a:pt x="414070" y="34747"/>
                </a:lnTo>
                <a:lnTo>
                  <a:pt x="417945" y="37515"/>
                </a:lnTo>
                <a:lnTo>
                  <a:pt x="419861" y="37642"/>
                </a:lnTo>
                <a:lnTo>
                  <a:pt x="420356" y="39237"/>
                </a:lnTo>
                <a:lnTo>
                  <a:pt x="424205" y="41986"/>
                </a:lnTo>
                <a:lnTo>
                  <a:pt x="422048" y="44686"/>
                </a:lnTo>
                <a:lnTo>
                  <a:pt x="432892" y="79628"/>
                </a:lnTo>
                <a:lnTo>
                  <a:pt x="441868" y="34747"/>
                </a:lnTo>
                <a:close/>
              </a:path>
              <a:path w="448945" h="560705">
                <a:moveTo>
                  <a:pt x="420356" y="39237"/>
                </a:moveTo>
                <a:lnTo>
                  <a:pt x="422048" y="44686"/>
                </a:lnTo>
                <a:lnTo>
                  <a:pt x="424205" y="41986"/>
                </a:lnTo>
                <a:lnTo>
                  <a:pt x="420356" y="39237"/>
                </a:lnTo>
                <a:close/>
              </a:path>
              <a:path w="448945" h="560705">
                <a:moveTo>
                  <a:pt x="414070" y="34747"/>
                </a:moveTo>
                <a:lnTo>
                  <a:pt x="412167" y="37129"/>
                </a:lnTo>
                <a:lnTo>
                  <a:pt x="417945" y="37515"/>
                </a:lnTo>
                <a:lnTo>
                  <a:pt x="414070" y="34747"/>
                </a:lnTo>
                <a:close/>
              </a:path>
              <a:path w="448945" h="560705">
                <a:moveTo>
                  <a:pt x="448817" y="0"/>
                </a:moveTo>
                <a:lnTo>
                  <a:pt x="376427" y="34747"/>
                </a:lnTo>
                <a:lnTo>
                  <a:pt x="412167" y="37129"/>
                </a:lnTo>
                <a:lnTo>
                  <a:pt x="414070" y="34747"/>
                </a:lnTo>
                <a:lnTo>
                  <a:pt x="441868" y="34747"/>
                </a:lnTo>
                <a:lnTo>
                  <a:pt x="4488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2">
            <a:extLst>
              <a:ext uri="{FF2B5EF4-FFF2-40B4-BE49-F238E27FC236}">
                <a16:creationId xmlns:a16="http://schemas.microsoft.com/office/drawing/2014/main" id="{3E99D03D-E4BA-B4AC-0EE0-903617AD5C95}"/>
              </a:ext>
            </a:extLst>
          </p:cNvPr>
          <p:cNvSpPr/>
          <p:nvPr/>
        </p:nvSpPr>
        <p:spPr>
          <a:xfrm>
            <a:off x="4429725" y="2705858"/>
            <a:ext cx="464820" cy="143510"/>
          </a:xfrm>
          <a:custGeom>
            <a:avLst/>
            <a:gdLst/>
            <a:ahLst/>
            <a:cxnLst/>
            <a:rect l="l" t="t" r="r" b="b"/>
            <a:pathLst>
              <a:path w="464820" h="143510">
                <a:moveTo>
                  <a:pt x="411695" y="24163"/>
                </a:moveTo>
                <a:lnTo>
                  <a:pt x="0" y="131749"/>
                </a:lnTo>
                <a:lnTo>
                  <a:pt x="2895" y="143332"/>
                </a:lnTo>
                <a:lnTo>
                  <a:pt x="414882" y="35670"/>
                </a:lnTo>
                <a:lnTo>
                  <a:pt x="416966" y="28955"/>
                </a:lnTo>
                <a:lnTo>
                  <a:pt x="411695" y="24163"/>
                </a:lnTo>
                <a:close/>
              </a:path>
              <a:path w="464820" h="143510">
                <a:moveTo>
                  <a:pt x="458169" y="23164"/>
                </a:moveTo>
                <a:lnTo>
                  <a:pt x="415518" y="23164"/>
                </a:lnTo>
                <a:lnTo>
                  <a:pt x="418414" y="34747"/>
                </a:lnTo>
                <a:lnTo>
                  <a:pt x="414882" y="35670"/>
                </a:lnTo>
                <a:lnTo>
                  <a:pt x="403936" y="70942"/>
                </a:lnTo>
                <a:lnTo>
                  <a:pt x="458169" y="23164"/>
                </a:lnTo>
                <a:close/>
              </a:path>
              <a:path w="464820" h="143510">
                <a:moveTo>
                  <a:pt x="416966" y="28955"/>
                </a:moveTo>
                <a:lnTo>
                  <a:pt x="414882" y="35670"/>
                </a:lnTo>
                <a:lnTo>
                  <a:pt x="418414" y="34747"/>
                </a:lnTo>
                <a:lnTo>
                  <a:pt x="416966" y="28955"/>
                </a:lnTo>
                <a:close/>
              </a:path>
              <a:path w="464820" h="143510">
                <a:moveTo>
                  <a:pt x="415518" y="23164"/>
                </a:moveTo>
                <a:lnTo>
                  <a:pt x="411695" y="24163"/>
                </a:lnTo>
                <a:lnTo>
                  <a:pt x="416966" y="28955"/>
                </a:lnTo>
                <a:lnTo>
                  <a:pt x="415518" y="23164"/>
                </a:lnTo>
                <a:close/>
              </a:path>
              <a:path w="464820" h="143510">
                <a:moveTo>
                  <a:pt x="385114" y="0"/>
                </a:moveTo>
                <a:lnTo>
                  <a:pt x="411695" y="24163"/>
                </a:lnTo>
                <a:lnTo>
                  <a:pt x="415518" y="23164"/>
                </a:lnTo>
                <a:lnTo>
                  <a:pt x="458169" y="23164"/>
                </a:lnTo>
                <a:lnTo>
                  <a:pt x="464743" y="17373"/>
                </a:lnTo>
                <a:lnTo>
                  <a:pt x="385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3">
            <a:extLst>
              <a:ext uri="{FF2B5EF4-FFF2-40B4-BE49-F238E27FC236}">
                <a16:creationId xmlns:a16="http://schemas.microsoft.com/office/drawing/2014/main" id="{B1542647-4050-1F01-E088-13CDAEFDD98F}"/>
              </a:ext>
            </a:extLst>
          </p:cNvPr>
          <p:cNvSpPr/>
          <p:nvPr/>
        </p:nvSpPr>
        <p:spPr>
          <a:xfrm>
            <a:off x="4436964" y="2594377"/>
            <a:ext cx="492759" cy="347980"/>
          </a:xfrm>
          <a:custGeom>
            <a:avLst/>
            <a:gdLst/>
            <a:ahLst/>
            <a:cxnLst/>
            <a:rect l="l" t="t" r="r" b="b"/>
            <a:pathLst>
              <a:path w="492760" h="347980">
                <a:moveTo>
                  <a:pt x="446011" y="322772"/>
                </a:moveTo>
                <a:lnTo>
                  <a:pt x="412622" y="335889"/>
                </a:lnTo>
                <a:lnTo>
                  <a:pt x="492251" y="347471"/>
                </a:lnTo>
                <a:lnTo>
                  <a:pt x="480728" y="325754"/>
                </a:lnTo>
                <a:lnTo>
                  <a:pt x="450265" y="325754"/>
                </a:lnTo>
                <a:lnTo>
                  <a:pt x="446011" y="322772"/>
                </a:lnTo>
                <a:close/>
              </a:path>
              <a:path w="492760" h="347980">
                <a:moveTo>
                  <a:pt x="453369" y="313730"/>
                </a:moveTo>
                <a:lnTo>
                  <a:pt x="453161" y="319963"/>
                </a:lnTo>
                <a:lnTo>
                  <a:pt x="446011" y="322772"/>
                </a:lnTo>
                <a:lnTo>
                  <a:pt x="450265" y="325754"/>
                </a:lnTo>
                <a:lnTo>
                  <a:pt x="456056" y="315620"/>
                </a:lnTo>
                <a:lnTo>
                  <a:pt x="453369" y="313730"/>
                </a:lnTo>
                <a:close/>
              </a:path>
              <a:path w="492760" h="347980">
                <a:moveTo>
                  <a:pt x="454609" y="276529"/>
                </a:moveTo>
                <a:lnTo>
                  <a:pt x="453369" y="313730"/>
                </a:lnTo>
                <a:lnTo>
                  <a:pt x="456056" y="315620"/>
                </a:lnTo>
                <a:lnTo>
                  <a:pt x="450265" y="325754"/>
                </a:lnTo>
                <a:lnTo>
                  <a:pt x="480728" y="325754"/>
                </a:lnTo>
                <a:lnTo>
                  <a:pt x="454609" y="276529"/>
                </a:lnTo>
                <a:close/>
              </a:path>
              <a:path w="492760" h="347980">
                <a:moveTo>
                  <a:pt x="7238" y="0"/>
                </a:moveTo>
                <a:lnTo>
                  <a:pt x="0" y="10134"/>
                </a:lnTo>
                <a:lnTo>
                  <a:pt x="446011" y="322772"/>
                </a:lnTo>
                <a:lnTo>
                  <a:pt x="453161" y="319963"/>
                </a:lnTo>
                <a:lnTo>
                  <a:pt x="453369" y="313730"/>
                </a:lnTo>
                <a:lnTo>
                  <a:pt x="72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74">
            <a:extLst>
              <a:ext uri="{FF2B5EF4-FFF2-40B4-BE49-F238E27FC236}">
                <a16:creationId xmlns:a16="http://schemas.microsoft.com/office/drawing/2014/main" id="{48CE2113-98AC-D705-50C2-394CE44140B1}"/>
              </a:ext>
            </a:extLst>
          </p:cNvPr>
          <p:cNvSpPr txBox="1"/>
          <p:nvPr/>
        </p:nvSpPr>
        <p:spPr>
          <a:xfrm>
            <a:off x="4332157" y="1950773"/>
            <a:ext cx="8953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i="1" spc="-10" dirty="0">
                <a:latin typeface="Times New Roman"/>
                <a:cs typeface="Times New Roman"/>
              </a:rPr>
              <a:t>x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1" name="object 75">
            <a:extLst>
              <a:ext uri="{FF2B5EF4-FFF2-40B4-BE49-F238E27FC236}">
                <a16:creationId xmlns:a16="http://schemas.microsoft.com/office/drawing/2014/main" id="{BF45B68F-EB31-FC24-4E3E-D8A6FB9E8FC4}"/>
              </a:ext>
            </a:extLst>
          </p:cNvPr>
          <p:cNvSpPr txBox="1"/>
          <p:nvPr/>
        </p:nvSpPr>
        <p:spPr>
          <a:xfrm>
            <a:off x="4880396" y="1932907"/>
            <a:ext cx="156845" cy="111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ct val="100000"/>
              </a:lnSpc>
            </a:pPr>
            <a:r>
              <a:rPr sz="1100" i="1" spc="-10" dirty="0">
                <a:latin typeface="Times New Roman"/>
                <a:cs typeface="Times New Roman"/>
              </a:rPr>
              <a:t>y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spc="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20" dirty="0">
                <a:latin typeface="Century Gothic" panose="020B0502020202020204" pitchFamily="34" charset="0"/>
                <a:cs typeface="Tahoma"/>
              </a:rPr>
              <a:t>7</a:t>
            </a:r>
            <a:endParaRPr sz="1100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20" dirty="0">
                <a:latin typeface="Century Gothic" panose="020B0502020202020204" pitchFamily="34" charset="0"/>
                <a:cs typeface="Tahoma"/>
              </a:rPr>
              <a:t>4</a:t>
            </a:r>
            <a:endParaRPr sz="1100" dirty="0">
              <a:latin typeface="Century Gothic" panose="020B0502020202020204" pitchFamily="34" charset="0"/>
              <a:cs typeface="Tahoma"/>
            </a:endParaRPr>
          </a:p>
          <a:p>
            <a:pPr marL="61594">
              <a:lnSpc>
                <a:spcPct val="100000"/>
              </a:lnSpc>
              <a:spcBef>
                <a:spcPts val="470"/>
              </a:spcBef>
            </a:pPr>
            <a:r>
              <a:rPr sz="1100" spc="20" dirty="0">
                <a:latin typeface="Century Gothic" panose="020B0502020202020204" pitchFamily="34" charset="0"/>
                <a:cs typeface="Tahoma"/>
              </a:rPr>
              <a:t>0</a:t>
            </a:r>
            <a:endParaRPr sz="1100" dirty="0">
              <a:latin typeface="Century Gothic" panose="020B0502020202020204" pitchFamily="34" charset="0"/>
              <a:cs typeface="Tahoma"/>
            </a:endParaRPr>
          </a:p>
          <a:p>
            <a:pPr marL="61594">
              <a:lnSpc>
                <a:spcPct val="100000"/>
              </a:lnSpc>
              <a:spcBef>
                <a:spcPts val="459"/>
              </a:spcBef>
            </a:pPr>
            <a:r>
              <a:rPr sz="1100" spc="20" dirty="0">
                <a:latin typeface="Century Gothic" panose="020B0502020202020204" pitchFamily="34" charset="0"/>
                <a:cs typeface="Tahoma"/>
              </a:rPr>
              <a:t>8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3A98D9-0E8B-B507-1F72-B992D4CEBB7E}"/>
              </a:ext>
            </a:extLst>
          </p:cNvPr>
          <p:cNvSpPr/>
          <p:nvPr/>
        </p:nvSpPr>
        <p:spPr>
          <a:xfrm>
            <a:off x="4102784" y="2147537"/>
            <a:ext cx="523240" cy="902335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927E82-A174-E94C-A38B-570ACBE549CE}"/>
              </a:ext>
            </a:extLst>
          </p:cNvPr>
          <p:cNvSpPr/>
          <p:nvPr/>
        </p:nvSpPr>
        <p:spPr>
          <a:xfrm>
            <a:off x="4697198" y="2147537"/>
            <a:ext cx="523240" cy="902335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812F912C-335A-E984-9DAA-1BE25653C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562" y="1772017"/>
            <a:ext cx="1798476" cy="176189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77401FF3-5214-4708-B1DE-6BA98385B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761" y="1708508"/>
            <a:ext cx="1786283" cy="181066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2B0836C-A1CC-9EC1-3635-3F3DB3B14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08" y="3687221"/>
            <a:ext cx="1780186" cy="182286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029F98C-F24A-6785-3B7B-267E33F16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9512" y="3687221"/>
            <a:ext cx="1786283" cy="1822862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CB71CD0-3F26-2803-675D-B168F6A8B1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698" y="3693318"/>
            <a:ext cx="1780186" cy="181066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ECEFDB7-65F8-B811-CFF7-D034EC4EC4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166" y="3684173"/>
            <a:ext cx="1780186" cy="1828959"/>
          </a:xfrm>
          <a:prstGeom prst="rect">
            <a:avLst/>
          </a:prstGeom>
        </p:spPr>
      </p:pic>
      <p:sp>
        <p:nvSpPr>
          <p:cNvPr id="109" name="object 6">
            <a:extLst>
              <a:ext uri="{FF2B5EF4-FFF2-40B4-BE49-F238E27FC236}">
                <a16:creationId xmlns:a16="http://schemas.microsoft.com/office/drawing/2014/main" id="{160DAA2E-6E88-79C6-E784-7628E0A7D85C}"/>
              </a:ext>
            </a:extLst>
          </p:cNvPr>
          <p:cNvSpPr txBox="1"/>
          <p:nvPr/>
        </p:nvSpPr>
        <p:spPr>
          <a:xfrm>
            <a:off x="546816" y="5683112"/>
            <a:ext cx="356616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Give the domain and range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each relation</a:t>
            </a:r>
            <a:r>
              <a:rPr sz="110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below.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B208E9E3-0089-EE10-4FCD-02B60FFDE3B5}"/>
              </a:ext>
            </a:extLst>
          </p:cNvPr>
          <p:cNvSpPr txBox="1"/>
          <p:nvPr/>
        </p:nvSpPr>
        <p:spPr>
          <a:xfrm>
            <a:off x="521969" y="5928248"/>
            <a:ext cx="288218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39010" algn="l"/>
              </a:tabLst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3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	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   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pic>
        <p:nvPicPr>
          <p:cNvPr id="208" name="Picture 207">
            <a:extLst>
              <a:ext uri="{FF2B5EF4-FFF2-40B4-BE49-F238E27FC236}">
                <a16:creationId xmlns:a16="http://schemas.microsoft.com/office/drawing/2014/main" id="{01BAADC7-BEAB-0DDC-F3DD-1C6B9F977C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387" y="5813992"/>
            <a:ext cx="1780186" cy="1859441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568B5D01-93E4-EA55-D993-BE4BE5534E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6724" y="5834870"/>
            <a:ext cx="1780186" cy="1847248"/>
          </a:xfrm>
          <a:prstGeom prst="rect">
            <a:avLst/>
          </a:prstGeom>
        </p:spPr>
      </p:pic>
      <p:sp>
        <p:nvSpPr>
          <p:cNvPr id="211" name="object 6">
            <a:extLst>
              <a:ext uri="{FF2B5EF4-FFF2-40B4-BE49-F238E27FC236}">
                <a16:creationId xmlns:a16="http://schemas.microsoft.com/office/drawing/2014/main" id="{400467BD-94A2-43A8-77A4-AEC1E9F0A3FF}"/>
              </a:ext>
            </a:extLst>
          </p:cNvPr>
          <p:cNvSpPr txBox="1"/>
          <p:nvPr/>
        </p:nvSpPr>
        <p:spPr>
          <a:xfrm>
            <a:off x="512069" y="7867248"/>
            <a:ext cx="664472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Use the functions                          ,  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(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) = |-3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+ 16|, and 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(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) = -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baseline="30000" dirty="0">
                <a:latin typeface="Century Gothic" panose="020B0502020202020204" pitchFamily="34" charset="0"/>
                <a:cs typeface="Tahoma"/>
              </a:rPr>
              <a:t>2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+ 8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for the questions 5 and 6.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12" name="object 5">
            <a:extLst>
              <a:ext uri="{FF2B5EF4-FFF2-40B4-BE49-F238E27FC236}">
                <a16:creationId xmlns:a16="http://schemas.microsoft.com/office/drawing/2014/main" id="{D491FD85-AC1A-9A84-4553-4B440E7F0494}"/>
              </a:ext>
            </a:extLst>
          </p:cNvPr>
          <p:cNvSpPr txBox="1"/>
          <p:nvPr/>
        </p:nvSpPr>
        <p:spPr>
          <a:xfrm>
            <a:off x="521969" y="8255050"/>
            <a:ext cx="621032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5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Find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213" name="Object 212">
            <a:extLst>
              <a:ext uri="{FF2B5EF4-FFF2-40B4-BE49-F238E27FC236}">
                <a16:creationId xmlns:a16="http://schemas.microsoft.com/office/drawing/2014/main" id="{B0808B21-5B7F-9ED9-067E-1910222A6B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639" y="8151745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393480" progId="Equation.DSMT4">
                  <p:embed/>
                </p:oleObj>
              </mc:Choice>
              <mc:Fallback>
                <p:oleObj name="Equation" r:id="rId11" imgW="495000" imgH="393480" progId="Equation.DSMT4">
                  <p:embed/>
                  <p:pic>
                    <p:nvPicPr>
                      <p:cNvPr id="226" name="Object 225">
                        <a:extLst>
                          <a:ext uri="{FF2B5EF4-FFF2-40B4-BE49-F238E27FC236}">
                            <a16:creationId xmlns:a16="http://schemas.microsoft.com/office/drawing/2014/main" id="{20636166-CE2F-ACD2-CF12-E4C05A2E7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639" y="8151745"/>
                        <a:ext cx="495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object 5">
            <a:extLst>
              <a:ext uri="{FF2B5EF4-FFF2-40B4-BE49-F238E27FC236}">
                <a16:creationId xmlns:a16="http://schemas.microsoft.com/office/drawing/2014/main" id="{248B44A2-D63D-EF6C-75D3-4B5003DB2F35}"/>
              </a:ext>
            </a:extLst>
          </p:cNvPr>
          <p:cNvSpPr txBox="1"/>
          <p:nvPr/>
        </p:nvSpPr>
        <p:spPr>
          <a:xfrm>
            <a:off x="3051922" y="8255050"/>
            <a:ext cx="174867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6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Find 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20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+ 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7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217" name="Object 216">
            <a:extLst>
              <a:ext uri="{FF2B5EF4-FFF2-40B4-BE49-F238E27FC236}">
                <a16:creationId xmlns:a16="http://schemas.microsoft.com/office/drawing/2014/main" id="{D4877BC4-0EE3-F068-B0A0-BBC262184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7500" y="7767417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28520" imgH="380880" progId="Equation.DSMT4">
                  <p:embed/>
                </p:oleObj>
              </mc:Choice>
              <mc:Fallback>
                <p:oleObj name="Equation" r:id="rId13" imgW="1028520" imgH="380880" progId="Equation.DSMT4">
                  <p:embed/>
                  <p:pic>
                    <p:nvPicPr>
                      <p:cNvPr id="222" name="Object 221">
                        <a:extLst>
                          <a:ext uri="{FF2B5EF4-FFF2-40B4-BE49-F238E27FC236}">
                            <a16:creationId xmlns:a16="http://schemas.microsoft.com/office/drawing/2014/main" id="{8295AD20-2100-562F-81B8-BA79142AD4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7500" y="7767417"/>
                        <a:ext cx="102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D73923F-9160-B470-86D1-94A81BF0E7C9}"/>
              </a:ext>
            </a:extLst>
          </p:cNvPr>
          <p:cNvSpPr txBox="1"/>
          <p:nvPr/>
        </p:nvSpPr>
        <p:spPr>
          <a:xfrm>
            <a:off x="512069" y="1005095"/>
            <a:ext cx="432498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5440" algn="l"/>
              </a:tabLst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7.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</a:t>
            </a:r>
            <a:r>
              <a:rPr sz="1250" i="1" spc="-5" dirty="0">
                <a:latin typeface="Times New Roman"/>
                <a:cs typeface="Times New Roman"/>
              </a:rPr>
              <a:t>f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250" i="1" spc="-5" dirty="0">
                <a:latin typeface="Times New Roman"/>
                <a:cs typeface="Times New Roman"/>
              </a:rPr>
              <a:t>x</a:t>
            </a:r>
            <a:r>
              <a:rPr sz="1100" spc="-5" dirty="0">
                <a:latin typeface="Tahoma"/>
                <a:cs typeface="Tahoma"/>
              </a:rPr>
              <a:t>)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=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-53,</a:t>
            </a:r>
            <a:r>
              <a:rPr sz="1100" spc="2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find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250" i="1" spc="-5" dirty="0">
                <a:latin typeface="Times New Roman"/>
                <a:cs typeface="Times New Roman"/>
              </a:rPr>
              <a:t>x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.</a:t>
            </a:r>
            <a:r>
              <a:rPr sz="1100" spc="-5" dirty="0">
                <a:latin typeface="Tahoma"/>
                <a:cs typeface="Tahoma"/>
              </a:rPr>
              <a:t>	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8.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</a:t>
            </a:r>
            <a:r>
              <a:rPr sz="1250" i="1" spc="-5" dirty="0">
                <a:latin typeface="Times New Roman"/>
                <a:cs typeface="Times New Roman"/>
              </a:rPr>
              <a:t>g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250" i="1" spc="-5" dirty="0">
                <a:latin typeface="Times New Roman"/>
                <a:cs typeface="Times New Roman"/>
              </a:rPr>
              <a:t>x</a:t>
            </a:r>
            <a:r>
              <a:rPr sz="1100" spc="-5" dirty="0">
                <a:latin typeface="Tahoma"/>
                <a:cs typeface="Tahoma"/>
              </a:rPr>
              <a:t>)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=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17, find</a:t>
            </a:r>
            <a:r>
              <a:rPr sz="110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250" i="1" spc="-5" dirty="0">
                <a:latin typeface="Times New Roman"/>
                <a:cs typeface="Times New Roman"/>
              </a:rPr>
              <a:t>x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AE1BED71-E6D6-4E7A-E120-DB96D983C7FF}"/>
              </a:ext>
            </a:extLst>
          </p:cNvPr>
          <p:cNvSpPr txBox="1"/>
          <p:nvPr/>
        </p:nvSpPr>
        <p:spPr>
          <a:xfrm>
            <a:off x="512069" y="633231"/>
            <a:ext cx="664472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Use the functions                          ,  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(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) = |-3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+ 16|, and 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(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) = -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baseline="30000" dirty="0">
                <a:latin typeface="Century Gothic" panose="020B0502020202020204" pitchFamily="34" charset="0"/>
                <a:cs typeface="Tahoma"/>
              </a:rPr>
              <a:t>2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+ 8</a:t>
            </a:r>
            <a:r>
              <a:rPr lang="en-US"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for the questions 7 and 8.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6785D15-538D-5A72-BF66-8CB824435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7500" y="533400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380880" progId="Equation.DSMT4">
                  <p:embed/>
                </p:oleObj>
              </mc:Choice>
              <mc:Fallback>
                <p:oleObj name="Equation" r:id="rId3" imgW="1028520" imgH="380880" progId="Equation.DSMT4">
                  <p:embed/>
                  <p:pic>
                    <p:nvPicPr>
                      <p:cNvPr id="428" name="Object 427">
                        <a:extLst>
                          <a:ext uri="{FF2B5EF4-FFF2-40B4-BE49-F238E27FC236}">
                            <a16:creationId xmlns:a16="http://schemas.microsoft.com/office/drawing/2014/main" id="{2AC8E5C5-556D-299A-1FEE-9BD3FC968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7500" y="533400"/>
                        <a:ext cx="102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bject 12">
            <a:extLst>
              <a:ext uri="{FF2B5EF4-FFF2-40B4-BE49-F238E27FC236}">
                <a16:creationId xmlns:a16="http://schemas.microsoft.com/office/drawing/2014/main" id="{8D2F9331-7B8E-BAA1-F629-BCA4F1B3F913}"/>
              </a:ext>
            </a:extLst>
          </p:cNvPr>
          <p:cNvSpPr txBox="1"/>
          <p:nvPr/>
        </p:nvSpPr>
        <p:spPr>
          <a:xfrm>
            <a:off x="505584" y="2997308"/>
            <a:ext cx="6482625" cy="170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For questions 9 and 10, (a) write the equation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b="1" u="heavy" spc="-5" dirty="0">
                <a:latin typeface="Century Gothic" panose="020B0502020202020204" pitchFamily="34" charset="0"/>
                <a:cs typeface="Tahoma"/>
              </a:rPr>
              <a:t>slope-intercept form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,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then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(b)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graph the</a:t>
            </a:r>
            <a:r>
              <a:rPr sz="1100" b="1" spc="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line.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C047B4E3-4BC8-9087-27FE-53B893302306}"/>
              </a:ext>
            </a:extLst>
          </p:cNvPr>
          <p:cNvSpPr txBox="1"/>
          <p:nvPr/>
        </p:nvSpPr>
        <p:spPr>
          <a:xfrm>
            <a:off x="532538" y="3396657"/>
            <a:ext cx="105346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250" i="1" spc="-5" dirty="0">
                <a:latin typeface="Times New Roman"/>
                <a:cs typeface="Times New Roman"/>
              </a:rPr>
              <a:t>x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–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250" i="1" spc="-5" dirty="0">
                <a:latin typeface="Times New Roman"/>
                <a:cs typeface="Times New Roman"/>
              </a:rPr>
              <a:t>y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=</a:t>
            </a:r>
            <a:r>
              <a:rPr sz="1100" spc="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28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E72ADF28-2457-2BCD-F866-B237B73AB340}"/>
              </a:ext>
            </a:extLst>
          </p:cNvPr>
          <p:cNvSpPr txBox="1"/>
          <p:nvPr/>
        </p:nvSpPr>
        <p:spPr>
          <a:xfrm>
            <a:off x="3824872" y="3396657"/>
            <a:ext cx="125539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10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250" i="1" spc="-5" dirty="0">
                <a:latin typeface="Times New Roman"/>
                <a:cs typeface="Times New Roman"/>
              </a:rPr>
              <a:t>y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–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36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=</a:t>
            </a:r>
            <a:r>
              <a:rPr sz="1100" spc="-1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-15</a:t>
            </a:r>
            <a:r>
              <a:rPr sz="1250" i="1" spc="-5" dirty="0">
                <a:latin typeface="Times New Roman"/>
                <a:cs typeface="Times New Roman"/>
              </a:rPr>
              <a:t>x</a:t>
            </a:r>
            <a:endParaRPr sz="1250" dirty="0">
              <a:latin typeface="Times New Roman"/>
              <a:cs typeface="Times New Roman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3AE3EC2-1B32-1EDC-6F31-517D740FB2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9184" y="6500773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368280" progId="Equation.DSMT4">
                  <p:embed/>
                </p:oleObj>
              </mc:Choice>
              <mc:Fallback>
                <p:oleObj name="Equation" r:id="rId5" imgW="888840" imgH="368280" progId="Equation.DSMT4">
                  <p:embed/>
                  <p:pic>
                    <p:nvPicPr>
                      <p:cNvPr id="227" name="Object 226">
                        <a:extLst>
                          <a:ext uri="{FF2B5EF4-FFF2-40B4-BE49-F238E27FC236}">
                            <a16:creationId xmlns:a16="http://schemas.microsoft.com/office/drawing/2014/main" id="{B3AE3EC2-1B32-1EDC-6F31-517D740FB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9184" y="6500773"/>
                        <a:ext cx="889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object 13">
            <a:extLst>
              <a:ext uri="{FF2B5EF4-FFF2-40B4-BE49-F238E27FC236}">
                <a16:creationId xmlns:a16="http://schemas.microsoft.com/office/drawing/2014/main" id="{58B20A51-90B6-FDD0-9B39-8FD8C678B595}"/>
              </a:ext>
            </a:extLst>
          </p:cNvPr>
          <p:cNvSpPr txBox="1"/>
          <p:nvPr/>
        </p:nvSpPr>
        <p:spPr>
          <a:xfrm>
            <a:off x="1586003" y="3432621"/>
            <a:ext cx="2058697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a) __________________________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8" name="object 13">
            <a:extLst>
              <a:ext uri="{FF2B5EF4-FFF2-40B4-BE49-F238E27FC236}">
                <a16:creationId xmlns:a16="http://schemas.microsoft.com/office/drawing/2014/main" id="{E475CFDA-206C-FAC6-2B6B-BBF5137618B8}"/>
              </a:ext>
            </a:extLst>
          </p:cNvPr>
          <p:cNvSpPr txBox="1"/>
          <p:nvPr/>
        </p:nvSpPr>
        <p:spPr>
          <a:xfrm>
            <a:off x="1586003" y="3906555"/>
            <a:ext cx="2022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b)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00" name="object 13">
            <a:extLst>
              <a:ext uri="{FF2B5EF4-FFF2-40B4-BE49-F238E27FC236}">
                <a16:creationId xmlns:a16="http://schemas.microsoft.com/office/drawing/2014/main" id="{1A933067-2529-B729-CE9B-CA3513C03C68}"/>
              </a:ext>
            </a:extLst>
          </p:cNvPr>
          <p:cNvSpPr txBox="1"/>
          <p:nvPr/>
        </p:nvSpPr>
        <p:spPr>
          <a:xfrm>
            <a:off x="5169961" y="3432621"/>
            <a:ext cx="2058697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a) __________________________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01" name="object 13">
            <a:extLst>
              <a:ext uri="{FF2B5EF4-FFF2-40B4-BE49-F238E27FC236}">
                <a16:creationId xmlns:a16="http://schemas.microsoft.com/office/drawing/2014/main" id="{CDE170B5-E45F-F4CB-E544-C29D0E540139}"/>
              </a:ext>
            </a:extLst>
          </p:cNvPr>
          <p:cNvSpPr txBox="1"/>
          <p:nvPr/>
        </p:nvSpPr>
        <p:spPr>
          <a:xfrm>
            <a:off x="5169961" y="3906555"/>
            <a:ext cx="2022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b)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37" name="object 12">
            <a:extLst>
              <a:ext uri="{FF2B5EF4-FFF2-40B4-BE49-F238E27FC236}">
                <a16:creationId xmlns:a16="http://schemas.microsoft.com/office/drawing/2014/main" id="{6B33320F-AFFB-1767-FF54-D77A36885B64}"/>
              </a:ext>
            </a:extLst>
          </p:cNvPr>
          <p:cNvSpPr txBox="1"/>
          <p:nvPr/>
        </p:nvSpPr>
        <p:spPr>
          <a:xfrm>
            <a:off x="505583" y="6163058"/>
            <a:ext cx="648262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For questions 11 and 12, (a) give the </a:t>
            </a:r>
            <a:r>
              <a:rPr lang="en-US" sz="1200" b="1" i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b="1" u="sng" spc="-5" dirty="0">
                <a:latin typeface="Century Gothic" panose="020B0502020202020204" pitchFamily="34" charset="0"/>
                <a:cs typeface="Tahoma"/>
              </a:rPr>
              <a:t>- and </a:t>
            </a:r>
            <a:r>
              <a:rPr lang="en-US" sz="1200" b="1" i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b="1" u="sng" spc="-5" dirty="0">
                <a:latin typeface="Century Gothic" panose="020B0502020202020204" pitchFamily="34" charset="0"/>
                <a:cs typeface="Tahoma"/>
              </a:rPr>
              <a:t>-intercepts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of the function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,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then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(b)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graph the</a:t>
            </a:r>
            <a:r>
              <a:rPr sz="1100" b="1" spc="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line.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38" name="object 13">
            <a:extLst>
              <a:ext uri="{FF2B5EF4-FFF2-40B4-BE49-F238E27FC236}">
                <a16:creationId xmlns:a16="http://schemas.microsoft.com/office/drawing/2014/main" id="{0839590E-9B01-4F7F-4092-A2D1CDB7A601}"/>
              </a:ext>
            </a:extLst>
          </p:cNvPr>
          <p:cNvSpPr txBox="1"/>
          <p:nvPr/>
        </p:nvSpPr>
        <p:spPr>
          <a:xfrm>
            <a:off x="509040" y="6542775"/>
            <a:ext cx="105346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11. 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= -6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– 5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39" name="object 14">
            <a:extLst>
              <a:ext uri="{FF2B5EF4-FFF2-40B4-BE49-F238E27FC236}">
                <a16:creationId xmlns:a16="http://schemas.microsoft.com/office/drawing/2014/main" id="{9CC1C299-3516-B2F6-0084-A7BE708F1CC9}"/>
              </a:ext>
            </a:extLst>
          </p:cNvPr>
          <p:cNvSpPr txBox="1"/>
          <p:nvPr/>
        </p:nvSpPr>
        <p:spPr>
          <a:xfrm>
            <a:off x="3789873" y="6600285"/>
            <a:ext cx="24441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12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endParaRPr sz="1250" dirty="0">
              <a:latin typeface="Times New Roman"/>
              <a:cs typeface="Times New Roman"/>
            </a:endParaRPr>
          </a:p>
        </p:txBody>
      </p:sp>
      <p:sp>
        <p:nvSpPr>
          <p:cNvPr id="572" name="object 13">
            <a:extLst>
              <a:ext uri="{FF2B5EF4-FFF2-40B4-BE49-F238E27FC236}">
                <a16:creationId xmlns:a16="http://schemas.microsoft.com/office/drawing/2014/main" id="{5B5C7E66-F821-60A4-3FA5-525E92276D19}"/>
              </a:ext>
            </a:extLst>
          </p:cNvPr>
          <p:cNvSpPr txBox="1"/>
          <p:nvPr/>
        </p:nvSpPr>
        <p:spPr>
          <a:xfrm>
            <a:off x="5054447" y="6565813"/>
            <a:ext cx="215165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a)  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-intercept: 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73" name="object 13">
            <a:extLst>
              <a:ext uri="{FF2B5EF4-FFF2-40B4-BE49-F238E27FC236}">
                <a16:creationId xmlns:a16="http://schemas.microsoft.com/office/drawing/2014/main" id="{4DF04B7A-A6CF-C818-1D6D-A86B04DC9115}"/>
              </a:ext>
            </a:extLst>
          </p:cNvPr>
          <p:cNvSpPr txBox="1"/>
          <p:nvPr/>
        </p:nvSpPr>
        <p:spPr>
          <a:xfrm>
            <a:off x="5054447" y="7486619"/>
            <a:ext cx="2022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b)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74" name="object 13">
            <a:extLst>
              <a:ext uri="{FF2B5EF4-FFF2-40B4-BE49-F238E27FC236}">
                <a16:creationId xmlns:a16="http://schemas.microsoft.com/office/drawing/2014/main" id="{05559CC5-BE9C-84C4-0AD2-C8262AADE3A1}"/>
              </a:ext>
            </a:extLst>
          </p:cNvPr>
          <p:cNvSpPr txBox="1"/>
          <p:nvPr/>
        </p:nvSpPr>
        <p:spPr>
          <a:xfrm>
            <a:off x="5267035" y="6976603"/>
            <a:ext cx="203108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-intercept:  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23" name="object 13">
            <a:extLst>
              <a:ext uri="{FF2B5EF4-FFF2-40B4-BE49-F238E27FC236}">
                <a16:creationId xmlns:a16="http://schemas.microsoft.com/office/drawing/2014/main" id="{5AEA8396-0391-3312-EAA0-72879F95EB25}"/>
              </a:ext>
            </a:extLst>
          </p:cNvPr>
          <p:cNvSpPr txBox="1"/>
          <p:nvPr/>
        </p:nvSpPr>
        <p:spPr>
          <a:xfrm>
            <a:off x="1566325" y="6557022"/>
            <a:ext cx="215165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a)  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-intercept: 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24" name="object 13">
            <a:extLst>
              <a:ext uri="{FF2B5EF4-FFF2-40B4-BE49-F238E27FC236}">
                <a16:creationId xmlns:a16="http://schemas.microsoft.com/office/drawing/2014/main" id="{E782F221-948D-D48F-0381-19A84CFB626D}"/>
              </a:ext>
            </a:extLst>
          </p:cNvPr>
          <p:cNvSpPr txBox="1"/>
          <p:nvPr/>
        </p:nvSpPr>
        <p:spPr>
          <a:xfrm>
            <a:off x="1566325" y="7477828"/>
            <a:ext cx="2022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b)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25" name="object 13">
            <a:extLst>
              <a:ext uri="{FF2B5EF4-FFF2-40B4-BE49-F238E27FC236}">
                <a16:creationId xmlns:a16="http://schemas.microsoft.com/office/drawing/2014/main" id="{8AC7AE1C-5B2A-719C-EA41-5B36032B1595}"/>
              </a:ext>
            </a:extLst>
          </p:cNvPr>
          <p:cNvSpPr txBox="1"/>
          <p:nvPr/>
        </p:nvSpPr>
        <p:spPr>
          <a:xfrm>
            <a:off x="1778913" y="6967812"/>
            <a:ext cx="203108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-intercept:  _______________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pic>
        <p:nvPicPr>
          <p:cNvPr id="226" name="Picture 225">
            <a:extLst>
              <a:ext uri="{FF2B5EF4-FFF2-40B4-BE49-F238E27FC236}">
                <a16:creationId xmlns:a16="http://schemas.microsoft.com/office/drawing/2014/main" id="{8EB01C97-CAD3-A2B8-4A6D-3F010BBB5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766" y="3835372"/>
            <a:ext cx="2109399" cy="2109399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47486935-8C43-E002-34F2-46653387D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711" y="3835372"/>
            <a:ext cx="2109399" cy="2109399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1CA276EB-5789-D875-41EC-93F61139A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766" y="7405825"/>
            <a:ext cx="2109399" cy="2109399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F2CAE9C-2FAE-22E2-DDBA-8B61A7451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711" y="7405825"/>
            <a:ext cx="2109399" cy="2109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tx1"/>
          </a:solidFill>
          <a:headEnd type="none"/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283</Words>
  <Application>Microsoft Office PowerPoint</Application>
  <PresentationFormat>Custom</PresentationFormat>
  <Paragraphs>47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- 10 - Quiz 2-1</dc:title>
  <dc:creator>Gina</dc:creator>
  <cp:lastModifiedBy>Gina Wilson</cp:lastModifiedBy>
  <cp:revision>11</cp:revision>
  <dcterms:created xsi:type="dcterms:W3CDTF">2017-07-23T11:16:56Z</dcterms:created>
  <dcterms:modified xsi:type="dcterms:W3CDTF">2025-01-28T14:19:56Z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2015-09-04T00:00:00Z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2017-07-23T00:00:00Z</vt:filetime>
  </property>
</Properties>
</file>