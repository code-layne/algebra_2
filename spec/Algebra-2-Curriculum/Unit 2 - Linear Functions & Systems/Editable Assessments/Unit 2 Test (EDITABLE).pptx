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61" autoAdjust="0"/>
  </p:normalViewPr>
  <p:slideViewPr>
    <p:cSldViewPr>
      <p:cViewPr>
        <p:scale>
          <a:sx n="68" d="100"/>
          <a:sy n="68" d="100"/>
        </p:scale>
        <p:origin x="1359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5093" y="9796540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</a:t>
            </a:r>
            <a:r>
              <a:rPr spc="5" dirty="0"/>
              <a:t> </a:t>
            </a:r>
            <a:r>
              <a:rPr dirty="0"/>
              <a:t>(All Things Algebra),</a:t>
            </a:r>
            <a:r>
              <a:rPr spc="10" dirty="0"/>
              <a:t> </a:t>
            </a:r>
            <a:r>
              <a:rPr spc="-20"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2.wmf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0.JP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w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19.png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4.bin"/><Relationship Id="rId2" Type="http://schemas.openxmlformats.org/officeDocument/2006/relationships/image" Target="../media/image23.JPG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24.bin"/><Relationship Id="rId2" Type="http://schemas.openxmlformats.org/officeDocument/2006/relationships/image" Target="../media/image34.JPG"/><Relationship Id="rId16" Type="http://schemas.openxmlformats.org/officeDocument/2006/relationships/image" Target="../media/image41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38.wmf"/><Relationship Id="rId19" Type="http://schemas.openxmlformats.org/officeDocument/2006/relationships/image" Target="../media/image43.png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4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wmf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4.png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53.wmf"/><Relationship Id="rId17" Type="http://schemas.openxmlformats.org/officeDocument/2006/relationships/image" Target="../media/image58.png"/><Relationship Id="rId2" Type="http://schemas.openxmlformats.org/officeDocument/2006/relationships/image" Target="../media/image48.JP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56.png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8945C8-D705-D429-69FC-006A6FEDA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905614"/>
              </p:ext>
            </p:extLst>
          </p:nvPr>
        </p:nvGraphicFramePr>
        <p:xfrm>
          <a:off x="424724" y="1164456"/>
          <a:ext cx="6736364" cy="175451"/>
        </p:xfrm>
        <a:graphic>
          <a:graphicData uri="http://schemas.openxmlformats.org/drawingml/2006/table">
            <a:tbl>
              <a:tblPr/>
              <a:tblGrid>
                <a:gridCol w="673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 the range of the relation below, then determine whether the relation is a function.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Box 807">
            <a:extLst>
              <a:ext uri="{FF2B5EF4-FFF2-40B4-BE49-F238E27FC236}">
                <a16:creationId xmlns:a16="http://schemas.microsoft.com/office/drawing/2014/main" id="{0BFEF078-8EEF-F265-0608-72AB6F2A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129" y="1895217"/>
            <a:ext cx="2456180" cy="103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{-3, -2, 1, 4, 5}; Function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{-3, -2, 1, 4, 5}; Not a function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{-3, -2, 0, 3}; Function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{-3, -2, 0, 3}; Not a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94947-D265-DF57-EE2E-CBE64860A237}"/>
              </a:ext>
            </a:extLst>
          </p:cNvPr>
          <p:cNvSpPr/>
          <p:nvPr/>
        </p:nvSpPr>
        <p:spPr>
          <a:xfrm>
            <a:off x="420642" y="3086187"/>
            <a:ext cx="51969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Which relations represent a function? 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8E003-3C0D-3B40-5A2C-FEDA67D801A3}"/>
              </a:ext>
            </a:extLst>
          </p:cNvPr>
          <p:cNvSpPr/>
          <p:nvPr/>
        </p:nvSpPr>
        <p:spPr>
          <a:xfrm>
            <a:off x="433041" y="5217190"/>
            <a:ext cx="318869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What is the domain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of the graph below?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DE9365-F1D2-6DBD-ADDF-6F3E154E152A}"/>
              </a:ext>
            </a:extLst>
          </p:cNvPr>
          <p:cNvSpPr/>
          <p:nvPr/>
        </p:nvSpPr>
        <p:spPr>
          <a:xfrm>
            <a:off x="3873882" y="5217190"/>
            <a:ext cx="30267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What is the range of the graph below?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B9D420-E632-1955-8465-B6196CD75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787439"/>
              </p:ext>
            </p:extLst>
          </p:nvPr>
        </p:nvGraphicFramePr>
        <p:xfrm>
          <a:off x="1376363" y="7826375"/>
          <a:ext cx="12414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241200" progId="Equation.DSMT4">
                  <p:embed/>
                </p:oleObj>
              </mc:Choice>
              <mc:Fallback>
                <p:oleObj name="Equation" r:id="rId3" imgW="1168200" imgH="24120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ECB9D420-E632-1955-8465-B6196CD75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6363" y="7826375"/>
                        <a:ext cx="1241425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DA2F194-30E0-567F-5FC6-284647DC2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595683"/>
              </p:ext>
            </p:extLst>
          </p:nvPr>
        </p:nvGraphicFramePr>
        <p:xfrm>
          <a:off x="4460875" y="7807325"/>
          <a:ext cx="23018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253800" progId="Equation.DSMT4">
                  <p:embed/>
                </p:oleObj>
              </mc:Choice>
              <mc:Fallback>
                <p:oleObj name="Equation" r:id="rId5" imgW="2184120" imgH="25380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2DA2F194-30E0-567F-5FC6-284647DC2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0875" y="7807325"/>
                        <a:ext cx="2301875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94C911-A787-C440-703C-4BA83FB74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18229"/>
              </p:ext>
            </p:extLst>
          </p:nvPr>
        </p:nvGraphicFramePr>
        <p:xfrm>
          <a:off x="404323" y="7493491"/>
          <a:ext cx="3375197" cy="201549"/>
        </p:xfrm>
        <a:graphic>
          <a:graphicData uri="http://schemas.openxmlformats.org/drawingml/2006/table">
            <a:tbl>
              <a:tblPr/>
              <a:tblGrid>
                <a:gridCol w="3375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Given the function below, find 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C40D13-65AB-AA4A-FA19-08FE4FC25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0641"/>
              </p:ext>
            </p:extLst>
          </p:nvPr>
        </p:nvGraphicFramePr>
        <p:xfrm>
          <a:off x="3829536" y="7491317"/>
          <a:ext cx="3525225" cy="201549"/>
        </p:xfrm>
        <a:graphic>
          <a:graphicData uri="http://schemas.openxmlformats.org/drawingml/2006/table">
            <a:tbl>
              <a:tblPr/>
              <a:tblGrid>
                <a:gridCol w="352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Given the functions below, find 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– 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 Box 2">
            <a:extLst>
              <a:ext uri="{FF2B5EF4-FFF2-40B4-BE49-F238E27FC236}">
                <a16:creationId xmlns:a16="http://schemas.microsoft.com/office/drawing/2014/main" id="{9AC65460-A22A-F71F-9856-E07A961B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97" y="3569790"/>
            <a:ext cx="146050" cy="146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9DDB4B92-FDCF-981C-E995-8294ED5E0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837" y="3569790"/>
            <a:ext cx="146050" cy="146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38109A92-7DE4-654E-A3D5-E35DFB148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696" y="3569790"/>
            <a:ext cx="146050" cy="146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5D9F2264-F773-1C72-78EE-84CE1D24D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668" y="3569790"/>
            <a:ext cx="146050" cy="146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5FF6DA-7CC7-2CC8-4CE6-F3F68B5ADD48}"/>
              </a:ext>
            </a:extLst>
          </p:cNvPr>
          <p:cNvSpPr/>
          <p:nvPr/>
        </p:nvSpPr>
        <p:spPr>
          <a:xfrm>
            <a:off x="6761337" y="3506335"/>
            <a:ext cx="253596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D751E4F-4397-9B7C-7B7D-D201576922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683" y="3516188"/>
            <a:ext cx="256054" cy="353599"/>
          </a:xfrm>
          <a:prstGeom prst="rect">
            <a:avLst/>
          </a:prstGeom>
        </p:spPr>
      </p:pic>
      <p:sp>
        <p:nvSpPr>
          <p:cNvPr id="44" name="Text Box 81">
            <a:extLst>
              <a:ext uri="{FF2B5EF4-FFF2-40B4-BE49-F238E27FC236}">
                <a16:creationId xmlns:a16="http://schemas.microsoft.com/office/drawing/2014/main" id="{6B6B167A-B817-2C00-C965-7F32ED2863D4}"/>
              </a:ext>
            </a:extLst>
          </p:cNvPr>
          <p:cNvSpPr txBox="1"/>
          <p:nvPr/>
        </p:nvSpPr>
        <p:spPr>
          <a:xfrm>
            <a:off x="6033790" y="3874614"/>
            <a:ext cx="385445" cy="74485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5" name="Text Box 88">
            <a:extLst>
              <a:ext uri="{FF2B5EF4-FFF2-40B4-BE49-F238E27FC236}">
                <a16:creationId xmlns:a16="http://schemas.microsoft.com/office/drawing/2014/main" id="{C9EBCC54-A2DF-192C-40B0-7FC292BFE27E}"/>
              </a:ext>
            </a:extLst>
          </p:cNvPr>
          <p:cNvSpPr txBox="1"/>
          <p:nvPr/>
        </p:nvSpPr>
        <p:spPr>
          <a:xfrm>
            <a:off x="6688216" y="3822279"/>
            <a:ext cx="385445" cy="87820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8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51438F-AB87-CF2F-7DAF-EA37FB57BC16}"/>
              </a:ext>
            </a:extLst>
          </p:cNvPr>
          <p:cNvGrpSpPr/>
          <p:nvPr/>
        </p:nvGrpSpPr>
        <p:grpSpPr>
          <a:xfrm>
            <a:off x="885974" y="3633493"/>
            <a:ext cx="1117654" cy="1146678"/>
            <a:chOff x="1981200" y="5956548"/>
            <a:chExt cx="1117654" cy="1146678"/>
          </a:xfrm>
        </p:grpSpPr>
        <p:sp>
          <p:nvSpPr>
            <p:cNvPr id="60" name="object 69">
              <a:extLst>
                <a:ext uri="{FF2B5EF4-FFF2-40B4-BE49-F238E27FC236}">
                  <a16:creationId xmlns:a16="http://schemas.microsoft.com/office/drawing/2014/main" id="{E825EA82-4EB4-1213-3779-EAF6208CBEC7}"/>
                </a:ext>
              </a:extLst>
            </p:cNvPr>
            <p:cNvSpPr txBox="1"/>
            <p:nvPr/>
          </p:nvSpPr>
          <p:spPr>
            <a:xfrm>
              <a:off x="2805120" y="6435731"/>
              <a:ext cx="104775" cy="42832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100" spc="20" dirty="0">
                  <a:latin typeface="Century Gothic" panose="020B0502020202020204" pitchFamily="34" charset="0"/>
                  <a:cs typeface="Tahoma"/>
                </a:rPr>
                <a:t>0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  <a:p>
              <a:pPr marL="12700">
                <a:lnSpc>
                  <a:spcPct val="100000"/>
                </a:lnSpc>
                <a:spcBef>
                  <a:spcPts val="690"/>
                </a:spcBef>
              </a:pPr>
              <a:r>
                <a:rPr lang="en-US" sz="1100" spc="-10" dirty="0">
                  <a:latin typeface="Century Gothic" panose="020B0502020202020204" pitchFamily="34" charset="0"/>
                  <a:cs typeface="Tahoma"/>
                </a:rPr>
                <a:t>6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61" name="object 74">
              <a:extLst>
                <a:ext uri="{FF2B5EF4-FFF2-40B4-BE49-F238E27FC236}">
                  <a16:creationId xmlns:a16="http://schemas.microsoft.com/office/drawing/2014/main" id="{E8A6C72E-2842-8F2E-A333-A4E163F0FD42}"/>
                </a:ext>
              </a:extLst>
            </p:cNvPr>
            <p:cNvSpPr txBox="1"/>
            <p:nvPr/>
          </p:nvSpPr>
          <p:spPr>
            <a:xfrm>
              <a:off x="2774133" y="5968291"/>
              <a:ext cx="89535" cy="16927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en-US" sz="1100" i="1" spc="-10" dirty="0">
                  <a:latin typeface="Times New Roman"/>
                  <a:cs typeface="Times New Roman"/>
                </a:rPr>
                <a:t>y</a:t>
              </a:r>
              <a:endParaRPr sz="1100" dirty="0">
                <a:latin typeface="Times New Roman"/>
                <a:cs typeface="Times New Roman"/>
              </a:endParaRPr>
            </a:p>
          </p:txBody>
        </p:sp>
        <p:sp>
          <p:nvSpPr>
            <p:cNvPr id="62" name="object 75">
              <a:extLst>
                <a:ext uri="{FF2B5EF4-FFF2-40B4-BE49-F238E27FC236}">
                  <a16:creationId xmlns:a16="http://schemas.microsoft.com/office/drawing/2014/main" id="{1DE63040-F437-0BED-17A6-95EFE510E0D5}"/>
                </a:ext>
              </a:extLst>
            </p:cNvPr>
            <p:cNvSpPr txBox="1"/>
            <p:nvPr/>
          </p:nvSpPr>
          <p:spPr>
            <a:xfrm>
              <a:off x="2146709" y="5956548"/>
              <a:ext cx="156845" cy="11156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52705">
                <a:lnSpc>
                  <a:spcPct val="100000"/>
                </a:lnSpc>
              </a:pPr>
              <a:r>
                <a:rPr lang="en-US" sz="1100" i="1" spc="-10" dirty="0">
                  <a:latin typeface="Times New Roman"/>
                  <a:cs typeface="Times New Roman"/>
                </a:rPr>
                <a:t>x</a:t>
              </a:r>
              <a:endParaRPr sz="1100" dirty="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620"/>
                </a:spcBef>
              </a:pPr>
              <a:r>
                <a:rPr sz="1100" spc="5" dirty="0">
                  <a:latin typeface="Century Gothic" panose="020B0502020202020204" pitchFamily="34" charset="0"/>
                  <a:cs typeface="Tahoma"/>
                </a:rPr>
                <a:t>-</a:t>
              </a:r>
              <a:r>
                <a:rPr sz="1100" spc="20" dirty="0">
                  <a:latin typeface="Century Gothic" panose="020B0502020202020204" pitchFamily="34" charset="0"/>
                  <a:cs typeface="Tahoma"/>
                </a:rPr>
                <a:t>7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  <a:p>
              <a:pPr marL="12700">
                <a:lnSpc>
                  <a:spcPct val="100000"/>
                </a:lnSpc>
                <a:spcBef>
                  <a:spcPts val="470"/>
                </a:spcBef>
              </a:pPr>
              <a:r>
                <a:rPr sz="1100" spc="5" dirty="0">
                  <a:latin typeface="Century Gothic" panose="020B0502020202020204" pitchFamily="34" charset="0"/>
                  <a:cs typeface="Tahoma"/>
                </a:rPr>
                <a:t>-</a:t>
              </a:r>
              <a:r>
                <a:rPr lang="en-US" sz="1100" spc="20" dirty="0">
                  <a:latin typeface="Century Gothic" panose="020B0502020202020204" pitchFamily="34" charset="0"/>
                  <a:cs typeface="Tahoma"/>
                </a:rPr>
                <a:t>1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  <a:p>
              <a:pPr marL="61594">
                <a:lnSpc>
                  <a:spcPct val="100000"/>
                </a:lnSpc>
                <a:spcBef>
                  <a:spcPts val="470"/>
                </a:spcBef>
              </a:pPr>
              <a:r>
                <a:rPr sz="1100" spc="20" dirty="0">
                  <a:latin typeface="Century Gothic" panose="020B0502020202020204" pitchFamily="34" charset="0"/>
                  <a:cs typeface="Tahoma"/>
                </a:rPr>
                <a:t>0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  <a:p>
              <a:pPr marL="61594">
                <a:lnSpc>
                  <a:spcPct val="100000"/>
                </a:lnSpc>
                <a:spcBef>
                  <a:spcPts val="459"/>
                </a:spcBef>
              </a:pPr>
              <a:r>
                <a:rPr lang="en-US" sz="1100" spc="20" dirty="0">
                  <a:latin typeface="Century Gothic" panose="020B0502020202020204" pitchFamily="34" charset="0"/>
                  <a:cs typeface="Tahoma"/>
                </a:rPr>
                <a:t>5</a:t>
              </a:r>
              <a:endParaRPr sz="1100" dirty="0"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523920A-6E1A-33DE-EFFD-3FD2B2492F6D}"/>
                </a:ext>
              </a:extLst>
            </p:cNvPr>
            <p:cNvSpPr/>
            <p:nvPr/>
          </p:nvSpPr>
          <p:spPr>
            <a:xfrm>
              <a:off x="1981200" y="6164941"/>
              <a:ext cx="523240" cy="938285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E44FCAD-CDDD-C1B7-4720-0139F52A4A39}"/>
                </a:ext>
              </a:extLst>
            </p:cNvPr>
            <p:cNvSpPr/>
            <p:nvPr/>
          </p:nvSpPr>
          <p:spPr>
            <a:xfrm>
              <a:off x="2575614" y="6164941"/>
              <a:ext cx="523240" cy="938285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2DEE294-56E7-7973-3B8F-CC7ABEF7FFFF}"/>
                </a:ext>
              </a:extLst>
            </p:cNvPr>
            <p:cNvSpPr/>
            <p:nvPr/>
          </p:nvSpPr>
          <p:spPr>
            <a:xfrm>
              <a:off x="2296773" y="6286271"/>
              <a:ext cx="481277" cy="210266"/>
            </a:xfrm>
            <a:custGeom>
              <a:avLst/>
              <a:gdLst>
                <a:gd name="connsiteX0" fmla="*/ 0 w 512794"/>
                <a:gd name="connsiteY0" fmla="*/ 0 h 224036"/>
                <a:gd name="connsiteX1" fmla="*/ 512794 w 512794"/>
                <a:gd name="connsiteY1" fmla="*/ 224036 h 22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2794" h="224036">
                  <a:moveTo>
                    <a:pt x="0" y="0"/>
                  </a:moveTo>
                  <a:lnTo>
                    <a:pt x="512794" y="224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B5A16CD-63B2-E6AD-FF91-0D1F9472EFF2}"/>
                </a:ext>
              </a:extLst>
            </p:cNvPr>
            <p:cNvSpPr/>
            <p:nvPr/>
          </p:nvSpPr>
          <p:spPr>
            <a:xfrm>
              <a:off x="2293468" y="6516967"/>
              <a:ext cx="484582" cy="31531"/>
            </a:xfrm>
            <a:custGeom>
              <a:avLst/>
              <a:gdLst>
                <a:gd name="connsiteX0" fmla="*/ 0 w 484582"/>
                <a:gd name="connsiteY0" fmla="*/ 0 h 31531"/>
                <a:gd name="connsiteX1" fmla="*/ 484582 w 484582"/>
                <a:gd name="connsiteY1" fmla="*/ 31531 h 3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582" h="31531">
                  <a:moveTo>
                    <a:pt x="0" y="0"/>
                  </a:moveTo>
                  <a:lnTo>
                    <a:pt x="484582" y="31531"/>
                  </a:lnTo>
                </a:path>
              </a:pathLst>
            </a:custGeom>
            <a:noFill/>
            <a:ln w="9525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149ADAE-03AB-E2FD-4070-0C183C326E52}"/>
                </a:ext>
              </a:extLst>
            </p:cNvPr>
            <p:cNvSpPr/>
            <p:nvPr/>
          </p:nvSpPr>
          <p:spPr>
            <a:xfrm>
              <a:off x="2313382" y="6745982"/>
              <a:ext cx="484582" cy="29871"/>
            </a:xfrm>
            <a:custGeom>
              <a:avLst/>
              <a:gdLst>
                <a:gd name="connsiteX0" fmla="*/ 0 w 484582"/>
                <a:gd name="connsiteY0" fmla="*/ 0 h 29871"/>
                <a:gd name="connsiteX1" fmla="*/ 484582 w 484582"/>
                <a:gd name="connsiteY1" fmla="*/ 29871 h 2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582" h="29871">
                  <a:moveTo>
                    <a:pt x="0" y="0"/>
                  </a:moveTo>
                  <a:lnTo>
                    <a:pt x="484582" y="298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02E9BAF-5B9D-1C80-A093-DACA71C972C8}"/>
                </a:ext>
              </a:extLst>
            </p:cNvPr>
            <p:cNvSpPr/>
            <p:nvPr/>
          </p:nvSpPr>
          <p:spPr>
            <a:xfrm>
              <a:off x="2324999" y="6833937"/>
              <a:ext cx="477944" cy="154336"/>
            </a:xfrm>
            <a:custGeom>
              <a:avLst/>
              <a:gdLst>
                <a:gd name="connsiteX0" fmla="*/ 0 w 477944"/>
                <a:gd name="connsiteY0" fmla="*/ 154336 h 154336"/>
                <a:gd name="connsiteX1" fmla="*/ 477944 w 477944"/>
                <a:gd name="connsiteY1" fmla="*/ 0 h 15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44" h="154336">
                  <a:moveTo>
                    <a:pt x="0" y="154336"/>
                  </a:moveTo>
                  <a:lnTo>
                    <a:pt x="47794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Oval 104">
            <a:extLst>
              <a:ext uri="{FF2B5EF4-FFF2-40B4-BE49-F238E27FC236}">
                <a16:creationId xmlns:a16="http://schemas.microsoft.com/office/drawing/2014/main" id="{D400F424-A9BC-292A-6882-BEA621254133}"/>
              </a:ext>
            </a:extLst>
          </p:cNvPr>
          <p:cNvSpPr/>
          <p:nvPr/>
        </p:nvSpPr>
        <p:spPr>
          <a:xfrm>
            <a:off x="5974296" y="3821011"/>
            <a:ext cx="523240" cy="938285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EFA8199-D9AA-9FC5-E3CD-8389E31F3708}"/>
              </a:ext>
            </a:extLst>
          </p:cNvPr>
          <p:cNvSpPr/>
          <p:nvPr/>
        </p:nvSpPr>
        <p:spPr>
          <a:xfrm>
            <a:off x="6628784" y="3821011"/>
            <a:ext cx="523240" cy="938285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319639BF-E01C-1F95-9564-EF6FC563FC12}"/>
              </a:ext>
            </a:extLst>
          </p:cNvPr>
          <p:cNvSpPr/>
          <p:nvPr/>
        </p:nvSpPr>
        <p:spPr>
          <a:xfrm>
            <a:off x="6309787" y="3981835"/>
            <a:ext cx="477820" cy="68260"/>
          </a:xfrm>
          <a:custGeom>
            <a:avLst/>
            <a:gdLst>
              <a:gd name="connsiteX0" fmla="*/ 0 w 477820"/>
              <a:gd name="connsiteY0" fmla="*/ 68260 h 68260"/>
              <a:gd name="connsiteX1" fmla="*/ 477820 w 477820"/>
              <a:gd name="connsiteY1" fmla="*/ 0 h 6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7820" h="68260">
                <a:moveTo>
                  <a:pt x="0" y="68260"/>
                </a:moveTo>
                <a:lnTo>
                  <a:pt x="477820" y="0"/>
                </a:lnTo>
              </a:path>
            </a:pathLst>
          </a:cu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512F0B10-F1A0-26A1-7161-7D876EAF0DEC}"/>
              </a:ext>
            </a:extLst>
          </p:cNvPr>
          <p:cNvSpPr/>
          <p:nvPr/>
        </p:nvSpPr>
        <p:spPr>
          <a:xfrm>
            <a:off x="6306741" y="4191000"/>
            <a:ext cx="492918" cy="80963"/>
          </a:xfrm>
          <a:custGeom>
            <a:avLst/>
            <a:gdLst>
              <a:gd name="connsiteX0" fmla="*/ 0 w 492918"/>
              <a:gd name="connsiteY0" fmla="*/ 80963 h 80963"/>
              <a:gd name="connsiteX1" fmla="*/ 492918 w 492918"/>
              <a:gd name="connsiteY1" fmla="*/ 0 h 8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2918" h="80963">
                <a:moveTo>
                  <a:pt x="0" y="80963"/>
                </a:moveTo>
                <a:lnTo>
                  <a:pt x="492918" y="0"/>
                </a:lnTo>
              </a:path>
            </a:pathLst>
          </a:cu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FFE88EB8-00DA-9150-4672-BB442794C3B6}"/>
              </a:ext>
            </a:extLst>
          </p:cNvPr>
          <p:cNvSpPr/>
          <p:nvPr/>
        </p:nvSpPr>
        <p:spPr>
          <a:xfrm>
            <a:off x="6307931" y="4270772"/>
            <a:ext cx="513160" cy="123825"/>
          </a:xfrm>
          <a:custGeom>
            <a:avLst/>
            <a:gdLst>
              <a:gd name="connsiteX0" fmla="*/ 0 w 513160"/>
              <a:gd name="connsiteY0" fmla="*/ 0 h 123825"/>
              <a:gd name="connsiteX1" fmla="*/ 513160 w 513160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60" h="123825">
                <a:moveTo>
                  <a:pt x="0" y="0"/>
                </a:moveTo>
                <a:lnTo>
                  <a:pt x="513160" y="123825"/>
                </a:lnTo>
              </a:path>
            </a:pathLst>
          </a:cu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CD50924-955B-BF1E-CA6D-332F7737159F}"/>
              </a:ext>
            </a:extLst>
          </p:cNvPr>
          <p:cNvSpPr/>
          <p:nvPr/>
        </p:nvSpPr>
        <p:spPr>
          <a:xfrm>
            <a:off x="6334125" y="4512469"/>
            <a:ext cx="494109" cy="82153"/>
          </a:xfrm>
          <a:custGeom>
            <a:avLst/>
            <a:gdLst>
              <a:gd name="connsiteX0" fmla="*/ 0 w 494109"/>
              <a:gd name="connsiteY0" fmla="*/ 0 h 82153"/>
              <a:gd name="connsiteX1" fmla="*/ 494109 w 494109"/>
              <a:gd name="connsiteY1" fmla="*/ 82153 h 8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4109" h="82153">
                <a:moveTo>
                  <a:pt x="0" y="0"/>
                </a:moveTo>
                <a:lnTo>
                  <a:pt x="494109" y="82153"/>
                </a:lnTo>
              </a:path>
            </a:pathLst>
          </a:cu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B668582-8EDB-813D-2A06-02A2101C6D3B}"/>
              </a:ext>
            </a:extLst>
          </p:cNvPr>
          <p:cNvSpPr/>
          <p:nvPr/>
        </p:nvSpPr>
        <p:spPr>
          <a:xfrm>
            <a:off x="2337063" y="7017702"/>
            <a:ext cx="1491776" cy="420487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069AEED-6F66-D397-AD8F-CFE29CE90AA9}"/>
              </a:ext>
            </a:extLst>
          </p:cNvPr>
          <p:cNvSpPr/>
          <p:nvPr/>
        </p:nvSpPr>
        <p:spPr>
          <a:xfrm>
            <a:off x="5751648" y="7003984"/>
            <a:ext cx="1491776" cy="420487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77D4150-2D94-D2A3-3C16-F0AAA1C0B19F}"/>
              </a:ext>
            </a:extLst>
          </p:cNvPr>
          <p:cNvSpPr/>
          <p:nvPr/>
        </p:nvSpPr>
        <p:spPr>
          <a:xfrm>
            <a:off x="6637513" y="2582041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EA5B2A6-D634-3BAA-087F-72B0233C1ED4}"/>
              </a:ext>
            </a:extLst>
          </p:cNvPr>
          <p:cNvSpPr/>
          <p:nvPr/>
        </p:nvSpPr>
        <p:spPr>
          <a:xfrm>
            <a:off x="6357719" y="9141419"/>
            <a:ext cx="878205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FB48121-2D00-13A2-CDA7-59DB93D96FB7}"/>
              </a:ext>
            </a:extLst>
          </p:cNvPr>
          <p:cNvSpPr/>
          <p:nvPr/>
        </p:nvSpPr>
        <p:spPr>
          <a:xfrm>
            <a:off x="2952350" y="9141419"/>
            <a:ext cx="878205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B3B4B850-36CD-EA4A-2D62-DB78706459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61" y="1257653"/>
            <a:ext cx="1792379" cy="1847248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EBAE229C-2181-B712-4152-7F243E5FCE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887" y="3364000"/>
            <a:ext cx="1725318" cy="1743607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E620C694-0F0D-A235-7E2B-C5335882D9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5936" y="3370096"/>
            <a:ext cx="1725318" cy="1731414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6291C5DF-6786-1D9A-A448-4CDA0AA433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506" y="5422062"/>
            <a:ext cx="1896020" cy="1926503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A6351556-FBDB-5A80-DF71-FD2DAEA94F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6132" y="5439297"/>
            <a:ext cx="1896020" cy="1926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512CB-8787-CF91-A9B9-9A348AB2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D61726F7-8634-F8CC-CDDD-6E7FFA60C2C6}"/>
              </a:ext>
            </a:extLst>
          </p:cNvPr>
          <p:cNvGraphicFramePr>
            <a:graphicFrameLocks noGrp="1"/>
          </p:cNvGraphicFramePr>
          <p:nvPr/>
        </p:nvGraphicFramePr>
        <p:xfrm>
          <a:off x="396520" y="440029"/>
          <a:ext cx="3248637" cy="181483"/>
        </p:xfrm>
        <a:graphic>
          <a:graphicData uri="http://schemas.openxmlformats.org/drawingml/2006/table">
            <a:tbl>
              <a:tblPr/>
              <a:tblGrid>
                <a:gridCol w="324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AEFF3564-3F80-795B-0BE1-91D7538D80F6}"/>
              </a:ext>
            </a:extLst>
          </p:cNvPr>
          <p:cNvGraphicFramePr>
            <a:graphicFrameLocks noGrp="1"/>
          </p:cNvGraphicFramePr>
          <p:nvPr/>
        </p:nvGraphicFramePr>
        <p:xfrm>
          <a:off x="3831200" y="440029"/>
          <a:ext cx="3356216" cy="181483"/>
        </p:xfrm>
        <a:graphic>
          <a:graphicData uri="http://schemas.openxmlformats.org/drawingml/2006/table">
            <a:tbl>
              <a:tblPr/>
              <a:tblGrid>
                <a:gridCol w="3356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17224E7D-A9DB-B0F3-60EB-264A96104A83}"/>
              </a:ext>
            </a:extLst>
          </p:cNvPr>
          <p:cNvGraphicFramePr>
            <a:graphicFrameLocks noGrp="1"/>
          </p:cNvGraphicFramePr>
          <p:nvPr/>
        </p:nvGraphicFramePr>
        <p:xfrm>
          <a:off x="402811" y="2293241"/>
          <a:ext cx="3514880" cy="181483"/>
        </p:xfrm>
        <a:graphic>
          <a:graphicData uri="http://schemas.openxmlformats.org/drawingml/2006/table">
            <a:tbl>
              <a:tblPr/>
              <a:tblGrid>
                <a:gridCol w="351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F66BD4C3-C2E6-5B88-D161-825FB22938C2}"/>
              </a:ext>
            </a:extLst>
          </p:cNvPr>
          <p:cNvGraphicFramePr>
            <a:graphicFrameLocks noGrp="1"/>
          </p:cNvGraphicFramePr>
          <p:nvPr/>
        </p:nvGraphicFramePr>
        <p:xfrm>
          <a:off x="3831119" y="2282529"/>
          <a:ext cx="3375018" cy="387464"/>
        </p:xfrm>
        <a:graphic>
          <a:graphicData uri="http://schemas.openxmlformats.org/drawingml/2006/table">
            <a:tbl>
              <a:tblPr/>
              <a:tblGrid>
                <a:gridCol w="3375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4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31DE1E0C-3B46-C820-D497-AF6F74266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5988" y="2764981"/>
          <a:ext cx="977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203040" progId="Equation.DSMT4">
                  <p:embed/>
                </p:oleObj>
              </mc:Choice>
              <mc:Fallback>
                <p:oleObj name="Equation" r:id="rId3" imgW="977760" imgH="20304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31DE1E0C-3B46-C820-D497-AF6F74266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85988" y="2764981"/>
                        <a:ext cx="977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8F83623E-13D0-8A99-5B28-608B039F2DF3}"/>
              </a:ext>
            </a:extLst>
          </p:cNvPr>
          <p:cNvSpPr/>
          <p:nvPr/>
        </p:nvSpPr>
        <p:spPr>
          <a:xfrm>
            <a:off x="417142" y="2284433"/>
            <a:ext cx="330571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Write the equation below in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standard form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7B7EEE4F-2296-A4C5-5678-58E110291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735" y="2605562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406080" progId="Equation.DSMT4">
                  <p:embed/>
                </p:oleObj>
              </mc:Choice>
              <mc:Fallback>
                <p:oleObj name="Equation" r:id="rId5" imgW="1015920" imgH="40608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7B7EEE4F-2296-A4C5-5678-58E110291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5735" y="2605562"/>
                        <a:ext cx="1016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3FACFB01-4BC1-9828-667C-80983E624C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4238" y="743103"/>
          <a:ext cx="1041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203040" progId="Equation.DSMT4">
                  <p:embed/>
                </p:oleObj>
              </mc:Choice>
              <mc:Fallback>
                <p:oleObj name="Equation" r:id="rId7" imgW="1041120" imgH="20304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3FACFB01-4BC1-9828-667C-80983E624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54238" y="743103"/>
                        <a:ext cx="1041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15D560E8-D335-BD82-5A0D-A86D9F027D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468" y="724053"/>
          <a:ext cx="1054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241200" progId="Equation.DSMT4">
                  <p:embed/>
                </p:oleObj>
              </mc:Choice>
              <mc:Fallback>
                <p:oleObj name="Equation" r:id="rId9" imgW="1054080" imgH="24120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15D560E8-D335-BD82-5A0D-A86D9F027D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00468" y="724053"/>
                        <a:ext cx="1054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06314620-8E34-E687-01E7-68B9ABD65266}"/>
              </a:ext>
            </a:extLst>
          </p:cNvPr>
          <p:cNvSpPr/>
          <p:nvPr/>
        </p:nvSpPr>
        <p:spPr>
          <a:xfrm>
            <a:off x="345580" y="435015"/>
            <a:ext cx="3084819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5405" lvl="0">
              <a:lnSpc>
                <a:spcPts val="1380"/>
              </a:lnSpc>
            </a:pP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7.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Given the function below, find </a:t>
            </a:r>
            <a:r>
              <a:rPr lang="en-US" sz="1250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lang="en-US" sz="1100" kern="0" spc="-5" dirty="0">
                <a:solidFill>
                  <a:prstClr val="black"/>
                </a:solidFill>
                <a:latin typeface="Tahoma"/>
                <a:cs typeface="Tahoma"/>
              </a:rPr>
              <a:t>(</a:t>
            </a:r>
            <a:r>
              <a:rPr lang="en-US" sz="1250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x </a:t>
            </a:r>
            <a:r>
              <a:rPr lang="en-US" sz="1100" kern="0" dirty="0">
                <a:solidFill>
                  <a:prstClr val="black"/>
                </a:solidFill>
                <a:latin typeface="Tahoma"/>
                <a:cs typeface="Tahoma"/>
              </a:rPr>
              <a:t>–</a:t>
            </a:r>
            <a:r>
              <a:rPr lang="en-US" sz="1100" kern="0" spc="4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</a:t>
            </a:r>
            <a:r>
              <a:rPr lang="en-US" sz="1100" kern="0" spc="-5" dirty="0">
                <a:solidFill>
                  <a:prstClr val="black"/>
                </a:solidFill>
                <a:latin typeface="Tahoma"/>
                <a:cs typeface="Tahoma"/>
              </a:rPr>
              <a:t>)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.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F6813DB1-0ACB-FF0B-3001-13DDA70283DF}"/>
              </a:ext>
            </a:extLst>
          </p:cNvPr>
          <p:cNvGraphicFramePr>
            <a:graphicFrameLocks noGrp="1"/>
          </p:cNvGraphicFramePr>
          <p:nvPr/>
        </p:nvGraphicFramePr>
        <p:xfrm>
          <a:off x="3831119" y="457198"/>
          <a:ext cx="3487638" cy="201549"/>
        </p:xfrm>
        <a:graphic>
          <a:graphicData uri="http://schemas.openxmlformats.org/drawingml/2006/table">
            <a:tbl>
              <a:tblPr/>
              <a:tblGrid>
                <a:gridCol w="348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Given the function below, if 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 -1, find </a:t>
                      </a:r>
                      <a:r>
                        <a:rPr lang="en-US" sz="125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0EED882F-649C-B783-7F36-581BB4BD6F25}"/>
              </a:ext>
            </a:extLst>
          </p:cNvPr>
          <p:cNvSpPr/>
          <p:nvPr/>
        </p:nvSpPr>
        <p:spPr>
          <a:xfrm>
            <a:off x="3783187" y="2280184"/>
            <a:ext cx="3750746" cy="43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4335" marR="232410" lvl="0" indent="-329565">
              <a:lnSpc>
                <a:spcPct val="100899"/>
              </a:lnSpc>
              <a:spcBef>
                <a:spcPts val="100"/>
              </a:spcBef>
            </a:pP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10.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Write the equation below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in 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slope-intercept  form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.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35CA07-80E8-8C31-B8F4-D6956EF9E2FC}"/>
              </a:ext>
            </a:extLst>
          </p:cNvPr>
          <p:cNvSpPr/>
          <p:nvPr/>
        </p:nvSpPr>
        <p:spPr>
          <a:xfrm>
            <a:off x="2283436" y="1815986"/>
            <a:ext cx="1508760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028010B-10A1-4CA6-EA62-11FE6E67FF57}"/>
              </a:ext>
            </a:extLst>
          </p:cNvPr>
          <p:cNvSpPr/>
          <p:nvPr/>
        </p:nvSpPr>
        <p:spPr>
          <a:xfrm>
            <a:off x="6248400" y="1815986"/>
            <a:ext cx="980760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4FC987E-373D-502C-C3AF-CFE0A7F43289}"/>
              </a:ext>
            </a:extLst>
          </p:cNvPr>
          <p:cNvSpPr/>
          <p:nvPr/>
        </p:nvSpPr>
        <p:spPr>
          <a:xfrm>
            <a:off x="2283436" y="3860288"/>
            <a:ext cx="1508760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2A28C60-779E-7526-4BEE-11EAF6E2BCD5}"/>
              </a:ext>
            </a:extLst>
          </p:cNvPr>
          <p:cNvSpPr/>
          <p:nvPr/>
        </p:nvSpPr>
        <p:spPr>
          <a:xfrm>
            <a:off x="5720400" y="3860288"/>
            <a:ext cx="1508760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5204B88-2AD9-24E6-0551-85CCEC6BB459}"/>
              </a:ext>
            </a:extLst>
          </p:cNvPr>
          <p:cNvSpPr/>
          <p:nvPr/>
        </p:nvSpPr>
        <p:spPr>
          <a:xfrm>
            <a:off x="433758" y="4356509"/>
            <a:ext cx="5104857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graph best represents the equation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12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= 18?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A0DA94E-1A52-888D-3EFA-43B6E285BCED}"/>
              </a:ext>
            </a:extLst>
          </p:cNvPr>
          <p:cNvSpPr/>
          <p:nvPr/>
        </p:nvSpPr>
        <p:spPr>
          <a:xfrm>
            <a:off x="429615" y="7021779"/>
            <a:ext cx="5059611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Which graph best represents the equation </a:t>
            </a:r>
            <a:r>
              <a:rPr lang="en-US" sz="11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-15</a:t>
            </a:r>
            <a:r>
              <a:rPr lang="en-US" sz="1250" b="1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12</a:t>
            </a:r>
            <a:r>
              <a:rPr lang="en-US" sz="1250" b="1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= -60?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865EA0-08C7-A7E9-0763-C311D276F2D5}"/>
              </a:ext>
            </a:extLst>
          </p:cNvPr>
          <p:cNvSpPr/>
          <p:nvPr/>
        </p:nvSpPr>
        <p:spPr>
          <a:xfrm>
            <a:off x="6629400" y="6533949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6D994C5-D3E1-2AA0-CCFF-5BE97ECFA6D6}"/>
              </a:ext>
            </a:extLst>
          </p:cNvPr>
          <p:cNvSpPr/>
          <p:nvPr/>
        </p:nvSpPr>
        <p:spPr>
          <a:xfrm>
            <a:off x="2184484" y="4779758"/>
            <a:ext cx="3465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B.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34ECCE-0988-D5FE-07D7-BD8CF819FA7D}"/>
              </a:ext>
            </a:extLst>
          </p:cNvPr>
          <p:cNvSpPr/>
          <p:nvPr/>
        </p:nvSpPr>
        <p:spPr>
          <a:xfrm>
            <a:off x="5502621" y="4779758"/>
            <a:ext cx="3786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D447FF-65BB-73F2-07A2-93C12315E33A}"/>
              </a:ext>
            </a:extLst>
          </p:cNvPr>
          <p:cNvSpPr/>
          <p:nvPr/>
        </p:nvSpPr>
        <p:spPr>
          <a:xfrm>
            <a:off x="477326" y="4779758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A.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5324E5E-DE71-2557-B25E-678733CFE979}"/>
              </a:ext>
            </a:extLst>
          </p:cNvPr>
          <p:cNvSpPr/>
          <p:nvPr/>
        </p:nvSpPr>
        <p:spPr>
          <a:xfrm>
            <a:off x="3829126" y="4779758"/>
            <a:ext cx="3754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C.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686DB90-5C7F-90C4-F534-363D0238A181}"/>
              </a:ext>
            </a:extLst>
          </p:cNvPr>
          <p:cNvSpPr/>
          <p:nvPr/>
        </p:nvSpPr>
        <p:spPr>
          <a:xfrm>
            <a:off x="6630405" y="9181261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DDF06456-24CA-C416-7171-C0007B859D35}"/>
              </a:ext>
            </a:extLst>
          </p:cNvPr>
          <p:cNvSpPr/>
          <p:nvPr/>
        </p:nvSpPr>
        <p:spPr>
          <a:xfrm>
            <a:off x="2190764" y="7513900"/>
            <a:ext cx="3465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B.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127C504-0819-429C-8526-0DA67889E45A}"/>
              </a:ext>
            </a:extLst>
          </p:cNvPr>
          <p:cNvSpPr/>
          <p:nvPr/>
        </p:nvSpPr>
        <p:spPr>
          <a:xfrm>
            <a:off x="5508901" y="7513900"/>
            <a:ext cx="3786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7E9A3DF-6629-5965-9676-2122ACB36608}"/>
              </a:ext>
            </a:extLst>
          </p:cNvPr>
          <p:cNvSpPr/>
          <p:nvPr/>
        </p:nvSpPr>
        <p:spPr>
          <a:xfrm>
            <a:off x="483606" y="7513900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A.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21C659A-9CC6-F20A-0C99-29E8D2308383}"/>
              </a:ext>
            </a:extLst>
          </p:cNvPr>
          <p:cNvSpPr/>
          <p:nvPr/>
        </p:nvSpPr>
        <p:spPr>
          <a:xfrm>
            <a:off x="3835406" y="7513900"/>
            <a:ext cx="3754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C.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7D34F-B125-0DE2-F15F-71B86F6E2D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951" y="4725284"/>
            <a:ext cx="1682642" cy="17375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E5A6F1-5A11-E6E3-A90E-96BA845D10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4821" y="4725284"/>
            <a:ext cx="1682642" cy="17375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1EC1E9-FDE3-F5AD-8E63-04CCBE52CA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1691" y="4719187"/>
            <a:ext cx="1682642" cy="1749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7DE612-AD3C-0B3A-794C-5E0EE9EA203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8560" y="4716139"/>
            <a:ext cx="1682642" cy="175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046DBA-C733-8765-F440-2337622087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1430" y="7366116"/>
            <a:ext cx="1682642" cy="1737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1F076-6DEC-4804-B38F-A668236575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48488" y="7366116"/>
            <a:ext cx="1682642" cy="1737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916E7B-36ED-B53D-84F7-12F061458C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95546" y="7366116"/>
            <a:ext cx="1676545" cy="173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63C775-CE30-F525-9060-360C60703A6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6507" y="7366116"/>
            <a:ext cx="1676545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4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24802-CE23-6AB6-840E-8E3EBBFB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0">
            <a:extLst>
              <a:ext uri="{FF2B5EF4-FFF2-40B4-BE49-F238E27FC236}">
                <a16:creationId xmlns:a16="http://schemas.microsoft.com/office/drawing/2014/main" id="{C9B49339-A2FE-EB27-5A55-A3F10A57E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833" y="6163570"/>
            <a:ext cx="142176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. </a:t>
            </a:r>
            <a:b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B.  </a:t>
            </a:r>
            <a:endParaRPr lang="en-US" sz="12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C.</a:t>
            </a:r>
            <a: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</a:t>
            </a:r>
            <a:b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D.  </a:t>
            </a:r>
            <a:endParaRPr lang="en-US" sz="12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7" name="Text Box 35">
            <a:extLst>
              <a:ext uri="{FF2B5EF4-FFF2-40B4-BE49-F238E27FC236}">
                <a16:creationId xmlns:a16="http://schemas.microsoft.com/office/drawing/2014/main" id="{AA3895CE-F361-95D4-876D-06E6EC9D4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53" y="1514661"/>
            <a:ext cx="1565910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A</a:t>
            </a:r>
            <a: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.  </a:t>
            </a:r>
          </a:p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B. </a:t>
            </a:r>
            <a: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  </a:t>
            </a:r>
          </a:p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C.</a:t>
            </a:r>
            <a: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  </a:t>
            </a:r>
            <a:br>
              <a:rPr lang="en-US" sz="12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2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D.  </a:t>
            </a:r>
            <a:r>
              <a:rPr lang="en-US" sz="1200" i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</a:t>
            </a:r>
            <a:endParaRPr lang="en-US" sz="12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B393BA-465E-FB2E-68E4-0970CB2ADA0C}"/>
              </a:ext>
            </a:extLst>
          </p:cNvPr>
          <p:cNvSpPr/>
          <p:nvPr/>
        </p:nvSpPr>
        <p:spPr>
          <a:xfrm>
            <a:off x="661249" y="2334078"/>
            <a:ext cx="564578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50" b="1" i="1" kern="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-int.: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C49C0B-6A3A-45C9-D6C3-197709AB9B12}"/>
              </a:ext>
            </a:extLst>
          </p:cNvPr>
          <p:cNvSpPr/>
          <p:nvPr/>
        </p:nvSpPr>
        <p:spPr>
          <a:xfrm>
            <a:off x="2293568" y="2334078"/>
            <a:ext cx="550472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5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-int.: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A94F7D70-D78D-25EC-C0E8-2221BE407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873555"/>
              </p:ext>
            </p:extLst>
          </p:nvPr>
        </p:nvGraphicFramePr>
        <p:xfrm>
          <a:off x="1645976" y="984035"/>
          <a:ext cx="990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203040" progId="Equation.DSMT4">
                  <p:embed/>
                </p:oleObj>
              </mc:Choice>
              <mc:Fallback>
                <p:oleObj name="Equation" r:id="rId3" imgW="990360" imgH="20304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A94F7D70-D78D-25EC-C0E8-2221BE407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5976" y="984035"/>
                        <a:ext cx="990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D6721CBE-BD05-E734-DA59-94B4DA52E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266842"/>
              </p:ext>
            </p:extLst>
          </p:nvPr>
        </p:nvGraphicFramePr>
        <p:xfrm>
          <a:off x="5073298" y="944435"/>
          <a:ext cx="990600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203040" progId="Equation.DSMT4">
                  <p:embed/>
                </p:oleObj>
              </mc:Choice>
              <mc:Fallback>
                <p:oleObj name="Equation" r:id="rId5" imgW="990360" imgH="20304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D6721CBE-BD05-E734-DA59-94B4DA52EB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3298" y="944435"/>
                        <a:ext cx="990600" cy="20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83754424-C98C-DE25-0E55-9C0D0A829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108096"/>
              </p:ext>
            </p:extLst>
          </p:nvPr>
        </p:nvGraphicFramePr>
        <p:xfrm>
          <a:off x="4470924" y="1619505"/>
          <a:ext cx="939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203040" progId="Equation.DSMT4">
                  <p:embed/>
                </p:oleObj>
              </mc:Choice>
              <mc:Fallback>
                <p:oleObj name="Equation" r:id="rId7" imgW="939600" imgH="20304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3754424-C98C-DE25-0E55-9C0D0A8298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0924" y="1619505"/>
                        <a:ext cx="939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9D5FD5D4-BC61-76DB-9E8C-F6B7527EA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1199"/>
              </p:ext>
            </p:extLst>
          </p:nvPr>
        </p:nvGraphicFramePr>
        <p:xfrm>
          <a:off x="4467749" y="1878267"/>
          <a:ext cx="723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600" imgH="203040" progId="Equation.DSMT4">
                  <p:embed/>
                </p:oleObj>
              </mc:Choice>
              <mc:Fallback>
                <p:oleObj name="Equation" r:id="rId9" imgW="723600" imgH="20304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9D5FD5D4-BC61-76DB-9E8C-F6B7527EA8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7749" y="1878267"/>
                        <a:ext cx="723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6F45A4EE-0E3A-FD5E-0B87-1F53FE73A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603417"/>
              </p:ext>
            </p:extLst>
          </p:nvPr>
        </p:nvGraphicFramePr>
        <p:xfrm>
          <a:off x="4474099" y="2183067"/>
          <a:ext cx="863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203040" progId="Equation.DSMT4">
                  <p:embed/>
                </p:oleObj>
              </mc:Choice>
              <mc:Fallback>
                <p:oleObj name="Equation" r:id="rId11" imgW="863280" imgH="20304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6F45A4EE-0E3A-FD5E-0B87-1F53FE73A1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74099" y="2183067"/>
                        <a:ext cx="863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1BA7197A-5401-F6D7-40DA-AE0443570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853960"/>
              </p:ext>
            </p:extLst>
          </p:nvPr>
        </p:nvGraphicFramePr>
        <p:xfrm>
          <a:off x="4474099" y="2452942"/>
          <a:ext cx="800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920" imgH="203040" progId="Equation.DSMT4">
                  <p:embed/>
                </p:oleObj>
              </mc:Choice>
              <mc:Fallback>
                <p:oleObj name="Equation" r:id="rId13" imgW="799920" imgH="20304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1BA7197A-5401-F6D7-40DA-AE0443570E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74099" y="2452942"/>
                        <a:ext cx="800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24B4F72B-32B5-81C1-A4DD-D4B494A0D4B7}"/>
              </a:ext>
            </a:extLst>
          </p:cNvPr>
          <p:cNvSpPr/>
          <p:nvPr/>
        </p:nvSpPr>
        <p:spPr>
          <a:xfrm>
            <a:off x="437767" y="2733033"/>
            <a:ext cx="3349627" cy="45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15.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Give an example of a linear equation that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is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parallel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to the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-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axis.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980149-9A48-D309-6093-676CEA23EB28}"/>
              </a:ext>
            </a:extLst>
          </p:cNvPr>
          <p:cNvSpPr/>
          <p:nvPr/>
        </p:nvSpPr>
        <p:spPr>
          <a:xfrm>
            <a:off x="3861993" y="2730580"/>
            <a:ext cx="345625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16.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Write a linear equation in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slope-intercept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      form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that passes through the point 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-1, -8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and is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parallel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to the line 15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+ 3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21.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41F3AC-942A-BDB2-C12D-96E2151DB89A}"/>
              </a:ext>
            </a:extLst>
          </p:cNvPr>
          <p:cNvSpPr/>
          <p:nvPr/>
        </p:nvSpPr>
        <p:spPr>
          <a:xfrm>
            <a:off x="426791" y="5037482"/>
            <a:ext cx="343520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17.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Write a linear equation in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slope-intercept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      form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that passes through the points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(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-11, -5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) 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and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(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1, -2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)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FDB10FE6-B089-3B35-C254-A84596A16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324235"/>
              </p:ext>
            </p:extLst>
          </p:nvPr>
        </p:nvGraphicFramePr>
        <p:xfrm>
          <a:off x="4511750" y="6268522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203040" progId="Equation.DSMT4">
                  <p:embed/>
                </p:oleObj>
              </mc:Choice>
              <mc:Fallback>
                <p:oleObj name="Equation" r:id="rId15" imgW="812520" imgH="2030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FDB10FE6-B089-3B35-C254-A84596A165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11750" y="6268522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C7C84E08-BB82-CF32-02C5-EB476ED21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31088"/>
              </p:ext>
            </p:extLst>
          </p:nvPr>
        </p:nvGraphicFramePr>
        <p:xfrm>
          <a:off x="4511750" y="6533635"/>
          <a:ext cx="889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88840" imgH="203040" progId="Equation.DSMT4">
                  <p:embed/>
                </p:oleObj>
              </mc:Choice>
              <mc:Fallback>
                <p:oleObj name="Equation" r:id="rId17" imgW="888840" imgH="20304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C7C84E08-BB82-CF32-02C5-EB476ED21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1750" y="6533635"/>
                        <a:ext cx="889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6D71BF5C-AD24-E640-2DAE-D89B4003D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88843"/>
              </p:ext>
            </p:extLst>
          </p:nvPr>
        </p:nvGraphicFramePr>
        <p:xfrm>
          <a:off x="4508575" y="6819385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12520" imgH="203040" progId="Equation.DSMT4">
                  <p:embed/>
                </p:oleObj>
              </mc:Choice>
              <mc:Fallback>
                <p:oleObj name="Equation" r:id="rId19" imgW="812520" imgH="2030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6D71BF5C-AD24-E640-2DAE-D89B4003D8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08575" y="6819385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032C8B25-F570-4CB8-C587-18F57C6BA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779606"/>
              </p:ext>
            </p:extLst>
          </p:nvPr>
        </p:nvGraphicFramePr>
        <p:xfrm>
          <a:off x="4506987" y="7082910"/>
          <a:ext cx="889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88840" imgH="203040" progId="Equation.DSMT4">
                  <p:embed/>
                </p:oleObj>
              </mc:Choice>
              <mc:Fallback>
                <p:oleObj name="Equation" r:id="rId21" imgW="888840" imgH="2030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032C8B25-F570-4CB8-C587-18F57C6BA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06987" y="7082910"/>
                        <a:ext cx="889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E3CB335E-2E4B-70F2-B6DD-F0DF55174C9F}"/>
              </a:ext>
            </a:extLst>
          </p:cNvPr>
          <p:cNvSpPr/>
          <p:nvPr/>
        </p:nvSpPr>
        <p:spPr>
          <a:xfrm>
            <a:off x="3757927" y="5040768"/>
            <a:ext cx="3597151" cy="943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3380" marR="64135" lvl="0" indent="-274320">
              <a:lnSpc>
                <a:spcPct val="97300"/>
              </a:lnSpc>
              <a:spcBef>
                <a:spcPts val="25"/>
              </a:spcBef>
            </a:pP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18.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For </a:t>
            </a:r>
            <a:r>
              <a:rPr lang="en-US" sz="1100" kern="0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each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boat he sells, Mick earns $149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in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addition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to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2%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purchase price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boat  as commission. If </a:t>
            </a:r>
            <a:r>
              <a:rPr lang="en-US" sz="1200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lang="en-US" sz="1200" i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imes New Roman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represents the purchase  price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boat, which equation represents  Mick’s commission,</a:t>
            </a:r>
            <a:r>
              <a:rPr lang="en-US" sz="1100" kern="0" spc="-7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200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?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4B71BE-F10F-AA11-B826-D2FD3A8EAD3C}"/>
              </a:ext>
            </a:extLst>
          </p:cNvPr>
          <p:cNvSpPr/>
          <p:nvPr/>
        </p:nvSpPr>
        <p:spPr>
          <a:xfrm>
            <a:off x="363445" y="438122"/>
            <a:ext cx="3522755" cy="441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3380" lvl="0" indent="-308610">
              <a:lnSpc>
                <a:spcPts val="1320"/>
              </a:lnSpc>
            </a:pP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13.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Find the </a:t>
            </a:r>
            <a:r>
              <a:rPr lang="en-US" sz="1200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- and </a:t>
            </a:r>
            <a:r>
              <a:rPr lang="en-US" sz="1200" i="1" spc="-5" dirty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-intercepts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</a:t>
            </a:r>
            <a:r>
              <a:rPr lang="en-US" sz="1100" kern="0" spc="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equation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  <a:p>
            <a:pPr marL="41910" lvl="0" algn="ctr">
              <a:spcBef>
                <a:spcPts val="50"/>
              </a:spcBef>
            </a:pP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    below. Write your </a:t>
            </a:r>
            <a:r>
              <a:rPr lang="en-US" sz="1100" kern="0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answers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as ordered</a:t>
            </a:r>
            <a:r>
              <a:rPr lang="en-US" sz="1100" kern="0" spc="5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pairs.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135E02-E79D-946D-540B-118C4EAF666E}"/>
              </a:ext>
            </a:extLst>
          </p:cNvPr>
          <p:cNvSpPr/>
          <p:nvPr/>
        </p:nvSpPr>
        <p:spPr>
          <a:xfrm>
            <a:off x="3797684" y="413069"/>
            <a:ext cx="3541829" cy="428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5405" lvl="0">
              <a:lnSpc>
                <a:spcPts val="1310"/>
              </a:lnSpc>
            </a:pPr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14.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Which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following lines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is</a:t>
            </a:r>
            <a:r>
              <a:rPr lang="en-US" sz="1100" kern="0" spc="4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perpendicular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  <a:p>
            <a:pPr marL="373380" lvl="0">
              <a:spcBef>
                <a:spcPts val="10"/>
              </a:spcBef>
            </a:pP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to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equation given</a:t>
            </a:r>
            <a:r>
              <a:rPr lang="en-US" sz="1100" kern="0" spc="-3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below?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FC55C9EE-9AB2-DD68-F96D-5B81C599D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393" y="8713654"/>
            <a:ext cx="92900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Equation:</a:t>
            </a:r>
            <a:endParaRPr lang="en-US" sz="10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6" name="Text Box 47">
            <a:extLst>
              <a:ext uri="{FF2B5EF4-FFF2-40B4-BE49-F238E27FC236}">
                <a16:creationId xmlns:a16="http://schemas.microsoft.com/office/drawing/2014/main" id="{18528B5B-DDA9-130F-3C0F-C0E77A134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628" y="9207876"/>
            <a:ext cx="750471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Solution:</a:t>
            </a:r>
            <a:endParaRPr lang="en-US" sz="10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19F5F66-C614-4C08-9493-BAD7804D3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624391"/>
              </p:ext>
            </p:extLst>
          </p:nvPr>
        </p:nvGraphicFramePr>
        <p:xfrm>
          <a:off x="746769" y="8003415"/>
          <a:ext cx="1757045" cy="1545336"/>
        </p:xfrm>
        <a:graphic>
          <a:graphicData uri="http://schemas.openxmlformats.org/drawingml/2006/table">
            <a:tbl>
              <a:tblPr firstRow="1" firstCol="1" bandRow="1"/>
              <a:tblGrid>
                <a:gridCol w="5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 </a:t>
                      </a:r>
                      <a:endParaRPr lang="en-US" sz="1000" i="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Battery Level (%)</a:t>
                      </a:r>
                      <a:endParaRPr lang="en-US" sz="1000" i="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2:00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2:10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 94%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050" b="0" i="0" dirty="0"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2:25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87% 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050" b="0" i="0" dirty="0"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2:40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83% 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dirty="0"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3:00</a:t>
                      </a:r>
                      <a:r>
                        <a:rPr lang="en-US" sz="1050" b="1" i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79% 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i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050" b="0" i="0" dirty="0"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3:10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         76%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B10AE2A3-2000-356A-EDE4-7A38F0896957}"/>
              </a:ext>
            </a:extLst>
          </p:cNvPr>
          <p:cNvSpPr/>
          <p:nvPr/>
        </p:nvSpPr>
        <p:spPr>
          <a:xfrm>
            <a:off x="365356" y="7356637"/>
            <a:ext cx="7026044" cy="592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5405" lvl="0">
              <a:lnSpc>
                <a:spcPts val="1310"/>
              </a:lnSpc>
            </a:pP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19.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Angela fully charged her laptop, then unplugged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it </a:t>
            </a:r>
            <a:r>
              <a:rPr lang="en-US" sz="1100" kern="0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and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tracked the battery level </a:t>
            </a:r>
            <a:r>
              <a:rPr lang="en-US" sz="1100" kern="0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at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certain </a:t>
            </a:r>
            <a:b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</a:b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      times</a:t>
            </a:r>
            <a:r>
              <a:rPr lang="en-US" sz="1100" spc="204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under constant use.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table below shows her findings. Find an equation </a:t>
            </a:r>
            <a:r>
              <a:rPr lang="en-US" sz="1100" kern="0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for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 line </a:t>
            </a: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of </a:t>
            </a:r>
            <a:b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</a:br>
            <a:r>
              <a: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   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best fit, </a:t>
            </a:r>
            <a:r>
              <a:rPr lang="en-US" sz="1100" kern="0" spc="-1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then 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estimate the battery level after two hours of constant use</a:t>
            </a:r>
            <a:r>
              <a:rPr lang="en-US" sz="1100" kern="0" spc="6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unplugged.</a:t>
            </a:r>
            <a:endParaRPr lang="en-US" sz="1100" kern="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CED288-A607-A2FC-D723-C526FD78C299}"/>
              </a:ext>
            </a:extLst>
          </p:cNvPr>
          <p:cNvSpPr/>
          <p:nvPr/>
        </p:nvSpPr>
        <p:spPr>
          <a:xfrm>
            <a:off x="1196627" y="2284984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2F8FD1-A40D-7439-5A55-B08670891569}"/>
              </a:ext>
            </a:extLst>
          </p:cNvPr>
          <p:cNvSpPr/>
          <p:nvPr/>
        </p:nvSpPr>
        <p:spPr>
          <a:xfrm>
            <a:off x="2806865" y="2284984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7DEE65-2AE3-7D97-F94B-0E523553AB7A}"/>
              </a:ext>
            </a:extLst>
          </p:cNvPr>
          <p:cNvSpPr/>
          <p:nvPr/>
        </p:nvSpPr>
        <p:spPr>
          <a:xfrm>
            <a:off x="6637513" y="2257528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FBDAFF-805E-7F14-D122-47A47E69980D}"/>
              </a:ext>
            </a:extLst>
          </p:cNvPr>
          <p:cNvSpPr/>
          <p:nvPr/>
        </p:nvSpPr>
        <p:spPr>
          <a:xfrm>
            <a:off x="2293568" y="4583642"/>
            <a:ext cx="1508005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329B76-0940-15AC-7550-7AE85BB0EAD1}"/>
              </a:ext>
            </a:extLst>
          </p:cNvPr>
          <p:cNvSpPr/>
          <p:nvPr/>
        </p:nvSpPr>
        <p:spPr>
          <a:xfrm>
            <a:off x="5735419" y="4579438"/>
            <a:ext cx="1508005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A16E2B-050C-BC97-29BB-22EA3415D6D2}"/>
              </a:ext>
            </a:extLst>
          </p:cNvPr>
          <p:cNvSpPr/>
          <p:nvPr/>
        </p:nvSpPr>
        <p:spPr>
          <a:xfrm>
            <a:off x="2289679" y="6892878"/>
            <a:ext cx="1508005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715E92-62FB-AF06-D917-F2C48D93A6DC}"/>
              </a:ext>
            </a:extLst>
          </p:cNvPr>
          <p:cNvSpPr/>
          <p:nvPr/>
        </p:nvSpPr>
        <p:spPr>
          <a:xfrm>
            <a:off x="5426736" y="8704541"/>
            <a:ext cx="1810512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4BC2D0C-D8EB-454F-7AA0-B08D58077374}"/>
              </a:ext>
            </a:extLst>
          </p:cNvPr>
          <p:cNvSpPr/>
          <p:nvPr/>
        </p:nvSpPr>
        <p:spPr>
          <a:xfrm>
            <a:off x="6210752" y="9183150"/>
            <a:ext cx="1026496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50CF1F-C247-C2B8-530B-5CE1E26E3272}"/>
              </a:ext>
            </a:extLst>
          </p:cNvPr>
          <p:cNvSpPr/>
          <p:nvPr/>
        </p:nvSpPr>
        <p:spPr>
          <a:xfrm>
            <a:off x="6631337" y="6866431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6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D6D5F-B559-831F-D9FE-842BAC72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48D3D4-117D-086B-B53E-5B02D579CB56}"/>
              </a:ext>
            </a:extLst>
          </p:cNvPr>
          <p:cNvSpPr/>
          <p:nvPr/>
        </p:nvSpPr>
        <p:spPr>
          <a:xfrm>
            <a:off x="424079" y="417270"/>
            <a:ext cx="346189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Solve the system below by graphing.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1350652-DC31-6598-99E8-BEC15E5EA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69" y="732658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31640" progId="Equation.DSMT4">
                  <p:embed/>
                </p:oleObj>
              </mc:Choice>
              <mc:Fallback>
                <p:oleObj name="Equation" r:id="rId3" imgW="1079280" imgH="43164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21350652-DC31-6598-99E8-BEC15E5EAD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69" y="732658"/>
                        <a:ext cx="1079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53D1A27-7146-250F-4729-4DF4F3119645}"/>
              </a:ext>
            </a:extLst>
          </p:cNvPr>
          <p:cNvSpPr/>
          <p:nvPr/>
        </p:nvSpPr>
        <p:spPr>
          <a:xfrm>
            <a:off x="3886253" y="417270"/>
            <a:ext cx="3456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Solve the system below by substitution.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3829F193-DAD3-FDBD-1558-413217443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7022" y="732658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431640" progId="Equation.DSMT4">
                  <p:embed/>
                </p:oleObj>
              </mc:Choice>
              <mc:Fallback>
                <p:oleObj name="Equation" r:id="rId5" imgW="1002960" imgH="43164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829F193-DAD3-FDBD-1558-4132174430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7022" y="732658"/>
                        <a:ext cx="1003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A2A4226-254E-89AB-EC39-19FDB4DD99E1}"/>
              </a:ext>
            </a:extLst>
          </p:cNvPr>
          <p:cNvGraphicFramePr>
            <a:graphicFrameLocks noGrp="1"/>
          </p:cNvGraphicFramePr>
          <p:nvPr/>
        </p:nvGraphicFramePr>
        <p:xfrm>
          <a:off x="416465" y="3837819"/>
          <a:ext cx="3473055" cy="175451"/>
        </p:xfrm>
        <a:graphic>
          <a:graphicData uri="http://schemas.openxmlformats.org/drawingml/2006/table">
            <a:tbl>
              <a:tblPr/>
              <a:tblGrid>
                <a:gridCol w="347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system below by elimination.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C5A8A4DA-3768-A089-AE2E-C8623397A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546" y="4121707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31640" progId="Equation.DSMT4">
                  <p:embed/>
                </p:oleObj>
              </mc:Choice>
              <mc:Fallback>
                <p:oleObj name="Equation" r:id="rId7" imgW="914400" imgH="4316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C5A8A4DA-3768-A089-AE2E-C8623397A7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546" y="4121707"/>
                        <a:ext cx="914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E5E7A803-EFA2-C84C-7174-ED52EB707A44}"/>
              </a:ext>
            </a:extLst>
          </p:cNvPr>
          <p:cNvSpPr/>
          <p:nvPr/>
        </p:nvSpPr>
        <p:spPr>
          <a:xfrm>
            <a:off x="3883407" y="3791110"/>
            <a:ext cx="34562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Solve the system below by elimination.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EED1EA76-BD0D-B2D6-DD17-3ACF4D63C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5424" y="4121707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2960" imgH="431640" progId="Equation.DSMT4">
                  <p:embed/>
                </p:oleObj>
              </mc:Choice>
              <mc:Fallback>
                <p:oleObj name="Equation" r:id="rId9" imgW="1002960" imgH="43164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ED1EA76-BD0D-B2D6-DD17-3ACF4D63CF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15424" y="4121707"/>
                        <a:ext cx="1003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A64DBB2D-04D2-6D1A-E92D-5E568B28E376}"/>
              </a:ext>
            </a:extLst>
          </p:cNvPr>
          <p:cNvSpPr/>
          <p:nvPr/>
        </p:nvSpPr>
        <p:spPr>
          <a:xfrm>
            <a:off x="424079" y="7183962"/>
            <a:ext cx="38862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24.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system of equations has an infinite solution?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E098C-6141-86A6-FB05-08D7616AF780}"/>
              </a:ext>
            </a:extLst>
          </p:cNvPr>
          <p:cNvSpPr/>
          <p:nvPr/>
        </p:nvSpPr>
        <p:spPr>
          <a:xfrm>
            <a:off x="715072" y="7464631"/>
            <a:ext cx="367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A.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89A8E2-C586-068B-4D8E-5E12F5FABF8A}"/>
              </a:ext>
            </a:extLst>
          </p:cNvPr>
          <p:cNvSpPr/>
          <p:nvPr/>
        </p:nvSpPr>
        <p:spPr>
          <a:xfrm>
            <a:off x="2295839" y="7464631"/>
            <a:ext cx="3465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B.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2BF9EB-E1A9-070F-9F0B-6541656F62CC}"/>
              </a:ext>
            </a:extLst>
          </p:cNvPr>
          <p:cNvSpPr/>
          <p:nvPr/>
        </p:nvSpPr>
        <p:spPr>
          <a:xfrm>
            <a:off x="4034119" y="7466963"/>
            <a:ext cx="3754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C.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A846B0-9CC6-D70D-31F6-39FAE57BC292}"/>
              </a:ext>
            </a:extLst>
          </p:cNvPr>
          <p:cNvSpPr/>
          <p:nvPr/>
        </p:nvSpPr>
        <p:spPr>
          <a:xfrm>
            <a:off x="5930662" y="7466963"/>
            <a:ext cx="42351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E30F62FA-BD3E-9922-2F44-42E9786743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7859" y="7449724"/>
          <a:ext cx="723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444240" progId="Equation.DSMT4">
                  <p:embed/>
                </p:oleObj>
              </mc:Choice>
              <mc:Fallback>
                <p:oleObj name="Equation" r:id="rId11" imgW="723600" imgH="4442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E30F62FA-BD3E-9922-2F44-42E978674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7859" y="7449724"/>
                        <a:ext cx="723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EC1E72CB-231F-6714-9355-6B4EC5990A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3678" y="7449724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600" imgH="444240" progId="Equation.DSMT4">
                  <p:embed/>
                </p:oleObj>
              </mc:Choice>
              <mc:Fallback>
                <p:oleObj name="Equation" r:id="rId13" imgW="939600" imgH="44424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EC1E72CB-231F-6714-9355-6B4EC5990A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3678" y="7449724"/>
                        <a:ext cx="939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7226392E-FDCA-5440-F719-BF99DFE64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2184" y="7449724"/>
          <a:ext cx="101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15920" imgH="444240" progId="Equation.DSMT4">
                  <p:embed/>
                </p:oleObj>
              </mc:Choice>
              <mc:Fallback>
                <p:oleObj name="Equation" r:id="rId15" imgW="1015920" imgH="4442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7226392E-FDCA-5440-F719-BF99DFE64C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72184" y="7449724"/>
                        <a:ext cx="10160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C3D9F533-3C7B-3EF9-0F3E-F58BEC727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2366" y="7449724"/>
          <a:ext cx="431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1640" imgH="444240" progId="Equation.DSMT4">
                  <p:embed/>
                </p:oleObj>
              </mc:Choice>
              <mc:Fallback>
                <p:oleObj name="Equation" r:id="rId17" imgW="431640" imgH="44424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C3D9F533-3C7B-3EF9-0F3E-F58BEC7278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12366" y="7449724"/>
                        <a:ext cx="431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ADA4B90B-37D8-E451-101B-D3FC1B08F37E}"/>
              </a:ext>
            </a:extLst>
          </p:cNvPr>
          <p:cNvSpPr/>
          <p:nvPr/>
        </p:nvSpPr>
        <p:spPr>
          <a:xfrm>
            <a:off x="2825248" y="3314512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48B6850-774D-F59C-0907-1D4D0E349D0C}"/>
              </a:ext>
            </a:extLst>
          </p:cNvPr>
          <p:cNvSpPr/>
          <p:nvPr/>
        </p:nvSpPr>
        <p:spPr>
          <a:xfrm>
            <a:off x="6252106" y="3314512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BAFF921-0C7F-B4C5-08F8-469BAA9192B7}"/>
              </a:ext>
            </a:extLst>
          </p:cNvPr>
          <p:cNvSpPr/>
          <p:nvPr/>
        </p:nvSpPr>
        <p:spPr>
          <a:xfrm>
            <a:off x="2825248" y="6705600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12885DD-457E-636E-8439-AD848BC49CCB}"/>
              </a:ext>
            </a:extLst>
          </p:cNvPr>
          <p:cNvSpPr/>
          <p:nvPr/>
        </p:nvSpPr>
        <p:spPr>
          <a:xfrm>
            <a:off x="6252106" y="6705600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281ABD-30C4-D2AF-8396-1841094F1782}"/>
              </a:ext>
            </a:extLst>
          </p:cNvPr>
          <p:cNvSpPr/>
          <p:nvPr/>
        </p:nvSpPr>
        <p:spPr>
          <a:xfrm>
            <a:off x="6637513" y="9197260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BE0808-9861-31B6-8DD9-5C454FBC7ED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174" y="1371721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8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6E9DF-6C1F-9E0F-5191-444B5EC2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F902B7-CCA3-EE6B-1362-5900BF4C4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400" y="8402986"/>
            <a:ext cx="3596952" cy="1018120"/>
          </a:xfrm>
          <a:prstGeom prst="rect">
            <a:avLst/>
          </a:prstGeom>
        </p:spPr>
      </p:pic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14B61A3B-EE61-D1BC-A4AA-2E99D1675E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443311"/>
              </p:ext>
            </p:extLst>
          </p:nvPr>
        </p:nvGraphicFramePr>
        <p:xfrm>
          <a:off x="762000" y="3810000"/>
          <a:ext cx="1295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647640" progId="Equation.DSMT4">
                  <p:embed/>
                </p:oleObj>
              </mc:Choice>
              <mc:Fallback>
                <p:oleObj name="Equation" r:id="rId4" imgW="1295280" imgH="6476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14B61A3B-EE61-D1BC-A4AA-2E99D1675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3810000"/>
                        <a:ext cx="12954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CA0F0DCC-144A-B06D-0883-33E09E4F94AB}"/>
              </a:ext>
            </a:extLst>
          </p:cNvPr>
          <p:cNvSpPr/>
          <p:nvPr/>
        </p:nvSpPr>
        <p:spPr>
          <a:xfrm>
            <a:off x="419177" y="3519209"/>
            <a:ext cx="38862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26.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Solve the system below.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A4C387-6D96-C584-9DC3-E4BCB93E8D21}"/>
              </a:ext>
            </a:extLst>
          </p:cNvPr>
          <p:cNvSpPr/>
          <p:nvPr/>
        </p:nvSpPr>
        <p:spPr>
          <a:xfrm>
            <a:off x="422146" y="421552"/>
            <a:ext cx="68961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25.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Jasmine bought 1.3 pounds of ham and 0.8 pounds of cheese from the deli and paid $11.28.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She went back the following week and bought 1.5 pounds of ham and 1.2 pounds of cheese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and paid $14.76.  If the prices remained the same, find the price per pound of ham and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cheese.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3" name="Text Box 60">
            <a:extLst>
              <a:ext uri="{FF2B5EF4-FFF2-40B4-BE49-F238E27FC236}">
                <a16:creationId xmlns:a16="http://schemas.microsoft.com/office/drawing/2014/main" id="{E0EB990F-50A8-CD9F-F6CB-94ECCD3E4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906" y="3030413"/>
            <a:ext cx="9283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Ham:</a:t>
            </a:r>
            <a:endParaRPr lang="en-US" sz="11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4" name="Text Box 63">
            <a:extLst>
              <a:ext uri="{FF2B5EF4-FFF2-40B4-BE49-F238E27FC236}">
                <a16:creationId xmlns:a16="http://schemas.microsoft.com/office/drawing/2014/main" id="{3ED22972-CC53-BB3D-C256-26127F474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665" y="3011363"/>
            <a:ext cx="92900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Cheese:</a:t>
            </a:r>
            <a:endParaRPr lang="en-US" sz="11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DEF722B-929A-3088-A266-80984B9B7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09206"/>
              </p:ext>
            </p:extLst>
          </p:nvPr>
        </p:nvGraphicFramePr>
        <p:xfrm>
          <a:off x="844188" y="8345921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03040" progId="Equation.DSMT4">
                  <p:embed/>
                </p:oleObj>
              </mc:Choice>
              <mc:Fallback>
                <p:oleObj name="Equation" r:id="rId6" imgW="914400" imgH="20304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EDEF722B-929A-3088-A266-80984B9B7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4188" y="8345921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34C426F-4A85-091F-D121-CA5771467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80399"/>
              </p:ext>
            </p:extLst>
          </p:nvPr>
        </p:nvGraphicFramePr>
        <p:xfrm>
          <a:off x="419177" y="7973975"/>
          <a:ext cx="6905168" cy="175451"/>
        </p:xfrm>
        <a:graphic>
          <a:graphicData uri="http://schemas.openxmlformats.org/drawingml/2006/table">
            <a:tbl>
              <a:tblPr/>
              <a:tblGrid>
                <a:gridCol w="6905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ordered pairs represent solutions to the linear inequality below?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Rectangle 49">
            <a:extLst>
              <a:ext uri="{FF2B5EF4-FFF2-40B4-BE49-F238E27FC236}">
                <a16:creationId xmlns:a16="http://schemas.microsoft.com/office/drawing/2014/main" id="{3B970847-310C-7D72-77C0-273A0805EC16}"/>
              </a:ext>
            </a:extLst>
          </p:cNvPr>
          <p:cNvSpPr/>
          <p:nvPr/>
        </p:nvSpPr>
        <p:spPr>
          <a:xfrm>
            <a:off x="6245810" y="3011693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8FA567-EE60-D93C-F51D-6AE1C9B18125}"/>
              </a:ext>
            </a:extLst>
          </p:cNvPr>
          <p:cNvSpPr/>
          <p:nvPr/>
        </p:nvSpPr>
        <p:spPr>
          <a:xfrm>
            <a:off x="4387303" y="3011693"/>
            <a:ext cx="984120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BB965C-EA44-01E6-6317-B42CC6A0005B}"/>
              </a:ext>
            </a:extLst>
          </p:cNvPr>
          <p:cNvSpPr/>
          <p:nvPr/>
        </p:nvSpPr>
        <p:spPr>
          <a:xfrm>
            <a:off x="5722377" y="7427027"/>
            <a:ext cx="1507553" cy="382881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Box 22">
            <a:extLst>
              <a:ext uri="{FF2B5EF4-FFF2-40B4-BE49-F238E27FC236}">
                <a16:creationId xmlns:a16="http://schemas.microsoft.com/office/drawing/2014/main" id="{CBA9B76E-08DF-53BA-FE41-5F96E5BC5FCE}"/>
              </a:ext>
            </a:extLst>
          </p:cNvPr>
          <p:cNvSpPr txBox="1"/>
          <p:nvPr/>
        </p:nvSpPr>
        <p:spPr>
          <a:xfrm>
            <a:off x="3893536" y="8522563"/>
            <a:ext cx="721972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 -8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08BD966D-9252-B2BD-F93F-512BA2D30DF1}"/>
              </a:ext>
            </a:extLst>
          </p:cNvPr>
          <p:cNvSpPr txBox="1"/>
          <p:nvPr/>
        </p:nvSpPr>
        <p:spPr>
          <a:xfrm>
            <a:off x="3916820" y="8960679"/>
            <a:ext cx="800829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3, 5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906FCB68-9399-9EE4-6948-43F86EF8FA83}"/>
              </a:ext>
            </a:extLst>
          </p:cNvPr>
          <p:cNvSpPr txBox="1"/>
          <p:nvPr/>
        </p:nvSpPr>
        <p:spPr>
          <a:xfrm>
            <a:off x="5042445" y="8514412"/>
            <a:ext cx="721972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-8, -3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7922253D-39C0-CA40-6475-A145E760C983}"/>
              </a:ext>
            </a:extLst>
          </p:cNvPr>
          <p:cNvSpPr txBox="1"/>
          <p:nvPr/>
        </p:nvSpPr>
        <p:spPr>
          <a:xfrm>
            <a:off x="5072418" y="8972887"/>
            <a:ext cx="800829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-7, 9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Box 22">
            <a:extLst>
              <a:ext uri="{FF2B5EF4-FFF2-40B4-BE49-F238E27FC236}">
                <a16:creationId xmlns:a16="http://schemas.microsoft.com/office/drawing/2014/main" id="{F2AD127E-F0FC-DF41-9A2D-F1F68EBC8051}"/>
              </a:ext>
            </a:extLst>
          </p:cNvPr>
          <p:cNvSpPr txBox="1"/>
          <p:nvPr/>
        </p:nvSpPr>
        <p:spPr>
          <a:xfrm>
            <a:off x="6209118" y="8972887"/>
            <a:ext cx="800829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-4, 2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95E8AD23-76F7-5DBE-453C-E523A94E6600}"/>
              </a:ext>
            </a:extLst>
          </p:cNvPr>
          <p:cNvSpPr txBox="1"/>
          <p:nvPr/>
        </p:nvSpPr>
        <p:spPr>
          <a:xfrm>
            <a:off x="6158284" y="8514412"/>
            <a:ext cx="800829" cy="33147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-12, 0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5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32966-DC3B-38CF-99C3-A96B86D9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2">
            <a:extLst>
              <a:ext uri="{FF2B5EF4-FFF2-40B4-BE49-F238E27FC236}">
                <a16:creationId xmlns:a16="http://schemas.microsoft.com/office/drawing/2014/main" id="{3B7EB15E-9E0E-0084-2195-CC5CA71B2D7B}"/>
              </a:ext>
            </a:extLst>
          </p:cNvPr>
          <p:cNvSpPr txBox="1"/>
          <p:nvPr/>
        </p:nvSpPr>
        <p:spPr>
          <a:xfrm>
            <a:off x="506679" y="408246"/>
            <a:ext cx="669480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 algn="just">
              <a:lnSpc>
                <a:spcPct val="1004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28.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Jon makes $12 per hour as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lifeguard and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$8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per hour working at the library.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This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summer, he would 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like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to make at least $500 working his two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jobs.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Which graph represents the number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hours he must  work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at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each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job 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reach his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goal?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8" name="object 4">
            <a:extLst>
              <a:ext uri="{FF2B5EF4-FFF2-40B4-BE49-F238E27FC236}">
                <a16:creationId xmlns:a16="http://schemas.microsoft.com/office/drawing/2014/main" id="{618EE5E2-98FA-8EED-869B-8F705C463DAF}"/>
              </a:ext>
            </a:extLst>
          </p:cNvPr>
          <p:cNvSpPr txBox="1"/>
          <p:nvPr/>
        </p:nvSpPr>
        <p:spPr>
          <a:xfrm>
            <a:off x="506982" y="4246878"/>
            <a:ext cx="675703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29.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Graph the system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linear inequalities.  Then, choose the point that represents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solution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</a:t>
            </a:r>
            <a:r>
              <a:rPr sz="1100" spc="175" dirty="0">
                <a:latin typeface="Century Gothic" panose="020B0502020202020204" pitchFamily="34" charset="0"/>
                <a:cs typeface="Tahoma"/>
              </a:rPr>
              <a:t> </a:t>
            </a:r>
            <a:br>
              <a:rPr lang="en-US" sz="1100" spc="175" dirty="0">
                <a:latin typeface="Century Gothic" panose="020B0502020202020204" pitchFamily="34" charset="0"/>
                <a:cs typeface="Tahoma"/>
              </a:rPr>
            </a:br>
            <a:r>
              <a:rPr lang="en-US" sz="1100" spc="175" dirty="0">
                <a:latin typeface="Century Gothic" panose="020B0502020202020204" pitchFamily="34" charset="0"/>
                <a:cs typeface="Tahoma"/>
              </a:rPr>
              <a:t>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system.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9" name="object 17">
            <a:extLst>
              <a:ext uri="{FF2B5EF4-FFF2-40B4-BE49-F238E27FC236}">
                <a16:creationId xmlns:a16="http://schemas.microsoft.com/office/drawing/2014/main" id="{27141523-6614-C7F0-FD50-00A13719375B}"/>
              </a:ext>
            </a:extLst>
          </p:cNvPr>
          <p:cNvSpPr txBox="1"/>
          <p:nvPr/>
        </p:nvSpPr>
        <p:spPr>
          <a:xfrm>
            <a:off x="5130130" y="5983558"/>
            <a:ext cx="706120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A.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-6,</a:t>
            </a:r>
            <a:r>
              <a:rPr sz="1100" spc="-7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1</a:t>
            </a:r>
            <a:r>
              <a:rPr sz="1100" spc="-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B.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4,</a:t>
            </a:r>
            <a:r>
              <a:rPr sz="1100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0</a:t>
            </a:r>
            <a:r>
              <a:rPr sz="1100" spc="-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C.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1,</a:t>
            </a:r>
            <a:r>
              <a:rPr sz="1100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spc="-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D.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-3,</a:t>
            </a:r>
            <a:r>
              <a:rPr sz="1100" spc="-7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-7</a:t>
            </a:r>
            <a:r>
              <a:rPr sz="1100" spc="-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0" name="object 87">
            <a:extLst>
              <a:ext uri="{FF2B5EF4-FFF2-40B4-BE49-F238E27FC236}">
                <a16:creationId xmlns:a16="http://schemas.microsoft.com/office/drawing/2014/main" id="{743123AE-4AA8-620E-78BF-B4D14DF10505}"/>
              </a:ext>
            </a:extLst>
          </p:cNvPr>
          <p:cNvSpPr txBox="1"/>
          <p:nvPr/>
        </p:nvSpPr>
        <p:spPr>
          <a:xfrm>
            <a:off x="699889" y="2572888"/>
            <a:ext cx="1638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15" dirty="0">
                <a:latin typeface="Century Gothic" panose="020B0502020202020204" pitchFamily="34" charset="0"/>
                <a:cs typeface="Tahoma"/>
              </a:rPr>
              <a:t>B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1" name="object 90">
            <a:extLst>
              <a:ext uri="{FF2B5EF4-FFF2-40B4-BE49-F238E27FC236}">
                <a16:creationId xmlns:a16="http://schemas.microsoft.com/office/drawing/2014/main" id="{EF02E34B-7844-9712-3565-B3967F27BF7B}"/>
              </a:ext>
            </a:extLst>
          </p:cNvPr>
          <p:cNvSpPr txBox="1"/>
          <p:nvPr/>
        </p:nvSpPr>
        <p:spPr>
          <a:xfrm>
            <a:off x="2621182" y="2591863"/>
            <a:ext cx="17589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D.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E0215AC-F6FC-D82F-C8C0-BD09D7F531AF}"/>
              </a:ext>
            </a:extLst>
          </p:cNvPr>
          <p:cNvSpPr/>
          <p:nvPr/>
        </p:nvSpPr>
        <p:spPr>
          <a:xfrm>
            <a:off x="618939" y="867228"/>
            <a:ext cx="328936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50" b="1" baseline="252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A.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A670D9A-7CAC-F077-5B94-7A63C702FC98}"/>
              </a:ext>
            </a:extLst>
          </p:cNvPr>
          <p:cNvSpPr/>
          <p:nvPr/>
        </p:nvSpPr>
        <p:spPr>
          <a:xfrm>
            <a:off x="2481693" y="921164"/>
            <a:ext cx="3475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tabLst>
                <a:tab pos="2190750" algn="l"/>
              </a:tabLst>
            </a:pPr>
            <a:r>
              <a:rPr lang="en-US" sz="1100" b="1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C</a:t>
            </a:r>
            <a:r>
              <a:rPr lang="en-US" sz="1100" b="1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.</a:t>
            </a:r>
            <a:endParaRPr lang="en-US" sz="1100" dirty="0">
              <a:solidFill>
                <a:prstClr val="black"/>
              </a:solidFill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EE780A99-5A89-4FEB-93FF-92E2A8DA1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3045" y="4736142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431640" progId="Equation.DSMT4">
                  <p:embed/>
                </p:oleObj>
              </mc:Choice>
              <mc:Fallback>
                <p:oleObj name="Equation" r:id="rId3" imgW="1002960" imgH="431640" progId="Equation.DSMT4">
                  <p:embed/>
                  <p:pic>
                    <p:nvPicPr>
                      <p:cNvPr id="94" name="Object 93">
                        <a:extLst>
                          <a:ext uri="{FF2B5EF4-FFF2-40B4-BE49-F238E27FC236}">
                            <a16:creationId xmlns:a16="http://schemas.microsoft.com/office/drawing/2014/main" id="{EE780A99-5A89-4FEB-93FF-92E2A8DA13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045" y="4736142"/>
                        <a:ext cx="1003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object 7">
            <a:extLst>
              <a:ext uri="{FF2B5EF4-FFF2-40B4-BE49-F238E27FC236}">
                <a16:creationId xmlns:a16="http://schemas.microsoft.com/office/drawing/2014/main" id="{A903FC81-A709-CC66-4EB2-2DB8B65929A1}"/>
              </a:ext>
            </a:extLst>
          </p:cNvPr>
          <p:cNvSpPr txBox="1"/>
          <p:nvPr/>
        </p:nvSpPr>
        <p:spPr>
          <a:xfrm>
            <a:off x="485152" y="7148800"/>
            <a:ext cx="6709409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>
              <a:lnSpc>
                <a:spcPct val="981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30.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save money for prom this weekend, Tom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going </a:t>
            </a:r>
            <a:r>
              <a:rPr sz="1100" spc="-15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walk his neighbor’s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dog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for $6 per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hour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 wash cars for $7.50 per hour. His mother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said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he can work no more than 15 hours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ensure he keeps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up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with his homework.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Tom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needs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make at least $75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cover prom expenses.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</a:t>
            </a:r>
            <a:r>
              <a:rPr sz="1250" i="1" spc="-5" dirty="0">
                <a:latin typeface="Times New Roman"/>
                <a:cs typeface="Times New Roman"/>
              </a:rPr>
              <a:t>d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represents the number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hours walking his neighbor’s dog </a:t>
            </a:r>
            <a:r>
              <a:rPr sz="1100" spc="-15" dirty="0">
                <a:latin typeface="Century Gothic" panose="020B0502020202020204" pitchFamily="34" charset="0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250" i="1" spc="-5" dirty="0">
                <a:latin typeface="Times New Roman"/>
                <a:cs typeface="Times New Roman"/>
              </a:rPr>
              <a:t>c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represents the number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hours washing cars, which  system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inequalities represents this</a:t>
            </a:r>
            <a:r>
              <a:rPr sz="1100" spc="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situation?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099D659-1F48-70F8-416F-E8E15CEC549A}"/>
              </a:ext>
            </a:extLst>
          </p:cNvPr>
          <p:cNvSpPr/>
          <p:nvPr/>
        </p:nvSpPr>
        <p:spPr>
          <a:xfrm>
            <a:off x="699889" y="8275351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A.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30430BC-2FDC-F163-7BAB-B1619CA672AC}"/>
              </a:ext>
            </a:extLst>
          </p:cNvPr>
          <p:cNvSpPr/>
          <p:nvPr/>
        </p:nvSpPr>
        <p:spPr>
          <a:xfrm>
            <a:off x="2343339" y="8275351"/>
            <a:ext cx="3427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spc="-1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B.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B74E414-59D2-FF87-91EE-77CC08878D81}"/>
              </a:ext>
            </a:extLst>
          </p:cNvPr>
          <p:cNvSpPr/>
          <p:nvPr/>
        </p:nvSpPr>
        <p:spPr>
          <a:xfrm>
            <a:off x="4000576" y="8275351"/>
            <a:ext cx="3735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C.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6236645-5E92-3A8E-DC7B-B88DD659C0EB}"/>
              </a:ext>
            </a:extLst>
          </p:cNvPr>
          <p:cNvSpPr/>
          <p:nvPr/>
        </p:nvSpPr>
        <p:spPr>
          <a:xfrm>
            <a:off x="5688590" y="8275351"/>
            <a:ext cx="3786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D.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814BCA9D-4EC7-5F1D-E374-ECC737625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7588" y="8312255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431640" progId="Equation.DSMT4">
                  <p:embed/>
                </p:oleObj>
              </mc:Choice>
              <mc:Fallback>
                <p:oleObj name="Equation" r:id="rId5" imgW="952200" imgH="431640" progId="Equation.DSMT4">
                  <p:embed/>
                  <p:pic>
                    <p:nvPicPr>
                      <p:cNvPr id="105" name="Object 104">
                        <a:extLst>
                          <a:ext uri="{FF2B5EF4-FFF2-40B4-BE49-F238E27FC236}">
                            <a16:creationId xmlns:a16="http://schemas.microsoft.com/office/drawing/2014/main" id="{814BCA9D-4EC7-5F1D-E374-ECC737625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7588" y="8312255"/>
                        <a:ext cx="952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9A7712D6-3275-8183-BE2C-E2FF6D4ADF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8059" y="8312255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200" imgH="431640" progId="Equation.DSMT4">
                  <p:embed/>
                </p:oleObj>
              </mc:Choice>
              <mc:Fallback>
                <p:oleObj name="Equation" r:id="rId7" imgW="952200" imgH="431640" progId="Equation.DSMT4">
                  <p:embed/>
                  <p:pic>
                    <p:nvPicPr>
                      <p:cNvPr id="107" name="Object 106">
                        <a:extLst>
                          <a:ext uri="{FF2B5EF4-FFF2-40B4-BE49-F238E27FC236}">
                            <a16:creationId xmlns:a16="http://schemas.microsoft.com/office/drawing/2014/main" id="{9A7712D6-3275-8183-BE2C-E2FF6D4AD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8059" y="8312255"/>
                        <a:ext cx="952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4C7AD049-4370-B9B9-0C15-6E2236C6A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530" y="8312255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431640" progId="Equation.DSMT4">
                  <p:embed/>
                </p:oleObj>
              </mc:Choice>
              <mc:Fallback>
                <p:oleObj name="Equation" r:id="rId9" imgW="965160" imgH="431640" progId="Equation.DSMT4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4C7AD049-4370-B9B9-0C15-6E2236C6A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18530" y="8312255"/>
                        <a:ext cx="965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89F830F2-DDBC-F184-B159-DC9CFD979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1700" y="8312255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65160" imgH="431640" progId="Equation.DSMT4">
                  <p:embed/>
                </p:oleObj>
              </mc:Choice>
              <mc:Fallback>
                <p:oleObj name="Equation" r:id="rId11" imgW="965160" imgH="43164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89F830F2-DDBC-F184-B159-DC9CFD9797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81700" y="8312255"/>
                        <a:ext cx="965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Rectangle 147">
            <a:extLst>
              <a:ext uri="{FF2B5EF4-FFF2-40B4-BE49-F238E27FC236}">
                <a16:creationId xmlns:a16="http://schemas.microsoft.com/office/drawing/2014/main" id="{90C9C6AE-18D6-953D-2A9F-B7C60A14EE67}"/>
              </a:ext>
            </a:extLst>
          </p:cNvPr>
          <p:cNvSpPr/>
          <p:nvPr/>
        </p:nvSpPr>
        <p:spPr>
          <a:xfrm>
            <a:off x="6627366" y="9167281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A721B84-A65D-B847-ACEB-E6B0E250D85C}"/>
              </a:ext>
            </a:extLst>
          </p:cNvPr>
          <p:cNvSpPr/>
          <p:nvPr/>
        </p:nvSpPr>
        <p:spPr>
          <a:xfrm>
            <a:off x="6627366" y="3700186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91CEC31-E8C1-A8FF-9878-123155FB1775}"/>
              </a:ext>
            </a:extLst>
          </p:cNvPr>
          <p:cNvSpPr/>
          <p:nvPr/>
        </p:nvSpPr>
        <p:spPr>
          <a:xfrm>
            <a:off x="6627366" y="6584653"/>
            <a:ext cx="605911" cy="403940"/>
          </a:xfrm>
          <a:prstGeom prst="rect">
            <a:avLst/>
          </a:prstGeom>
          <a:noFill/>
          <a:ln w="9525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974980-BD97-E3BC-EC02-A4F3C950E3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9857" y="4416419"/>
            <a:ext cx="2591025" cy="2591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03F722-6B8C-B748-9B35-A6708F6870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03108" y="1097759"/>
            <a:ext cx="1542422" cy="1469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8E1763-5334-5AC7-1C14-AF7521D6B3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03108" y="2666222"/>
            <a:ext cx="1542422" cy="1469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A83EED-F219-E1A4-0C18-BA2ECED74B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404" y="2666222"/>
            <a:ext cx="1548518" cy="1475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6F4C3A-5A3B-A44F-B375-84740F5127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404" y="1097759"/>
            <a:ext cx="1548518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6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  <a:tailEnd type="stealt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969</Words>
  <Application>Microsoft Office PowerPoint</Application>
  <PresentationFormat>Custom</PresentationFormat>
  <Paragraphs>114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- 23 - Unit 2 Test</dc:title>
  <dc:creator>Gina</dc:creator>
  <cp:lastModifiedBy>Gina Wilson</cp:lastModifiedBy>
  <cp:revision>22</cp:revision>
  <dcterms:created xsi:type="dcterms:W3CDTF">2025-01-28T00:00:33Z</dcterms:created>
  <dcterms:modified xsi:type="dcterms:W3CDTF">2025-02-11T22:10:13Z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2015-06-14T00:00:00Z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2025-01-28T00:00:00Z</vt:filetime>
  </property>
  <property fmtid="{D5CDD505-2E9C-101B-9397-08002B2CF9AE}" pid="5" name="Producer">
    <vt:lpwstr>Nitro PDF PrimoPDF</vt:lpwstr>
  </property>
</Properties>
</file>