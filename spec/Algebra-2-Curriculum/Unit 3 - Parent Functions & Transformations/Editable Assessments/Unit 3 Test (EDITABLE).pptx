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9" d="100"/>
          <a:sy n="59" d="100"/>
        </p:scale>
        <p:origin x="1026" y="-9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ED775-635E-4670-B85E-88132EDF4221}" type="datetimeFigureOut">
              <a:rPr lang="en-US" smtClean="0"/>
              <a:t>5/18/2021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4097F-3063-4702-9AAA-52D868DC6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4097F-3063-4702-9AAA-52D868DC6D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70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5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5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5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95645" y="9811273"/>
            <a:ext cx="141732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image" Target="../media/image10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6.bin"/><Relationship Id="rId2" Type="http://schemas.openxmlformats.org/officeDocument/2006/relationships/image" Target="../media/image11.JPG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19" Type="http://schemas.openxmlformats.org/officeDocument/2006/relationships/image" Target="../media/image20.png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7.wmf"/><Relationship Id="rId3" Type="http://schemas.openxmlformats.org/officeDocument/2006/relationships/image" Target="../media/image22.png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1.bin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6.wmf"/><Relationship Id="rId3" Type="http://schemas.openxmlformats.org/officeDocument/2006/relationships/image" Target="../media/image28.JPG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2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.wmf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32.wmf"/><Relationship Id="rId19" Type="http://schemas.openxmlformats.org/officeDocument/2006/relationships/image" Target="../media/image37.png"/><Relationship Id="rId4" Type="http://schemas.openxmlformats.org/officeDocument/2006/relationships/image" Target="../media/image29.png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5.wmf"/><Relationship Id="rId3" Type="http://schemas.openxmlformats.org/officeDocument/2006/relationships/image" Target="../media/image40.png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3.bin"/><Relationship Id="rId2" Type="http://schemas.openxmlformats.org/officeDocument/2006/relationships/image" Target="../media/image39.JPG"/><Relationship Id="rId16" Type="http://schemas.openxmlformats.org/officeDocument/2006/relationships/image" Target="../media/image47.w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oleObject" Target="../embeddings/oleObject34.bin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3.wmf"/><Relationship Id="rId1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255">
            <a:extLst>
              <a:ext uri="{FF2B5EF4-FFF2-40B4-BE49-F238E27FC236}">
                <a16:creationId xmlns:a16="http://schemas.microsoft.com/office/drawing/2014/main" id="{BF785D87-918B-415B-8C3F-1A5384A7E90D}"/>
              </a:ext>
            </a:extLst>
          </p:cNvPr>
          <p:cNvSpPr/>
          <p:nvPr/>
        </p:nvSpPr>
        <p:spPr>
          <a:xfrm>
            <a:off x="430602" y="1281502"/>
            <a:ext cx="5676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Identify the vertex and graph each function.  State the domain and range.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BF83B2F6-362F-451C-98A6-04BBF2E54206}"/>
              </a:ext>
            </a:extLst>
          </p:cNvPr>
          <p:cNvSpPr/>
          <p:nvPr/>
        </p:nvSpPr>
        <p:spPr>
          <a:xfrm>
            <a:off x="5404927" y="5091775"/>
            <a:ext cx="1939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</a:t>
            </a:r>
            <a:endParaRPr lang="en-US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E99B2A43-043F-4E6C-AA66-3FF5C1311170}"/>
              </a:ext>
            </a:extLst>
          </p:cNvPr>
          <p:cNvSpPr/>
          <p:nvPr/>
        </p:nvSpPr>
        <p:spPr>
          <a:xfrm>
            <a:off x="1916178" y="5075270"/>
            <a:ext cx="1939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</a:t>
            </a:r>
            <a:endParaRPr lang="en-US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0E9765E3-F63E-4FF5-AF09-B14945E036AE}"/>
              </a:ext>
            </a:extLst>
          </p:cNvPr>
          <p:cNvSpPr/>
          <p:nvPr/>
        </p:nvSpPr>
        <p:spPr>
          <a:xfrm>
            <a:off x="5404928" y="1599948"/>
            <a:ext cx="1939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</a:t>
            </a:r>
            <a:endParaRPr lang="en-US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2585AE6F-F2C2-4408-99B8-1DAEE65A408B}"/>
              </a:ext>
            </a:extLst>
          </p:cNvPr>
          <p:cNvSpPr/>
          <p:nvPr/>
        </p:nvSpPr>
        <p:spPr>
          <a:xfrm>
            <a:off x="1899265" y="1600570"/>
            <a:ext cx="1939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</a:t>
            </a:r>
            <a:endParaRPr lang="en-US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2B9EE857-D1D8-4853-85A9-200120CF9AF2}"/>
              </a:ext>
            </a:extLst>
          </p:cNvPr>
          <p:cNvSpPr/>
          <p:nvPr/>
        </p:nvSpPr>
        <p:spPr>
          <a:xfrm>
            <a:off x="446977" y="160057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62" name="Object 261">
            <a:extLst>
              <a:ext uri="{FF2B5EF4-FFF2-40B4-BE49-F238E27FC236}">
                <a16:creationId xmlns:a16="http://schemas.microsoft.com/office/drawing/2014/main" id="{3497C4EA-94E4-40C5-9031-205DB5A211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850" y="1611313"/>
          <a:ext cx="901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241200" progId="Equation.DSMT4">
                  <p:embed/>
                </p:oleObj>
              </mc:Choice>
              <mc:Fallback>
                <p:oleObj name="Equation" r:id="rId3" imgW="901440" imgH="24120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4850" y="1611313"/>
                        <a:ext cx="901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" name="Rectangle 262">
            <a:extLst>
              <a:ext uri="{FF2B5EF4-FFF2-40B4-BE49-F238E27FC236}">
                <a16:creationId xmlns:a16="http://schemas.microsoft.com/office/drawing/2014/main" id="{95229DAC-56FC-488D-9555-DA2C34095DFA}"/>
              </a:ext>
            </a:extLst>
          </p:cNvPr>
          <p:cNvSpPr/>
          <p:nvPr/>
        </p:nvSpPr>
        <p:spPr>
          <a:xfrm>
            <a:off x="403058" y="4436722"/>
            <a:ext cx="35157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9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______________________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9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____________________</a:t>
            </a:r>
            <a:endParaRPr lang="en-US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244E0D9B-E527-4431-B867-74A9DA7F66F2}"/>
              </a:ext>
            </a:extLst>
          </p:cNvPr>
          <p:cNvSpPr/>
          <p:nvPr/>
        </p:nvSpPr>
        <p:spPr>
          <a:xfrm>
            <a:off x="3897000" y="1599948"/>
            <a:ext cx="3513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9181A45-76EA-494B-8775-5CA562D47042}"/>
              </a:ext>
            </a:extLst>
          </p:cNvPr>
          <p:cNvSpPr/>
          <p:nvPr/>
        </p:nvSpPr>
        <p:spPr>
          <a:xfrm>
            <a:off x="3862774" y="4436722"/>
            <a:ext cx="35012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: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______________________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: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66" name="Object 265">
            <a:extLst>
              <a:ext uri="{FF2B5EF4-FFF2-40B4-BE49-F238E27FC236}">
                <a16:creationId xmlns:a16="http://schemas.microsoft.com/office/drawing/2014/main" id="{FFF2E7B8-AD34-4921-81DA-033B9AC9F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1611313"/>
          <a:ext cx="1079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241200" progId="Equation.DSMT4">
                  <p:embed/>
                </p:oleObj>
              </mc:Choice>
              <mc:Fallback>
                <p:oleObj name="Equation" r:id="rId5" imgW="1079280" imgH="24120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8300" y="1611313"/>
                        <a:ext cx="1079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" name="Rectangle 266">
            <a:extLst>
              <a:ext uri="{FF2B5EF4-FFF2-40B4-BE49-F238E27FC236}">
                <a16:creationId xmlns:a16="http://schemas.microsoft.com/office/drawing/2014/main" id="{B8265668-1FEB-4194-9F47-5D81E98C1011}"/>
              </a:ext>
            </a:extLst>
          </p:cNvPr>
          <p:cNvSpPr/>
          <p:nvPr/>
        </p:nvSpPr>
        <p:spPr>
          <a:xfrm>
            <a:off x="442324" y="4751599"/>
            <a:ext cx="342754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Identify the vertex, then graph each inequality.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27852809-954D-4C23-BA01-3E2F0DCE24F3}"/>
              </a:ext>
            </a:extLst>
          </p:cNvPr>
          <p:cNvSpPr/>
          <p:nvPr/>
        </p:nvSpPr>
        <p:spPr>
          <a:xfrm>
            <a:off x="442324" y="5062792"/>
            <a:ext cx="3513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987B745-688E-4CB9-A26D-922A71D84C27}"/>
              </a:ext>
            </a:extLst>
          </p:cNvPr>
          <p:cNvSpPr/>
          <p:nvPr/>
        </p:nvSpPr>
        <p:spPr>
          <a:xfrm>
            <a:off x="3901540" y="5077453"/>
            <a:ext cx="3513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70" name="Object 269">
            <a:extLst>
              <a:ext uri="{FF2B5EF4-FFF2-40B4-BE49-F238E27FC236}">
                <a16:creationId xmlns:a16="http://schemas.microsoft.com/office/drawing/2014/main" id="{88D30F1C-9CAB-47F4-8F72-8AD0BC521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8" y="5076825"/>
          <a:ext cx="622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2080" imgH="241200" progId="Equation.DSMT4">
                  <p:embed/>
                </p:oleObj>
              </mc:Choice>
              <mc:Fallback>
                <p:oleObj name="Equation" r:id="rId7" imgW="622080" imgH="24120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5488" y="5076825"/>
                        <a:ext cx="622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" name="Object 270">
            <a:extLst>
              <a:ext uri="{FF2B5EF4-FFF2-40B4-BE49-F238E27FC236}">
                <a16:creationId xmlns:a16="http://schemas.microsoft.com/office/drawing/2014/main" id="{DAB75717-7E2E-4E4D-8AA9-DD32FD0759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8138" y="5024438"/>
          <a:ext cx="1054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080" imgH="368280" progId="Equation.DSMT4">
                  <p:embed/>
                </p:oleObj>
              </mc:Choice>
              <mc:Fallback>
                <p:oleObj name="Equation" r:id="rId9" imgW="1054080" imgH="36828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48138" y="5024438"/>
                        <a:ext cx="1054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" name="Text Box 294">
            <a:extLst>
              <a:ext uri="{FF2B5EF4-FFF2-40B4-BE49-F238E27FC236}">
                <a16:creationId xmlns:a16="http://schemas.microsoft.com/office/drawing/2014/main" id="{FCDF7952-CA61-4D0D-A82B-54EFF6BC6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850" y="9123821"/>
            <a:ext cx="2228850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73" name="Text Box 73">
            <a:extLst>
              <a:ext uri="{FF2B5EF4-FFF2-40B4-BE49-F238E27FC236}">
                <a16:creationId xmlns:a16="http://schemas.microsoft.com/office/drawing/2014/main" id="{CEF1839F-6DC0-4EFF-9FDB-79C08FF89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9715" y="9134984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A55FB98-6A3D-4602-9B26-16563FED8016}"/>
              </a:ext>
            </a:extLst>
          </p:cNvPr>
          <p:cNvSpPr/>
          <p:nvPr/>
        </p:nvSpPr>
        <p:spPr>
          <a:xfrm>
            <a:off x="430602" y="7999256"/>
            <a:ext cx="353179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The graph of the absolute value parent </a:t>
            </a:r>
            <a:b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function is vertically stretched by a factor of </a:t>
            </a:r>
            <a:b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three, then shifted two units left and five units </a:t>
            </a:r>
            <a:b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down. Write the equation of the new function </a:t>
            </a:r>
            <a:b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in vertex form.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044E02AF-BE68-4B78-BB25-0BDD9E6E88CE}"/>
              </a:ext>
            </a:extLst>
          </p:cNvPr>
          <p:cNvSpPr/>
          <p:nvPr/>
        </p:nvSpPr>
        <p:spPr>
          <a:xfrm>
            <a:off x="3858454" y="8020187"/>
            <a:ext cx="30219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Which function has a vertex at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-1, -3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76" name="Rectangle 32">
            <a:extLst>
              <a:ext uri="{FF2B5EF4-FFF2-40B4-BE49-F238E27FC236}">
                <a16:creationId xmlns:a16="http://schemas.microsoft.com/office/drawing/2014/main" id="{30FE41FB-27EC-45B2-BFB8-AABFA37D8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030" y="8441164"/>
            <a:ext cx="36740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A.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77" name="Object 276">
            <a:extLst>
              <a:ext uri="{FF2B5EF4-FFF2-40B4-BE49-F238E27FC236}">
                <a16:creationId xmlns:a16="http://schemas.microsoft.com/office/drawing/2014/main" id="{7FB69C22-0B25-4766-9F8F-86A3ADF40B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4602" y="8461375"/>
          <a:ext cx="99060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90360" imgH="241200" progId="Equation.DSMT4">
                  <p:embed/>
                </p:oleObj>
              </mc:Choice>
              <mc:Fallback>
                <p:oleObj name="Equation" r:id="rId11" imgW="990360" imgH="241200" progId="Equation.DSMT4">
                  <p:embed/>
                  <p:pic>
                    <p:nvPicPr>
                      <p:cNvPr id="57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602" y="8461375"/>
                        <a:ext cx="990600" cy="234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" name="Rectangle 39">
            <a:extLst>
              <a:ext uri="{FF2B5EF4-FFF2-40B4-BE49-F238E27FC236}">
                <a16:creationId xmlns:a16="http://schemas.microsoft.com/office/drawing/2014/main" id="{80F5A969-35DB-4420-8162-9D5E2DC41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2142" y="8711031"/>
            <a:ext cx="3449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B.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79" name="Object 278">
            <a:extLst>
              <a:ext uri="{FF2B5EF4-FFF2-40B4-BE49-F238E27FC236}">
                <a16:creationId xmlns:a16="http://schemas.microsoft.com/office/drawing/2014/main" id="{33D95D93-36DC-477D-9558-6DF5E34DFB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4602" y="8716963"/>
          <a:ext cx="99060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90360" imgH="241200" progId="Equation.DSMT4">
                  <p:embed/>
                </p:oleObj>
              </mc:Choice>
              <mc:Fallback>
                <p:oleObj name="Equation" r:id="rId13" imgW="990360" imgH="241200" progId="Equation.DSMT4">
                  <p:embed/>
                  <p:pic>
                    <p:nvPicPr>
                      <p:cNvPr id="5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602" y="8716963"/>
                        <a:ext cx="990600" cy="23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" name="Rectangle 42">
            <a:extLst>
              <a:ext uri="{FF2B5EF4-FFF2-40B4-BE49-F238E27FC236}">
                <a16:creationId xmlns:a16="http://schemas.microsoft.com/office/drawing/2014/main" id="{3DEE61EE-28C1-4E3A-8C86-A22F54956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56" y="8974593"/>
            <a:ext cx="41549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C.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81" name="Object 280">
            <a:extLst>
              <a:ext uri="{FF2B5EF4-FFF2-40B4-BE49-F238E27FC236}">
                <a16:creationId xmlns:a16="http://schemas.microsoft.com/office/drawing/2014/main" id="{B7B9C6E4-C559-44A7-ACDA-DD98C1F10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4602" y="8991600"/>
          <a:ext cx="99060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0360" imgH="241200" progId="Equation.DSMT4">
                  <p:embed/>
                </p:oleObj>
              </mc:Choice>
              <mc:Fallback>
                <p:oleObj name="Equation" r:id="rId15" imgW="990360" imgH="241200" progId="Equation.DSMT4">
                  <p:embed/>
                  <p:pic>
                    <p:nvPicPr>
                      <p:cNvPr id="62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602" y="8991600"/>
                        <a:ext cx="990600" cy="23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" name="Rectangle 45">
            <a:extLst>
              <a:ext uri="{FF2B5EF4-FFF2-40B4-BE49-F238E27FC236}">
                <a16:creationId xmlns:a16="http://schemas.microsoft.com/office/drawing/2014/main" id="{3FED5770-9FAE-4B49-9765-C2B00D2B7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56" y="9243290"/>
            <a:ext cx="37863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D.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83" name="Object 282">
            <a:extLst>
              <a:ext uri="{FF2B5EF4-FFF2-40B4-BE49-F238E27FC236}">
                <a16:creationId xmlns:a16="http://schemas.microsoft.com/office/drawing/2014/main" id="{F97942A4-289E-45DF-931C-6615CBD19E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4602" y="9261475"/>
          <a:ext cx="99060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90360" imgH="241200" progId="Equation.DSMT4">
                  <p:embed/>
                </p:oleObj>
              </mc:Choice>
              <mc:Fallback>
                <p:oleObj name="Equation" r:id="rId17" imgW="990360" imgH="241200" progId="Equation.DSMT4">
                  <p:embed/>
                  <p:pic>
                    <p:nvPicPr>
                      <p:cNvPr id="6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602" y="9261475"/>
                        <a:ext cx="990600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B2EC6AE-D757-4288-8251-AD8B60CFC41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1981200"/>
            <a:ext cx="2542252" cy="2542252"/>
          </a:xfrm>
          <a:prstGeom prst="rect">
            <a:avLst/>
          </a:prstGeom>
        </p:spPr>
      </p:pic>
      <p:pic>
        <p:nvPicPr>
          <p:cNvPr id="444" name="Picture 443">
            <a:extLst>
              <a:ext uri="{FF2B5EF4-FFF2-40B4-BE49-F238E27FC236}">
                <a16:creationId xmlns:a16="http://schemas.microsoft.com/office/drawing/2014/main" id="{C92183A1-8E43-4DF4-8264-EA1963CCCE1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1905000"/>
            <a:ext cx="2542252" cy="2542252"/>
          </a:xfrm>
          <a:prstGeom prst="rect">
            <a:avLst/>
          </a:prstGeom>
        </p:spPr>
      </p:pic>
      <p:pic>
        <p:nvPicPr>
          <p:cNvPr id="445" name="Picture 444">
            <a:extLst>
              <a:ext uri="{FF2B5EF4-FFF2-40B4-BE49-F238E27FC236}">
                <a16:creationId xmlns:a16="http://schemas.microsoft.com/office/drawing/2014/main" id="{90E08651-A745-4AF4-BDED-CB0EBE81096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5334000"/>
            <a:ext cx="2542252" cy="2542252"/>
          </a:xfrm>
          <a:prstGeom prst="rect">
            <a:avLst/>
          </a:prstGeom>
        </p:spPr>
      </p:pic>
      <p:pic>
        <p:nvPicPr>
          <p:cNvPr id="446" name="Picture 445">
            <a:extLst>
              <a:ext uri="{FF2B5EF4-FFF2-40B4-BE49-F238E27FC236}">
                <a16:creationId xmlns:a16="http://schemas.microsoft.com/office/drawing/2014/main" id="{2A24986B-B8B4-4A32-BF37-FC5F99596D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19600" y="5410200"/>
            <a:ext cx="2542252" cy="25422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09">
            <a:extLst>
              <a:ext uri="{FF2B5EF4-FFF2-40B4-BE49-F238E27FC236}">
                <a16:creationId xmlns:a16="http://schemas.microsoft.com/office/drawing/2014/main" id="{46C5F107-C7D6-4ECA-A249-8C8DC895A71B}"/>
              </a:ext>
            </a:extLst>
          </p:cNvPr>
          <p:cNvSpPr/>
          <p:nvPr/>
        </p:nvSpPr>
        <p:spPr>
          <a:xfrm>
            <a:off x="426023" y="386174"/>
            <a:ext cx="678694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Identify the axis of symmetry and vertex for each function, then graph.  State the domain and range.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graphicFrame>
        <p:nvGraphicFramePr>
          <p:cNvPr id="211" name="Table 210">
            <a:extLst>
              <a:ext uri="{FF2B5EF4-FFF2-40B4-BE49-F238E27FC236}">
                <a16:creationId xmlns:a16="http://schemas.microsoft.com/office/drawing/2014/main" id="{E3A42E8D-FDCE-4926-9A2D-36CCB77EB7AF}"/>
              </a:ext>
            </a:extLst>
          </p:cNvPr>
          <p:cNvGraphicFramePr>
            <a:graphicFrameLocks noGrp="1"/>
          </p:cNvGraphicFramePr>
          <p:nvPr/>
        </p:nvGraphicFramePr>
        <p:xfrm>
          <a:off x="404103" y="1094189"/>
          <a:ext cx="3482098" cy="174689"/>
        </p:xfrm>
        <a:graphic>
          <a:graphicData uri="http://schemas.openxmlformats.org/drawingml/2006/table">
            <a:tbl>
              <a:tblPr/>
              <a:tblGrid>
                <a:gridCol w="3482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Axis of Symmetry:  </a:t>
                      </a:r>
                      <a:r>
                        <a:rPr lang="en-US" sz="9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Vertex: </a:t>
                      </a:r>
                      <a:r>
                        <a:rPr lang="en-US" sz="9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2" name="Rectangle 2">
            <a:extLst>
              <a:ext uri="{FF2B5EF4-FFF2-40B4-BE49-F238E27FC236}">
                <a16:creationId xmlns:a16="http://schemas.microsoft.com/office/drawing/2014/main" id="{989EDE46-69DD-47BC-BB71-16D9F8551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23" y="640048"/>
            <a:ext cx="34336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7.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13" name="Object 212">
            <a:extLst>
              <a:ext uri="{FF2B5EF4-FFF2-40B4-BE49-F238E27FC236}">
                <a16:creationId xmlns:a16="http://schemas.microsoft.com/office/drawing/2014/main" id="{38C9074D-70B7-4B13-966D-D01FE8161C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713" y="658813"/>
          <a:ext cx="122872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228600" progId="Equation.DSMT4">
                  <p:embed/>
                </p:oleObj>
              </mc:Choice>
              <mc:Fallback>
                <p:oleObj name="Equation" r:id="rId3" imgW="1231560" imgH="22860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658813"/>
                        <a:ext cx="1228725" cy="23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" name="Rectangle 5">
            <a:extLst>
              <a:ext uri="{FF2B5EF4-FFF2-40B4-BE49-F238E27FC236}">
                <a16:creationId xmlns:a16="http://schemas.microsoft.com/office/drawing/2014/main" id="{EDA60E6F-E5D7-4D81-9534-AF2DC0015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122" y="650642"/>
            <a:ext cx="34336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8.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15" name="Object 214">
            <a:extLst>
              <a:ext uri="{FF2B5EF4-FFF2-40B4-BE49-F238E27FC236}">
                <a16:creationId xmlns:a16="http://schemas.microsoft.com/office/drawing/2014/main" id="{B7F89FF1-B5E7-4214-BDB5-B3015631B4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0688" y="652463"/>
          <a:ext cx="1295400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280" imgH="228600" progId="Equation.DSMT4">
                  <p:embed/>
                </p:oleObj>
              </mc:Choice>
              <mc:Fallback>
                <p:oleObj name="Equation" r:id="rId5" imgW="1295280" imgH="22860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688" y="652463"/>
                        <a:ext cx="1295400" cy="233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Rectangle 215">
            <a:extLst>
              <a:ext uri="{FF2B5EF4-FFF2-40B4-BE49-F238E27FC236}">
                <a16:creationId xmlns:a16="http://schemas.microsoft.com/office/drawing/2014/main" id="{7C6F5A1D-2AA3-4BD0-9DAB-75AB680BE508}"/>
              </a:ext>
            </a:extLst>
          </p:cNvPr>
          <p:cNvSpPr/>
          <p:nvPr/>
        </p:nvSpPr>
        <p:spPr>
          <a:xfrm>
            <a:off x="3877857" y="1060534"/>
            <a:ext cx="3462807" cy="2687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Axis of Symmetry: 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Vertex: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DF94753D-1BB2-4F23-8D3B-FC2D2E39A5D7}"/>
              </a:ext>
            </a:extLst>
          </p:cNvPr>
          <p:cNvSpPr/>
          <p:nvPr/>
        </p:nvSpPr>
        <p:spPr>
          <a:xfrm>
            <a:off x="426023" y="4202727"/>
            <a:ext cx="5600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Identify the vertex, axis of symmetry, then graph each inequality.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18" name="Object 217">
            <a:extLst>
              <a:ext uri="{FF2B5EF4-FFF2-40B4-BE49-F238E27FC236}">
                <a16:creationId xmlns:a16="http://schemas.microsoft.com/office/drawing/2014/main" id="{B5B5C341-5E68-442B-B53A-6E3EA9EB53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076" y="4534074"/>
          <a:ext cx="74771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520" imgH="228600" progId="Equation.DSMT4">
                  <p:embed/>
                </p:oleObj>
              </mc:Choice>
              <mc:Fallback>
                <p:oleObj name="Equation" r:id="rId7" imgW="812520" imgH="228600" progId="Equation.DSMT4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076" y="4534074"/>
                        <a:ext cx="747713" cy="215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" name="Rectangle 218">
            <a:extLst>
              <a:ext uri="{FF2B5EF4-FFF2-40B4-BE49-F238E27FC236}">
                <a16:creationId xmlns:a16="http://schemas.microsoft.com/office/drawing/2014/main" id="{753F9EB4-2DCB-40CB-8BDC-31D9B9810D03}"/>
              </a:ext>
            </a:extLst>
          </p:cNvPr>
          <p:cNvSpPr/>
          <p:nvPr/>
        </p:nvSpPr>
        <p:spPr>
          <a:xfrm>
            <a:off x="436334" y="4516824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20" name="Table 219">
            <a:extLst>
              <a:ext uri="{FF2B5EF4-FFF2-40B4-BE49-F238E27FC236}">
                <a16:creationId xmlns:a16="http://schemas.microsoft.com/office/drawing/2014/main" id="{C54B93D9-DDCC-4DDB-8FEC-9581D615EB12}"/>
              </a:ext>
            </a:extLst>
          </p:cNvPr>
          <p:cNvGraphicFramePr>
            <a:graphicFrameLocks noGrp="1"/>
          </p:cNvGraphicFramePr>
          <p:nvPr/>
        </p:nvGraphicFramePr>
        <p:xfrm>
          <a:off x="410519" y="4885812"/>
          <a:ext cx="3544635" cy="196225"/>
        </p:xfrm>
        <a:graphic>
          <a:graphicData uri="http://schemas.openxmlformats.org/drawingml/2006/table">
            <a:tbl>
              <a:tblPr/>
              <a:tblGrid>
                <a:gridCol w="354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25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Axis of Symmetry:  </a:t>
                      </a: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</a:t>
                      </a: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sz="1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Vertex: </a:t>
                      </a: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</a:t>
                      </a:r>
                      <a:endParaRPr kumimoji="0" 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1" name="Table 220">
            <a:extLst>
              <a:ext uri="{FF2B5EF4-FFF2-40B4-BE49-F238E27FC236}">
                <a16:creationId xmlns:a16="http://schemas.microsoft.com/office/drawing/2014/main" id="{2466810A-E278-4E07-9C25-A1E0640C2C99}"/>
              </a:ext>
            </a:extLst>
          </p:cNvPr>
          <p:cNvGraphicFramePr>
            <a:graphicFrameLocks noGrp="1"/>
          </p:cNvGraphicFramePr>
          <p:nvPr/>
        </p:nvGraphicFramePr>
        <p:xfrm>
          <a:off x="3879782" y="4893175"/>
          <a:ext cx="3483598" cy="174689"/>
        </p:xfrm>
        <a:graphic>
          <a:graphicData uri="http://schemas.openxmlformats.org/drawingml/2006/table">
            <a:tbl>
              <a:tblPr/>
              <a:tblGrid>
                <a:gridCol w="3483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946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Axis of Symmetry:  </a:t>
                      </a: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</a:t>
                      </a: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sz="1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Vertex: </a:t>
                      </a: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</a:t>
                      </a:r>
                      <a:endParaRPr kumimoji="0" 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2" name="Rectangle 19">
            <a:extLst>
              <a:ext uri="{FF2B5EF4-FFF2-40B4-BE49-F238E27FC236}">
                <a16:creationId xmlns:a16="http://schemas.microsoft.com/office/drawing/2014/main" id="{01A9DC80-65EC-46BF-9D27-C73F16D0B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008" y="4516824"/>
            <a:ext cx="38183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10.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23" name="Object 222">
            <a:extLst>
              <a:ext uri="{FF2B5EF4-FFF2-40B4-BE49-F238E27FC236}">
                <a16:creationId xmlns:a16="http://schemas.microsoft.com/office/drawing/2014/main" id="{0E531FBD-8EF9-4103-BF62-61D8A3A94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8752" y="4515024"/>
          <a:ext cx="103028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520" imgH="228600" progId="Equation.DSMT4">
                  <p:embed/>
                </p:oleObj>
              </mc:Choice>
              <mc:Fallback>
                <p:oleObj name="Equation" r:id="rId9" imgW="1028520" imgH="228600" progId="Equation.DSMT4">
                  <p:embed/>
                  <p:pic>
                    <p:nvPicPr>
                      <p:cNvPr id="3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752" y="4515024"/>
                        <a:ext cx="1030288" cy="23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" name="Text Box 290">
            <a:extLst>
              <a:ext uri="{FF2B5EF4-FFF2-40B4-BE49-F238E27FC236}">
                <a16:creationId xmlns:a16="http://schemas.microsoft.com/office/drawing/2014/main" id="{31535BCD-C982-4DA6-9EAA-BEF00EFF3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337" y="9157450"/>
            <a:ext cx="2228850" cy="411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25" name="Text Box 289">
            <a:extLst>
              <a:ext uri="{FF2B5EF4-FFF2-40B4-BE49-F238E27FC236}">
                <a16:creationId xmlns:a16="http://schemas.microsoft.com/office/drawing/2014/main" id="{20B0ACF6-9CEB-496A-9F7E-8299E96E4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121" y="9173325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3E437099-ABB3-41B9-9E4B-DB133AA4D308}"/>
              </a:ext>
            </a:extLst>
          </p:cNvPr>
          <p:cNvSpPr/>
          <p:nvPr/>
        </p:nvSpPr>
        <p:spPr>
          <a:xfrm>
            <a:off x="420860" y="7666911"/>
            <a:ext cx="3475123" cy="7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The graph of the quadratic parent function  </a:t>
            </a:r>
            <a:b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is reflected across the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-axis, then shifted five </a:t>
            </a:r>
            <a:b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units down and four units right. Write the</a:t>
            </a:r>
            <a:b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      equation of the new function in vertex form.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8CCF3C0D-9BAA-4ED8-AEA8-12F5CD411601}"/>
              </a:ext>
            </a:extLst>
          </p:cNvPr>
          <p:cNvSpPr/>
          <p:nvPr/>
        </p:nvSpPr>
        <p:spPr>
          <a:xfrm>
            <a:off x="3852545" y="7670835"/>
            <a:ext cx="336042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12.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function has an axis of symmetry of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= -2?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28" name="Rectangle 37">
            <a:extLst>
              <a:ext uri="{FF2B5EF4-FFF2-40B4-BE49-F238E27FC236}">
                <a16:creationId xmlns:a16="http://schemas.microsoft.com/office/drawing/2014/main" id="{8356605B-B3AC-4DE0-9F2F-9739F8DFE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322" y="8328631"/>
            <a:ext cx="36740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A.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29" name="Object 228">
            <a:extLst>
              <a:ext uri="{FF2B5EF4-FFF2-40B4-BE49-F238E27FC236}">
                <a16:creationId xmlns:a16="http://schemas.microsoft.com/office/drawing/2014/main" id="{99777F2D-A313-47AF-98AD-952471EF1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8334375"/>
          <a:ext cx="1081087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79280" imgH="228600" progId="Equation.DSMT4">
                  <p:embed/>
                </p:oleObj>
              </mc:Choice>
              <mc:Fallback>
                <p:oleObj name="Equation" r:id="rId11" imgW="1079280" imgH="228600" progId="Equation.DSMT4">
                  <p:embed/>
                  <p:pic>
                    <p:nvPicPr>
                      <p:cNvPr id="37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8334375"/>
                        <a:ext cx="1081087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" name="Rectangle 44">
            <a:extLst>
              <a:ext uri="{FF2B5EF4-FFF2-40B4-BE49-F238E27FC236}">
                <a16:creationId xmlns:a16="http://schemas.microsoft.com/office/drawing/2014/main" id="{6CAADD3C-83F2-4A22-912A-83635019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322" y="8636760"/>
            <a:ext cx="34657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B.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31" name="Object 230">
            <a:extLst>
              <a:ext uri="{FF2B5EF4-FFF2-40B4-BE49-F238E27FC236}">
                <a16:creationId xmlns:a16="http://schemas.microsoft.com/office/drawing/2014/main" id="{B5C87C95-04BA-42A3-A1BF-2520840EEB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8634413"/>
          <a:ext cx="13398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46040" imgH="228600" progId="Equation.DSMT4">
                  <p:embed/>
                </p:oleObj>
              </mc:Choice>
              <mc:Fallback>
                <p:oleObj name="Equation" r:id="rId13" imgW="1346040" imgH="228600" progId="Equation.DSMT4">
                  <p:embed/>
                  <p:pic>
                    <p:nvPicPr>
                      <p:cNvPr id="39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8634413"/>
                        <a:ext cx="133985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" name="Rectangle 45">
            <a:extLst>
              <a:ext uri="{FF2B5EF4-FFF2-40B4-BE49-F238E27FC236}">
                <a16:creationId xmlns:a16="http://schemas.microsoft.com/office/drawing/2014/main" id="{E31D3DCE-8231-454F-9581-99202AD3F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2428"/>
            <a:ext cx="7772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3" name="Rectangle 47">
            <a:extLst>
              <a:ext uri="{FF2B5EF4-FFF2-40B4-BE49-F238E27FC236}">
                <a16:creationId xmlns:a16="http://schemas.microsoft.com/office/drawing/2014/main" id="{C69C8030-95AC-4E02-A193-AA53AE15E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7924" y="8941776"/>
            <a:ext cx="37542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C.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34" name="Object 233">
            <a:extLst>
              <a:ext uri="{FF2B5EF4-FFF2-40B4-BE49-F238E27FC236}">
                <a16:creationId xmlns:a16="http://schemas.microsoft.com/office/drawing/2014/main" id="{16EBB9CA-2BE3-4055-A3D3-C9FF26CAD4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8500" y="8934450"/>
          <a:ext cx="11493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55600" imgH="228600" progId="Equation.DSMT4">
                  <p:embed/>
                </p:oleObj>
              </mc:Choice>
              <mc:Fallback>
                <p:oleObj name="Equation" r:id="rId15" imgW="1155600" imgH="228600" progId="Equation.DSMT4">
                  <p:embed/>
                  <p:pic>
                    <p:nvPicPr>
                      <p:cNvPr id="4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8934450"/>
                        <a:ext cx="114935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" name="Rectangle 48">
            <a:extLst>
              <a:ext uri="{FF2B5EF4-FFF2-40B4-BE49-F238E27FC236}">
                <a16:creationId xmlns:a16="http://schemas.microsoft.com/office/drawing/2014/main" id="{184DCFDA-F6A4-4B7C-89B2-7304B30DB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74828"/>
            <a:ext cx="7772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6" name="Rectangle 50">
            <a:extLst>
              <a:ext uri="{FF2B5EF4-FFF2-40B4-BE49-F238E27FC236}">
                <a16:creationId xmlns:a16="http://schemas.microsoft.com/office/drawing/2014/main" id="{6F1BAFF0-AB76-4BF4-9D19-9B787563E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045" y="9263898"/>
            <a:ext cx="37863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D.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37" name="Object 236">
            <a:extLst>
              <a:ext uri="{FF2B5EF4-FFF2-40B4-BE49-F238E27FC236}">
                <a16:creationId xmlns:a16="http://schemas.microsoft.com/office/drawing/2014/main" id="{A3891A1E-9253-4C24-8D6C-2E0D512AC4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3263" y="9264650"/>
          <a:ext cx="1325562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20480" imgH="228600" progId="Equation.DSMT4">
                  <p:embed/>
                </p:oleObj>
              </mc:Choice>
              <mc:Fallback>
                <p:oleObj name="Equation" r:id="rId17" imgW="1320480" imgH="228600" progId="Equation.DSMT4">
                  <p:embed/>
                  <p:pic>
                    <p:nvPicPr>
                      <p:cNvPr id="45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9264650"/>
                        <a:ext cx="1325562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" name="Rectangle 237">
            <a:extLst>
              <a:ext uri="{FF2B5EF4-FFF2-40B4-BE49-F238E27FC236}">
                <a16:creationId xmlns:a16="http://schemas.microsoft.com/office/drawing/2014/main" id="{C13C085C-B794-43A2-BE89-0C4FCD8D99FF}"/>
              </a:ext>
            </a:extLst>
          </p:cNvPr>
          <p:cNvSpPr/>
          <p:nvPr/>
        </p:nvSpPr>
        <p:spPr>
          <a:xfrm>
            <a:off x="403058" y="3910714"/>
            <a:ext cx="35157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9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______________________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9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____________________</a:t>
            </a:r>
            <a:endParaRPr lang="en-US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8017F6E-99F0-484B-B82D-5C8E42497388}"/>
              </a:ext>
            </a:extLst>
          </p:cNvPr>
          <p:cNvSpPr/>
          <p:nvPr/>
        </p:nvSpPr>
        <p:spPr>
          <a:xfrm>
            <a:off x="3862774" y="3910714"/>
            <a:ext cx="35012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: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______________________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: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4C683-F879-4A5C-98AF-0E7EA5F5CD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1371600"/>
            <a:ext cx="2542252" cy="2542252"/>
          </a:xfrm>
          <a:prstGeom prst="rect">
            <a:avLst/>
          </a:prstGeom>
        </p:spPr>
      </p:pic>
      <p:pic>
        <p:nvPicPr>
          <p:cNvPr id="400" name="Picture 399">
            <a:extLst>
              <a:ext uri="{FF2B5EF4-FFF2-40B4-BE49-F238E27FC236}">
                <a16:creationId xmlns:a16="http://schemas.microsoft.com/office/drawing/2014/main" id="{5AC2A6DD-73CC-46ED-8D04-A208EB10C0E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1371600"/>
            <a:ext cx="2542252" cy="2542252"/>
          </a:xfrm>
          <a:prstGeom prst="rect">
            <a:avLst/>
          </a:prstGeom>
        </p:spPr>
      </p:pic>
      <p:pic>
        <p:nvPicPr>
          <p:cNvPr id="401" name="Picture 400">
            <a:extLst>
              <a:ext uri="{FF2B5EF4-FFF2-40B4-BE49-F238E27FC236}">
                <a16:creationId xmlns:a16="http://schemas.microsoft.com/office/drawing/2014/main" id="{8C32179A-840E-4740-8B2A-9CAFF92D46E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5105400"/>
            <a:ext cx="2542252" cy="2542252"/>
          </a:xfrm>
          <a:prstGeom prst="rect">
            <a:avLst/>
          </a:prstGeom>
        </p:spPr>
      </p:pic>
      <p:pic>
        <p:nvPicPr>
          <p:cNvPr id="402" name="Picture 401">
            <a:extLst>
              <a:ext uri="{FF2B5EF4-FFF2-40B4-BE49-F238E27FC236}">
                <a16:creationId xmlns:a16="http://schemas.microsoft.com/office/drawing/2014/main" id="{1CDBA0E9-79A7-4678-BC46-3ECE30367A7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5105400"/>
            <a:ext cx="2542252" cy="2542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E5D4AD-7828-414E-A1A6-1BEC37A39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394" y="1291527"/>
            <a:ext cx="4974767" cy="1621677"/>
          </a:xfrm>
          <a:prstGeom prst="rect">
            <a:avLst/>
          </a:prstGeom>
        </p:spPr>
      </p:pic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A8B6138-4EE7-4600-B569-A9D33FA268C0}"/>
              </a:ext>
            </a:extLst>
          </p:cNvPr>
          <p:cNvGraphicFramePr>
            <a:graphicFrameLocks noGrp="1"/>
          </p:cNvGraphicFramePr>
          <p:nvPr/>
        </p:nvGraphicFramePr>
        <p:xfrm>
          <a:off x="408254" y="419985"/>
          <a:ext cx="6994525" cy="368364"/>
        </p:xfrm>
        <a:graphic>
          <a:graphicData uri="http://schemas.openxmlformats.org/drawingml/2006/table">
            <a:tbl>
              <a:tblPr/>
              <a:tblGrid>
                <a:gridCol w="69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What transformations take place by graphing the function below in respect to its parent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function?  Check all that apply.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FA1CC125-3B39-4374-9F35-CA0DB85BA1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8150" y="735013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720" imgH="406080" progId="Equation.DSMT4">
                  <p:embed/>
                </p:oleObj>
              </mc:Choice>
              <mc:Fallback>
                <p:oleObj name="Equation" r:id="rId4" imgW="1485720" imgH="4060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78150" y="735013"/>
                        <a:ext cx="1485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Rectangle 103">
            <a:extLst>
              <a:ext uri="{FF2B5EF4-FFF2-40B4-BE49-F238E27FC236}">
                <a16:creationId xmlns:a16="http://schemas.microsoft.com/office/drawing/2014/main" id="{AF19A024-6415-4038-97B1-391A0BF55AD4}"/>
              </a:ext>
            </a:extLst>
          </p:cNvPr>
          <p:cNvSpPr/>
          <p:nvPr/>
        </p:nvSpPr>
        <p:spPr>
          <a:xfrm>
            <a:off x="425450" y="3184135"/>
            <a:ext cx="6591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For questions 14-16, convert each function to vertex form.  State the vertex.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9BBD250-5512-49E0-ADE7-CCC143A9B67A}"/>
              </a:ext>
            </a:extLst>
          </p:cNvPr>
          <p:cNvGrpSpPr/>
          <p:nvPr/>
        </p:nvGrpSpPr>
        <p:grpSpPr>
          <a:xfrm>
            <a:off x="457200" y="5529581"/>
            <a:ext cx="3263900" cy="914000"/>
            <a:chOff x="457200" y="5529581"/>
            <a:chExt cx="3263900" cy="914000"/>
          </a:xfrm>
        </p:grpSpPr>
        <p:sp>
          <p:nvSpPr>
            <p:cNvPr id="106" name="Text Box 1">
              <a:extLst>
                <a:ext uri="{FF2B5EF4-FFF2-40B4-BE49-F238E27FC236}">
                  <a16:creationId xmlns:a16="http://schemas.microsoft.com/office/drawing/2014/main" id="{EE11DBBF-6DF9-46B9-B65C-970A16F9B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2885" y="5529581"/>
              <a:ext cx="2228215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07" name="Text Box 7">
              <a:extLst>
                <a:ext uri="{FF2B5EF4-FFF2-40B4-BE49-F238E27FC236}">
                  <a16:creationId xmlns:a16="http://schemas.microsoft.com/office/drawing/2014/main" id="{D2E367F8-5558-43BE-A160-85DDD477A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735" y="6032736"/>
              <a:ext cx="1142365" cy="41084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58EADD7-5C0F-470A-90E2-FD431F2F58D1}"/>
                </a:ext>
              </a:extLst>
            </p:cNvPr>
            <p:cNvSpPr/>
            <p:nvPr/>
          </p:nvSpPr>
          <p:spPr>
            <a:xfrm>
              <a:off x="457200" y="5604991"/>
              <a:ext cx="105702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52729" lvl="0">
                <a:spcBef>
                  <a:spcPts val="5"/>
                </a:spcBef>
              </a:pPr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Function: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8A26DF3-0E8D-4FEA-AB6B-02F5C059DFAB}"/>
                </a:ext>
              </a:extLst>
            </p:cNvPr>
            <p:cNvSpPr/>
            <p:nvPr/>
          </p:nvSpPr>
          <p:spPr>
            <a:xfrm>
              <a:off x="1834856" y="6105084"/>
              <a:ext cx="73417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4769" lvl="0" algn="ctr"/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Vertex: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7AD350B-303C-4656-8700-DD74F7F31EA3}"/>
              </a:ext>
            </a:extLst>
          </p:cNvPr>
          <p:cNvSpPr/>
          <p:nvPr/>
        </p:nvSpPr>
        <p:spPr>
          <a:xfrm>
            <a:off x="421526" y="3441576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14.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3687469-2F73-4F19-8D23-BAD6C1FECD2F}"/>
              </a:ext>
            </a:extLst>
          </p:cNvPr>
          <p:cNvSpPr/>
          <p:nvPr/>
        </p:nvSpPr>
        <p:spPr>
          <a:xfrm>
            <a:off x="3874397" y="345790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95B70D4-F615-4287-803C-C80E4200FA5E}"/>
              </a:ext>
            </a:extLst>
          </p:cNvPr>
          <p:cNvSpPr/>
          <p:nvPr/>
        </p:nvSpPr>
        <p:spPr>
          <a:xfrm>
            <a:off x="423125" y="6542975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16.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A81B1EAB-68AD-47FE-927A-62DA2970E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807" y="3439583"/>
          <a:ext cx="12890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228600" progId="Equation.DSMT4">
                  <p:embed/>
                </p:oleObj>
              </mc:Choice>
              <mc:Fallback>
                <p:oleObj name="Equation" r:id="rId6" imgW="1117440" imgH="228600" progId="Equation.DSMT4">
                  <p:embed/>
                  <p:pic>
                    <p:nvPicPr>
                      <p:cNvPr id="189" name="Object 18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4807" y="3439583"/>
                        <a:ext cx="1289050" cy="26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FCA22F33-5AB8-4BFE-8E43-D2E86BE1B0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2275" y="3446463"/>
          <a:ext cx="13747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228600" progId="Equation.DSMT4">
                  <p:embed/>
                </p:oleObj>
              </mc:Choice>
              <mc:Fallback>
                <p:oleObj name="Equation" r:id="rId8" imgW="1244520" imgH="228600" progId="Equation.DSMT4">
                  <p:embed/>
                  <p:pic>
                    <p:nvPicPr>
                      <p:cNvPr id="190" name="Object 18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32275" y="3446463"/>
                        <a:ext cx="1374775" cy="25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ED3A29E5-EA70-41AB-8866-61D387B148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479" y="6547908"/>
          <a:ext cx="15430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440" imgH="228600" progId="Equation.DSMT4">
                  <p:embed/>
                </p:oleObj>
              </mc:Choice>
              <mc:Fallback>
                <p:oleObj name="Equation" r:id="rId10" imgW="1333440" imgH="228600" progId="Equation.DSMT4">
                  <p:embed/>
                  <p:pic>
                    <p:nvPicPr>
                      <p:cNvPr id="191" name="Object 19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3479" y="6547908"/>
                        <a:ext cx="1543050" cy="26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B88FFFD-411F-43D2-AA27-0B666EB3BEAD}"/>
              </a:ext>
            </a:extLst>
          </p:cNvPr>
          <p:cNvGrpSpPr/>
          <p:nvPr/>
        </p:nvGrpSpPr>
        <p:grpSpPr>
          <a:xfrm>
            <a:off x="3801245" y="6543821"/>
            <a:ext cx="3695985" cy="618759"/>
            <a:chOff x="3801245" y="6528645"/>
            <a:chExt cx="3695985" cy="618759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80EBA13-A4FF-4CEF-BAD6-1DA2CF8E263D}"/>
                </a:ext>
              </a:extLst>
            </p:cNvPr>
            <p:cNvSpPr/>
            <p:nvPr/>
          </p:nvSpPr>
          <p:spPr>
            <a:xfrm>
              <a:off x="3801245" y="6528645"/>
              <a:ext cx="3695985" cy="618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5405" lvl="0">
                <a:spcBef>
                  <a:spcPts val="120"/>
                </a:spcBef>
              </a:pPr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17.  </a:t>
              </a: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The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function                         </a:t>
              </a:r>
              <a:r>
                <a:rPr lang="en-US" sz="1100" kern="0" spc="-1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       </a:t>
              </a: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is</a:t>
              </a:r>
              <a:r>
                <a:rPr lang="en-US" sz="1100" kern="0" spc="7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translated</a:t>
              </a:r>
              <a:b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</a:b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     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five units down. Write the new equation </a:t>
              </a: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in </a:t>
              </a:r>
              <a:b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</a:b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     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vertex form and state the</a:t>
              </a:r>
              <a:r>
                <a:rPr lang="en-US" sz="1100" kern="0" spc="-1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vertex.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  <p:graphicFrame>
          <p:nvGraphicFramePr>
            <p:cNvPr id="118" name="Object 117">
              <a:extLst>
                <a:ext uri="{FF2B5EF4-FFF2-40B4-BE49-F238E27FC236}">
                  <a16:creationId xmlns:a16="http://schemas.microsoft.com/office/drawing/2014/main" id="{F9C6541A-A3C3-4D4D-A58F-90D55E90F1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0346" y="6541635"/>
            <a:ext cx="1193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93760" imgH="228600" progId="Equation.DSMT4">
                    <p:embed/>
                  </p:oleObj>
                </mc:Choice>
                <mc:Fallback>
                  <p:oleObj name="Equation" r:id="rId12" imgW="1193760" imgH="228600" progId="Equation.DSMT4">
                    <p:embed/>
                    <p:pic>
                      <p:nvPicPr>
                        <p:cNvPr id="194" name="Object 193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070346" y="6541635"/>
                          <a:ext cx="11938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C212EA1-0FCF-4C56-9815-D14BBD266578}"/>
              </a:ext>
            </a:extLst>
          </p:cNvPr>
          <p:cNvGrpSpPr/>
          <p:nvPr/>
        </p:nvGrpSpPr>
        <p:grpSpPr>
          <a:xfrm>
            <a:off x="3951292" y="5529291"/>
            <a:ext cx="3263900" cy="914000"/>
            <a:chOff x="457200" y="5529581"/>
            <a:chExt cx="3263900" cy="914000"/>
          </a:xfrm>
        </p:grpSpPr>
        <p:sp>
          <p:nvSpPr>
            <p:cNvPr id="173" name="Text Box 1">
              <a:extLst>
                <a:ext uri="{FF2B5EF4-FFF2-40B4-BE49-F238E27FC236}">
                  <a16:creationId xmlns:a16="http://schemas.microsoft.com/office/drawing/2014/main" id="{10C13F94-BD6D-406A-90D1-B5D24491FB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2885" y="5529581"/>
              <a:ext cx="2228215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74" name="Text Box 7">
              <a:extLst>
                <a:ext uri="{FF2B5EF4-FFF2-40B4-BE49-F238E27FC236}">
                  <a16:creationId xmlns:a16="http://schemas.microsoft.com/office/drawing/2014/main" id="{8FBF0F9D-B26B-4B63-9605-B91085F81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735" y="6032736"/>
              <a:ext cx="1142365" cy="41084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6B3A173F-7149-4986-9A96-4C0B08D9C1FA}"/>
                </a:ext>
              </a:extLst>
            </p:cNvPr>
            <p:cNvSpPr/>
            <p:nvPr/>
          </p:nvSpPr>
          <p:spPr>
            <a:xfrm>
              <a:off x="457200" y="5604991"/>
              <a:ext cx="105702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52729" lvl="0">
                <a:spcBef>
                  <a:spcPts val="5"/>
                </a:spcBef>
              </a:pPr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Function: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A7087C5-C4DF-42B6-BC2C-A133F4E1CD89}"/>
                </a:ext>
              </a:extLst>
            </p:cNvPr>
            <p:cNvSpPr/>
            <p:nvPr/>
          </p:nvSpPr>
          <p:spPr>
            <a:xfrm>
              <a:off x="1834856" y="6105084"/>
              <a:ext cx="73417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4769" lvl="0" algn="ctr"/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Vertex: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A7666C3-54D0-4B5C-BE35-6D9827E83FAB}"/>
              </a:ext>
            </a:extLst>
          </p:cNvPr>
          <p:cNvGrpSpPr/>
          <p:nvPr/>
        </p:nvGrpSpPr>
        <p:grpSpPr>
          <a:xfrm>
            <a:off x="457200" y="8644868"/>
            <a:ext cx="3263900" cy="914000"/>
            <a:chOff x="457200" y="5529581"/>
            <a:chExt cx="3263900" cy="914000"/>
          </a:xfrm>
        </p:grpSpPr>
        <p:sp>
          <p:nvSpPr>
            <p:cNvPr id="178" name="Text Box 1">
              <a:extLst>
                <a:ext uri="{FF2B5EF4-FFF2-40B4-BE49-F238E27FC236}">
                  <a16:creationId xmlns:a16="http://schemas.microsoft.com/office/drawing/2014/main" id="{95A8642D-CDA4-44C9-B06C-C98ED06EE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2885" y="5529581"/>
              <a:ext cx="2228215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79" name="Text Box 7">
              <a:extLst>
                <a:ext uri="{FF2B5EF4-FFF2-40B4-BE49-F238E27FC236}">
                  <a16:creationId xmlns:a16="http://schemas.microsoft.com/office/drawing/2014/main" id="{86758787-2ECF-47CB-ACDE-7342677C5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735" y="6032736"/>
              <a:ext cx="1142365" cy="41084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12EDE5E-ABBD-4C71-9521-812088E570C9}"/>
                </a:ext>
              </a:extLst>
            </p:cNvPr>
            <p:cNvSpPr/>
            <p:nvPr/>
          </p:nvSpPr>
          <p:spPr>
            <a:xfrm>
              <a:off x="457200" y="5604991"/>
              <a:ext cx="105702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52729" lvl="0">
                <a:spcBef>
                  <a:spcPts val="5"/>
                </a:spcBef>
              </a:pPr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Function: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09DE43E-BA1E-4740-A85E-98226DA04D97}"/>
                </a:ext>
              </a:extLst>
            </p:cNvPr>
            <p:cNvSpPr/>
            <p:nvPr/>
          </p:nvSpPr>
          <p:spPr>
            <a:xfrm>
              <a:off x="1834856" y="6105084"/>
              <a:ext cx="73417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4769" lvl="0" algn="ctr"/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Vertex: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126B4B3-500B-4598-B55F-38C50F480AB8}"/>
              </a:ext>
            </a:extLst>
          </p:cNvPr>
          <p:cNvGrpSpPr/>
          <p:nvPr/>
        </p:nvGrpSpPr>
        <p:grpSpPr>
          <a:xfrm>
            <a:off x="3951292" y="8644578"/>
            <a:ext cx="3263900" cy="914000"/>
            <a:chOff x="457200" y="5529581"/>
            <a:chExt cx="3263900" cy="914000"/>
          </a:xfrm>
        </p:grpSpPr>
        <p:sp>
          <p:nvSpPr>
            <p:cNvPr id="188" name="Text Box 1">
              <a:extLst>
                <a:ext uri="{FF2B5EF4-FFF2-40B4-BE49-F238E27FC236}">
                  <a16:creationId xmlns:a16="http://schemas.microsoft.com/office/drawing/2014/main" id="{DD7ECEE4-5A91-4207-B171-E5A1A9234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2885" y="5529581"/>
              <a:ext cx="2228215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92" name="Text Box 7">
              <a:extLst>
                <a:ext uri="{FF2B5EF4-FFF2-40B4-BE49-F238E27FC236}">
                  <a16:creationId xmlns:a16="http://schemas.microsoft.com/office/drawing/2014/main" id="{E443F8FE-ED60-4DE1-8227-97CD89057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735" y="6032736"/>
              <a:ext cx="1142365" cy="41084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909866C0-6EE3-4027-9817-E4DA361022F9}"/>
                </a:ext>
              </a:extLst>
            </p:cNvPr>
            <p:cNvSpPr/>
            <p:nvPr/>
          </p:nvSpPr>
          <p:spPr>
            <a:xfrm>
              <a:off x="457200" y="5604991"/>
              <a:ext cx="105702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52729" lvl="0">
                <a:spcBef>
                  <a:spcPts val="5"/>
                </a:spcBef>
              </a:pPr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Function: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C3E82437-872F-4D97-8CA5-9F0243A75468}"/>
                </a:ext>
              </a:extLst>
            </p:cNvPr>
            <p:cNvSpPr/>
            <p:nvPr/>
          </p:nvSpPr>
          <p:spPr>
            <a:xfrm>
              <a:off x="1834856" y="6105084"/>
              <a:ext cx="73417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4769" lvl="0" algn="ctr"/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Vertex: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</p:grpSp>
      <p:sp>
        <p:nvSpPr>
          <p:cNvPr id="197" name="Text Box 30">
            <a:extLst>
              <a:ext uri="{FF2B5EF4-FFF2-40B4-BE49-F238E27FC236}">
                <a16:creationId xmlns:a16="http://schemas.microsoft.com/office/drawing/2014/main" id="{DE6F73AA-A2A4-497F-9FC2-D24E2AA2E248}"/>
              </a:ext>
            </a:extLst>
          </p:cNvPr>
          <p:cNvSpPr txBox="1"/>
          <p:nvPr/>
        </p:nvSpPr>
        <p:spPr>
          <a:xfrm>
            <a:off x="1724765" y="1426061"/>
            <a:ext cx="884766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7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8" name="Text Box 313">
            <a:extLst>
              <a:ext uri="{FF2B5EF4-FFF2-40B4-BE49-F238E27FC236}">
                <a16:creationId xmlns:a16="http://schemas.microsoft.com/office/drawing/2014/main" id="{880059A1-B6BE-4D6B-BCFA-2207215D6C23}"/>
              </a:ext>
            </a:extLst>
          </p:cNvPr>
          <p:cNvSpPr txBox="1"/>
          <p:nvPr/>
        </p:nvSpPr>
        <p:spPr>
          <a:xfrm>
            <a:off x="1724728" y="1797897"/>
            <a:ext cx="1038163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 7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9" name="Text Box 67">
            <a:extLst>
              <a:ext uri="{FF2B5EF4-FFF2-40B4-BE49-F238E27FC236}">
                <a16:creationId xmlns:a16="http://schemas.microsoft.com/office/drawing/2014/main" id="{ADDF8AE8-4B01-40D2-8A51-B170D8E4A5DE}"/>
              </a:ext>
            </a:extLst>
          </p:cNvPr>
          <p:cNvSpPr txBox="1"/>
          <p:nvPr/>
        </p:nvSpPr>
        <p:spPr>
          <a:xfrm>
            <a:off x="1732348" y="2520032"/>
            <a:ext cx="1067654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 7 units</a:t>
            </a:r>
          </a:p>
        </p:txBody>
      </p:sp>
      <p:sp>
        <p:nvSpPr>
          <p:cNvPr id="200" name="Text Box 71">
            <a:extLst>
              <a:ext uri="{FF2B5EF4-FFF2-40B4-BE49-F238E27FC236}">
                <a16:creationId xmlns:a16="http://schemas.microsoft.com/office/drawing/2014/main" id="{E964C659-89BC-446A-BFA6-1BF8FD8700EF}"/>
              </a:ext>
            </a:extLst>
          </p:cNvPr>
          <p:cNvSpPr txBox="1"/>
          <p:nvPr/>
        </p:nvSpPr>
        <p:spPr>
          <a:xfrm>
            <a:off x="3164945" y="1430372"/>
            <a:ext cx="884766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2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1" name="Text Box 76">
            <a:extLst>
              <a:ext uri="{FF2B5EF4-FFF2-40B4-BE49-F238E27FC236}">
                <a16:creationId xmlns:a16="http://schemas.microsoft.com/office/drawing/2014/main" id="{31AC9DEC-172E-4859-948C-DF835E270884}"/>
              </a:ext>
            </a:extLst>
          </p:cNvPr>
          <p:cNvSpPr txBox="1"/>
          <p:nvPr/>
        </p:nvSpPr>
        <p:spPr>
          <a:xfrm>
            <a:off x="3164908" y="1804957"/>
            <a:ext cx="1038163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 2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2" name="Text Box 84">
            <a:extLst>
              <a:ext uri="{FF2B5EF4-FFF2-40B4-BE49-F238E27FC236}">
                <a16:creationId xmlns:a16="http://schemas.microsoft.com/office/drawing/2014/main" id="{8DD067D7-5DAF-4145-A4A9-149407310ED3}"/>
              </a:ext>
            </a:extLst>
          </p:cNvPr>
          <p:cNvSpPr txBox="1"/>
          <p:nvPr/>
        </p:nvSpPr>
        <p:spPr>
          <a:xfrm>
            <a:off x="3172528" y="2505349"/>
            <a:ext cx="1067654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 2 units</a:t>
            </a:r>
          </a:p>
        </p:txBody>
      </p:sp>
      <p:sp>
        <p:nvSpPr>
          <p:cNvPr id="203" name="Text Box 88">
            <a:extLst>
              <a:ext uri="{FF2B5EF4-FFF2-40B4-BE49-F238E27FC236}">
                <a16:creationId xmlns:a16="http://schemas.microsoft.com/office/drawing/2014/main" id="{20D74432-1672-444F-B652-8ABF500777E8}"/>
              </a:ext>
            </a:extLst>
          </p:cNvPr>
          <p:cNvSpPr txBox="1"/>
          <p:nvPr/>
        </p:nvSpPr>
        <p:spPr>
          <a:xfrm>
            <a:off x="4577192" y="1423540"/>
            <a:ext cx="1299033" cy="2649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Stretch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4" name="Text Box 92">
            <a:extLst>
              <a:ext uri="{FF2B5EF4-FFF2-40B4-BE49-F238E27FC236}">
                <a16:creationId xmlns:a16="http://schemas.microsoft.com/office/drawing/2014/main" id="{D0FC3456-F192-4A11-AD26-974783CBD6F1}"/>
              </a:ext>
            </a:extLst>
          </p:cNvPr>
          <p:cNvSpPr txBox="1"/>
          <p:nvPr/>
        </p:nvSpPr>
        <p:spPr>
          <a:xfrm>
            <a:off x="4572185" y="1778998"/>
            <a:ext cx="176886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Compression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5" name="Text Box 324">
            <a:extLst>
              <a:ext uri="{FF2B5EF4-FFF2-40B4-BE49-F238E27FC236}">
                <a16:creationId xmlns:a16="http://schemas.microsoft.com/office/drawing/2014/main" id="{F176A997-0892-4C7C-9067-AF9E81262837}"/>
              </a:ext>
            </a:extLst>
          </p:cNvPr>
          <p:cNvSpPr txBox="1"/>
          <p:nvPr/>
        </p:nvSpPr>
        <p:spPr>
          <a:xfrm>
            <a:off x="4610597" y="2500094"/>
            <a:ext cx="1527884" cy="2649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Reflection in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-axis</a:t>
            </a:r>
          </a:p>
        </p:txBody>
      </p:sp>
      <p:sp>
        <p:nvSpPr>
          <p:cNvPr id="206" name="Text Box 320">
            <a:extLst>
              <a:ext uri="{FF2B5EF4-FFF2-40B4-BE49-F238E27FC236}">
                <a16:creationId xmlns:a16="http://schemas.microsoft.com/office/drawing/2014/main" id="{8C9B0A88-39A6-433B-83FB-33103567A884}"/>
              </a:ext>
            </a:extLst>
          </p:cNvPr>
          <p:cNvSpPr txBox="1"/>
          <p:nvPr/>
        </p:nvSpPr>
        <p:spPr>
          <a:xfrm>
            <a:off x="4596455" y="2136260"/>
            <a:ext cx="1490581" cy="2649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Reflection in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-axis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7" name="Text Box 80">
            <a:extLst>
              <a:ext uri="{FF2B5EF4-FFF2-40B4-BE49-F238E27FC236}">
                <a16:creationId xmlns:a16="http://schemas.microsoft.com/office/drawing/2014/main" id="{26D17634-26AE-4BF1-82F5-27769793C913}"/>
              </a:ext>
            </a:extLst>
          </p:cNvPr>
          <p:cNvSpPr txBox="1"/>
          <p:nvPr/>
        </p:nvSpPr>
        <p:spPr>
          <a:xfrm>
            <a:off x="3172565" y="2156037"/>
            <a:ext cx="884766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2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8" name="Text Box 319">
            <a:extLst>
              <a:ext uri="{FF2B5EF4-FFF2-40B4-BE49-F238E27FC236}">
                <a16:creationId xmlns:a16="http://schemas.microsoft.com/office/drawing/2014/main" id="{C30C943E-2394-4A2B-84E2-BA420ED6642D}"/>
              </a:ext>
            </a:extLst>
          </p:cNvPr>
          <p:cNvSpPr txBox="1"/>
          <p:nvPr/>
        </p:nvSpPr>
        <p:spPr>
          <a:xfrm>
            <a:off x="1732385" y="2154272"/>
            <a:ext cx="884766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7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C66272-00CE-4BAF-844A-5614760A2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56" y="8349088"/>
            <a:ext cx="1713124" cy="1201016"/>
          </a:xfrm>
          <a:prstGeom prst="rect">
            <a:avLst/>
          </a:prstGeom>
        </p:spPr>
      </p:pic>
      <p:sp>
        <p:nvSpPr>
          <p:cNvPr id="205" name="Rectangle 204">
            <a:extLst>
              <a:ext uri="{FF2B5EF4-FFF2-40B4-BE49-F238E27FC236}">
                <a16:creationId xmlns:a16="http://schemas.microsoft.com/office/drawing/2014/main" id="{9AE589FD-961F-40C3-B0DE-D2F2DA2FBFC3}"/>
              </a:ext>
            </a:extLst>
          </p:cNvPr>
          <p:cNvSpPr/>
          <p:nvPr/>
        </p:nvSpPr>
        <p:spPr>
          <a:xfrm>
            <a:off x="408144" y="420986"/>
            <a:ext cx="36872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Graph each function.  State the domain and range.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06" name="Rectangle 2">
            <a:extLst>
              <a:ext uri="{FF2B5EF4-FFF2-40B4-BE49-F238E27FC236}">
                <a16:creationId xmlns:a16="http://schemas.microsoft.com/office/drawing/2014/main" id="{9301ADAC-F240-44C2-B496-48FF9CEE3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97" y="883641"/>
            <a:ext cx="38183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18.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graphicFrame>
        <p:nvGraphicFramePr>
          <p:cNvPr id="207" name="Object 206">
            <a:extLst>
              <a:ext uri="{FF2B5EF4-FFF2-40B4-BE49-F238E27FC236}">
                <a16:creationId xmlns:a16="http://schemas.microsoft.com/office/drawing/2014/main" id="{B2F5397E-92D1-41F4-96CE-306A9E1582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988" y="806450"/>
          <a:ext cx="1384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84200" imgH="457200" progId="Equation.DSMT4">
                  <p:embed/>
                </p:oleObj>
              </mc:Choice>
              <mc:Fallback>
                <p:oleObj name="Equation" r:id="rId5" imgW="1384200" imgH="457200" progId="Equation.DSMT4">
                  <p:embed/>
                  <p:pic>
                    <p:nvPicPr>
                      <p:cNvPr id="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806450"/>
                        <a:ext cx="138430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Object 207">
            <a:extLst>
              <a:ext uri="{FF2B5EF4-FFF2-40B4-BE49-F238E27FC236}">
                <a16:creationId xmlns:a16="http://schemas.microsoft.com/office/drawing/2014/main" id="{9A3ACE13-588C-4C2E-95A2-3A1ACD894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5925" y="677863"/>
          <a:ext cx="21875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120" imgH="711000" progId="Equation.DSMT4">
                  <p:embed/>
                </p:oleObj>
              </mc:Choice>
              <mc:Fallback>
                <p:oleObj name="Equation" r:id="rId7" imgW="2184120" imgH="711000" progId="Equation.DSMT4">
                  <p:embed/>
                  <p:pic>
                    <p:nvPicPr>
                      <p:cNvPr id="4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5" y="677863"/>
                        <a:ext cx="2187575" cy="711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" name="Rectangle 208">
            <a:extLst>
              <a:ext uri="{FF2B5EF4-FFF2-40B4-BE49-F238E27FC236}">
                <a16:creationId xmlns:a16="http://schemas.microsoft.com/office/drawing/2014/main" id="{FD2AAEA6-A76F-4752-9576-8BE8E43E74E1}"/>
              </a:ext>
            </a:extLst>
          </p:cNvPr>
          <p:cNvSpPr/>
          <p:nvPr/>
        </p:nvSpPr>
        <p:spPr>
          <a:xfrm>
            <a:off x="3860704" y="89947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19.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10" name="Table 209">
            <a:extLst>
              <a:ext uri="{FF2B5EF4-FFF2-40B4-BE49-F238E27FC236}">
                <a16:creationId xmlns:a16="http://schemas.microsoft.com/office/drawing/2014/main" id="{5CCBA65F-200A-43C0-8834-B2EDF6CFE0B6}"/>
              </a:ext>
            </a:extLst>
          </p:cNvPr>
          <p:cNvGraphicFramePr>
            <a:graphicFrameLocks noGrp="1"/>
          </p:cNvGraphicFramePr>
          <p:nvPr/>
        </p:nvGraphicFramePr>
        <p:xfrm>
          <a:off x="396898" y="4374181"/>
          <a:ext cx="3526974" cy="561150"/>
        </p:xfrm>
        <a:graphic>
          <a:graphicData uri="http://schemas.openxmlformats.org/drawingml/2006/table">
            <a:tbl>
              <a:tblPr/>
              <a:tblGrid>
                <a:gridCol w="3526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Identify the function family and give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equation of the parent function for the set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of functions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Rectangle 210">
            <a:extLst>
              <a:ext uri="{FF2B5EF4-FFF2-40B4-BE49-F238E27FC236}">
                <a16:creationId xmlns:a16="http://schemas.microsoft.com/office/drawing/2014/main" id="{4DBC87F4-8108-44AE-A2F0-6917AAC20A8E}"/>
              </a:ext>
            </a:extLst>
          </p:cNvPr>
          <p:cNvSpPr/>
          <p:nvPr/>
        </p:nvSpPr>
        <p:spPr>
          <a:xfrm>
            <a:off x="3870300" y="4339336"/>
            <a:ext cx="345325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21.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graph of a function is shown below. 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Identify its function family and the equation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of the parent function.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12" name="Object 211">
            <a:extLst>
              <a:ext uri="{FF2B5EF4-FFF2-40B4-BE49-F238E27FC236}">
                <a16:creationId xmlns:a16="http://schemas.microsoft.com/office/drawing/2014/main" id="{FEDCE096-1AD3-4B18-A03B-415911F84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" y="5099050"/>
          <a:ext cx="299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97000" imgH="431640" progId="Equation.DSMT4">
                  <p:embed/>
                </p:oleObj>
              </mc:Choice>
              <mc:Fallback>
                <p:oleObj name="Equation" r:id="rId9" imgW="2997000" imgH="43164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3900" y="5099050"/>
                        <a:ext cx="2997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" name="Rectangle 212">
            <a:extLst>
              <a:ext uri="{FF2B5EF4-FFF2-40B4-BE49-F238E27FC236}">
                <a16:creationId xmlns:a16="http://schemas.microsoft.com/office/drawing/2014/main" id="{A75FADE7-E761-4313-B159-4BCF4AAFFF7C}"/>
              </a:ext>
            </a:extLst>
          </p:cNvPr>
          <p:cNvSpPr/>
          <p:nvPr/>
        </p:nvSpPr>
        <p:spPr>
          <a:xfrm>
            <a:off x="3890671" y="7825996"/>
            <a:ext cx="342453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23.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function has a range of all real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numbers greater than or equal to -4?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14" name="Text Box 19">
            <a:extLst>
              <a:ext uri="{FF2B5EF4-FFF2-40B4-BE49-F238E27FC236}">
                <a16:creationId xmlns:a16="http://schemas.microsoft.com/office/drawing/2014/main" id="{F0862F36-83C4-415C-97D2-A10A98795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9166457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AC0292D-DBF1-4E3A-82C5-BCDF75EEC4AC}"/>
              </a:ext>
            </a:extLst>
          </p:cNvPr>
          <p:cNvSpPr/>
          <p:nvPr/>
        </p:nvSpPr>
        <p:spPr>
          <a:xfrm>
            <a:off x="432570" y="7825904"/>
            <a:ext cx="352983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22.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parent functions have a domain of all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real numbers?  Check all that apply.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B41B88E-6D07-45C6-87B8-52604BB4E675}"/>
              </a:ext>
            </a:extLst>
          </p:cNvPr>
          <p:cNvSpPr/>
          <p:nvPr/>
        </p:nvSpPr>
        <p:spPr>
          <a:xfrm>
            <a:off x="4180956" y="8474892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A.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00832F5A-13B5-45ED-B09B-2DDB305519CB}"/>
              </a:ext>
            </a:extLst>
          </p:cNvPr>
          <p:cNvSpPr/>
          <p:nvPr/>
        </p:nvSpPr>
        <p:spPr>
          <a:xfrm>
            <a:off x="4177988" y="8749109"/>
            <a:ext cx="3064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B.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33F4F2AA-F32A-4644-8813-0E312EAFA11F}"/>
              </a:ext>
            </a:extLst>
          </p:cNvPr>
          <p:cNvSpPr/>
          <p:nvPr/>
        </p:nvSpPr>
        <p:spPr>
          <a:xfrm>
            <a:off x="4183547" y="9020205"/>
            <a:ext cx="3353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C.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FC74C54-ADAE-4814-A361-F0782C657759}"/>
              </a:ext>
            </a:extLst>
          </p:cNvPr>
          <p:cNvSpPr/>
          <p:nvPr/>
        </p:nvSpPr>
        <p:spPr>
          <a:xfrm>
            <a:off x="4188774" y="9312555"/>
            <a:ext cx="3786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D.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20" name="Object 219">
            <a:extLst>
              <a:ext uri="{FF2B5EF4-FFF2-40B4-BE49-F238E27FC236}">
                <a16:creationId xmlns:a16="http://schemas.microsoft.com/office/drawing/2014/main" id="{05327566-EC3A-4507-92DA-211BA70AF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4304" y="8500380"/>
          <a:ext cx="762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760" imgH="203040" progId="Equation.DSMT4">
                  <p:embed/>
                </p:oleObj>
              </mc:Choice>
              <mc:Fallback>
                <p:oleObj name="Equation" r:id="rId11" imgW="761760" imgH="20304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54304" y="8500380"/>
                        <a:ext cx="762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" name="Object 220">
            <a:extLst>
              <a:ext uri="{FF2B5EF4-FFF2-40B4-BE49-F238E27FC236}">
                <a16:creationId xmlns:a16="http://schemas.microsoft.com/office/drawing/2014/main" id="{58FE41FC-D575-4772-81CF-9B20925E8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4304" y="8775700"/>
          <a:ext cx="711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11000" imgH="203040" progId="Equation.DSMT4">
                  <p:embed/>
                </p:oleObj>
              </mc:Choice>
              <mc:Fallback>
                <p:oleObj name="Equation" r:id="rId13" imgW="711000" imgH="20304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54304" y="8775700"/>
                        <a:ext cx="711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" name="Object 221">
            <a:extLst>
              <a:ext uri="{FF2B5EF4-FFF2-40B4-BE49-F238E27FC236}">
                <a16:creationId xmlns:a16="http://schemas.microsoft.com/office/drawing/2014/main" id="{483A5AC1-FB84-48D6-8DB7-CEAD872794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4304" y="9015413"/>
          <a:ext cx="1117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228600" progId="Equation.DSMT4">
                  <p:embed/>
                </p:oleObj>
              </mc:Choice>
              <mc:Fallback>
                <p:oleObj name="Equation" r:id="rId15" imgW="1117440" imgH="22860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54304" y="9015413"/>
                        <a:ext cx="1117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" name="Object 222">
            <a:extLst>
              <a:ext uri="{FF2B5EF4-FFF2-40B4-BE49-F238E27FC236}">
                <a16:creationId xmlns:a16="http://schemas.microsoft.com/office/drawing/2014/main" id="{942DEE5D-F280-4B3B-8AE0-A60F7CA18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4304" y="9328372"/>
          <a:ext cx="1130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30040" imgH="241200" progId="Equation.DSMT4">
                  <p:embed/>
                </p:oleObj>
              </mc:Choice>
              <mc:Fallback>
                <p:oleObj name="Equation" r:id="rId17" imgW="1130040" imgH="24120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4304" y="9328372"/>
                        <a:ext cx="1130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" name="Rectangle 223">
            <a:extLst>
              <a:ext uri="{FF2B5EF4-FFF2-40B4-BE49-F238E27FC236}">
                <a16:creationId xmlns:a16="http://schemas.microsoft.com/office/drawing/2014/main" id="{D0A95917-319E-4E3F-9AFB-4681A3097D76}"/>
              </a:ext>
            </a:extLst>
          </p:cNvPr>
          <p:cNvSpPr/>
          <p:nvPr/>
        </p:nvSpPr>
        <p:spPr>
          <a:xfrm>
            <a:off x="403058" y="3967081"/>
            <a:ext cx="35157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9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______________________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9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____________________</a:t>
            </a:r>
            <a:endParaRPr lang="en-US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84DAF32-AF51-406F-B418-E31D14C3A09E}"/>
              </a:ext>
            </a:extLst>
          </p:cNvPr>
          <p:cNvSpPr/>
          <p:nvPr/>
        </p:nvSpPr>
        <p:spPr>
          <a:xfrm>
            <a:off x="3862774" y="3967081"/>
            <a:ext cx="35012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: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______________________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+mn-cs"/>
              </a:rPr>
              <a:t>: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+mn-cs"/>
              </a:rPr>
              <a:t>____________________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53F22A38-0261-41C4-ACBD-1AD317228396}"/>
              </a:ext>
            </a:extLst>
          </p:cNvPr>
          <p:cNvGrpSpPr/>
          <p:nvPr/>
        </p:nvGrpSpPr>
        <p:grpSpPr>
          <a:xfrm>
            <a:off x="4495800" y="6858000"/>
            <a:ext cx="2712104" cy="867146"/>
            <a:chOff x="4436724" y="6834560"/>
            <a:chExt cx="2712104" cy="867146"/>
          </a:xfrm>
        </p:grpSpPr>
        <p:sp>
          <p:nvSpPr>
            <p:cNvPr id="307" name="Text Box 23">
              <a:extLst>
                <a:ext uri="{FF2B5EF4-FFF2-40B4-BE49-F238E27FC236}">
                  <a16:creationId xmlns:a16="http://schemas.microsoft.com/office/drawing/2014/main" id="{F83E547B-F892-463E-95F4-59F360428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8333" y="7306736"/>
              <a:ext cx="1420495" cy="3949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E6675950-ED55-4136-B2BF-2A794B1CE79D}"/>
                </a:ext>
              </a:extLst>
            </p:cNvPr>
            <p:cNvGrpSpPr/>
            <p:nvPr/>
          </p:nvGrpSpPr>
          <p:grpSpPr>
            <a:xfrm>
              <a:off x="4436724" y="6834560"/>
              <a:ext cx="2704313" cy="394970"/>
              <a:chOff x="4436724" y="6779765"/>
              <a:chExt cx="2704313" cy="394970"/>
            </a:xfrm>
          </p:grpSpPr>
          <p:sp>
            <p:nvSpPr>
              <p:cNvPr id="310" name="Text Box 23">
                <a:extLst>
                  <a:ext uri="{FF2B5EF4-FFF2-40B4-BE49-F238E27FC236}">
                    <a16:creationId xmlns:a16="http://schemas.microsoft.com/office/drawing/2014/main" id="{4E701ECA-6ECF-42F0-8F49-F816A47500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0542" y="6779765"/>
                <a:ext cx="1420495" cy="39497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8ED3BFFB-0783-4BD5-B11E-4A6E4DD4B2B9}"/>
                  </a:ext>
                </a:extLst>
              </p:cNvPr>
              <p:cNvSpPr/>
              <p:nvPr/>
            </p:nvSpPr>
            <p:spPr>
              <a:xfrm>
                <a:off x="4436724" y="6840876"/>
                <a:ext cx="131350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100" b="1" kern="0" spc="-5" dirty="0">
                    <a:solidFill>
                      <a:prstClr val="black"/>
                    </a:solidFill>
                    <a:latin typeface="Century Gothic" panose="020B0502020202020204" pitchFamily="34" charset="0"/>
                    <a:cs typeface="Tahoma"/>
                  </a:rPr>
                  <a:t>Function Family: </a:t>
                </a:r>
                <a:endParaRPr lang="en-US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FB273526-7247-483B-97FC-2835D809DADF}"/>
                </a:ext>
              </a:extLst>
            </p:cNvPr>
            <p:cNvSpPr/>
            <p:nvPr/>
          </p:nvSpPr>
          <p:spPr>
            <a:xfrm>
              <a:off x="4457272" y="7391400"/>
              <a:ext cx="130388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Parent Function: </a:t>
              </a: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FAE8D16-8916-48F9-906D-FCA9533FC071}"/>
              </a:ext>
            </a:extLst>
          </p:cNvPr>
          <p:cNvGrpSpPr/>
          <p:nvPr/>
        </p:nvGrpSpPr>
        <p:grpSpPr>
          <a:xfrm>
            <a:off x="1066800" y="6858000"/>
            <a:ext cx="2712104" cy="867146"/>
            <a:chOff x="4436724" y="6834560"/>
            <a:chExt cx="2712104" cy="867146"/>
          </a:xfrm>
        </p:grpSpPr>
        <p:sp>
          <p:nvSpPr>
            <p:cNvPr id="313" name="Text Box 23">
              <a:extLst>
                <a:ext uri="{FF2B5EF4-FFF2-40B4-BE49-F238E27FC236}">
                  <a16:creationId xmlns:a16="http://schemas.microsoft.com/office/drawing/2014/main" id="{4C59A440-15B0-466D-8A5A-2BEC88D47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8333" y="7306736"/>
              <a:ext cx="1420495" cy="3949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61FC5F3D-CCAC-4A6D-B5F3-518990564526}"/>
                </a:ext>
              </a:extLst>
            </p:cNvPr>
            <p:cNvGrpSpPr/>
            <p:nvPr/>
          </p:nvGrpSpPr>
          <p:grpSpPr>
            <a:xfrm>
              <a:off x="4436724" y="6834560"/>
              <a:ext cx="2704313" cy="394970"/>
              <a:chOff x="4436724" y="6779765"/>
              <a:chExt cx="2704313" cy="394970"/>
            </a:xfrm>
          </p:grpSpPr>
          <p:sp>
            <p:nvSpPr>
              <p:cNvPr id="316" name="Text Box 23">
                <a:extLst>
                  <a:ext uri="{FF2B5EF4-FFF2-40B4-BE49-F238E27FC236}">
                    <a16:creationId xmlns:a16="http://schemas.microsoft.com/office/drawing/2014/main" id="{A783EFCB-4B58-4211-A812-4B4C1DF232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0542" y="6779765"/>
                <a:ext cx="1420495" cy="39497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800EEDFF-CE2E-4DE3-A57A-39CE002380D8}"/>
                  </a:ext>
                </a:extLst>
              </p:cNvPr>
              <p:cNvSpPr/>
              <p:nvPr/>
            </p:nvSpPr>
            <p:spPr>
              <a:xfrm>
                <a:off x="4436724" y="6840876"/>
                <a:ext cx="131350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100" b="1" kern="0" spc="-5" dirty="0">
                    <a:solidFill>
                      <a:prstClr val="black"/>
                    </a:solidFill>
                    <a:latin typeface="Century Gothic" panose="020B0502020202020204" pitchFamily="34" charset="0"/>
                    <a:cs typeface="Tahoma"/>
                  </a:rPr>
                  <a:t>Function Family: </a:t>
                </a:r>
                <a:endParaRPr lang="en-US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2CC4B256-B176-49E1-9781-4514B9D07043}"/>
                </a:ext>
              </a:extLst>
            </p:cNvPr>
            <p:cNvSpPr/>
            <p:nvPr/>
          </p:nvSpPr>
          <p:spPr>
            <a:xfrm>
              <a:off x="4457272" y="7391400"/>
              <a:ext cx="130388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Parent Function: </a:t>
              </a: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F68CC71-41E1-4ADC-B9B5-3B3D379971F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1371600"/>
            <a:ext cx="2542252" cy="2542252"/>
          </a:xfrm>
          <a:prstGeom prst="rect">
            <a:avLst/>
          </a:prstGeom>
        </p:spPr>
      </p:pic>
      <p:pic>
        <p:nvPicPr>
          <p:cNvPr id="366" name="Picture 365">
            <a:extLst>
              <a:ext uri="{FF2B5EF4-FFF2-40B4-BE49-F238E27FC236}">
                <a16:creationId xmlns:a16="http://schemas.microsoft.com/office/drawing/2014/main" id="{659E0A58-FD4C-46C5-81FB-5975299BC79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1371600"/>
            <a:ext cx="2542252" cy="2542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30F48C-9E18-486E-9A2D-2F2E1C606C9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00600" y="4876800"/>
            <a:ext cx="1920406" cy="1914310"/>
          </a:xfrm>
          <a:prstGeom prst="rect">
            <a:avLst/>
          </a:prstGeom>
        </p:spPr>
      </p:pic>
      <p:sp>
        <p:nvSpPr>
          <p:cNvPr id="367" name="Text Box 302">
            <a:extLst>
              <a:ext uri="{FF2B5EF4-FFF2-40B4-BE49-F238E27FC236}">
                <a16:creationId xmlns:a16="http://schemas.microsoft.com/office/drawing/2014/main" id="{8655C02F-11D3-4046-B3D2-C5EAF5250106}"/>
              </a:ext>
            </a:extLst>
          </p:cNvPr>
          <p:cNvSpPr txBox="1"/>
          <p:nvPr/>
        </p:nvSpPr>
        <p:spPr>
          <a:xfrm>
            <a:off x="1044246" y="8451089"/>
            <a:ext cx="884697" cy="26536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" name="Text Box 306">
            <a:extLst>
              <a:ext uri="{FF2B5EF4-FFF2-40B4-BE49-F238E27FC236}">
                <a16:creationId xmlns:a16="http://schemas.microsoft.com/office/drawing/2014/main" id="{EBE221E8-E30E-488F-84AA-669B89D441AE}"/>
              </a:ext>
            </a:extLst>
          </p:cNvPr>
          <p:cNvSpPr txBox="1"/>
          <p:nvPr/>
        </p:nvSpPr>
        <p:spPr>
          <a:xfrm>
            <a:off x="1039789" y="8808473"/>
            <a:ext cx="1312788" cy="26536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Absolute Value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9" name="Text Box 315">
            <a:extLst>
              <a:ext uri="{FF2B5EF4-FFF2-40B4-BE49-F238E27FC236}">
                <a16:creationId xmlns:a16="http://schemas.microsoft.com/office/drawing/2014/main" id="{2EFFA487-C4A8-4B33-BB1C-CC32087D3952}"/>
              </a:ext>
            </a:extLst>
          </p:cNvPr>
          <p:cNvSpPr txBox="1"/>
          <p:nvPr/>
        </p:nvSpPr>
        <p:spPr>
          <a:xfrm>
            <a:off x="1044249" y="9159928"/>
            <a:ext cx="884697" cy="26536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Quadratic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B03599A-2754-480B-BFEE-F05933DF9E9F}"/>
              </a:ext>
            </a:extLst>
          </p:cNvPr>
          <p:cNvGraphicFramePr>
            <a:graphicFrameLocks noGrp="1"/>
          </p:cNvGraphicFramePr>
          <p:nvPr/>
        </p:nvGraphicFramePr>
        <p:xfrm>
          <a:off x="416844" y="467798"/>
          <a:ext cx="3542189" cy="533400"/>
        </p:xfrm>
        <a:graphic>
          <a:graphicData uri="http://schemas.openxmlformats.org/drawingml/2006/table">
            <a:tbl>
              <a:tblPr/>
              <a:tblGrid>
                <a:gridCol w="3542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Given the function below, which of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following describes the end behavior as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approaches positive infinity?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Text Box 807">
            <a:extLst>
              <a:ext uri="{FF2B5EF4-FFF2-40B4-BE49-F238E27FC236}">
                <a16:creationId xmlns:a16="http://schemas.microsoft.com/office/drawing/2014/main" id="{2F59D892-8291-4364-9FA9-215A8A8A8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2805684" cy="1126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approaches positive infinity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approaches negative infinity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1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pproaches -1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C7B4537-527B-4A4A-A31C-3998D11E0884}"/>
              </a:ext>
            </a:extLst>
          </p:cNvPr>
          <p:cNvGraphicFramePr>
            <a:graphicFrameLocks noGrp="1"/>
          </p:cNvGraphicFramePr>
          <p:nvPr/>
        </p:nvGraphicFramePr>
        <p:xfrm>
          <a:off x="3840953" y="464011"/>
          <a:ext cx="3523677" cy="578676"/>
        </p:xfrm>
        <a:graphic>
          <a:graphicData uri="http://schemas.openxmlformats.org/drawingml/2006/table">
            <a:tbl>
              <a:tblPr/>
              <a:tblGrid>
                <a:gridCol w="3523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Given the function below, which of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following describes the end behavior as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approaches negative infinity?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 Box 39">
            <a:extLst>
              <a:ext uri="{FF2B5EF4-FFF2-40B4-BE49-F238E27FC236}">
                <a16:creationId xmlns:a16="http://schemas.microsoft.com/office/drawing/2014/main" id="{D1F8DAB5-D3E4-4FC5-9404-6F1546621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609" y="2626139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CDA36260-159B-44EB-AE30-C5E650843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449" y="2635924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5" name="Text Box 807">
            <a:extLst>
              <a:ext uri="{FF2B5EF4-FFF2-40B4-BE49-F238E27FC236}">
                <a16:creationId xmlns:a16="http://schemas.microsoft.com/office/drawing/2014/main" id="{EEA36EF4-4F1E-4DA3-97FF-CC9414C71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905000"/>
            <a:ext cx="2716607" cy="106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positive infinity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pproaches negative infinity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entury Gothic" panose="020B0502020202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6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approaches -6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B842C1B1-630E-40D3-BF34-86EF86DA7696}"/>
              </a:ext>
            </a:extLst>
          </p:cNvPr>
          <p:cNvGraphicFramePr>
            <a:graphicFrameLocks noGrp="1"/>
          </p:cNvGraphicFramePr>
          <p:nvPr/>
        </p:nvGraphicFramePr>
        <p:xfrm>
          <a:off x="400204" y="3130091"/>
          <a:ext cx="3512501" cy="466344"/>
        </p:xfrm>
        <a:graphic>
          <a:graphicData uri="http://schemas.openxmlformats.org/drawingml/2006/table">
            <a:tbl>
              <a:tblPr/>
              <a:tblGrid>
                <a:gridCol w="3512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of the following describes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behavior of the function below as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approaches positive or negative infinity?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5C7AF37A-2E11-4D4B-99DE-621D7D9A2A8D}"/>
              </a:ext>
            </a:extLst>
          </p:cNvPr>
          <p:cNvGraphicFramePr>
            <a:graphicFrameLocks noGrp="1"/>
          </p:cNvGraphicFramePr>
          <p:nvPr/>
        </p:nvGraphicFramePr>
        <p:xfrm>
          <a:off x="3855731" y="3135217"/>
          <a:ext cx="3513316" cy="368364"/>
        </p:xfrm>
        <a:graphic>
          <a:graphicData uri="http://schemas.openxmlformats.org/drawingml/2006/table">
            <a:tbl>
              <a:tblPr/>
              <a:tblGrid>
                <a:gridCol w="3513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Over what interval is the function below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decreasing?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Text Box 807">
            <a:extLst>
              <a:ext uri="{FF2B5EF4-FFF2-40B4-BE49-F238E27FC236}">
                <a16:creationId xmlns:a16="http://schemas.microsoft.com/office/drawing/2014/main" id="{CEF42FBD-8E59-48F9-A6CA-AE3A167F5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2881884" cy="1126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positive infinity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negative infinity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entury Gothic" panose="020B0502020202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sz="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Century Gothic" panose="020B0502020202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 Box 807">
                <a:extLst>
                  <a:ext uri="{FF2B5EF4-FFF2-40B4-BE49-F238E27FC236}">
                    <a16:creationId xmlns:a16="http://schemas.microsoft.com/office/drawing/2014/main" id="{0063CAF7-D108-40BA-911D-1F6D3D4C73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7200" y="4343400"/>
                <a:ext cx="1143000" cy="1126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4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A.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125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-3</a:t>
                </a:r>
                <a:b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B.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-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125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3</a:t>
                </a:r>
                <a:b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C. 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-3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sz="125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b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D.  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sz="125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endPara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Text Box 807">
                <a:extLst>
                  <a:ext uri="{FF2B5EF4-FFF2-40B4-BE49-F238E27FC236}">
                    <a16:creationId xmlns:a16="http://schemas.microsoft.com/office/drawing/2014/main" id="{0063CAF7-D108-40BA-911D-1F6D3D4C7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4343400"/>
                <a:ext cx="1143000" cy="1126490"/>
              </a:xfrm>
              <a:prstGeom prst="rect">
                <a:avLst/>
              </a:prstGeom>
              <a:blipFill>
                <a:blip r:embed="rId3"/>
                <a:stretch>
                  <a:fillRect b="-48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5C77594C-12CD-4FAB-BAB3-8CBDE7A64F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066800"/>
          <a:ext cx="1041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380880" progId="Equation.DSMT4">
                  <p:embed/>
                </p:oleObj>
              </mc:Choice>
              <mc:Fallback>
                <p:oleObj name="Equation" r:id="rId4" imgW="1041120" imgH="38088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4000" y="1066800"/>
                        <a:ext cx="1041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53BCF6E8-F3F7-43C7-BEF8-214D6B788B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219200"/>
          <a:ext cx="1244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228600" progId="Equation.DSMT4">
                  <p:embed/>
                </p:oleObj>
              </mc:Choice>
              <mc:Fallback>
                <p:oleObj name="Equation" r:id="rId6" imgW="1244520" imgH="2286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76800" y="1219200"/>
                        <a:ext cx="1244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6121DD68-D398-465B-AD67-0D3F6FD55D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717925"/>
          <a:ext cx="1206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241200" progId="Equation.DSMT4">
                  <p:embed/>
                </p:oleObj>
              </mc:Choice>
              <mc:Fallback>
                <p:oleObj name="Equation" r:id="rId8" imgW="1206360" imgH="24120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4000" y="3717925"/>
                        <a:ext cx="1206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47EE107A-C926-4075-B05B-EC19B5821E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4263" y="3711575"/>
          <a:ext cx="1333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440" imgH="228600" progId="Equation.DSMT4">
                  <p:embed/>
                </p:oleObj>
              </mc:Choice>
              <mc:Fallback>
                <p:oleObj name="Equation" r:id="rId10" imgW="1333440" imgH="2286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94263" y="3711575"/>
                        <a:ext cx="1333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43">
            <a:extLst>
              <a:ext uri="{FF2B5EF4-FFF2-40B4-BE49-F238E27FC236}">
                <a16:creationId xmlns:a16="http://schemas.microsoft.com/office/drawing/2014/main" id="{5E99EDC2-0A3B-4E13-B063-5B55DD6A9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965" y="5060849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9" name="Text Box 43">
            <a:extLst>
              <a:ext uri="{FF2B5EF4-FFF2-40B4-BE49-F238E27FC236}">
                <a16:creationId xmlns:a16="http://schemas.microsoft.com/office/drawing/2014/main" id="{AD3BAAE7-C524-42BB-AB61-1CDEE3460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240" y="5045387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64EA385-7EC3-4A66-98EE-A678CC9E7236}"/>
              </a:ext>
            </a:extLst>
          </p:cNvPr>
          <p:cNvGrpSpPr/>
          <p:nvPr/>
        </p:nvGrpSpPr>
        <p:grpSpPr>
          <a:xfrm>
            <a:off x="421814" y="5562800"/>
            <a:ext cx="5829300" cy="261610"/>
            <a:chOff x="458984" y="5562800"/>
            <a:chExt cx="5829300" cy="26161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2A29D22-C875-4AA8-97C8-13C1B6145F5E}"/>
                </a:ext>
              </a:extLst>
            </p:cNvPr>
            <p:cNvSpPr/>
            <p:nvPr/>
          </p:nvSpPr>
          <p:spPr>
            <a:xfrm>
              <a:off x="458984" y="5562800"/>
              <a:ext cx="5829300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28.  </a:t>
              </a: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Which of the following describes the function                                </a:t>
              </a:r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?</a:t>
              </a: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 </a:t>
              </a:r>
              <a:endParaRPr lang="en-US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72" name="Object 71">
              <a:extLst>
                <a:ext uri="{FF2B5EF4-FFF2-40B4-BE49-F238E27FC236}">
                  <a16:creationId xmlns:a16="http://schemas.microsoft.com/office/drawing/2014/main" id="{6D5440FD-3A8F-42E3-92A7-3FE30459B8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6200" y="5580201"/>
            <a:ext cx="1206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06360" imgH="241200" progId="Equation.DSMT4">
                    <p:embed/>
                  </p:oleObj>
                </mc:Choice>
                <mc:Fallback>
                  <p:oleObj name="Equation" r:id="rId12" imgW="1206360" imgH="241200" progId="Equation.DSMT4">
                    <p:embed/>
                    <p:pic>
                      <p:nvPicPr>
                        <p:cNvPr id="48" name="Object 47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886200" y="5580201"/>
                          <a:ext cx="1206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" name="Text Box 57">
            <a:extLst>
              <a:ext uri="{FF2B5EF4-FFF2-40B4-BE49-F238E27FC236}">
                <a16:creationId xmlns:a16="http://schemas.microsoft.com/office/drawing/2014/main" id="{B19CB9D7-7BE4-462E-8BAD-A6A86ADDA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0574" y="6850154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 Box 807">
                <a:extLst>
                  <a:ext uri="{FF2B5EF4-FFF2-40B4-BE49-F238E27FC236}">
                    <a16:creationId xmlns:a16="http://schemas.microsoft.com/office/drawing/2014/main" id="{F8635E6F-AFDB-49A7-A1BF-09C167F32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" y="6172812"/>
                <a:ext cx="5900896" cy="1126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4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A. 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-2;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-2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b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B.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Increasing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2;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b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C. 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-5;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-5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b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D. 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5;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Decreasing over the interval</a:t>
                </a:r>
                <a:r>
                  <a:rPr lang="en-US" sz="110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 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sz="1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100" dirty="0">
                    <a:effectLst/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rPr>
                      <m:t>∞</m:t>
                    </m:r>
                  </m:oMath>
                </a14:m>
                <a:endPara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Text Box 807">
                <a:extLst>
                  <a:ext uri="{FF2B5EF4-FFF2-40B4-BE49-F238E27FC236}">
                    <a16:creationId xmlns:a16="http://schemas.microsoft.com/office/drawing/2014/main" id="{F8635E6F-AFDB-49A7-A1BF-09C167F32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6172812"/>
                <a:ext cx="5900896" cy="1126490"/>
              </a:xfrm>
              <a:prstGeom prst="rect">
                <a:avLst/>
              </a:prstGeom>
              <a:blipFill>
                <a:blip r:embed="rId14"/>
                <a:stretch>
                  <a:fillRect b="-16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27E05354-52DC-4793-89DE-42378A89C413}"/>
              </a:ext>
            </a:extLst>
          </p:cNvPr>
          <p:cNvGraphicFramePr>
            <a:graphicFrameLocks noGrp="1"/>
          </p:cNvGraphicFramePr>
          <p:nvPr/>
        </p:nvGraphicFramePr>
        <p:xfrm>
          <a:off x="465612" y="7381934"/>
          <a:ext cx="5420153" cy="175451"/>
        </p:xfrm>
        <a:graphic>
          <a:graphicData uri="http://schemas.openxmlformats.org/drawingml/2006/table">
            <a:tbl>
              <a:tblPr/>
              <a:tblGrid>
                <a:gridCol w="5420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BONUS: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Write the function below in vertex form and state the vertex.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57664A1D-7F0F-4826-9378-0D48F2305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6638" y="7713663"/>
          <a:ext cx="17192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85720" imgH="380880" progId="Equation.DSMT4">
                  <p:embed/>
                </p:oleObj>
              </mc:Choice>
              <mc:Fallback>
                <p:oleObj name="Equation" r:id="rId15" imgW="1485720" imgH="3808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36638" y="7713663"/>
                        <a:ext cx="1719262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" name="Group 76">
            <a:extLst>
              <a:ext uri="{FF2B5EF4-FFF2-40B4-BE49-F238E27FC236}">
                <a16:creationId xmlns:a16="http://schemas.microsoft.com/office/drawing/2014/main" id="{203F8EAB-760C-470B-AD69-0702C0114018}"/>
              </a:ext>
            </a:extLst>
          </p:cNvPr>
          <p:cNvGrpSpPr/>
          <p:nvPr/>
        </p:nvGrpSpPr>
        <p:grpSpPr>
          <a:xfrm>
            <a:off x="4108096" y="8610600"/>
            <a:ext cx="3126507" cy="920716"/>
            <a:chOff x="4038600" y="8610600"/>
            <a:chExt cx="3126507" cy="920716"/>
          </a:xfrm>
        </p:grpSpPr>
        <p:sp>
          <p:nvSpPr>
            <p:cNvPr id="78" name="Text Box 364">
              <a:extLst>
                <a:ext uri="{FF2B5EF4-FFF2-40B4-BE49-F238E27FC236}">
                  <a16:creationId xmlns:a16="http://schemas.microsoft.com/office/drawing/2014/main" id="{8605041B-70E9-43A7-AE8D-176340FFD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892" y="8610600"/>
              <a:ext cx="2228215" cy="4114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79" name="Text Box 365">
              <a:extLst>
                <a:ext uri="{FF2B5EF4-FFF2-40B4-BE49-F238E27FC236}">
                  <a16:creationId xmlns:a16="http://schemas.microsoft.com/office/drawing/2014/main" id="{C6C8E7E5-8678-4C43-8288-8D97D0EC7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2742" y="9120471"/>
              <a:ext cx="1142365" cy="41084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1DC1F36-4D62-476F-B340-8C982E920B80}"/>
                </a:ext>
              </a:extLst>
            </p:cNvPr>
            <p:cNvSpPr/>
            <p:nvPr/>
          </p:nvSpPr>
          <p:spPr>
            <a:xfrm>
              <a:off x="4038600" y="8665466"/>
              <a:ext cx="933312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spcBef>
                  <a:spcPts val="5"/>
                </a:spcBef>
              </a:pPr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Equation: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DB75538-0E40-435F-AA3C-D7BE2D1298DA}"/>
                </a:ext>
              </a:extLst>
            </p:cNvPr>
            <p:cNvSpPr/>
            <p:nvPr/>
          </p:nvSpPr>
          <p:spPr>
            <a:xfrm>
              <a:off x="5257800" y="9220200"/>
              <a:ext cx="933312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spcBef>
                  <a:spcPts val="5"/>
                </a:spcBef>
              </a:pPr>
              <a:r>
                <a:rPr lang="en-US" sz="1100" b="1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Vertex: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939</Words>
  <Application>Microsoft Office PowerPoint</Application>
  <PresentationFormat>Custom</PresentationFormat>
  <Paragraphs>133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Cambria Math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- 24 - Unit 3 Test</dc:title>
  <dc:creator>allth</dc:creator>
  <cp:lastModifiedBy>Gina Wilson</cp:lastModifiedBy>
  <cp:revision>77</cp:revision>
  <dcterms:created xsi:type="dcterms:W3CDTF">2017-08-16T15:22:42Z</dcterms:created>
  <dcterms:modified xsi:type="dcterms:W3CDTF">2021-05-18T13:20:21Z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2017-08-16T00:00:00Z</vt:filetime>
  </property>
</Properties>
</file>