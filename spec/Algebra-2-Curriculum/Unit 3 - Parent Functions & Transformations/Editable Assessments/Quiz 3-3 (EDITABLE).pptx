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1418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795645" y="9811273"/>
            <a:ext cx="1417954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image" Target="../media/image6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image" Target="../media/image13.png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2.wmf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264">
            <a:extLst>
              <a:ext uri="{FF2B5EF4-FFF2-40B4-BE49-F238E27FC236}">
                <a16:creationId xmlns:a16="http://schemas.microsoft.com/office/drawing/2014/main" id="{4190B1D9-3856-485B-8A45-35DE7C4DAB6D}"/>
              </a:ext>
            </a:extLst>
          </p:cNvPr>
          <p:cNvSpPr/>
          <p:nvPr/>
        </p:nvSpPr>
        <p:spPr>
          <a:xfrm>
            <a:off x="538584" y="1673359"/>
            <a:ext cx="489994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Identify the following forms in respect to quadratic functions.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1191357F-EBEC-41D1-B711-C023606E1D75}"/>
              </a:ext>
            </a:extLst>
          </p:cNvPr>
          <p:cNvSpPr/>
          <p:nvPr/>
        </p:nvSpPr>
        <p:spPr>
          <a:xfrm>
            <a:off x="546527" y="1906039"/>
            <a:ext cx="2196673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Parent Function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17066B94-9068-4D8C-93DA-2800F00FBE05}"/>
              </a:ext>
            </a:extLst>
          </p:cNvPr>
          <p:cNvSpPr/>
          <p:nvPr/>
        </p:nvSpPr>
        <p:spPr>
          <a:xfrm>
            <a:off x="546527" y="2417346"/>
            <a:ext cx="2104091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  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Standard Form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40E25D25-03CC-4648-86B3-32B0174DAA47}"/>
              </a:ext>
            </a:extLst>
          </p:cNvPr>
          <p:cNvSpPr/>
          <p:nvPr/>
        </p:nvSpPr>
        <p:spPr>
          <a:xfrm>
            <a:off x="546527" y="2911563"/>
            <a:ext cx="124585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 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Vertex Form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45276854-15A1-4CE2-A5CF-BBE110F9DAD7}"/>
              </a:ext>
            </a:extLst>
          </p:cNvPr>
          <p:cNvSpPr/>
          <p:nvPr/>
        </p:nvSpPr>
        <p:spPr>
          <a:xfrm>
            <a:off x="544445" y="3261327"/>
            <a:ext cx="71572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Give the axis of symmetry, vertex, then graph the function.  Give the domain and range.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6BFA0808-12F7-4B1E-82F4-AAEEF7DF88EC}"/>
              </a:ext>
            </a:extLst>
          </p:cNvPr>
          <p:cNvSpPr/>
          <p:nvPr/>
        </p:nvSpPr>
        <p:spPr>
          <a:xfrm>
            <a:off x="550307" y="3523626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71" name="Object 270">
            <a:extLst>
              <a:ext uri="{FF2B5EF4-FFF2-40B4-BE49-F238E27FC236}">
                <a16:creationId xmlns:a16="http://schemas.microsoft.com/office/drawing/2014/main" id="{81B452F9-978D-4904-990C-EB6927198A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056924"/>
              </p:ext>
            </p:extLst>
          </p:nvPr>
        </p:nvGraphicFramePr>
        <p:xfrm>
          <a:off x="850956" y="3536601"/>
          <a:ext cx="1333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33440" imgH="228600" progId="Equation.DSMT4">
                  <p:embed/>
                </p:oleObj>
              </mc:Choice>
              <mc:Fallback>
                <p:oleObj name="Equation" r:id="rId3" imgW="1333440" imgH="228600" progId="Equation.DSMT4">
                  <p:embed/>
                  <p:pic>
                    <p:nvPicPr>
                      <p:cNvPr id="178" name="Object 1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0956" y="3536601"/>
                        <a:ext cx="1333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" name="Rectangle 271">
            <a:extLst>
              <a:ext uri="{FF2B5EF4-FFF2-40B4-BE49-F238E27FC236}">
                <a16:creationId xmlns:a16="http://schemas.microsoft.com/office/drawing/2014/main" id="{E8A3703C-D67C-40D5-BF39-ABFC14EDC380}"/>
              </a:ext>
            </a:extLst>
          </p:cNvPr>
          <p:cNvSpPr/>
          <p:nvPr/>
        </p:nvSpPr>
        <p:spPr>
          <a:xfrm>
            <a:off x="788592" y="3980078"/>
            <a:ext cx="2888987" cy="1346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Axis of Symmetry: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Vertex: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Domain: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</a:b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 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Range: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__________________________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73" name="object 19">
            <a:extLst>
              <a:ext uri="{FF2B5EF4-FFF2-40B4-BE49-F238E27FC236}">
                <a16:creationId xmlns:a16="http://schemas.microsoft.com/office/drawing/2014/main" id="{DD0AEAB6-5278-4BA8-A258-DBAD7CDF5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503771"/>
              </p:ext>
            </p:extLst>
          </p:nvPr>
        </p:nvGraphicFramePr>
        <p:xfrm>
          <a:off x="3989016" y="3739318"/>
          <a:ext cx="816102" cy="1596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8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b="1" i="1" spc="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050" b="1" i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b="1" spc="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050" b="1" i="1" spc="1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50" b="1" spc="10" dirty="0">
                          <a:latin typeface="Tahoma"/>
                          <a:cs typeface="Tahoma"/>
                        </a:rPr>
                        <a:t>)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295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669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3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3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305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37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37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307"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669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3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3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305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37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37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295"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74" name="object 19">
            <a:extLst>
              <a:ext uri="{FF2B5EF4-FFF2-40B4-BE49-F238E27FC236}">
                <a16:creationId xmlns:a16="http://schemas.microsoft.com/office/drawing/2014/main" id="{69EE9771-8B85-4111-9F7F-0688DFBD5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852779"/>
              </p:ext>
            </p:extLst>
          </p:nvPr>
        </p:nvGraphicFramePr>
        <p:xfrm>
          <a:off x="3983154" y="5890132"/>
          <a:ext cx="816102" cy="1596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8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b="1" i="1" spc="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050" b="1" i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b="1" spc="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050" b="1" i="1" spc="1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50" b="1" spc="10" dirty="0">
                          <a:latin typeface="Tahoma"/>
                          <a:cs typeface="Tahoma"/>
                        </a:rPr>
                        <a:t>)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295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669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3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3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305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37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37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307"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669"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3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3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305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37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37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295"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75" name="object 19">
            <a:extLst>
              <a:ext uri="{FF2B5EF4-FFF2-40B4-BE49-F238E27FC236}">
                <a16:creationId xmlns:a16="http://schemas.microsoft.com/office/drawing/2014/main" id="{D03AA308-BABF-4172-AE21-5F0CF6E8D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794510"/>
              </p:ext>
            </p:extLst>
          </p:nvPr>
        </p:nvGraphicFramePr>
        <p:xfrm>
          <a:off x="3983154" y="7991235"/>
          <a:ext cx="816102" cy="1596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8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b="1" i="1" spc="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050" b="1" i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b="1" spc="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050" b="1" i="1" spc="1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50" b="1" spc="10" dirty="0">
                          <a:latin typeface="Tahoma"/>
                          <a:cs typeface="Tahoma"/>
                        </a:rPr>
                        <a:t>)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295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669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3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3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305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37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37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307"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669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3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3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305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37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37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295"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442">
                      <a:solidFill>
                        <a:srgbClr val="000000"/>
                      </a:solidFill>
                      <a:prstDash val="solid"/>
                    </a:lnL>
                    <a:lnR w="5442">
                      <a:solidFill>
                        <a:srgbClr val="000000"/>
                      </a:solidFill>
                      <a:prstDash val="solid"/>
                    </a:lnR>
                    <a:lnT w="5442">
                      <a:solidFill>
                        <a:srgbClr val="000000"/>
                      </a:solidFill>
                      <a:prstDash val="solid"/>
                    </a:lnT>
                    <a:lnB w="5442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6" name="Rectangle 275">
            <a:extLst>
              <a:ext uri="{FF2B5EF4-FFF2-40B4-BE49-F238E27FC236}">
                <a16:creationId xmlns:a16="http://schemas.microsoft.com/office/drawing/2014/main" id="{7D7D8BD3-82DF-4847-B36C-904598F8BC3F}"/>
              </a:ext>
            </a:extLst>
          </p:cNvPr>
          <p:cNvSpPr/>
          <p:nvPr/>
        </p:nvSpPr>
        <p:spPr>
          <a:xfrm>
            <a:off x="550307" y="5609850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0EE7BDEB-D14E-4634-9614-FF6F71C8E5E4}"/>
              </a:ext>
            </a:extLst>
          </p:cNvPr>
          <p:cNvSpPr/>
          <p:nvPr/>
        </p:nvSpPr>
        <p:spPr>
          <a:xfrm>
            <a:off x="550307" y="7730032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78" name="Object 277">
            <a:extLst>
              <a:ext uri="{FF2B5EF4-FFF2-40B4-BE49-F238E27FC236}">
                <a16:creationId xmlns:a16="http://schemas.microsoft.com/office/drawing/2014/main" id="{AA51120F-1B33-4F1C-90E3-3717B0349E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006173"/>
              </p:ext>
            </p:extLst>
          </p:nvPr>
        </p:nvGraphicFramePr>
        <p:xfrm>
          <a:off x="3429000" y="4933950"/>
          <a:ext cx="914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190080" progId="Equation.DSMT4">
                  <p:embed/>
                </p:oleObj>
              </mc:Choice>
              <mc:Fallback>
                <p:oleObj name="Equation" r:id="rId5" imgW="914400" imgH="190080" progId="Equation.DSMT4">
                  <p:embed/>
                  <p:pic>
                    <p:nvPicPr>
                      <p:cNvPr id="186" name="Object 18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29000" y="4933950"/>
                        <a:ext cx="9144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" name="Object 278">
            <a:extLst>
              <a:ext uri="{FF2B5EF4-FFF2-40B4-BE49-F238E27FC236}">
                <a16:creationId xmlns:a16="http://schemas.microsoft.com/office/drawing/2014/main" id="{3A1F315C-BD48-4B1A-8226-47EFB30ED4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698701"/>
              </p:ext>
            </p:extLst>
          </p:nvPr>
        </p:nvGraphicFramePr>
        <p:xfrm>
          <a:off x="850956" y="5616188"/>
          <a:ext cx="1206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06360" imgH="228600" progId="Equation.DSMT4">
                  <p:embed/>
                </p:oleObj>
              </mc:Choice>
              <mc:Fallback>
                <p:oleObj name="Equation" r:id="rId7" imgW="1206360" imgH="228600" progId="Equation.DSMT4">
                  <p:embed/>
                  <p:pic>
                    <p:nvPicPr>
                      <p:cNvPr id="187" name="Object 18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50956" y="5616188"/>
                        <a:ext cx="1206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" name="Rectangle 279">
            <a:extLst>
              <a:ext uri="{FF2B5EF4-FFF2-40B4-BE49-F238E27FC236}">
                <a16:creationId xmlns:a16="http://schemas.microsoft.com/office/drawing/2014/main" id="{E2B9F708-F053-4A71-96EB-21E24582502C}"/>
              </a:ext>
            </a:extLst>
          </p:cNvPr>
          <p:cNvSpPr/>
          <p:nvPr/>
        </p:nvSpPr>
        <p:spPr>
          <a:xfrm>
            <a:off x="806177" y="6118047"/>
            <a:ext cx="3003823" cy="1346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Axis of Symmetry: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Vertex: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Domain: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</a:b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 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Range: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__________________________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81" name="Object 280">
            <a:extLst>
              <a:ext uri="{FF2B5EF4-FFF2-40B4-BE49-F238E27FC236}">
                <a16:creationId xmlns:a16="http://schemas.microsoft.com/office/drawing/2014/main" id="{40D1587F-CB3E-48DC-9717-556E41B100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423621"/>
              </p:ext>
            </p:extLst>
          </p:nvPr>
        </p:nvGraphicFramePr>
        <p:xfrm>
          <a:off x="850956" y="7746752"/>
          <a:ext cx="825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25480" imgH="228600" progId="Equation.DSMT4">
                  <p:embed/>
                </p:oleObj>
              </mc:Choice>
              <mc:Fallback>
                <p:oleObj name="Equation" r:id="rId9" imgW="825480" imgH="228600" progId="Equation.DSMT4">
                  <p:embed/>
                  <p:pic>
                    <p:nvPicPr>
                      <p:cNvPr id="190" name="Object 18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50956" y="7746752"/>
                        <a:ext cx="825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" name="Rectangle 281">
            <a:extLst>
              <a:ext uri="{FF2B5EF4-FFF2-40B4-BE49-F238E27FC236}">
                <a16:creationId xmlns:a16="http://schemas.microsoft.com/office/drawing/2014/main" id="{DCBEB426-557C-4A37-A47C-A1D478CA6962}"/>
              </a:ext>
            </a:extLst>
          </p:cNvPr>
          <p:cNvSpPr/>
          <p:nvPr/>
        </p:nvSpPr>
        <p:spPr>
          <a:xfrm>
            <a:off x="771007" y="8297402"/>
            <a:ext cx="3009900" cy="1346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Axis of Symmetry: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Vertex: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Domain: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</a:b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 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Range: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__________________________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986703-58C3-44E8-B210-B2161C4509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1600" y="3566532"/>
            <a:ext cx="2054530" cy="20667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15778B-3BED-4D15-B6A8-3D0870A274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1600" y="5562600"/>
            <a:ext cx="2054530" cy="20667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2154F7-9379-486E-AD4F-99C1C09690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1600" y="7543800"/>
            <a:ext cx="2054530" cy="20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13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" name="object 19">
            <a:extLst>
              <a:ext uri="{FF2B5EF4-FFF2-40B4-BE49-F238E27FC236}">
                <a16:creationId xmlns:a16="http://schemas.microsoft.com/office/drawing/2014/main" id="{14EBB380-4B7A-4AFA-9A54-287C97DF3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083059"/>
              </p:ext>
            </p:extLst>
          </p:nvPr>
        </p:nvGraphicFramePr>
        <p:xfrm>
          <a:off x="4202211" y="639697"/>
          <a:ext cx="775296" cy="1516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57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b="1" i="1" spc="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000" b="1" i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b="1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000" b="1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50" b="1" dirty="0">
                          <a:latin typeface="Tahoma"/>
                          <a:cs typeface="Tahoma"/>
                        </a:rPr>
                        <a:t>)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234"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7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7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536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74">
                      <a:solidFill>
                        <a:srgbClr val="000000"/>
                      </a:solidFill>
                      <a:prstDash val="solid"/>
                    </a:lnT>
                    <a:lnB w="516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74">
                      <a:solidFill>
                        <a:srgbClr val="000000"/>
                      </a:solidFill>
                      <a:prstDash val="solid"/>
                    </a:lnT>
                    <a:lnB w="516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234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4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4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249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534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6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6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234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4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4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236"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88" name="object 19">
            <a:extLst>
              <a:ext uri="{FF2B5EF4-FFF2-40B4-BE49-F238E27FC236}">
                <a16:creationId xmlns:a16="http://schemas.microsoft.com/office/drawing/2014/main" id="{722A5954-DD8D-4864-BB41-DCBE1A0429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251140"/>
              </p:ext>
            </p:extLst>
          </p:nvPr>
        </p:nvGraphicFramePr>
        <p:xfrm>
          <a:off x="4213934" y="2709864"/>
          <a:ext cx="775296" cy="1516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57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b="1" i="1" spc="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000" b="1" i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b="1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000" b="1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50" b="1" dirty="0">
                          <a:latin typeface="Tahoma"/>
                          <a:cs typeface="Tahoma"/>
                        </a:rPr>
                        <a:t>)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234"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7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7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536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74">
                      <a:solidFill>
                        <a:srgbClr val="000000"/>
                      </a:solidFill>
                      <a:prstDash val="solid"/>
                    </a:lnT>
                    <a:lnB w="516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74">
                      <a:solidFill>
                        <a:srgbClr val="000000"/>
                      </a:solidFill>
                      <a:prstDash val="solid"/>
                    </a:lnT>
                    <a:lnB w="516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234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4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4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249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534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6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6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234"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4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4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236"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85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5169">
                      <a:solidFill>
                        <a:srgbClr val="000000"/>
                      </a:solidFill>
                      <a:prstDash val="solid"/>
                    </a:lnL>
                    <a:lnR w="5169">
                      <a:solidFill>
                        <a:srgbClr val="000000"/>
                      </a:solidFill>
                      <a:prstDash val="solid"/>
                    </a:lnR>
                    <a:lnT w="5169">
                      <a:solidFill>
                        <a:srgbClr val="000000"/>
                      </a:solidFill>
                      <a:prstDash val="solid"/>
                    </a:lnT>
                    <a:lnB w="5169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9" name="Rectangle 188">
            <a:extLst>
              <a:ext uri="{FF2B5EF4-FFF2-40B4-BE49-F238E27FC236}">
                <a16:creationId xmlns:a16="http://schemas.microsoft.com/office/drawing/2014/main" id="{BB212306-9D02-4B69-8C48-6D38280CC1A1}"/>
              </a:ext>
            </a:extLst>
          </p:cNvPr>
          <p:cNvSpPr/>
          <p:nvPr/>
        </p:nvSpPr>
        <p:spPr>
          <a:xfrm>
            <a:off x="542740" y="534246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7.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90" name="Object 189">
            <a:extLst>
              <a:ext uri="{FF2B5EF4-FFF2-40B4-BE49-F238E27FC236}">
                <a16:creationId xmlns:a16="http://schemas.microsoft.com/office/drawing/2014/main" id="{2B4444FC-5AC2-4F11-B3E7-92888D9C3C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482719"/>
              </p:ext>
            </p:extLst>
          </p:nvPr>
        </p:nvGraphicFramePr>
        <p:xfrm>
          <a:off x="820184" y="544660"/>
          <a:ext cx="1155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5600" imgH="228600" progId="Equation.DSMT4">
                  <p:embed/>
                </p:oleObj>
              </mc:Choice>
              <mc:Fallback>
                <p:oleObj name="Equation" r:id="rId3" imgW="1155600" imgH="228600" progId="Equation.DSMT4">
                  <p:embed/>
                  <p:pic>
                    <p:nvPicPr>
                      <p:cNvPr id="124" name="Object 12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0184" y="544660"/>
                        <a:ext cx="1155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" name="Rectangle 190">
            <a:extLst>
              <a:ext uri="{FF2B5EF4-FFF2-40B4-BE49-F238E27FC236}">
                <a16:creationId xmlns:a16="http://schemas.microsoft.com/office/drawing/2014/main" id="{E1A253D6-095D-490F-811A-480BFF34845D}"/>
              </a:ext>
            </a:extLst>
          </p:cNvPr>
          <p:cNvSpPr/>
          <p:nvPr/>
        </p:nvSpPr>
        <p:spPr>
          <a:xfrm>
            <a:off x="838200" y="990600"/>
            <a:ext cx="2948144" cy="1346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Axis of Symmetry: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Vertex: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Domain: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</a:b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 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Range: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__________________________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20AA45E3-1858-4A1A-8230-263223C9C41F}"/>
              </a:ext>
            </a:extLst>
          </p:cNvPr>
          <p:cNvSpPr/>
          <p:nvPr/>
        </p:nvSpPr>
        <p:spPr>
          <a:xfrm>
            <a:off x="542740" y="2540568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93" name="Object 192">
            <a:extLst>
              <a:ext uri="{FF2B5EF4-FFF2-40B4-BE49-F238E27FC236}">
                <a16:creationId xmlns:a16="http://schemas.microsoft.com/office/drawing/2014/main" id="{0482F787-2952-4A89-A17C-1CB0700EC7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060449"/>
              </p:ext>
            </p:extLst>
          </p:nvPr>
        </p:nvGraphicFramePr>
        <p:xfrm>
          <a:off x="838200" y="2474433"/>
          <a:ext cx="1155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55600" imgH="368280" progId="Equation.DSMT4">
                  <p:embed/>
                </p:oleObj>
              </mc:Choice>
              <mc:Fallback>
                <p:oleObj name="Equation" r:id="rId5" imgW="1155600" imgH="368280" progId="Equation.DSMT4">
                  <p:embed/>
                  <p:pic>
                    <p:nvPicPr>
                      <p:cNvPr id="129" name="Object 12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8200" y="2474433"/>
                        <a:ext cx="1155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" name="Rectangle 193">
            <a:extLst>
              <a:ext uri="{FF2B5EF4-FFF2-40B4-BE49-F238E27FC236}">
                <a16:creationId xmlns:a16="http://schemas.microsoft.com/office/drawing/2014/main" id="{731792D7-2D63-41B9-B137-F91C01E538EA}"/>
              </a:ext>
            </a:extLst>
          </p:cNvPr>
          <p:cNvSpPr/>
          <p:nvPr/>
        </p:nvSpPr>
        <p:spPr>
          <a:xfrm>
            <a:off x="914400" y="3124200"/>
            <a:ext cx="2918028" cy="1346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Axis of Symmetry: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Vertex: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Domain: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</a:b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 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Range: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__________________________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59" name="object 119">
            <a:extLst>
              <a:ext uri="{FF2B5EF4-FFF2-40B4-BE49-F238E27FC236}">
                <a16:creationId xmlns:a16="http://schemas.microsoft.com/office/drawing/2014/main" id="{A2CC5C18-A758-48F0-B178-B79D44F9A602}"/>
              </a:ext>
            </a:extLst>
          </p:cNvPr>
          <p:cNvSpPr txBox="1"/>
          <p:nvPr/>
        </p:nvSpPr>
        <p:spPr>
          <a:xfrm>
            <a:off x="627379" y="4764031"/>
            <a:ext cx="3897629" cy="719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9235">
              <a:lnSpc>
                <a:spcPct val="100600"/>
              </a:lnSpc>
            </a:pPr>
            <a:r>
              <a:rPr sz="1150" b="1" spc="-5" dirty="0">
                <a:latin typeface="Century Gothic" panose="020B0502020202020204" pitchFamily="34" charset="0"/>
                <a:cs typeface="Tahoma"/>
              </a:rPr>
              <a:t>9.</a:t>
            </a:r>
            <a:r>
              <a:rPr lang="en-US" sz="1150" b="1" spc="-5" dirty="0">
                <a:latin typeface="Century Gothic" panose="020B0502020202020204" pitchFamily="34" charset="0"/>
                <a:cs typeface="Tahoma"/>
              </a:rPr>
              <a:t>  </a:t>
            </a:r>
            <a:r>
              <a:rPr sz="1150" dirty="0">
                <a:latin typeface="Century Gothic" panose="020B0502020202020204" pitchFamily="34" charset="0"/>
                <a:cs typeface="Tahoma"/>
              </a:rPr>
              <a:t>The </a:t>
            </a:r>
            <a:r>
              <a:rPr sz="1150" spc="-5" dirty="0">
                <a:latin typeface="Century Gothic" panose="020B0502020202020204" pitchFamily="34" charset="0"/>
                <a:cs typeface="Tahoma"/>
              </a:rPr>
              <a:t>parent function of a quadratic equation </a:t>
            </a:r>
            <a:r>
              <a:rPr sz="1150" dirty="0">
                <a:latin typeface="Century Gothic" panose="020B0502020202020204" pitchFamily="34" charset="0"/>
                <a:cs typeface="Tahoma"/>
              </a:rPr>
              <a:t>is </a:t>
            </a:r>
            <a:r>
              <a:rPr sz="1150" spc="-5" dirty="0">
                <a:latin typeface="Century Gothic" panose="020B0502020202020204" pitchFamily="34" charset="0"/>
                <a:cs typeface="Tahoma"/>
              </a:rPr>
              <a:t>vertically  stretched by a factor of 2, then translated 5 </a:t>
            </a:r>
            <a:r>
              <a:rPr sz="1150" dirty="0">
                <a:latin typeface="Century Gothic" panose="020B0502020202020204" pitchFamily="34" charset="0"/>
                <a:cs typeface="Tahoma"/>
              </a:rPr>
              <a:t>units right  </a:t>
            </a:r>
            <a:r>
              <a:rPr sz="1150" spc="-5" dirty="0">
                <a:latin typeface="Century Gothic" panose="020B0502020202020204" pitchFamily="34" charset="0"/>
                <a:cs typeface="Tahoma"/>
              </a:rPr>
              <a:t>and 1 </a:t>
            </a:r>
            <a:r>
              <a:rPr sz="1150" dirty="0">
                <a:latin typeface="Century Gothic" panose="020B0502020202020204" pitchFamily="34" charset="0"/>
                <a:cs typeface="Tahoma"/>
              </a:rPr>
              <a:t>unit </a:t>
            </a:r>
            <a:r>
              <a:rPr sz="1150" spc="-5" dirty="0">
                <a:latin typeface="Century Gothic" panose="020B0502020202020204" pitchFamily="34" charset="0"/>
                <a:cs typeface="Tahoma"/>
              </a:rPr>
              <a:t>down. Write the equation </a:t>
            </a:r>
            <a:r>
              <a:rPr sz="1150" spc="-10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50" spc="-5" dirty="0">
                <a:latin typeface="Century Gothic" panose="020B0502020202020204" pitchFamily="34" charset="0"/>
                <a:cs typeface="Tahoma"/>
              </a:rPr>
              <a:t>the </a:t>
            </a:r>
            <a:r>
              <a:rPr sz="1150" dirty="0">
                <a:latin typeface="Century Gothic" panose="020B0502020202020204" pitchFamily="34" charset="0"/>
                <a:cs typeface="Tahoma"/>
              </a:rPr>
              <a:t>new </a:t>
            </a:r>
            <a:r>
              <a:rPr sz="1150" spc="-5" dirty="0">
                <a:latin typeface="Century Gothic" panose="020B0502020202020204" pitchFamily="34" charset="0"/>
                <a:cs typeface="Tahoma"/>
              </a:rPr>
              <a:t>function  </a:t>
            </a:r>
            <a:r>
              <a:rPr sz="1150" dirty="0">
                <a:latin typeface="Century Gothic" panose="020B0502020202020204" pitchFamily="34" charset="0"/>
                <a:cs typeface="Tahoma"/>
              </a:rPr>
              <a:t>in </a:t>
            </a:r>
            <a:r>
              <a:rPr sz="1150" spc="-5" dirty="0">
                <a:latin typeface="Century Gothic" panose="020B0502020202020204" pitchFamily="34" charset="0"/>
                <a:cs typeface="Tahoma"/>
              </a:rPr>
              <a:t>vertex</a:t>
            </a:r>
            <a:r>
              <a:rPr sz="1150" spc="-6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50" spc="-5" dirty="0">
                <a:latin typeface="Century Gothic" panose="020B0502020202020204" pitchFamily="34" charset="0"/>
                <a:cs typeface="Tahoma"/>
              </a:rPr>
              <a:t>form.</a:t>
            </a:r>
            <a:endParaRPr sz="115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3275FFAD-5106-4D73-AAC8-194DA8C99730}"/>
              </a:ext>
            </a:extLst>
          </p:cNvPr>
          <p:cNvSpPr/>
          <p:nvPr/>
        </p:nvSpPr>
        <p:spPr>
          <a:xfrm>
            <a:off x="538914" y="5645914"/>
            <a:ext cx="251863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each function in vertex form.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4A698F1A-90C3-4634-A2EB-909C1BE377BC}"/>
              </a:ext>
            </a:extLst>
          </p:cNvPr>
          <p:cNvSpPr/>
          <p:nvPr/>
        </p:nvSpPr>
        <p:spPr>
          <a:xfrm>
            <a:off x="551604" y="5863239"/>
            <a:ext cx="39305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62" name="Object 261">
            <a:extLst>
              <a:ext uri="{FF2B5EF4-FFF2-40B4-BE49-F238E27FC236}">
                <a16:creationId xmlns:a16="http://schemas.microsoft.com/office/drawing/2014/main" id="{DC0F8EB2-1B8F-439C-9682-C23613A009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977273"/>
              </p:ext>
            </p:extLst>
          </p:nvPr>
        </p:nvGraphicFramePr>
        <p:xfrm>
          <a:off x="947738" y="5875071"/>
          <a:ext cx="1257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57120" imgH="228600" progId="Equation.DSMT4">
                  <p:embed/>
                </p:oleObj>
              </mc:Choice>
              <mc:Fallback>
                <p:oleObj name="Equation" r:id="rId7" imgW="1257120" imgH="228600" progId="Equation.DSMT4">
                  <p:embed/>
                  <p:pic>
                    <p:nvPicPr>
                      <p:cNvPr id="133" name="Object 13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47738" y="5875071"/>
                        <a:ext cx="1257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" name="Rectangle 262">
            <a:extLst>
              <a:ext uri="{FF2B5EF4-FFF2-40B4-BE49-F238E27FC236}">
                <a16:creationId xmlns:a16="http://schemas.microsoft.com/office/drawing/2014/main" id="{786CBE9B-52F9-4D36-A73C-D63C8C6EB09A}"/>
              </a:ext>
            </a:extLst>
          </p:cNvPr>
          <p:cNvSpPr/>
          <p:nvPr/>
        </p:nvSpPr>
        <p:spPr>
          <a:xfrm>
            <a:off x="550637" y="7295637"/>
            <a:ext cx="43473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11.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F3DB8648-3BF0-4868-9B68-26E922A57B1E}"/>
              </a:ext>
            </a:extLst>
          </p:cNvPr>
          <p:cNvSpPr/>
          <p:nvPr/>
        </p:nvSpPr>
        <p:spPr>
          <a:xfrm>
            <a:off x="550637" y="8695131"/>
            <a:ext cx="39305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65" name="Object 264">
            <a:extLst>
              <a:ext uri="{FF2B5EF4-FFF2-40B4-BE49-F238E27FC236}">
                <a16:creationId xmlns:a16="http://schemas.microsoft.com/office/drawing/2014/main" id="{DF97FCD4-A08E-4568-A064-980C925357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810089"/>
              </p:ext>
            </p:extLst>
          </p:nvPr>
        </p:nvGraphicFramePr>
        <p:xfrm>
          <a:off x="921158" y="7305436"/>
          <a:ext cx="1130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30040" imgH="228600" progId="Equation.DSMT4">
                  <p:embed/>
                </p:oleObj>
              </mc:Choice>
              <mc:Fallback>
                <p:oleObj name="Equation" r:id="rId9" imgW="1130040" imgH="228600" progId="Equation.DSMT4">
                  <p:embed/>
                  <p:pic>
                    <p:nvPicPr>
                      <p:cNvPr id="136" name="Object 13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21158" y="7305436"/>
                        <a:ext cx="1130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" name="Object 265">
            <a:extLst>
              <a:ext uri="{FF2B5EF4-FFF2-40B4-BE49-F238E27FC236}">
                <a16:creationId xmlns:a16="http://schemas.microsoft.com/office/drawing/2014/main" id="{0B756D15-36FC-48A7-9AC1-374EFB2E71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59441"/>
              </p:ext>
            </p:extLst>
          </p:nvPr>
        </p:nvGraphicFramePr>
        <p:xfrm>
          <a:off x="887258" y="8707239"/>
          <a:ext cx="1282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82680" imgH="228600" progId="Equation.DSMT4">
                  <p:embed/>
                </p:oleObj>
              </mc:Choice>
              <mc:Fallback>
                <p:oleObj name="Equation" r:id="rId11" imgW="1282680" imgH="228600" progId="Equation.DSMT4">
                  <p:embed/>
                  <p:pic>
                    <p:nvPicPr>
                      <p:cNvPr id="137" name="Object 13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87258" y="8707239"/>
                        <a:ext cx="1282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C19B8978-91A8-4B68-9D6E-D4FF63DE731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7800" y="2438400"/>
            <a:ext cx="2054530" cy="20667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234F31-C990-401D-A235-EC5F3B67B14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7800" y="381000"/>
            <a:ext cx="2054530" cy="20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55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228</Words>
  <Application>Microsoft Office PowerPoint</Application>
  <PresentationFormat>Custom</PresentationFormat>
  <Paragraphs>50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- 20 - Quiz 3-2</dc:title>
  <dc:creator>Gina</dc:creator>
  <cp:lastModifiedBy>Gina Wilson</cp:lastModifiedBy>
  <cp:revision>18</cp:revision>
  <dcterms:created xsi:type="dcterms:W3CDTF">2017-08-16T15:22:31Z</dcterms:created>
  <dcterms:modified xsi:type="dcterms:W3CDTF">2021-05-18T15:26:47Z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2015-06-25T00:00:00Z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2017-08-16T00:00:00Z</vt:filetime>
  </property>
</Properties>
</file>