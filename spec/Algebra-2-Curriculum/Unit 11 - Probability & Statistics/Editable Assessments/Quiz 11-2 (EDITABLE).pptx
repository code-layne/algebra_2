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51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80692" y="9793633"/>
            <a:ext cx="1597659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5CBF7537-DD07-4CCD-BD68-706FD6DF180F}"/>
              </a:ext>
            </a:extLst>
          </p:cNvPr>
          <p:cNvSpPr txBox="1"/>
          <p:nvPr/>
        </p:nvSpPr>
        <p:spPr>
          <a:xfrm>
            <a:off x="604519" y="3467623"/>
            <a:ext cx="484632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3.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following data below represents the running times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six movies. Find  the standard deviation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running times. </a:t>
            </a:r>
            <a:r>
              <a:rPr sz="1100" spc="-10" dirty="0">
                <a:latin typeface="Tahoma"/>
                <a:cs typeface="Tahoma"/>
              </a:rPr>
              <a:t>Give </a:t>
            </a:r>
            <a:r>
              <a:rPr sz="1100" spc="-5" dirty="0">
                <a:latin typeface="Tahoma"/>
                <a:cs typeface="Tahoma"/>
              </a:rPr>
              <a:t>your answer to the  nearest hundredth </a:t>
            </a:r>
            <a:r>
              <a:rPr sz="1100" dirty="0">
                <a:latin typeface="Tahoma"/>
                <a:cs typeface="Tahoma"/>
              </a:rPr>
              <a:t>of 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minute.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02B5674A-6B20-4714-BF32-12613785D318}"/>
              </a:ext>
            </a:extLst>
          </p:cNvPr>
          <p:cNvSpPr txBox="1"/>
          <p:nvPr/>
        </p:nvSpPr>
        <p:spPr>
          <a:xfrm>
            <a:off x="604518" y="5006009"/>
            <a:ext cx="478155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960" marR="5080" indent="-175895">
              <a:lnSpc>
                <a:spcPct val="100499"/>
              </a:lnSpc>
              <a:tabLst>
                <a:tab pos="3031490" algn="l"/>
              </a:tabLst>
            </a:pPr>
            <a:r>
              <a:rPr sz="1100" b="1" dirty="0">
                <a:latin typeface="Tahoma"/>
                <a:cs typeface="Tahoma"/>
              </a:rPr>
              <a:t>4.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gas mileage for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group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cars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normally distributed with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mean </a:t>
            </a:r>
            <a:r>
              <a:rPr sz="1100" dirty="0">
                <a:latin typeface="Tahoma"/>
                <a:cs typeface="Tahoma"/>
              </a:rPr>
              <a:t>of  </a:t>
            </a:r>
            <a:r>
              <a:rPr sz="1100" spc="-5" dirty="0">
                <a:latin typeface="Tahoma"/>
                <a:cs typeface="Tahoma"/>
              </a:rPr>
              <a:t>24 miles per </a:t>
            </a:r>
            <a:r>
              <a:rPr sz="1100" dirty="0">
                <a:latin typeface="Tahoma"/>
                <a:cs typeface="Tahoma"/>
              </a:rPr>
              <a:t>gallon </a:t>
            </a:r>
            <a:r>
              <a:rPr sz="1100" spc="-10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variance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34.81.	What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standard 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deviation?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0F535130-00C2-40BE-8A4B-4EA8D02C4BE6}"/>
              </a:ext>
            </a:extLst>
          </p:cNvPr>
          <p:cNvSpPr txBox="1"/>
          <p:nvPr/>
        </p:nvSpPr>
        <p:spPr>
          <a:xfrm>
            <a:off x="604518" y="5799343"/>
            <a:ext cx="625602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1100" b="1" spc="-5" dirty="0">
                <a:latin typeface="Tahoma"/>
                <a:cs typeface="Tahoma"/>
              </a:rPr>
              <a:t>Use for questions 5-8: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number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days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group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250 homes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10" dirty="0">
                <a:latin typeface="Tahoma"/>
                <a:cs typeface="Tahoma"/>
              </a:rPr>
              <a:t>on </a:t>
            </a:r>
            <a:r>
              <a:rPr sz="1100" spc="-5" dirty="0">
                <a:latin typeface="Tahoma"/>
                <a:cs typeface="Tahoma"/>
              </a:rPr>
              <a:t>the market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normally  distributed with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mean 50 and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standard deviation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13. Label the normal distribution curve, then  answer 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questions.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053F76B2-9368-4AD4-9D89-8FC334CE933A}"/>
              </a:ext>
            </a:extLst>
          </p:cNvPr>
          <p:cNvSpPr txBox="1"/>
          <p:nvPr/>
        </p:nvSpPr>
        <p:spPr>
          <a:xfrm>
            <a:off x="604518" y="7967983"/>
            <a:ext cx="471043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Tahoma"/>
                <a:cs typeface="Tahoma"/>
              </a:rPr>
              <a:t>5.  </a:t>
            </a:r>
            <a:r>
              <a:rPr sz="1100" spc="-5" dirty="0">
                <a:latin typeface="Tahoma"/>
                <a:cs typeface="Tahoma"/>
              </a:rPr>
              <a:t>What percent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homes are </a:t>
            </a:r>
            <a:r>
              <a:rPr sz="1100" dirty="0">
                <a:latin typeface="Tahoma"/>
                <a:cs typeface="Tahoma"/>
              </a:rPr>
              <a:t>on </a:t>
            </a:r>
            <a:r>
              <a:rPr sz="1100" spc="-5" dirty="0">
                <a:latin typeface="Tahoma"/>
                <a:cs typeface="Tahoma"/>
              </a:rPr>
              <a:t>the market between 11 and 89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days?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6AACDE3B-8151-4DC0-8734-844613AED22A}"/>
              </a:ext>
            </a:extLst>
          </p:cNvPr>
          <p:cNvSpPr txBox="1"/>
          <p:nvPr/>
        </p:nvSpPr>
        <p:spPr>
          <a:xfrm>
            <a:off x="604518" y="8406892"/>
            <a:ext cx="477710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Tahoma"/>
                <a:cs typeface="Tahoma"/>
              </a:rPr>
              <a:t>6.  </a:t>
            </a:r>
            <a:r>
              <a:rPr sz="1100" spc="-5" dirty="0">
                <a:latin typeface="Tahoma"/>
                <a:cs typeface="Tahoma"/>
              </a:rPr>
              <a:t>What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 probability that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home </a:t>
            </a:r>
            <a:r>
              <a:rPr sz="1100" dirty="0">
                <a:latin typeface="Tahoma"/>
                <a:cs typeface="Tahoma"/>
              </a:rPr>
              <a:t>is on </a:t>
            </a:r>
            <a:r>
              <a:rPr sz="1100" spc="-5" dirty="0">
                <a:latin typeface="Tahoma"/>
                <a:cs typeface="Tahoma"/>
              </a:rPr>
              <a:t>the market for at least 37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days?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BAECE2-7C95-43A1-B220-D21529A53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031419"/>
              </p:ext>
            </p:extLst>
          </p:nvPr>
        </p:nvGraphicFramePr>
        <p:xfrm>
          <a:off x="838200" y="4114800"/>
          <a:ext cx="4797425" cy="563880"/>
        </p:xfrm>
        <a:graphic>
          <a:graphicData uri="http://schemas.openxmlformats.org/drawingml/2006/table">
            <a:tbl>
              <a:tblPr firstRow="1" firstCol="1" bandRow="1"/>
              <a:tblGrid>
                <a:gridCol w="72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Movie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Running Time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hr </a:t>
                      </a:r>
                      <a:b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hr </a:t>
                      </a:r>
                      <a:b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hr </a:t>
                      </a:r>
                      <a:b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hr </a:t>
                      </a:r>
                      <a:b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56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hr </a:t>
                      </a:r>
                      <a:b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hr </a:t>
                      </a:r>
                      <a:b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E4D492E7-9F86-4354-B5A5-24F8A8BBAB3C}"/>
              </a:ext>
            </a:extLst>
          </p:cNvPr>
          <p:cNvSpPr/>
          <p:nvPr/>
        </p:nvSpPr>
        <p:spPr>
          <a:xfrm>
            <a:off x="523775" y="8791875"/>
            <a:ext cx="5105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7.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Approximately how many homes were on the market between 37 and 63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days?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BDD5D9-80D6-443C-9B00-9E7EB62BCC51}"/>
              </a:ext>
            </a:extLst>
          </p:cNvPr>
          <p:cNvSpPr/>
          <p:nvPr/>
        </p:nvSpPr>
        <p:spPr>
          <a:xfrm>
            <a:off x="523775" y="9229825"/>
            <a:ext cx="5181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8.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Approximately how many homes were on the market for no more than 24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days?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C7A902-380C-4134-9A30-F699829003B8}"/>
              </a:ext>
            </a:extLst>
          </p:cNvPr>
          <p:cNvSpPr/>
          <p:nvPr/>
        </p:nvSpPr>
        <p:spPr>
          <a:xfrm>
            <a:off x="533400" y="1447800"/>
            <a:ext cx="50292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The following data represents the number of calories in seven sandwiches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at the restaurant: {740, 610, 490, 370, 500, 540, 460}.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the mean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absolute deviation.  Round your answer to the nearest hundredth. 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100DC7-4F44-403C-BC6C-BDEE192287BB}"/>
              </a:ext>
            </a:extLst>
          </p:cNvPr>
          <p:cNvSpPr/>
          <p:nvPr/>
        </p:nvSpPr>
        <p:spPr>
          <a:xfrm>
            <a:off x="523775" y="2600425"/>
            <a:ext cx="519122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The speed in miles per hour of each of Sam’s last ten pitches were recorded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as follows: {82, 78, 83, 80, 75, 82, 79, 80, 83, 81}.  Find the variance.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Round your answer to the nearest hundredth. 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30EF90-717A-4E30-8FAF-566BC4485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54" y="6355654"/>
            <a:ext cx="3566469" cy="1304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DAE41C-DD17-44F7-BE1A-72B50073E8A9}"/>
              </a:ext>
            </a:extLst>
          </p:cNvPr>
          <p:cNvSpPr txBox="1"/>
          <p:nvPr/>
        </p:nvSpPr>
        <p:spPr>
          <a:xfrm>
            <a:off x="604519" y="641075"/>
            <a:ext cx="4973955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98800"/>
              </a:lnSpc>
            </a:pPr>
            <a:r>
              <a:rPr sz="1100" b="1" dirty="0">
                <a:latin typeface="Tahoma"/>
                <a:cs typeface="Tahoma"/>
              </a:rPr>
              <a:t>9.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number </a:t>
            </a:r>
            <a:r>
              <a:rPr sz="1100" dirty="0">
                <a:latin typeface="Tahoma"/>
                <a:cs typeface="Tahoma"/>
              </a:rPr>
              <a:t>of text </a:t>
            </a:r>
            <a:r>
              <a:rPr sz="1100" spc="-5" dirty="0">
                <a:latin typeface="Tahoma"/>
                <a:cs typeface="Tahoma"/>
              </a:rPr>
              <a:t>messsages that teenagers send per month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normally  distributed with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10" dirty="0">
                <a:latin typeface="Tahoma"/>
                <a:cs typeface="Tahoma"/>
              </a:rPr>
              <a:t>mean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3,400 and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10" dirty="0">
                <a:latin typeface="Tahoma"/>
                <a:cs typeface="Tahoma"/>
              </a:rPr>
              <a:t>standard </a:t>
            </a:r>
            <a:r>
              <a:rPr sz="1100" spc="-5" dirty="0">
                <a:latin typeface="Tahoma"/>
                <a:cs typeface="Tahoma"/>
              </a:rPr>
              <a:t>deviation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450. If Kendra  sent 4,415 text messages last month, find her </a:t>
            </a:r>
            <a:r>
              <a:rPr sz="1200" i="1" spc="-5" dirty="0">
                <a:latin typeface="Times New Roman"/>
                <a:cs typeface="Times New Roman"/>
              </a:rPr>
              <a:t>z</a:t>
            </a:r>
            <a:r>
              <a:rPr sz="1100" spc="-5" dirty="0">
                <a:latin typeface="Tahoma"/>
                <a:cs typeface="Tahoma"/>
              </a:rPr>
              <a:t>-score </a:t>
            </a:r>
            <a:r>
              <a:rPr sz="1100" dirty="0">
                <a:latin typeface="Tahoma"/>
                <a:cs typeface="Tahoma"/>
              </a:rPr>
              <a:t>to </a:t>
            </a:r>
            <a:r>
              <a:rPr sz="1100" spc="-5" dirty="0">
                <a:latin typeface="Tahoma"/>
                <a:cs typeface="Tahoma"/>
              </a:rPr>
              <a:t>the nearest  hundredth.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EAA091F-7E9D-483F-8448-D0BFE9428C76}"/>
              </a:ext>
            </a:extLst>
          </p:cNvPr>
          <p:cNvSpPr txBox="1"/>
          <p:nvPr/>
        </p:nvSpPr>
        <p:spPr>
          <a:xfrm>
            <a:off x="604518" y="2017034"/>
            <a:ext cx="4921250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70"/>
              </a:lnSpc>
            </a:pPr>
            <a:r>
              <a:rPr sz="1100" b="1" dirty="0">
                <a:latin typeface="Tahoma"/>
                <a:cs typeface="Tahoma"/>
              </a:rPr>
              <a:t>10. 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daily high temperatures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5" dirty="0">
                <a:latin typeface="Tahoma"/>
                <a:cs typeface="Tahoma"/>
              </a:rPr>
              <a:t>Philadelphia </a:t>
            </a:r>
            <a:r>
              <a:rPr sz="1100" spc="-10" dirty="0">
                <a:latin typeface="Tahoma"/>
                <a:cs typeface="Tahoma"/>
              </a:rPr>
              <a:t>for </a:t>
            </a:r>
            <a:r>
              <a:rPr sz="1100" spc="-5" dirty="0">
                <a:latin typeface="Tahoma"/>
                <a:cs typeface="Tahoma"/>
              </a:rPr>
              <a:t>the first 15 days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</a:p>
          <a:p>
            <a:pPr marL="321310" marR="5080" indent="-1905">
              <a:lnSpc>
                <a:spcPts val="1310"/>
              </a:lnSpc>
              <a:spcBef>
                <a:spcPts val="65"/>
              </a:spcBef>
            </a:pPr>
            <a:r>
              <a:rPr sz="1100" spc="-5" dirty="0">
                <a:latin typeface="Tahoma"/>
                <a:cs typeface="Tahoma"/>
              </a:rPr>
              <a:t>February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normally distributed with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10" dirty="0">
                <a:latin typeface="Tahoma"/>
                <a:cs typeface="Tahoma"/>
              </a:rPr>
              <a:t>standard </a:t>
            </a:r>
            <a:r>
              <a:rPr sz="1100" spc="-5" dirty="0">
                <a:latin typeface="Tahoma"/>
                <a:cs typeface="Tahoma"/>
              </a:rPr>
              <a:t>deviation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2.5</a:t>
            </a:r>
            <a:r>
              <a:rPr sz="1050" spc="-15" baseline="31746" dirty="0">
                <a:latin typeface="Tahoma"/>
                <a:cs typeface="Tahoma"/>
              </a:rPr>
              <a:t>°</a:t>
            </a:r>
            <a:r>
              <a:rPr sz="1100" spc="-10" dirty="0">
                <a:latin typeface="Tahoma"/>
                <a:cs typeface="Tahoma"/>
              </a:rPr>
              <a:t>. </a:t>
            </a:r>
            <a:r>
              <a:rPr sz="1100" spc="-5" dirty="0">
                <a:latin typeface="Tahoma"/>
                <a:cs typeface="Tahoma"/>
              </a:rPr>
              <a:t>If </a:t>
            </a:r>
            <a:r>
              <a:rPr sz="1100" dirty="0">
                <a:latin typeface="Tahoma"/>
                <a:cs typeface="Tahoma"/>
              </a:rPr>
              <a:t>it </a:t>
            </a:r>
            <a:r>
              <a:rPr sz="1100" spc="-5" dirty="0">
                <a:latin typeface="Tahoma"/>
                <a:cs typeface="Tahoma"/>
              </a:rPr>
              <a:t>was  </a:t>
            </a:r>
            <a:r>
              <a:rPr sz="1100" spc="-10" dirty="0">
                <a:latin typeface="Tahoma"/>
                <a:cs typeface="Tahoma"/>
              </a:rPr>
              <a:t>37</a:t>
            </a:r>
            <a:r>
              <a:rPr sz="1050" spc="-15" baseline="31746" dirty="0">
                <a:latin typeface="Tahoma"/>
                <a:cs typeface="Tahoma"/>
              </a:rPr>
              <a:t>°  </a:t>
            </a:r>
            <a:r>
              <a:rPr sz="1100" dirty="0">
                <a:latin typeface="Tahoma"/>
                <a:cs typeface="Tahoma"/>
              </a:rPr>
              <a:t>on </a:t>
            </a:r>
            <a:r>
              <a:rPr sz="1100" spc="-5" dirty="0">
                <a:latin typeface="Tahoma"/>
                <a:cs typeface="Tahoma"/>
              </a:rPr>
              <a:t>Valentine’s </a:t>
            </a:r>
            <a:r>
              <a:rPr sz="1100" spc="-10" dirty="0">
                <a:latin typeface="Tahoma"/>
                <a:cs typeface="Tahoma"/>
              </a:rPr>
              <a:t>Day </a:t>
            </a:r>
            <a:r>
              <a:rPr sz="1100" spc="-5" dirty="0">
                <a:latin typeface="Tahoma"/>
                <a:cs typeface="Tahoma"/>
              </a:rPr>
              <a:t>with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200" i="1" spc="-5" dirty="0">
                <a:latin typeface="Times New Roman"/>
                <a:cs typeface="Times New Roman"/>
              </a:rPr>
              <a:t>z</a:t>
            </a:r>
            <a:r>
              <a:rPr sz="1100" spc="-5" dirty="0">
                <a:latin typeface="Tahoma"/>
                <a:cs typeface="Tahoma"/>
              </a:rPr>
              <a:t>-score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2.4, find the mean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temperature.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D08541C4-0231-4CCC-8012-E67F65069663}"/>
              </a:ext>
            </a:extLst>
          </p:cNvPr>
          <p:cNvSpPr txBox="1"/>
          <p:nvPr/>
        </p:nvSpPr>
        <p:spPr>
          <a:xfrm>
            <a:off x="604518" y="3385616"/>
            <a:ext cx="4951095" cy="865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405" marR="5080" indent="-307340">
              <a:lnSpc>
                <a:spcPct val="98000"/>
              </a:lnSpc>
            </a:pPr>
            <a:r>
              <a:rPr sz="1100" b="1" dirty="0">
                <a:latin typeface="Tahoma"/>
                <a:cs typeface="Tahoma"/>
              </a:rPr>
              <a:t>11.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price </a:t>
            </a:r>
            <a:r>
              <a:rPr sz="1100" dirty="0">
                <a:latin typeface="Tahoma"/>
                <a:cs typeface="Tahoma"/>
              </a:rPr>
              <a:t>of a </a:t>
            </a:r>
            <a:r>
              <a:rPr sz="1100" spc="-5" dirty="0">
                <a:latin typeface="Tahoma"/>
                <a:cs typeface="Tahoma"/>
              </a:rPr>
              <a:t>gallon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milk </a:t>
            </a:r>
            <a:r>
              <a:rPr sz="1100" spc="-10" dirty="0">
                <a:latin typeface="Tahoma"/>
                <a:cs typeface="Tahoma"/>
              </a:rPr>
              <a:t>at </a:t>
            </a:r>
            <a:r>
              <a:rPr sz="1100" spc="-5" dirty="0">
                <a:latin typeface="Tahoma"/>
                <a:cs typeface="Tahoma"/>
              </a:rPr>
              <a:t>various stores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normally distributed with </a:t>
            </a:r>
            <a:r>
              <a:rPr sz="1100" dirty="0">
                <a:latin typeface="Tahoma"/>
                <a:cs typeface="Tahoma"/>
              </a:rPr>
              <a:t>a  </a:t>
            </a:r>
            <a:r>
              <a:rPr sz="1100" spc="-5" dirty="0">
                <a:latin typeface="Tahoma"/>
                <a:cs typeface="Tahoma"/>
              </a:rPr>
              <a:t>mean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$2.89 and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standard deviation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$0.2.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price </a:t>
            </a:r>
            <a:r>
              <a:rPr sz="1100" dirty="0">
                <a:latin typeface="Tahoma"/>
                <a:cs typeface="Tahoma"/>
              </a:rPr>
              <a:t>of a </a:t>
            </a:r>
            <a:r>
              <a:rPr sz="1100" spc="-5" dirty="0">
                <a:latin typeface="Tahoma"/>
                <a:cs typeface="Tahoma"/>
              </a:rPr>
              <a:t>gallon </a:t>
            </a:r>
            <a:r>
              <a:rPr sz="1100" dirty="0">
                <a:latin typeface="Tahoma"/>
                <a:cs typeface="Tahoma"/>
              </a:rPr>
              <a:t>of  </a:t>
            </a:r>
            <a:r>
              <a:rPr sz="1100" spc="-5" dirty="0">
                <a:latin typeface="Tahoma"/>
                <a:cs typeface="Tahoma"/>
              </a:rPr>
              <a:t>milk at SmartShop </a:t>
            </a:r>
            <a:r>
              <a:rPr sz="1100" spc="-10" dirty="0">
                <a:latin typeface="Tahoma"/>
                <a:cs typeface="Tahoma"/>
              </a:rPr>
              <a:t>has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200" i="1" spc="-5" dirty="0">
                <a:latin typeface="Times New Roman"/>
                <a:cs typeface="Times New Roman"/>
              </a:rPr>
              <a:t>z</a:t>
            </a:r>
            <a:r>
              <a:rPr sz="1100" spc="-5" dirty="0">
                <a:latin typeface="Tahoma"/>
                <a:cs typeface="Tahoma"/>
              </a:rPr>
              <a:t>-score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-1.3 while the price </a:t>
            </a:r>
            <a:r>
              <a:rPr sz="1100" dirty="0">
                <a:latin typeface="Tahoma"/>
                <a:cs typeface="Tahoma"/>
              </a:rPr>
              <a:t>of a gallon of </a:t>
            </a:r>
            <a:r>
              <a:rPr sz="1100" spc="-5" dirty="0">
                <a:latin typeface="Tahoma"/>
                <a:cs typeface="Tahoma"/>
              </a:rPr>
              <a:t>milk  </a:t>
            </a:r>
            <a:r>
              <a:rPr sz="1100" spc="-10" dirty="0">
                <a:latin typeface="Tahoma"/>
                <a:cs typeface="Tahoma"/>
              </a:rPr>
              <a:t>at </a:t>
            </a:r>
            <a:r>
              <a:rPr sz="1100" spc="-5" dirty="0">
                <a:latin typeface="Tahoma"/>
                <a:cs typeface="Tahoma"/>
              </a:rPr>
              <a:t>Wegmans has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200" i="1" spc="-10" dirty="0">
                <a:latin typeface="Times New Roman"/>
                <a:cs typeface="Times New Roman"/>
              </a:rPr>
              <a:t>z</a:t>
            </a:r>
            <a:r>
              <a:rPr sz="1100" spc="-10" dirty="0">
                <a:latin typeface="Tahoma"/>
                <a:cs typeface="Tahoma"/>
              </a:rPr>
              <a:t>-score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0.6. How much more </a:t>
            </a:r>
            <a:r>
              <a:rPr sz="1100" dirty="0">
                <a:latin typeface="Tahoma"/>
                <a:cs typeface="Tahoma"/>
              </a:rPr>
              <a:t>is a gallon of </a:t>
            </a:r>
            <a:r>
              <a:rPr sz="1100" spc="-10" dirty="0">
                <a:latin typeface="Tahoma"/>
                <a:cs typeface="Tahoma"/>
              </a:rPr>
              <a:t>milk at  </a:t>
            </a:r>
            <a:r>
              <a:rPr sz="1100" spc="-5" dirty="0">
                <a:latin typeface="Tahoma"/>
                <a:cs typeface="Tahoma"/>
              </a:rPr>
              <a:t>Wegmans compared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SmartShop?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24CB195D-54A2-41D5-A2F9-0A6B45722931}"/>
              </a:ext>
            </a:extLst>
          </p:cNvPr>
          <p:cNvSpPr txBox="1"/>
          <p:nvPr/>
        </p:nvSpPr>
        <p:spPr>
          <a:xfrm>
            <a:off x="604518" y="4752355"/>
            <a:ext cx="4943475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405" marR="5080" indent="-307340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12. </a:t>
            </a:r>
            <a:r>
              <a:rPr sz="1100" spc="-5" dirty="0">
                <a:latin typeface="Tahoma"/>
                <a:cs typeface="Tahoma"/>
              </a:rPr>
              <a:t>Mark recently took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road trip across the country.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number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miles he  </a:t>
            </a:r>
            <a:r>
              <a:rPr sz="1100" dirty="0">
                <a:latin typeface="Tahoma"/>
                <a:cs typeface="Tahoma"/>
              </a:rPr>
              <a:t>drove </a:t>
            </a:r>
            <a:r>
              <a:rPr sz="1100" spc="-5" dirty="0">
                <a:latin typeface="Tahoma"/>
                <a:cs typeface="Tahoma"/>
              </a:rPr>
              <a:t>each day was normally distributed with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mean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450.  If he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drove</a:t>
            </a:r>
            <a:endParaRPr sz="1100" dirty="0">
              <a:latin typeface="Tahoma"/>
              <a:cs typeface="Tahoma"/>
            </a:endParaRPr>
          </a:p>
          <a:p>
            <a:pPr marL="321310">
              <a:lnSpc>
                <a:spcPts val="1330"/>
              </a:lnSpc>
            </a:pPr>
            <a:r>
              <a:rPr sz="1100" spc="-5" dirty="0">
                <a:latin typeface="Tahoma"/>
                <a:cs typeface="Tahoma"/>
              </a:rPr>
              <a:t>431.8 miles </a:t>
            </a:r>
            <a:r>
              <a:rPr sz="1100" dirty="0">
                <a:latin typeface="Tahoma"/>
                <a:cs typeface="Tahoma"/>
              </a:rPr>
              <a:t>on </a:t>
            </a:r>
            <a:r>
              <a:rPr sz="1100" spc="-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last </a:t>
            </a:r>
            <a:r>
              <a:rPr sz="1100" spc="-5" dirty="0">
                <a:latin typeface="Tahoma"/>
                <a:cs typeface="Tahoma"/>
              </a:rPr>
              <a:t>day with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200" i="1" spc="-5" dirty="0">
                <a:latin typeface="Times New Roman"/>
                <a:cs typeface="Times New Roman"/>
              </a:rPr>
              <a:t>z</a:t>
            </a:r>
            <a:r>
              <a:rPr sz="1100" spc="-5" dirty="0">
                <a:latin typeface="Tahoma"/>
                <a:cs typeface="Tahoma"/>
              </a:rPr>
              <a:t>-score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-0.7, what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standard</a:t>
            </a:r>
            <a:endParaRPr sz="1100" dirty="0">
              <a:latin typeface="Tahoma"/>
              <a:cs typeface="Tahoma"/>
            </a:endParaRPr>
          </a:p>
          <a:p>
            <a:pPr marL="319405">
              <a:lnSpc>
                <a:spcPct val="100000"/>
              </a:lnSpc>
              <a:spcBef>
                <a:spcPts val="50"/>
              </a:spcBef>
            </a:pPr>
            <a:r>
              <a:rPr sz="1100" spc="-5" dirty="0">
                <a:latin typeface="Tahoma"/>
                <a:cs typeface="Tahoma"/>
              </a:rPr>
              <a:t>deviation?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B5D470EF-8C9F-4616-9A6E-D071E7A4AE12}"/>
              </a:ext>
            </a:extLst>
          </p:cNvPr>
          <p:cNvSpPr txBox="1"/>
          <p:nvPr/>
        </p:nvSpPr>
        <p:spPr>
          <a:xfrm>
            <a:off x="604518" y="7471917"/>
            <a:ext cx="969644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Tahoma"/>
                <a:cs typeface="Tahoma"/>
              </a:rPr>
              <a:t>14.  </a:t>
            </a:r>
            <a:r>
              <a:rPr sz="1250" i="1" spc="-5" dirty="0">
                <a:latin typeface="Times New Roman"/>
                <a:cs typeface="Times New Roman"/>
              </a:rPr>
              <a:t>P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250" i="1" spc="-5" dirty="0">
                <a:latin typeface="Times New Roman"/>
                <a:cs typeface="Times New Roman"/>
              </a:rPr>
              <a:t>X </a:t>
            </a:r>
            <a:r>
              <a:rPr sz="1100" dirty="0">
                <a:latin typeface="Tahoma"/>
                <a:cs typeface="Tahoma"/>
              </a:rPr>
              <a:t>&lt;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85)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BC2B9208-4541-414D-B376-B8708C29C227}"/>
              </a:ext>
            </a:extLst>
          </p:cNvPr>
          <p:cNvSpPr txBox="1"/>
          <p:nvPr/>
        </p:nvSpPr>
        <p:spPr>
          <a:xfrm>
            <a:off x="604518" y="8203438"/>
            <a:ext cx="131127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Tahoma"/>
                <a:cs typeface="Tahoma"/>
              </a:rPr>
              <a:t>15.  </a:t>
            </a:r>
            <a:r>
              <a:rPr sz="1250" i="1" spc="-5" dirty="0">
                <a:latin typeface="Times New Roman"/>
                <a:cs typeface="Times New Roman"/>
              </a:rPr>
              <a:t>P</a:t>
            </a:r>
            <a:r>
              <a:rPr sz="1100" spc="-5" dirty="0">
                <a:latin typeface="Tahoma"/>
                <a:cs typeface="Tahoma"/>
              </a:rPr>
              <a:t>(71 </a:t>
            </a:r>
            <a:r>
              <a:rPr sz="1100" dirty="0">
                <a:latin typeface="Tahoma"/>
                <a:cs typeface="Tahoma"/>
              </a:rPr>
              <a:t>&lt; </a:t>
            </a:r>
            <a:r>
              <a:rPr sz="1250" i="1" spc="-5" dirty="0">
                <a:latin typeface="Times New Roman"/>
                <a:cs typeface="Times New Roman"/>
              </a:rPr>
              <a:t>X </a:t>
            </a:r>
            <a:r>
              <a:rPr sz="1100" dirty="0">
                <a:latin typeface="Tahoma"/>
                <a:cs typeface="Tahoma"/>
              </a:rPr>
              <a:t>&lt;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96)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22115C0A-78C8-406E-942B-3504E868040E}"/>
              </a:ext>
            </a:extLst>
          </p:cNvPr>
          <p:cNvSpPr txBox="1"/>
          <p:nvPr/>
        </p:nvSpPr>
        <p:spPr>
          <a:xfrm>
            <a:off x="604518" y="8949437"/>
            <a:ext cx="486219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Tahoma"/>
                <a:cs typeface="Tahoma"/>
              </a:rPr>
              <a:t>16. </a:t>
            </a:r>
            <a:r>
              <a:rPr sz="1100" spc="-5" dirty="0">
                <a:latin typeface="Tahoma"/>
                <a:cs typeface="Tahoma"/>
              </a:rPr>
              <a:t>If there are 30 teams, approximately how </a:t>
            </a:r>
            <a:r>
              <a:rPr sz="1100" spc="-10" dirty="0">
                <a:latin typeface="Tahoma"/>
                <a:cs typeface="Tahoma"/>
              </a:rPr>
              <a:t>many </a:t>
            </a:r>
            <a:r>
              <a:rPr sz="1100" spc="-5" dirty="0">
                <a:latin typeface="Tahoma"/>
                <a:cs typeface="Tahoma"/>
              </a:rPr>
              <a:t>scored at least 76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points?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9FE399-2A95-40BB-A83B-5DA3D1DEC046}"/>
              </a:ext>
            </a:extLst>
          </p:cNvPr>
          <p:cNvSpPr/>
          <p:nvPr/>
        </p:nvSpPr>
        <p:spPr>
          <a:xfrm>
            <a:off x="533400" y="6096000"/>
            <a:ext cx="67437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for questions 13-16: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number of points scored by each team in the NHL at the end of the season is normally distributed with a mean of 89 and a standard deviation of 11.  Find each probability.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represents a data value and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represents a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-score)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D730F3-3378-4CD2-802C-96F5755B2DE6}"/>
              </a:ext>
            </a:extLst>
          </p:cNvPr>
          <p:cNvSpPr/>
          <p:nvPr/>
        </p:nvSpPr>
        <p:spPr>
          <a:xfrm>
            <a:off x="533400" y="6705600"/>
            <a:ext cx="1196161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13. 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(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&gt; 1.3)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529</Words>
  <Application>Microsoft Office PowerPoint</Application>
  <PresentationFormat>Custom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Tahoma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- 15 - Quiz 11-2</dc:title>
  <dc:creator>allth</dc:creator>
  <cp:lastModifiedBy>Gina Wilson</cp:lastModifiedBy>
  <cp:revision>7</cp:revision>
  <dcterms:created xsi:type="dcterms:W3CDTF">2017-12-14T16:23:51Z</dcterms:created>
  <dcterms:modified xsi:type="dcterms:W3CDTF">2017-12-20T22:29:38Z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2016-02-08T00:00:00Z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2017-12-14T00:00:00Z</vt:filetime>
  </property>
</Properties>
</file>