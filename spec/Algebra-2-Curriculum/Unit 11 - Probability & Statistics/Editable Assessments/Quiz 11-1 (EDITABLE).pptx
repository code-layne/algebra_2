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7772400" cy="100584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3" d="100"/>
          <a:sy n="43" d="100"/>
        </p:scale>
        <p:origin x="516" y="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15"/>
              </a:lnSpc>
            </a:pPr>
            <a:r>
              <a:rPr dirty="0"/>
              <a:t>© </a:t>
            </a:r>
            <a:r>
              <a:rPr spc="-5" dirty="0"/>
              <a:t>Gina Wilson (All Things Algebra),</a:t>
            </a:r>
            <a:r>
              <a:rPr spc="-15" dirty="0"/>
              <a:t> </a:t>
            </a:r>
            <a:r>
              <a:rPr spc="-5" dirty="0"/>
              <a:t>2016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12/20/2017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15"/>
              </a:lnSpc>
            </a:pPr>
            <a:r>
              <a:rPr dirty="0"/>
              <a:t>© </a:t>
            </a:r>
            <a:r>
              <a:rPr spc="-5" dirty="0"/>
              <a:t>Gina Wilson (All Things Algebra),</a:t>
            </a:r>
            <a:r>
              <a:rPr spc="-15" dirty="0"/>
              <a:t> </a:t>
            </a:r>
            <a:r>
              <a:rPr spc="-5" dirty="0"/>
              <a:t>2016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12/20/2017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15"/>
              </a:lnSpc>
            </a:pPr>
            <a:r>
              <a:rPr dirty="0"/>
              <a:t>© </a:t>
            </a:r>
            <a:r>
              <a:rPr spc="-5" dirty="0"/>
              <a:t>Gina Wilson (All Things Algebra),</a:t>
            </a:r>
            <a:r>
              <a:rPr spc="-15" dirty="0"/>
              <a:t> </a:t>
            </a:r>
            <a:r>
              <a:rPr spc="-5" dirty="0"/>
              <a:t>2016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12/20/2017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15"/>
              </a:lnSpc>
            </a:pPr>
            <a:r>
              <a:rPr dirty="0"/>
              <a:t>© </a:t>
            </a:r>
            <a:r>
              <a:rPr spc="-5" dirty="0"/>
              <a:t>Gina Wilson (All Things Algebra),</a:t>
            </a:r>
            <a:r>
              <a:rPr spc="-15" dirty="0"/>
              <a:t> </a:t>
            </a:r>
            <a:r>
              <a:rPr spc="-5" dirty="0"/>
              <a:t>2016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12/20/2017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15"/>
              </a:lnSpc>
            </a:pPr>
            <a:r>
              <a:rPr dirty="0"/>
              <a:t>© </a:t>
            </a:r>
            <a:r>
              <a:rPr spc="-5" dirty="0"/>
              <a:t>Gina Wilson (All Things Algebra),</a:t>
            </a:r>
            <a:r>
              <a:rPr spc="-15" dirty="0"/>
              <a:t> </a:t>
            </a:r>
            <a:r>
              <a:rPr spc="-5" dirty="0"/>
              <a:t>2016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12/20/2017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600200" y="9735115"/>
            <a:ext cx="1597659" cy="121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15"/>
              </a:lnSpc>
            </a:pPr>
            <a:r>
              <a:rPr dirty="0"/>
              <a:t>© </a:t>
            </a:r>
            <a:r>
              <a:rPr spc="-5" dirty="0"/>
              <a:t>Gina Wilson (All Things Algebra),</a:t>
            </a:r>
            <a:r>
              <a:rPr spc="-15" dirty="0"/>
              <a:t> </a:t>
            </a:r>
            <a:r>
              <a:rPr spc="-5" dirty="0"/>
              <a:t>2016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12/20/2017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>
            <a:extLst>
              <a:ext uri="{FF2B5EF4-FFF2-40B4-BE49-F238E27FC236}">
                <a16:creationId xmlns:a16="http://schemas.microsoft.com/office/drawing/2014/main" id="{7F47EEE2-E06C-4FC7-A71F-1978618AAB8C}"/>
              </a:ext>
            </a:extLst>
          </p:cNvPr>
          <p:cNvSpPr txBox="1"/>
          <p:nvPr/>
        </p:nvSpPr>
        <p:spPr>
          <a:xfrm>
            <a:off x="604519" y="2467879"/>
            <a:ext cx="4371975" cy="352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2410" marR="5080" indent="-220345">
              <a:lnSpc>
                <a:spcPct val="100899"/>
              </a:lnSpc>
            </a:pPr>
            <a:r>
              <a:rPr sz="1100" b="1" dirty="0">
                <a:latin typeface="Tahoma"/>
                <a:cs typeface="Tahoma"/>
              </a:rPr>
              <a:t>2. </a:t>
            </a:r>
            <a:r>
              <a:rPr sz="1100" dirty="0">
                <a:latin typeface="Tahoma"/>
                <a:cs typeface="Tahoma"/>
              </a:rPr>
              <a:t>A </a:t>
            </a:r>
            <a:r>
              <a:rPr sz="1100" spc="-5" dirty="0">
                <a:latin typeface="Tahoma"/>
                <a:cs typeface="Tahoma"/>
              </a:rPr>
              <a:t>science quiz has eight multiple choice questions with five choices  for each.  Find the total number </a:t>
            </a:r>
            <a:r>
              <a:rPr sz="1100" dirty="0">
                <a:latin typeface="Tahoma"/>
                <a:cs typeface="Tahoma"/>
              </a:rPr>
              <a:t>of </a:t>
            </a:r>
            <a:r>
              <a:rPr sz="1100" spc="-5" dirty="0">
                <a:latin typeface="Tahoma"/>
                <a:cs typeface="Tahoma"/>
              </a:rPr>
              <a:t>ways </a:t>
            </a:r>
            <a:r>
              <a:rPr sz="1100" dirty="0">
                <a:latin typeface="Tahoma"/>
                <a:cs typeface="Tahoma"/>
              </a:rPr>
              <a:t>to </a:t>
            </a:r>
            <a:r>
              <a:rPr sz="1100" spc="-5" dirty="0">
                <a:latin typeface="Tahoma"/>
                <a:cs typeface="Tahoma"/>
              </a:rPr>
              <a:t>answer the</a:t>
            </a:r>
            <a:r>
              <a:rPr sz="1100" spc="75" dirty="0">
                <a:latin typeface="Tahoma"/>
                <a:cs typeface="Tahoma"/>
              </a:rPr>
              <a:t> </a:t>
            </a:r>
            <a:r>
              <a:rPr sz="1100" spc="-5" dirty="0">
                <a:latin typeface="Tahoma"/>
                <a:cs typeface="Tahoma"/>
              </a:rPr>
              <a:t>questions.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3" name="object 6">
            <a:extLst>
              <a:ext uri="{FF2B5EF4-FFF2-40B4-BE49-F238E27FC236}">
                <a16:creationId xmlns:a16="http://schemas.microsoft.com/office/drawing/2014/main" id="{7C3D2616-9546-455A-B3A0-6265A0AA9D0C}"/>
              </a:ext>
            </a:extLst>
          </p:cNvPr>
          <p:cNvSpPr txBox="1"/>
          <p:nvPr/>
        </p:nvSpPr>
        <p:spPr>
          <a:xfrm>
            <a:off x="604519" y="3154349"/>
            <a:ext cx="4495800" cy="519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2410" marR="5080" indent="-220345">
              <a:lnSpc>
                <a:spcPct val="100499"/>
              </a:lnSpc>
            </a:pPr>
            <a:r>
              <a:rPr sz="1100" b="1" dirty="0">
                <a:latin typeface="Tahoma"/>
                <a:cs typeface="Tahoma"/>
              </a:rPr>
              <a:t>3. </a:t>
            </a:r>
            <a:r>
              <a:rPr sz="1100" dirty="0">
                <a:latin typeface="Tahoma"/>
                <a:cs typeface="Tahoma"/>
              </a:rPr>
              <a:t>The golf </a:t>
            </a:r>
            <a:r>
              <a:rPr sz="1100" spc="-5" dirty="0">
                <a:latin typeface="Tahoma"/>
                <a:cs typeface="Tahoma"/>
              </a:rPr>
              <a:t>club can send </a:t>
            </a:r>
            <a:r>
              <a:rPr sz="1100" dirty="0">
                <a:latin typeface="Tahoma"/>
                <a:cs typeface="Tahoma"/>
              </a:rPr>
              <a:t>a </a:t>
            </a:r>
            <a:r>
              <a:rPr sz="1100" spc="-5" dirty="0">
                <a:latin typeface="Tahoma"/>
                <a:cs typeface="Tahoma"/>
              </a:rPr>
              <a:t>team </a:t>
            </a:r>
            <a:r>
              <a:rPr sz="1100" dirty="0">
                <a:latin typeface="Tahoma"/>
                <a:cs typeface="Tahoma"/>
              </a:rPr>
              <a:t>of </a:t>
            </a:r>
            <a:r>
              <a:rPr sz="1100" spc="-5" dirty="0">
                <a:latin typeface="Tahoma"/>
                <a:cs typeface="Tahoma"/>
              </a:rPr>
              <a:t>four students </a:t>
            </a:r>
            <a:r>
              <a:rPr sz="1100" dirty="0">
                <a:latin typeface="Tahoma"/>
                <a:cs typeface="Tahoma"/>
              </a:rPr>
              <a:t>to </a:t>
            </a:r>
            <a:r>
              <a:rPr sz="1100" spc="-5" dirty="0">
                <a:latin typeface="Tahoma"/>
                <a:cs typeface="Tahoma"/>
              </a:rPr>
              <a:t>the next </a:t>
            </a:r>
            <a:r>
              <a:rPr sz="1100" dirty="0">
                <a:latin typeface="Tahoma"/>
                <a:cs typeface="Tahoma"/>
              </a:rPr>
              <a:t>golf  </a:t>
            </a:r>
            <a:r>
              <a:rPr sz="1100" spc="-5" dirty="0">
                <a:latin typeface="Tahoma"/>
                <a:cs typeface="Tahoma"/>
              </a:rPr>
              <a:t>tournament. If there are 15 students </a:t>
            </a:r>
            <a:r>
              <a:rPr sz="1100" dirty="0">
                <a:latin typeface="Tahoma"/>
                <a:cs typeface="Tahoma"/>
              </a:rPr>
              <a:t>in </a:t>
            </a:r>
            <a:r>
              <a:rPr sz="1100" spc="-5" dirty="0">
                <a:latin typeface="Tahoma"/>
                <a:cs typeface="Tahoma"/>
              </a:rPr>
              <a:t>the </a:t>
            </a:r>
            <a:r>
              <a:rPr sz="1100" spc="-10" dirty="0">
                <a:latin typeface="Tahoma"/>
                <a:cs typeface="Tahoma"/>
              </a:rPr>
              <a:t>club, </a:t>
            </a:r>
            <a:r>
              <a:rPr sz="1100" spc="-5" dirty="0">
                <a:latin typeface="Tahoma"/>
                <a:cs typeface="Tahoma"/>
              </a:rPr>
              <a:t>how many different  teams </a:t>
            </a:r>
            <a:r>
              <a:rPr sz="1100" dirty="0">
                <a:latin typeface="Tahoma"/>
                <a:cs typeface="Tahoma"/>
              </a:rPr>
              <a:t>of </a:t>
            </a:r>
            <a:r>
              <a:rPr sz="1100" spc="-5" dirty="0">
                <a:latin typeface="Tahoma"/>
                <a:cs typeface="Tahoma"/>
              </a:rPr>
              <a:t>four can </a:t>
            </a:r>
            <a:r>
              <a:rPr sz="1100" dirty="0">
                <a:latin typeface="Tahoma"/>
                <a:cs typeface="Tahoma"/>
              </a:rPr>
              <a:t>be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" dirty="0">
                <a:latin typeface="Tahoma"/>
                <a:cs typeface="Tahoma"/>
              </a:rPr>
              <a:t>selected?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4" name="object 8">
            <a:extLst>
              <a:ext uri="{FF2B5EF4-FFF2-40B4-BE49-F238E27FC236}">
                <a16:creationId xmlns:a16="http://schemas.microsoft.com/office/drawing/2014/main" id="{1632C0F0-A701-4DFA-A060-DE91000A22F5}"/>
              </a:ext>
            </a:extLst>
          </p:cNvPr>
          <p:cNvSpPr txBox="1"/>
          <p:nvPr/>
        </p:nvSpPr>
        <p:spPr>
          <a:xfrm>
            <a:off x="604519" y="3839479"/>
            <a:ext cx="4500245" cy="352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2410" marR="5080" indent="-220345">
              <a:lnSpc>
                <a:spcPct val="100899"/>
              </a:lnSpc>
            </a:pPr>
            <a:r>
              <a:rPr sz="1100" b="1" dirty="0">
                <a:latin typeface="Tahoma"/>
                <a:cs typeface="Tahoma"/>
              </a:rPr>
              <a:t>4. </a:t>
            </a:r>
            <a:r>
              <a:rPr sz="1100" spc="-5" dirty="0">
                <a:latin typeface="Tahoma"/>
                <a:cs typeface="Tahoma"/>
              </a:rPr>
              <a:t>There are 18 skaters competing </a:t>
            </a:r>
            <a:r>
              <a:rPr sz="1100" dirty="0">
                <a:latin typeface="Tahoma"/>
                <a:cs typeface="Tahoma"/>
              </a:rPr>
              <a:t>in </a:t>
            </a:r>
            <a:r>
              <a:rPr sz="1100" spc="-5" dirty="0">
                <a:latin typeface="Tahoma"/>
                <a:cs typeface="Tahoma"/>
              </a:rPr>
              <a:t>the competition. How many ways  can they win the gold, silver, </a:t>
            </a:r>
            <a:r>
              <a:rPr sz="1100" spc="-10" dirty="0">
                <a:latin typeface="Tahoma"/>
                <a:cs typeface="Tahoma"/>
              </a:rPr>
              <a:t>and </a:t>
            </a:r>
            <a:r>
              <a:rPr sz="1100" spc="-5" dirty="0">
                <a:latin typeface="Tahoma"/>
                <a:cs typeface="Tahoma"/>
              </a:rPr>
              <a:t>bronze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spc="-5" dirty="0">
                <a:latin typeface="Tahoma"/>
                <a:cs typeface="Tahoma"/>
              </a:rPr>
              <a:t>medal?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5" name="object 10">
            <a:extLst>
              <a:ext uri="{FF2B5EF4-FFF2-40B4-BE49-F238E27FC236}">
                <a16:creationId xmlns:a16="http://schemas.microsoft.com/office/drawing/2014/main" id="{EDEDC3D7-4659-4117-9165-BAB6863B72AB}"/>
              </a:ext>
            </a:extLst>
          </p:cNvPr>
          <p:cNvSpPr txBox="1"/>
          <p:nvPr/>
        </p:nvSpPr>
        <p:spPr>
          <a:xfrm>
            <a:off x="613882" y="4425592"/>
            <a:ext cx="4529455" cy="352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6225" marR="5080" indent="-264160">
              <a:lnSpc>
                <a:spcPct val="100899"/>
              </a:lnSpc>
            </a:pPr>
            <a:r>
              <a:rPr sz="1100" b="1" dirty="0">
                <a:latin typeface="Tahoma"/>
                <a:cs typeface="Tahoma"/>
              </a:rPr>
              <a:t>5. </a:t>
            </a:r>
            <a:r>
              <a:rPr sz="1100" spc="-5" dirty="0">
                <a:latin typeface="Tahoma"/>
                <a:cs typeface="Tahoma"/>
              </a:rPr>
              <a:t>What </a:t>
            </a:r>
            <a:r>
              <a:rPr sz="1100" dirty="0">
                <a:latin typeface="Tahoma"/>
                <a:cs typeface="Tahoma"/>
              </a:rPr>
              <a:t>is </a:t>
            </a:r>
            <a:r>
              <a:rPr sz="1100" spc="-5" dirty="0">
                <a:latin typeface="Tahoma"/>
                <a:cs typeface="Tahoma"/>
              </a:rPr>
              <a:t>the total number </a:t>
            </a:r>
            <a:r>
              <a:rPr sz="1100" dirty="0">
                <a:latin typeface="Tahoma"/>
                <a:cs typeface="Tahoma"/>
              </a:rPr>
              <a:t>of </a:t>
            </a:r>
            <a:r>
              <a:rPr sz="1100" spc="-5" dirty="0">
                <a:latin typeface="Tahoma"/>
                <a:cs typeface="Tahoma"/>
              </a:rPr>
              <a:t>different 10-letter arrangements that can  </a:t>
            </a:r>
            <a:r>
              <a:rPr sz="1100" dirty="0">
                <a:latin typeface="Tahoma"/>
                <a:cs typeface="Tahoma"/>
              </a:rPr>
              <a:t>be </a:t>
            </a:r>
            <a:r>
              <a:rPr sz="1100" spc="-5" dirty="0">
                <a:latin typeface="Tahoma"/>
                <a:cs typeface="Tahoma"/>
              </a:rPr>
              <a:t>formed using the letters </a:t>
            </a:r>
            <a:r>
              <a:rPr sz="1100" dirty="0">
                <a:latin typeface="Tahoma"/>
                <a:cs typeface="Tahoma"/>
              </a:rPr>
              <a:t>in </a:t>
            </a:r>
            <a:r>
              <a:rPr sz="1100" spc="-5" dirty="0">
                <a:latin typeface="Tahoma"/>
                <a:cs typeface="Tahoma"/>
              </a:rPr>
              <a:t>the word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b="1" spc="-5" dirty="0">
                <a:latin typeface="Tahoma"/>
                <a:cs typeface="Tahoma"/>
              </a:rPr>
              <a:t>SUSPICIOUS</a:t>
            </a:r>
            <a:r>
              <a:rPr sz="1100" spc="-5" dirty="0">
                <a:latin typeface="Tahoma"/>
                <a:cs typeface="Tahoma"/>
              </a:rPr>
              <a:t>?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6" name="object 12">
            <a:extLst>
              <a:ext uri="{FF2B5EF4-FFF2-40B4-BE49-F238E27FC236}">
                <a16:creationId xmlns:a16="http://schemas.microsoft.com/office/drawing/2014/main" id="{15806777-820F-494D-A32B-E967E8BC61E0}"/>
              </a:ext>
            </a:extLst>
          </p:cNvPr>
          <p:cNvSpPr txBox="1"/>
          <p:nvPr/>
        </p:nvSpPr>
        <p:spPr>
          <a:xfrm>
            <a:off x="604519" y="5166867"/>
            <a:ext cx="4414520" cy="18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u="heavy" spc="-5" dirty="0">
                <a:latin typeface="Tahoma"/>
                <a:cs typeface="Tahoma"/>
              </a:rPr>
              <a:t>Part II </a:t>
            </a:r>
            <a:r>
              <a:rPr sz="1100" b="1" u="heavy" dirty="0">
                <a:latin typeface="Tahoma"/>
                <a:cs typeface="Tahoma"/>
              </a:rPr>
              <a:t>– </a:t>
            </a:r>
            <a:r>
              <a:rPr sz="1100" b="1" u="heavy" spc="-5" dirty="0">
                <a:latin typeface="Tahoma"/>
                <a:cs typeface="Tahoma"/>
              </a:rPr>
              <a:t>Probability</a:t>
            </a:r>
            <a:r>
              <a:rPr sz="1100" b="1" spc="-5" dirty="0">
                <a:latin typeface="Tahoma"/>
                <a:cs typeface="Tahoma"/>
              </a:rPr>
              <a:t>:  </a:t>
            </a:r>
            <a:r>
              <a:rPr sz="1100" spc="-5" dirty="0">
                <a:latin typeface="Tahoma"/>
                <a:cs typeface="Tahoma"/>
              </a:rPr>
              <a:t>Give each answer as fraction </a:t>
            </a:r>
            <a:r>
              <a:rPr sz="1100" dirty="0">
                <a:latin typeface="Tahoma"/>
                <a:cs typeface="Tahoma"/>
              </a:rPr>
              <a:t>in </a:t>
            </a:r>
            <a:r>
              <a:rPr sz="1100" spc="-5" dirty="0">
                <a:latin typeface="Tahoma"/>
                <a:cs typeface="Tahoma"/>
              </a:rPr>
              <a:t>simplest</a:t>
            </a:r>
            <a:r>
              <a:rPr sz="1100" spc="140" dirty="0">
                <a:latin typeface="Tahoma"/>
                <a:cs typeface="Tahoma"/>
              </a:rPr>
              <a:t> </a:t>
            </a:r>
            <a:r>
              <a:rPr sz="1100" spc="-5" dirty="0">
                <a:latin typeface="Tahoma"/>
                <a:cs typeface="Tahoma"/>
              </a:rPr>
              <a:t>form.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7" name="object 13">
            <a:extLst>
              <a:ext uri="{FF2B5EF4-FFF2-40B4-BE49-F238E27FC236}">
                <a16:creationId xmlns:a16="http://schemas.microsoft.com/office/drawing/2014/main" id="{1C8D4CD1-4B17-40A0-9D4B-BB18B31669DD}"/>
              </a:ext>
            </a:extLst>
          </p:cNvPr>
          <p:cNvSpPr txBox="1"/>
          <p:nvPr/>
        </p:nvSpPr>
        <p:spPr>
          <a:xfrm>
            <a:off x="604519" y="5576839"/>
            <a:ext cx="5104130" cy="352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2410" marR="5080" indent="-220345">
              <a:lnSpc>
                <a:spcPct val="100899"/>
              </a:lnSpc>
            </a:pPr>
            <a:r>
              <a:rPr sz="1100" b="1" dirty="0">
                <a:latin typeface="Tahoma"/>
                <a:cs typeface="Tahoma"/>
              </a:rPr>
              <a:t>6. </a:t>
            </a:r>
            <a:r>
              <a:rPr sz="1100" spc="-5" dirty="0">
                <a:latin typeface="Tahoma"/>
                <a:cs typeface="Tahoma"/>
              </a:rPr>
              <a:t>What </a:t>
            </a:r>
            <a:r>
              <a:rPr sz="1100" dirty="0">
                <a:latin typeface="Tahoma"/>
                <a:cs typeface="Tahoma"/>
              </a:rPr>
              <a:t>is </a:t>
            </a:r>
            <a:r>
              <a:rPr sz="1100" spc="-5" dirty="0">
                <a:latin typeface="Tahoma"/>
                <a:cs typeface="Tahoma"/>
              </a:rPr>
              <a:t>the probability </a:t>
            </a:r>
            <a:r>
              <a:rPr sz="1100" dirty="0">
                <a:latin typeface="Tahoma"/>
                <a:cs typeface="Tahoma"/>
              </a:rPr>
              <a:t>of </a:t>
            </a:r>
            <a:r>
              <a:rPr sz="1100" spc="-5" dirty="0">
                <a:latin typeface="Tahoma"/>
                <a:cs typeface="Tahoma"/>
              </a:rPr>
              <a:t>drawing </a:t>
            </a:r>
            <a:r>
              <a:rPr sz="1100" dirty="0">
                <a:latin typeface="Tahoma"/>
                <a:cs typeface="Tahoma"/>
              </a:rPr>
              <a:t>a </a:t>
            </a:r>
            <a:r>
              <a:rPr sz="1100" spc="-5" dirty="0">
                <a:latin typeface="Tahoma"/>
                <a:cs typeface="Tahoma"/>
              </a:rPr>
              <a:t>jack </a:t>
            </a:r>
            <a:r>
              <a:rPr sz="1100" dirty="0">
                <a:latin typeface="Tahoma"/>
                <a:cs typeface="Tahoma"/>
              </a:rPr>
              <a:t>or a </a:t>
            </a:r>
            <a:r>
              <a:rPr sz="1100" spc="-10" dirty="0">
                <a:latin typeface="Tahoma"/>
                <a:cs typeface="Tahoma"/>
              </a:rPr>
              <a:t>red </a:t>
            </a:r>
            <a:r>
              <a:rPr sz="1100" spc="-5" dirty="0">
                <a:latin typeface="Tahoma"/>
                <a:cs typeface="Tahoma"/>
              </a:rPr>
              <a:t>card from </a:t>
            </a:r>
            <a:r>
              <a:rPr sz="1100" dirty="0">
                <a:latin typeface="Tahoma"/>
                <a:cs typeface="Tahoma"/>
              </a:rPr>
              <a:t>a </a:t>
            </a:r>
            <a:r>
              <a:rPr sz="1100" spc="-5" dirty="0">
                <a:latin typeface="Tahoma"/>
                <a:cs typeface="Tahoma"/>
              </a:rPr>
              <a:t>standard deck </a:t>
            </a:r>
            <a:r>
              <a:rPr sz="1100" dirty="0">
                <a:latin typeface="Tahoma"/>
                <a:cs typeface="Tahoma"/>
              </a:rPr>
              <a:t>of  </a:t>
            </a:r>
            <a:r>
              <a:rPr sz="1100" spc="-5" dirty="0">
                <a:latin typeface="Tahoma"/>
                <a:cs typeface="Tahoma"/>
              </a:rPr>
              <a:t>playing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5" dirty="0">
                <a:latin typeface="Tahoma"/>
                <a:cs typeface="Tahoma"/>
              </a:rPr>
              <a:t>cards?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8" name="object 15">
            <a:extLst>
              <a:ext uri="{FF2B5EF4-FFF2-40B4-BE49-F238E27FC236}">
                <a16:creationId xmlns:a16="http://schemas.microsoft.com/office/drawing/2014/main" id="{58E5DB6B-9F1E-4FA5-B8BB-FE839B47A074}"/>
              </a:ext>
            </a:extLst>
          </p:cNvPr>
          <p:cNvSpPr txBox="1"/>
          <p:nvPr/>
        </p:nvSpPr>
        <p:spPr>
          <a:xfrm>
            <a:off x="604518" y="6427231"/>
            <a:ext cx="4977130" cy="352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2410" marR="5080" indent="-220345">
              <a:lnSpc>
                <a:spcPct val="100899"/>
              </a:lnSpc>
            </a:pPr>
            <a:r>
              <a:rPr sz="1100" b="1" dirty="0">
                <a:latin typeface="Tahoma"/>
                <a:cs typeface="Tahoma"/>
              </a:rPr>
              <a:t>7. </a:t>
            </a:r>
            <a:r>
              <a:rPr sz="1100" dirty="0">
                <a:latin typeface="Tahoma"/>
                <a:cs typeface="Tahoma"/>
              </a:rPr>
              <a:t>A </a:t>
            </a:r>
            <a:r>
              <a:rPr sz="1100" spc="-5" dirty="0">
                <a:latin typeface="Tahoma"/>
                <a:cs typeface="Tahoma"/>
              </a:rPr>
              <a:t>bag contains 40 slips </a:t>
            </a:r>
            <a:r>
              <a:rPr sz="1100" dirty="0">
                <a:latin typeface="Tahoma"/>
                <a:cs typeface="Tahoma"/>
              </a:rPr>
              <a:t>of </a:t>
            </a:r>
            <a:r>
              <a:rPr sz="1100" spc="-5" dirty="0">
                <a:latin typeface="Tahoma"/>
                <a:cs typeface="Tahoma"/>
              </a:rPr>
              <a:t>paper numbered </a:t>
            </a:r>
            <a:r>
              <a:rPr sz="1100" spc="-10" dirty="0">
                <a:latin typeface="Tahoma"/>
                <a:cs typeface="Tahoma"/>
              </a:rPr>
              <a:t>1-40. </a:t>
            </a:r>
            <a:r>
              <a:rPr sz="1100" spc="-5" dirty="0">
                <a:latin typeface="Tahoma"/>
                <a:cs typeface="Tahoma"/>
              </a:rPr>
              <a:t>If one </a:t>
            </a:r>
            <a:r>
              <a:rPr sz="1100" dirty="0">
                <a:latin typeface="Tahoma"/>
                <a:cs typeface="Tahoma"/>
              </a:rPr>
              <a:t>is </a:t>
            </a:r>
            <a:r>
              <a:rPr sz="1100" spc="-5" dirty="0">
                <a:latin typeface="Tahoma"/>
                <a:cs typeface="Tahoma"/>
              </a:rPr>
              <a:t>randomly chosen,  what </a:t>
            </a:r>
            <a:r>
              <a:rPr sz="1100" dirty="0">
                <a:latin typeface="Tahoma"/>
                <a:cs typeface="Tahoma"/>
              </a:rPr>
              <a:t>is </a:t>
            </a:r>
            <a:r>
              <a:rPr sz="1100" spc="-5" dirty="0">
                <a:latin typeface="Tahoma"/>
                <a:cs typeface="Tahoma"/>
              </a:rPr>
              <a:t>the probability </a:t>
            </a:r>
            <a:r>
              <a:rPr sz="1100" dirty="0">
                <a:latin typeface="Tahoma"/>
                <a:cs typeface="Tahoma"/>
              </a:rPr>
              <a:t>of </a:t>
            </a:r>
            <a:r>
              <a:rPr sz="1100" spc="-10" dirty="0">
                <a:latin typeface="Tahoma"/>
                <a:cs typeface="Tahoma"/>
              </a:rPr>
              <a:t>not </a:t>
            </a:r>
            <a:r>
              <a:rPr sz="1100" spc="-5" dirty="0">
                <a:latin typeface="Tahoma"/>
                <a:cs typeface="Tahoma"/>
              </a:rPr>
              <a:t>choosing </a:t>
            </a:r>
            <a:r>
              <a:rPr sz="1100" dirty="0">
                <a:latin typeface="Tahoma"/>
                <a:cs typeface="Tahoma"/>
              </a:rPr>
              <a:t>a </a:t>
            </a:r>
            <a:r>
              <a:rPr sz="1100" spc="-5" dirty="0">
                <a:latin typeface="Tahoma"/>
                <a:cs typeface="Tahoma"/>
              </a:rPr>
              <a:t>multiple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40" dirty="0">
                <a:latin typeface="Tahoma"/>
                <a:cs typeface="Tahoma"/>
              </a:rPr>
              <a:t> </a:t>
            </a:r>
            <a:r>
              <a:rPr sz="1100" spc="-5" dirty="0">
                <a:latin typeface="Tahoma"/>
                <a:cs typeface="Tahoma"/>
              </a:rPr>
              <a:t>3?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9" name="object 17">
            <a:extLst>
              <a:ext uri="{FF2B5EF4-FFF2-40B4-BE49-F238E27FC236}">
                <a16:creationId xmlns:a16="http://schemas.microsoft.com/office/drawing/2014/main" id="{611C828C-4596-4E24-A3E5-D498D8FE595B}"/>
              </a:ext>
            </a:extLst>
          </p:cNvPr>
          <p:cNvSpPr txBox="1"/>
          <p:nvPr/>
        </p:nvSpPr>
        <p:spPr>
          <a:xfrm>
            <a:off x="604519" y="7278293"/>
            <a:ext cx="4822190" cy="519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2410" marR="5080" indent="-220345">
              <a:lnSpc>
                <a:spcPct val="100499"/>
              </a:lnSpc>
            </a:pPr>
            <a:r>
              <a:rPr sz="1100" b="1" dirty="0">
                <a:latin typeface="Tahoma"/>
                <a:cs typeface="Tahoma"/>
              </a:rPr>
              <a:t>8. </a:t>
            </a:r>
            <a:r>
              <a:rPr sz="1100" dirty="0">
                <a:latin typeface="Tahoma"/>
                <a:cs typeface="Tahoma"/>
              </a:rPr>
              <a:t>A </a:t>
            </a:r>
            <a:r>
              <a:rPr sz="1100" spc="-5" dirty="0">
                <a:latin typeface="Tahoma"/>
                <a:cs typeface="Tahoma"/>
              </a:rPr>
              <a:t>coin </a:t>
            </a:r>
            <a:r>
              <a:rPr sz="1100" dirty="0">
                <a:latin typeface="Tahoma"/>
                <a:cs typeface="Tahoma"/>
              </a:rPr>
              <a:t>is tossed </a:t>
            </a:r>
            <a:r>
              <a:rPr sz="1100" spc="-5" dirty="0">
                <a:latin typeface="Tahoma"/>
                <a:cs typeface="Tahoma"/>
              </a:rPr>
              <a:t>two times, then </a:t>
            </a:r>
            <a:r>
              <a:rPr sz="1100" dirty="0">
                <a:latin typeface="Tahoma"/>
                <a:cs typeface="Tahoma"/>
              </a:rPr>
              <a:t>a </a:t>
            </a:r>
            <a:r>
              <a:rPr sz="1100" spc="-5" dirty="0">
                <a:latin typeface="Tahoma"/>
                <a:cs typeface="Tahoma"/>
              </a:rPr>
              <a:t>month </a:t>
            </a:r>
            <a:r>
              <a:rPr sz="1100" dirty="0">
                <a:latin typeface="Tahoma"/>
                <a:cs typeface="Tahoma"/>
              </a:rPr>
              <a:t>of </a:t>
            </a:r>
            <a:r>
              <a:rPr sz="1100" spc="-5" dirty="0">
                <a:latin typeface="Tahoma"/>
                <a:cs typeface="Tahoma"/>
              </a:rPr>
              <a:t>the year </a:t>
            </a:r>
            <a:r>
              <a:rPr sz="1100" dirty="0">
                <a:latin typeface="Tahoma"/>
                <a:cs typeface="Tahoma"/>
              </a:rPr>
              <a:t>is </a:t>
            </a:r>
            <a:r>
              <a:rPr sz="1100" spc="-5" dirty="0">
                <a:latin typeface="Tahoma"/>
                <a:cs typeface="Tahoma"/>
              </a:rPr>
              <a:t>randomly selected.  What </a:t>
            </a:r>
            <a:r>
              <a:rPr sz="1100" dirty="0">
                <a:latin typeface="Tahoma"/>
                <a:cs typeface="Tahoma"/>
              </a:rPr>
              <a:t>is </a:t>
            </a:r>
            <a:r>
              <a:rPr sz="1100" spc="-5" dirty="0">
                <a:latin typeface="Tahoma"/>
                <a:cs typeface="Tahoma"/>
              </a:rPr>
              <a:t>the probability </a:t>
            </a:r>
            <a:r>
              <a:rPr sz="1100" dirty="0">
                <a:latin typeface="Tahoma"/>
                <a:cs typeface="Tahoma"/>
              </a:rPr>
              <a:t>of </a:t>
            </a:r>
            <a:r>
              <a:rPr sz="1100" spc="-5" dirty="0">
                <a:latin typeface="Tahoma"/>
                <a:cs typeface="Tahoma"/>
              </a:rPr>
              <a:t>getting tails each time, and </a:t>
            </a:r>
            <a:r>
              <a:rPr sz="1100" dirty="0">
                <a:latin typeface="Tahoma"/>
                <a:cs typeface="Tahoma"/>
              </a:rPr>
              <a:t>a </a:t>
            </a:r>
            <a:r>
              <a:rPr sz="1100" spc="-5" dirty="0">
                <a:latin typeface="Tahoma"/>
                <a:cs typeface="Tahoma"/>
              </a:rPr>
              <a:t>month that starts  with the letter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J?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10" name="object 19">
            <a:extLst>
              <a:ext uri="{FF2B5EF4-FFF2-40B4-BE49-F238E27FC236}">
                <a16:creationId xmlns:a16="http://schemas.microsoft.com/office/drawing/2014/main" id="{13882975-EEF4-4AFA-B0AF-3A62F44F36DA}"/>
              </a:ext>
            </a:extLst>
          </p:cNvPr>
          <p:cNvSpPr txBox="1"/>
          <p:nvPr/>
        </p:nvSpPr>
        <p:spPr>
          <a:xfrm>
            <a:off x="604518" y="8128686"/>
            <a:ext cx="5022215" cy="519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2410" marR="5080" indent="-220345">
              <a:lnSpc>
                <a:spcPct val="100499"/>
              </a:lnSpc>
            </a:pPr>
            <a:r>
              <a:rPr sz="1100" b="1" dirty="0">
                <a:latin typeface="Tahoma"/>
                <a:cs typeface="Tahoma"/>
              </a:rPr>
              <a:t>9. </a:t>
            </a:r>
            <a:r>
              <a:rPr sz="1100" dirty="0">
                <a:latin typeface="Tahoma"/>
                <a:cs typeface="Tahoma"/>
              </a:rPr>
              <a:t>A </a:t>
            </a:r>
            <a:r>
              <a:rPr sz="1100" spc="-5" dirty="0">
                <a:latin typeface="Tahoma"/>
                <a:cs typeface="Tahoma"/>
              </a:rPr>
              <a:t>bookshelf contains </a:t>
            </a:r>
            <a:r>
              <a:rPr sz="1100" dirty="0">
                <a:latin typeface="Tahoma"/>
                <a:cs typeface="Tahoma"/>
              </a:rPr>
              <a:t>9 </a:t>
            </a:r>
            <a:r>
              <a:rPr sz="1100" spc="-5" dirty="0">
                <a:latin typeface="Tahoma"/>
                <a:cs typeface="Tahoma"/>
              </a:rPr>
              <a:t>mysteries, </a:t>
            </a:r>
            <a:r>
              <a:rPr sz="1100" dirty="0">
                <a:latin typeface="Tahoma"/>
                <a:cs typeface="Tahoma"/>
              </a:rPr>
              <a:t>7 </a:t>
            </a:r>
            <a:r>
              <a:rPr sz="1100" spc="-5" dirty="0">
                <a:latin typeface="Tahoma"/>
                <a:cs typeface="Tahoma"/>
              </a:rPr>
              <a:t>biographies, and </a:t>
            </a:r>
            <a:r>
              <a:rPr sz="1100" dirty="0">
                <a:latin typeface="Tahoma"/>
                <a:cs typeface="Tahoma"/>
              </a:rPr>
              <a:t>4 </a:t>
            </a:r>
            <a:r>
              <a:rPr sz="1100" spc="-5" dirty="0">
                <a:latin typeface="Tahoma"/>
                <a:cs typeface="Tahoma"/>
              </a:rPr>
              <a:t>science fiction </a:t>
            </a:r>
            <a:r>
              <a:rPr sz="1100" dirty="0">
                <a:latin typeface="Tahoma"/>
                <a:cs typeface="Tahoma"/>
              </a:rPr>
              <a:t>books.  A </a:t>
            </a:r>
            <a:r>
              <a:rPr sz="1100" spc="-5" dirty="0">
                <a:latin typeface="Tahoma"/>
                <a:cs typeface="Tahoma"/>
              </a:rPr>
              <a:t>book </a:t>
            </a:r>
            <a:r>
              <a:rPr sz="1100" dirty="0">
                <a:latin typeface="Tahoma"/>
                <a:cs typeface="Tahoma"/>
              </a:rPr>
              <a:t>is </a:t>
            </a:r>
            <a:r>
              <a:rPr sz="1100" spc="-5" dirty="0">
                <a:latin typeface="Tahoma"/>
                <a:cs typeface="Tahoma"/>
              </a:rPr>
              <a:t>randomly selected, not replaced, </a:t>
            </a:r>
            <a:r>
              <a:rPr sz="1100" spc="-10" dirty="0">
                <a:latin typeface="Tahoma"/>
                <a:cs typeface="Tahoma"/>
              </a:rPr>
              <a:t>then </a:t>
            </a:r>
            <a:r>
              <a:rPr sz="1100" spc="-5" dirty="0">
                <a:latin typeface="Tahoma"/>
                <a:cs typeface="Tahoma"/>
              </a:rPr>
              <a:t>another </a:t>
            </a:r>
            <a:r>
              <a:rPr sz="1100" dirty="0">
                <a:latin typeface="Tahoma"/>
                <a:cs typeface="Tahoma"/>
              </a:rPr>
              <a:t>is </a:t>
            </a:r>
            <a:r>
              <a:rPr sz="1100" spc="-5" dirty="0">
                <a:latin typeface="Tahoma"/>
                <a:cs typeface="Tahoma"/>
              </a:rPr>
              <a:t>selected. Find the  probability </a:t>
            </a:r>
            <a:r>
              <a:rPr sz="1100" dirty="0">
                <a:latin typeface="Tahoma"/>
                <a:cs typeface="Tahoma"/>
              </a:rPr>
              <a:t>of </a:t>
            </a:r>
            <a:r>
              <a:rPr sz="1100" spc="-5" dirty="0">
                <a:latin typeface="Tahoma"/>
                <a:cs typeface="Tahoma"/>
              </a:rPr>
              <a:t>selecting </a:t>
            </a:r>
            <a:r>
              <a:rPr sz="1100" dirty="0">
                <a:latin typeface="Tahoma"/>
                <a:cs typeface="Tahoma"/>
              </a:rPr>
              <a:t>a </a:t>
            </a:r>
            <a:r>
              <a:rPr sz="1100" spc="-5" dirty="0">
                <a:latin typeface="Tahoma"/>
                <a:cs typeface="Tahoma"/>
              </a:rPr>
              <a:t>biography then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5" dirty="0">
                <a:latin typeface="Tahoma"/>
                <a:cs typeface="Tahoma"/>
              </a:rPr>
              <a:t>mystery.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11" name="object 21">
            <a:extLst>
              <a:ext uri="{FF2B5EF4-FFF2-40B4-BE49-F238E27FC236}">
                <a16:creationId xmlns:a16="http://schemas.microsoft.com/office/drawing/2014/main" id="{E0C411D7-E6C9-4B2E-B4FB-7924B3AA76FC}"/>
              </a:ext>
            </a:extLst>
          </p:cNvPr>
          <p:cNvSpPr txBox="1"/>
          <p:nvPr/>
        </p:nvSpPr>
        <p:spPr>
          <a:xfrm>
            <a:off x="604518" y="8979077"/>
            <a:ext cx="5182870" cy="519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0675" marR="5080" indent="-308610" algn="just">
              <a:lnSpc>
                <a:spcPct val="100499"/>
              </a:lnSpc>
            </a:pPr>
            <a:r>
              <a:rPr sz="1100" b="1" spc="-5" dirty="0">
                <a:latin typeface="Tahoma"/>
                <a:cs typeface="Tahoma"/>
              </a:rPr>
              <a:t>10. </a:t>
            </a:r>
            <a:r>
              <a:rPr sz="1100" dirty="0">
                <a:latin typeface="Tahoma"/>
                <a:cs typeface="Tahoma"/>
              </a:rPr>
              <a:t>A </a:t>
            </a:r>
            <a:r>
              <a:rPr sz="1100" spc="-5" dirty="0">
                <a:latin typeface="Tahoma"/>
                <a:cs typeface="Tahoma"/>
              </a:rPr>
              <a:t>shape </a:t>
            </a:r>
            <a:r>
              <a:rPr sz="1100" dirty="0">
                <a:latin typeface="Tahoma"/>
                <a:cs typeface="Tahoma"/>
              </a:rPr>
              <a:t>is </a:t>
            </a:r>
            <a:r>
              <a:rPr sz="1100" spc="-5" dirty="0">
                <a:latin typeface="Tahoma"/>
                <a:cs typeface="Tahoma"/>
              </a:rPr>
              <a:t>randomly selected from the following quadrilaterals: parallelogram,  rhombus, rectangle, square, and trapezoid. What </a:t>
            </a:r>
            <a:r>
              <a:rPr sz="1100" dirty="0">
                <a:latin typeface="Tahoma"/>
                <a:cs typeface="Tahoma"/>
              </a:rPr>
              <a:t>is </a:t>
            </a:r>
            <a:r>
              <a:rPr sz="1100" spc="-5" dirty="0">
                <a:latin typeface="Tahoma"/>
                <a:cs typeface="Tahoma"/>
              </a:rPr>
              <a:t>the probability that </a:t>
            </a:r>
            <a:r>
              <a:rPr sz="1100" dirty="0">
                <a:latin typeface="Tahoma"/>
                <a:cs typeface="Tahoma"/>
              </a:rPr>
              <a:t>it </a:t>
            </a:r>
            <a:r>
              <a:rPr sz="1100" spc="-5" dirty="0">
                <a:latin typeface="Tahoma"/>
                <a:cs typeface="Tahoma"/>
              </a:rPr>
              <a:t>has  </a:t>
            </a:r>
            <a:r>
              <a:rPr sz="1100" spc="-10" dirty="0">
                <a:latin typeface="Tahoma"/>
                <a:cs typeface="Tahoma"/>
              </a:rPr>
              <a:t>four </a:t>
            </a:r>
            <a:r>
              <a:rPr sz="1100" spc="-5" dirty="0">
                <a:latin typeface="Tahoma"/>
                <a:cs typeface="Tahoma"/>
              </a:rPr>
              <a:t>right angles, given that </a:t>
            </a:r>
            <a:r>
              <a:rPr sz="1100" dirty="0">
                <a:latin typeface="Tahoma"/>
                <a:cs typeface="Tahoma"/>
              </a:rPr>
              <a:t>it </a:t>
            </a:r>
            <a:r>
              <a:rPr sz="1100" spc="-5" dirty="0">
                <a:latin typeface="Tahoma"/>
                <a:cs typeface="Tahoma"/>
              </a:rPr>
              <a:t>has four congruent</a:t>
            </a:r>
            <a:r>
              <a:rPr sz="1100" spc="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sides?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ACC3C0-7FCD-4111-97B8-DCA0A4D1D7BC}"/>
              </a:ext>
            </a:extLst>
          </p:cNvPr>
          <p:cNvSpPr/>
          <p:nvPr/>
        </p:nvSpPr>
        <p:spPr>
          <a:xfrm>
            <a:off x="512852" y="1468348"/>
            <a:ext cx="49149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u="sng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Part I – Counting Principle, Permutations, and Combinations 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C17BAF-D909-4F36-9E5F-D62D4EE7D2C7}"/>
              </a:ext>
            </a:extLst>
          </p:cNvPr>
          <p:cNvSpPr/>
          <p:nvPr/>
        </p:nvSpPr>
        <p:spPr>
          <a:xfrm>
            <a:off x="523126" y="1727770"/>
            <a:ext cx="45339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1.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A six-sided number cube is rolled and a card is drawn from a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    standard deck.  Find the total number of outcomes.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64D1B50-09BF-4653-A32A-E569A81EFDAD}"/>
              </a:ext>
            </a:extLst>
          </p:cNvPr>
          <p:cNvSpPr txBox="1"/>
          <p:nvPr/>
        </p:nvSpPr>
        <p:spPr>
          <a:xfrm>
            <a:off x="604519" y="637555"/>
            <a:ext cx="5180965" cy="688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9405" marR="143510" indent="-307340">
              <a:lnSpc>
                <a:spcPct val="100899"/>
              </a:lnSpc>
            </a:pPr>
            <a:r>
              <a:rPr sz="1100" b="1" spc="-5" dirty="0">
                <a:latin typeface="Tahoma"/>
                <a:cs typeface="Tahoma"/>
              </a:rPr>
              <a:t>11. </a:t>
            </a:r>
            <a:r>
              <a:rPr sz="1100" dirty="0">
                <a:latin typeface="Tahoma"/>
                <a:cs typeface="Tahoma"/>
              </a:rPr>
              <a:t>Of </a:t>
            </a:r>
            <a:r>
              <a:rPr sz="1100" spc="-5" dirty="0">
                <a:latin typeface="Tahoma"/>
                <a:cs typeface="Tahoma"/>
              </a:rPr>
              <a:t>the 100 students enrolled at the dance studio, 50 take ballet and 24 take  tap dancing.  Eight </a:t>
            </a:r>
            <a:r>
              <a:rPr sz="1100" dirty="0">
                <a:latin typeface="Tahoma"/>
                <a:cs typeface="Tahoma"/>
              </a:rPr>
              <a:t>of </a:t>
            </a:r>
            <a:r>
              <a:rPr sz="1100" spc="-5" dirty="0">
                <a:latin typeface="Tahoma"/>
                <a:cs typeface="Tahoma"/>
              </a:rPr>
              <a:t>the students who take ballet also take tap dancing. </a:t>
            </a:r>
            <a:r>
              <a:rPr sz="1100" spc="145" dirty="0">
                <a:latin typeface="Tahoma"/>
                <a:cs typeface="Tahoma"/>
              </a:rPr>
              <a:t> </a:t>
            </a:r>
            <a:r>
              <a:rPr sz="1100" spc="-5" dirty="0">
                <a:latin typeface="Tahoma"/>
                <a:cs typeface="Tahoma"/>
              </a:rPr>
              <a:t>If</a:t>
            </a:r>
            <a:endParaRPr sz="1100" dirty="0">
              <a:latin typeface="Tahoma"/>
              <a:cs typeface="Tahoma"/>
            </a:endParaRPr>
          </a:p>
          <a:p>
            <a:pPr marL="319405" marR="5080" indent="1270">
              <a:lnSpc>
                <a:spcPts val="1330"/>
              </a:lnSpc>
              <a:spcBef>
                <a:spcPts val="35"/>
              </a:spcBef>
            </a:pPr>
            <a:r>
              <a:rPr sz="1100" dirty="0">
                <a:latin typeface="Tahoma"/>
                <a:cs typeface="Tahoma"/>
              </a:rPr>
              <a:t>a </a:t>
            </a:r>
            <a:r>
              <a:rPr sz="1100" spc="-5" dirty="0">
                <a:latin typeface="Tahoma"/>
                <a:cs typeface="Tahoma"/>
              </a:rPr>
              <a:t>student at the studio </a:t>
            </a:r>
            <a:r>
              <a:rPr sz="1100" dirty="0">
                <a:latin typeface="Tahoma"/>
                <a:cs typeface="Tahoma"/>
              </a:rPr>
              <a:t>is </a:t>
            </a:r>
            <a:r>
              <a:rPr sz="1100" spc="-5" dirty="0">
                <a:latin typeface="Tahoma"/>
                <a:cs typeface="Tahoma"/>
              </a:rPr>
              <a:t>chosen </a:t>
            </a:r>
            <a:r>
              <a:rPr sz="1100" spc="-10" dirty="0">
                <a:latin typeface="Tahoma"/>
                <a:cs typeface="Tahoma"/>
              </a:rPr>
              <a:t>at </a:t>
            </a:r>
            <a:r>
              <a:rPr sz="1100" spc="-5" dirty="0">
                <a:latin typeface="Tahoma"/>
                <a:cs typeface="Tahoma"/>
              </a:rPr>
              <a:t>random, find the probability that they take  ballet, </a:t>
            </a:r>
            <a:r>
              <a:rPr sz="1100" dirty="0">
                <a:latin typeface="Tahoma"/>
                <a:cs typeface="Tahoma"/>
              </a:rPr>
              <a:t>if it </a:t>
            </a:r>
            <a:r>
              <a:rPr sz="1100" spc="-10" dirty="0">
                <a:latin typeface="Tahoma"/>
                <a:cs typeface="Tahoma"/>
              </a:rPr>
              <a:t>is </a:t>
            </a:r>
            <a:r>
              <a:rPr sz="1100" spc="-5" dirty="0">
                <a:latin typeface="Tahoma"/>
                <a:cs typeface="Tahoma"/>
              </a:rPr>
              <a:t>known that they </a:t>
            </a:r>
            <a:r>
              <a:rPr sz="1100" dirty="0">
                <a:latin typeface="Tahoma"/>
                <a:cs typeface="Tahoma"/>
              </a:rPr>
              <a:t>do </a:t>
            </a:r>
            <a:r>
              <a:rPr sz="1100" spc="-10" dirty="0">
                <a:latin typeface="Tahoma"/>
                <a:cs typeface="Tahoma"/>
              </a:rPr>
              <a:t>not </a:t>
            </a:r>
            <a:r>
              <a:rPr sz="1100" spc="-5" dirty="0">
                <a:latin typeface="Tahoma"/>
                <a:cs typeface="Tahoma"/>
              </a:rPr>
              <a:t>take tap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spc="-5" dirty="0">
                <a:latin typeface="Tahoma"/>
                <a:cs typeface="Tahoma"/>
              </a:rPr>
              <a:t>dancing.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2A56C00C-83A0-4712-9CE5-C10CE6602BFB}"/>
              </a:ext>
            </a:extLst>
          </p:cNvPr>
          <p:cNvSpPr txBox="1"/>
          <p:nvPr/>
        </p:nvSpPr>
        <p:spPr>
          <a:xfrm>
            <a:off x="604510" y="2009155"/>
            <a:ext cx="6513195" cy="352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6705" marR="5080" indent="-294640">
              <a:lnSpc>
                <a:spcPct val="100899"/>
              </a:lnSpc>
            </a:pPr>
            <a:r>
              <a:rPr sz="1100" b="1" spc="-5" dirty="0">
                <a:latin typeface="Tahoma"/>
                <a:cs typeface="Tahoma"/>
              </a:rPr>
              <a:t>12. </a:t>
            </a:r>
            <a:r>
              <a:rPr sz="1100" dirty="0">
                <a:latin typeface="Tahoma"/>
                <a:cs typeface="Tahoma"/>
              </a:rPr>
              <a:t>The </a:t>
            </a:r>
            <a:r>
              <a:rPr sz="1100" spc="-5" dirty="0">
                <a:latin typeface="Tahoma"/>
                <a:cs typeface="Tahoma"/>
              </a:rPr>
              <a:t>table </a:t>
            </a:r>
            <a:r>
              <a:rPr sz="1100" dirty="0">
                <a:latin typeface="Tahoma"/>
                <a:cs typeface="Tahoma"/>
              </a:rPr>
              <a:t>below </a:t>
            </a:r>
            <a:r>
              <a:rPr sz="1100" spc="-5" dirty="0">
                <a:latin typeface="Tahoma"/>
                <a:cs typeface="Tahoma"/>
              </a:rPr>
              <a:t>represents the number </a:t>
            </a:r>
            <a:r>
              <a:rPr sz="1100" dirty="0">
                <a:latin typeface="Tahoma"/>
                <a:cs typeface="Tahoma"/>
              </a:rPr>
              <a:t>of </a:t>
            </a:r>
            <a:r>
              <a:rPr sz="1100" spc="-10" dirty="0">
                <a:latin typeface="Tahoma"/>
                <a:cs typeface="Tahoma"/>
              </a:rPr>
              <a:t>NFL </a:t>
            </a:r>
            <a:r>
              <a:rPr sz="1100" spc="-5" dirty="0">
                <a:latin typeface="Tahoma"/>
                <a:cs typeface="Tahoma"/>
              </a:rPr>
              <a:t>teams that won </a:t>
            </a:r>
            <a:r>
              <a:rPr sz="1100" dirty="0">
                <a:latin typeface="Tahoma"/>
                <a:cs typeface="Tahoma"/>
              </a:rPr>
              <a:t>or </a:t>
            </a:r>
            <a:r>
              <a:rPr sz="1100" spc="-5" dirty="0">
                <a:latin typeface="Tahoma"/>
                <a:cs typeface="Tahoma"/>
              </a:rPr>
              <a:t>lost their first game </a:t>
            </a:r>
            <a:r>
              <a:rPr sz="1100" dirty="0">
                <a:latin typeface="Tahoma"/>
                <a:cs typeface="Tahoma"/>
              </a:rPr>
              <a:t>of </a:t>
            </a:r>
            <a:r>
              <a:rPr sz="1100" spc="-5" dirty="0">
                <a:latin typeface="Tahoma"/>
                <a:cs typeface="Tahoma"/>
              </a:rPr>
              <a:t>the season.  Find the joint relative and marginal relative</a:t>
            </a:r>
            <a:r>
              <a:rPr sz="1100" spc="70" dirty="0">
                <a:latin typeface="Tahoma"/>
                <a:cs typeface="Tahoma"/>
              </a:rPr>
              <a:t> </a:t>
            </a:r>
            <a:r>
              <a:rPr sz="1100" spc="-5" dirty="0">
                <a:latin typeface="Tahoma"/>
                <a:cs typeface="Tahoma"/>
              </a:rPr>
              <a:t>frequencies.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4" name="object 6">
            <a:extLst>
              <a:ext uri="{FF2B5EF4-FFF2-40B4-BE49-F238E27FC236}">
                <a16:creationId xmlns:a16="http://schemas.microsoft.com/office/drawing/2014/main" id="{F43EC561-787C-445B-A3B7-BC74C526F2E8}"/>
              </a:ext>
            </a:extLst>
          </p:cNvPr>
          <p:cNvSpPr txBox="1"/>
          <p:nvPr/>
        </p:nvSpPr>
        <p:spPr>
          <a:xfrm>
            <a:off x="604504" y="4710429"/>
            <a:ext cx="1183005" cy="205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spc="-5" dirty="0">
                <a:latin typeface="Tahoma"/>
                <a:cs typeface="Tahoma"/>
              </a:rPr>
              <a:t>14.  </a:t>
            </a:r>
            <a:r>
              <a:rPr sz="1250" i="1" spc="-5" dirty="0">
                <a:latin typeface="Times New Roman"/>
                <a:cs typeface="Times New Roman"/>
              </a:rPr>
              <a:t>P</a:t>
            </a:r>
            <a:r>
              <a:rPr sz="1100" spc="-5" dirty="0">
                <a:latin typeface="Tahoma"/>
                <a:cs typeface="Tahoma"/>
              </a:rPr>
              <a:t>(NFC </a:t>
            </a:r>
            <a:r>
              <a:rPr sz="1100" dirty="0">
                <a:latin typeface="Tahoma"/>
                <a:cs typeface="Tahoma"/>
              </a:rPr>
              <a:t>|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" dirty="0">
                <a:latin typeface="Tahoma"/>
                <a:cs typeface="Tahoma"/>
              </a:rPr>
              <a:t>won)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64BD4472-4464-46F0-B230-DD3EE894F700}"/>
              </a:ext>
            </a:extLst>
          </p:cNvPr>
          <p:cNvSpPr txBox="1"/>
          <p:nvPr/>
        </p:nvSpPr>
        <p:spPr>
          <a:xfrm>
            <a:off x="604499" y="5259069"/>
            <a:ext cx="1132205" cy="205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spc="-5" dirty="0">
                <a:latin typeface="Tahoma"/>
                <a:cs typeface="Tahoma"/>
              </a:rPr>
              <a:t>15.  </a:t>
            </a:r>
            <a:r>
              <a:rPr sz="1250" i="1" spc="-5" dirty="0">
                <a:latin typeface="Times New Roman"/>
                <a:cs typeface="Times New Roman"/>
              </a:rPr>
              <a:t>P</a:t>
            </a:r>
            <a:r>
              <a:rPr sz="1100" spc="-5" dirty="0">
                <a:latin typeface="Tahoma"/>
                <a:cs typeface="Tahoma"/>
              </a:rPr>
              <a:t>(lost </a:t>
            </a:r>
            <a:r>
              <a:rPr sz="1100" dirty="0">
                <a:latin typeface="Tahoma"/>
                <a:cs typeface="Tahoma"/>
              </a:rPr>
              <a:t>|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" dirty="0">
                <a:latin typeface="Tahoma"/>
                <a:cs typeface="Tahoma"/>
              </a:rPr>
              <a:t>AFC)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6" name="object 11">
            <a:extLst>
              <a:ext uri="{FF2B5EF4-FFF2-40B4-BE49-F238E27FC236}">
                <a16:creationId xmlns:a16="http://schemas.microsoft.com/office/drawing/2014/main" id="{DC9FCCBC-4E99-48FD-BAC0-DCBEAF5E2326}"/>
              </a:ext>
            </a:extLst>
          </p:cNvPr>
          <p:cNvSpPr txBox="1"/>
          <p:nvPr/>
        </p:nvSpPr>
        <p:spPr>
          <a:xfrm>
            <a:off x="604513" y="7124369"/>
            <a:ext cx="4571365" cy="519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6225" marR="5080" indent="-264160">
              <a:lnSpc>
                <a:spcPct val="100499"/>
              </a:lnSpc>
            </a:pPr>
            <a:r>
              <a:rPr sz="1100" b="1" spc="-5" dirty="0">
                <a:latin typeface="Tahoma"/>
                <a:cs typeface="Tahoma"/>
              </a:rPr>
              <a:t>17. </a:t>
            </a:r>
            <a:r>
              <a:rPr sz="1100" spc="-5" dirty="0">
                <a:latin typeface="Tahoma"/>
                <a:cs typeface="Tahoma"/>
              </a:rPr>
              <a:t>Northern Airlines has </a:t>
            </a:r>
            <a:r>
              <a:rPr sz="1100" dirty="0">
                <a:latin typeface="Tahoma"/>
                <a:cs typeface="Tahoma"/>
              </a:rPr>
              <a:t>a </a:t>
            </a:r>
            <a:r>
              <a:rPr sz="1100" spc="-5" dirty="0">
                <a:latin typeface="Tahoma"/>
                <a:cs typeface="Tahoma"/>
              </a:rPr>
              <a:t>reputation for being </a:t>
            </a:r>
            <a:r>
              <a:rPr sz="1100" spc="-10" dirty="0">
                <a:latin typeface="Tahoma"/>
                <a:cs typeface="Tahoma"/>
              </a:rPr>
              <a:t>on </a:t>
            </a:r>
            <a:r>
              <a:rPr sz="1100" spc="-5" dirty="0">
                <a:latin typeface="Tahoma"/>
                <a:cs typeface="Tahoma"/>
              </a:rPr>
              <a:t>time 86% </a:t>
            </a:r>
            <a:r>
              <a:rPr sz="1100" dirty="0">
                <a:latin typeface="Tahoma"/>
                <a:cs typeface="Tahoma"/>
              </a:rPr>
              <a:t>of </a:t>
            </a:r>
            <a:r>
              <a:rPr sz="1100" spc="-5" dirty="0">
                <a:latin typeface="Tahoma"/>
                <a:cs typeface="Tahoma"/>
              </a:rPr>
              <a:t>the time.  Find the probability that </a:t>
            </a:r>
            <a:r>
              <a:rPr sz="1100" dirty="0">
                <a:latin typeface="Tahoma"/>
                <a:cs typeface="Tahoma"/>
              </a:rPr>
              <a:t>a </a:t>
            </a:r>
            <a:r>
              <a:rPr sz="1100" spc="-5" dirty="0">
                <a:latin typeface="Tahoma"/>
                <a:cs typeface="Tahoma"/>
              </a:rPr>
              <a:t>Northern Airlines plane will </a:t>
            </a:r>
            <a:r>
              <a:rPr sz="1100" dirty="0">
                <a:latin typeface="Tahoma"/>
                <a:cs typeface="Tahoma"/>
              </a:rPr>
              <a:t>be on </a:t>
            </a:r>
            <a:r>
              <a:rPr sz="1100" spc="-5" dirty="0">
                <a:latin typeface="Tahoma"/>
                <a:cs typeface="Tahoma"/>
              </a:rPr>
              <a:t>time for  at least four </a:t>
            </a:r>
            <a:r>
              <a:rPr sz="1100" dirty="0">
                <a:latin typeface="Tahoma"/>
                <a:cs typeface="Tahoma"/>
              </a:rPr>
              <a:t>of its </a:t>
            </a:r>
            <a:r>
              <a:rPr sz="1100" spc="-5" dirty="0">
                <a:latin typeface="Tahoma"/>
                <a:cs typeface="Tahoma"/>
              </a:rPr>
              <a:t>next five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" dirty="0">
                <a:latin typeface="Tahoma"/>
                <a:cs typeface="Tahoma"/>
              </a:rPr>
              <a:t>flights.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7" name="object 13">
            <a:extLst>
              <a:ext uri="{FF2B5EF4-FFF2-40B4-BE49-F238E27FC236}">
                <a16:creationId xmlns:a16="http://schemas.microsoft.com/office/drawing/2014/main" id="{70BFEB68-A068-4A05-9EAA-8664DF80F3F5}"/>
              </a:ext>
            </a:extLst>
          </p:cNvPr>
          <p:cNvSpPr txBox="1"/>
          <p:nvPr/>
        </p:nvSpPr>
        <p:spPr>
          <a:xfrm>
            <a:off x="604508" y="8403859"/>
            <a:ext cx="4545330" cy="352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2410" marR="5080" indent="-220345">
              <a:lnSpc>
                <a:spcPct val="100899"/>
              </a:lnSpc>
            </a:pPr>
            <a:r>
              <a:rPr sz="1100" b="1" spc="-5" dirty="0">
                <a:latin typeface="Tahoma"/>
                <a:cs typeface="Tahoma"/>
              </a:rPr>
              <a:t>18. </a:t>
            </a:r>
            <a:r>
              <a:rPr sz="1100" spc="-5" dirty="0">
                <a:latin typeface="Tahoma"/>
                <a:cs typeface="Tahoma"/>
              </a:rPr>
              <a:t>Scott strikes out </a:t>
            </a:r>
            <a:r>
              <a:rPr sz="1100" spc="-10" dirty="0">
                <a:latin typeface="Tahoma"/>
                <a:cs typeface="Tahoma"/>
              </a:rPr>
              <a:t>at </a:t>
            </a:r>
            <a:r>
              <a:rPr sz="1100" spc="-5" dirty="0">
                <a:latin typeface="Tahoma"/>
                <a:cs typeface="Tahoma"/>
              </a:rPr>
              <a:t>bat 36% </a:t>
            </a:r>
            <a:r>
              <a:rPr sz="1100" dirty="0">
                <a:latin typeface="Tahoma"/>
                <a:cs typeface="Tahoma"/>
              </a:rPr>
              <a:t>of </a:t>
            </a:r>
            <a:r>
              <a:rPr sz="1100" spc="-5" dirty="0">
                <a:latin typeface="Tahoma"/>
                <a:cs typeface="Tahoma"/>
              </a:rPr>
              <a:t>the time. Find the probability that he  strikes out no more than three times </a:t>
            </a:r>
            <a:r>
              <a:rPr sz="1100" dirty="0">
                <a:latin typeface="Tahoma"/>
                <a:cs typeface="Tahoma"/>
              </a:rPr>
              <a:t>on </a:t>
            </a:r>
            <a:r>
              <a:rPr sz="1100" spc="-5" dirty="0">
                <a:latin typeface="Tahoma"/>
                <a:cs typeface="Tahoma"/>
              </a:rPr>
              <a:t>his </a:t>
            </a:r>
            <a:r>
              <a:rPr sz="1100" spc="-10" dirty="0">
                <a:latin typeface="Tahoma"/>
                <a:cs typeface="Tahoma"/>
              </a:rPr>
              <a:t>next </a:t>
            </a:r>
            <a:r>
              <a:rPr sz="1100" spc="-5" dirty="0">
                <a:latin typeface="Tahoma"/>
                <a:cs typeface="Tahoma"/>
              </a:rPr>
              <a:t>eight times </a:t>
            </a:r>
            <a:r>
              <a:rPr sz="1100" spc="-10" dirty="0">
                <a:latin typeface="Tahoma"/>
                <a:cs typeface="Tahoma"/>
              </a:rPr>
              <a:t>at</a:t>
            </a:r>
            <a:r>
              <a:rPr sz="1100" spc="114" dirty="0">
                <a:latin typeface="Tahoma"/>
                <a:cs typeface="Tahoma"/>
              </a:rPr>
              <a:t> </a:t>
            </a:r>
            <a:r>
              <a:rPr sz="1100" spc="-5" dirty="0">
                <a:latin typeface="Tahoma"/>
                <a:cs typeface="Tahoma"/>
              </a:rPr>
              <a:t>bat.</a:t>
            </a:r>
            <a:endParaRPr sz="1100" dirty="0">
              <a:latin typeface="Tahoma"/>
              <a:cs typeface="Tahoma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93664EC-267B-4B22-BD26-8C07C15B6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3231077"/>
              </p:ext>
            </p:extLst>
          </p:nvPr>
        </p:nvGraphicFramePr>
        <p:xfrm>
          <a:off x="838200" y="2743200"/>
          <a:ext cx="2486025" cy="1033145"/>
        </p:xfrm>
        <a:graphic>
          <a:graphicData uri="http://schemas.openxmlformats.org/drawingml/2006/table">
            <a:tbl>
              <a:tblPr firstRow="1" firstCol="1" bandRow="1"/>
              <a:tblGrid>
                <a:gridCol w="828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0185"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ahoma" panose="020B0604030504040204" pitchFamily="34" charset="0"/>
                        </a:rPr>
                        <a:t>Conference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ahoma" panose="020B0604030504040204" pitchFamily="34" charset="0"/>
                        </a:rPr>
                        <a:t>AFC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ahoma" panose="020B0604030504040204" pitchFamily="34" charset="0"/>
                        </a:rPr>
                        <a:t>NFC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ahoma" panose="020B0604030504040204" pitchFamily="34" charset="0"/>
                        </a:rPr>
                        <a:t>Won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ahoma" panose="020B0604030504040204" pitchFamily="34" charset="0"/>
                        </a:rPr>
                        <a:t>Lost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28800" marR="0" indent="-182880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1D09677-826B-46E8-9E0D-ADB363A78C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0715069"/>
              </p:ext>
            </p:extLst>
          </p:nvPr>
        </p:nvGraphicFramePr>
        <p:xfrm>
          <a:off x="3581400" y="2438400"/>
          <a:ext cx="3375024" cy="1307465"/>
        </p:xfrm>
        <a:graphic>
          <a:graphicData uri="http://schemas.openxmlformats.org/drawingml/2006/table">
            <a:tbl>
              <a:tblPr firstRow="1" firstCol="1" bandRow="1"/>
              <a:tblGrid>
                <a:gridCol w="843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9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39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39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0185"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ahoma" panose="020B0604030504040204" pitchFamily="34" charset="0"/>
                        </a:rPr>
                        <a:t>Conference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ahoma" panose="020B0604030504040204" pitchFamily="34" charset="0"/>
                        </a:rPr>
                        <a:t>AFC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ahoma" panose="020B0604030504040204" pitchFamily="34" charset="0"/>
                        </a:rPr>
                        <a:t>NFC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ahoma" panose="020B0604030504040204" pitchFamily="34" charset="0"/>
                        </a:rPr>
                        <a:t>Total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ahoma" panose="020B0604030504040204" pitchFamily="34" charset="0"/>
                        </a:rPr>
                        <a:t>Won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ahoma" panose="020B0604030504040204" pitchFamily="34" charset="0"/>
                        </a:rPr>
                        <a:t>Lost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ahoma" panose="020B0604030504040204" pitchFamily="34" charset="0"/>
                        </a:rPr>
                        <a:t>Total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78D146AA-D420-4573-8239-F89D65429DEC}"/>
              </a:ext>
            </a:extLst>
          </p:cNvPr>
          <p:cNvSpPr/>
          <p:nvPr/>
        </p:nvSpPr>
        <p:spPr>
          <a:xfrm>
            <a:off x="517134" y="3902466"/>
            <a:ext cx="343876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Use the tables above to find each probability. 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107DF3-92D6-40B2-A23E-0382B4813D7C}"/>
              </a:ext>
            </a:extLst>
          </p:cNvPr>
          <p:cNvSpPr/>
          <p:nvPr/>
        </p:nvSpPr>
        <p:spPr>
          <a:xfrm>
            <a:off x="533400" y="4114800"/>
            <a:ext cx="2119491" cy="2846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13.  </a:t>
            </a:r>
            <a:r>
              <a:rPr lang="en-US" sz="125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(either AFC or NFC won)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D4C439-7C8A-42F6-A55C-D54DBCBD4667}"/>
              </a:ext>
            </a:extLst>
          </p:cNvPr>
          <p:cNvSpPr/>
          <p:nvPr/>
        </p:nvSpPr>
        <p:spPr>
          <a:xfrm>
            <a:off x="518844" y="6172200"/>
            <a:ext cx="473895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16.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A coin is tossed 12 times.  What is the probability of getting heads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     exactly 7 times?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73B44C-0DB9-42A5-9125-6689DB3BC966}"/>
              </a:ext>
            </a:extLst>
          </p:cNvPr>
          <p:cNvSpPr/>
          <p:nvPr/>
        </p:nvSpPr>
        <p:spPr>
          <a:xfrm>
            <a:off x="523126" y="5811748"/>
            <a:ext cx="65913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u="sng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Part III – Binomial Probability</a:t>
            </a: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: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Give each answer as percent rounded to the nearest hun</a:t>
            </a:r>
            <a:r>
              <a:rPr lang="en-US" sz="1100" dirty="0">
                <a:latin typeface="Tahoma" panose="020B0604030504040204" pitchFamily="34" charset="0"/>
                <a:ea typeface="Calibri" panose="020F0502020204030204" pitchFamily="34" charset="0"/>
              </a:rPr>
              <a:t>dredth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578</Words>
  <Application>Microsoft Office PowerPoint</Application>
  <PresentationFormat>Custom</PresentationFormat>
  <Paragraphs>50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Calibri</vt:lpstr>
      <vt:lpstr>Century Gothic</vt:lpstr>
      <vt:lpstr>Tahoma</vt:lpstr>
      <vt:lpstr>Times New Roman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Word - 11- Quiz 11-1</dc:title>
  <dc:creator>allth</dc:creator>
  <cp:lastModifiedBy>Gina Wilson</cp:lastModifiedBy>
  <cp:revision>8</cp:revision>
  <dcterms:created xsi:type="dcterms:W3CDTF">2017-12-14T16:23:41Z</dcterms:created>
  <dcterms:modified xsi:type="dcterms:W3CDTF">2017-12-20T22:30:21Z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2016-02-10T00:00:00Z</vt:filetime>
  </property>
  <property fmtid="{D5CDD505-2E9C-101B-9397-08002B2CF9AE}" pid="3" name="Creator">
    <vt:lpwstr>PrimoPDF http://www.primopdf.com</vt:lpwstr>
  </property>
  <property fmtid="{D5CDD505-2E9C-101B-9397-08002B2CF9AE}" pid="4" name="LastSaved">
    <vt:filetime>2017-12-14T00:00:00Z</vt:filetime>
  </property>
</Properties>
</file>