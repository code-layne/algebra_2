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7772400" cy="10058400"/>
  <p:notesSz cx="7772400" cy="10058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67" autoAdjust="0"/>
  </p:normalViewPr>
  <p:slideViewPr>
    <p:cSldViewPr>
      <p:cViewPr varScale="1">
        <p:scale>
          <a:sx n="46" d="100"/>
          <a:sy n="46" d="100"/>
        </p:scale>
        <p:origin x="2056"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8" Type="http://schemas.openxmlformats.org/officeDocument/2006/relationships/image" Target="../media/image8.wmf"/><Relationship Id="rId13" Type="http://schemas.openxmlformats.org/officeDocument/2006/relationships/image" Target="../media/image13.wmf"/><Relationship Id="rId3" Type="http://schemas.openxmlformats.org/officeDocument/2006/relationships/image" Target="../media/image3.wmf"/><Relationship Id="rId7" Type="http://schemas.openxmlformats.org/officeDocument/2006/relationships/image" Target="../media/image7.wmf"/><Relationship Id="rId12" Type="http://schemas.openxmlformats.org/officeDocument/2006/relationships/image" Target="../media/image12.wmf"/><Relationship Id="rId2" Type="http://schemas.openxmlformats.org/officeDocument/2006/relationships/image" Target="../media/image2.wmf"/><Relationship Id="rId16" Type="http://schemas.openxmlformats.org/officeDocument/2006/relationships/image" Target="../media/image16.wmf"/><Relationship Id="rId1" Type="http://schemas.openxmlformats.org/officeDocument/2006/relationships/image" Target="../media/image1.wmf"/><Relationship Id="rId6" Type="http://schemas.openxmlformats.org/officeDocument/2006/relationships/image" Target="../media/image6.wmf"/><Relationship Id="rId11" Type="http://schemas.openxmlformats.org/officeDocument/2006/relationships/image" Target="../media/image11.wmf"/><Relationship Id="rId5" Type="http://schemas.openxmlformats.org/officeDocument/2006/relationships/image" Target="../media/image5.wmf"/><Relationship Id="rId15" Type="http://schemas.openxmlformats.org/officeDocument/2006/relationships/image" Target="../media/image15.wmf"/><Relationship Id="rId10" Type="http://schemas.openxmlformats.org/officeDocument/2006/relationships/image" Target="../media/image10.wmf"/><Relationship Id="rId4" Type="http://schemas.openxmlformats.org/officeDocument/2006/relationships/image" Target="../media/image4.wmf"/><Relationship Id="rId9" Type="http://schemas.openxmlformats.org/officeDocument/2006/relationships/image" Target="../media/image9.wmf"/><Relationship Id="rId14"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5.wmf"/><Relationship Id="rId13" Type="http://schemas.openxmlformats.org/officeDocument/2006/relationships/image" Target="../media/image30.wmf"/><Relationship Id="rId18" Type="http://schemas.openxmlformats.org/officeDocument/2006/relationships/image" Target="../media/image35.wmf"/><Relationship Id="rId26" Type="http://schemas.openxmlformats.org/officeDocument/2006/relationships/image" Target="../media/image43.wmf"/><Relationship Id="rId3" Type="http://schemas.openxmlformats.org/officeDocument/2006/relationships/image" Target="../media/image20.wmf"/><Relationship Id="rId21" Type="http://schemas.openxmlformats.org/officeDocument/2006/relationships/image" Target="../media/image38.wmf"/><Relationship Id="rId7" Type="http://schemas.openxmlformats.org/officeDocument/2006/relationships/image" Target="../media/image24.wmf"/><Relationship Id="rId12" Type="http://schemas.openxmlformats.org/officeDocument/2006/relationships/image" Target="../media/image29.wmf"/><Relationship Id="rId17" Type="http://schemas.openxmlformats.org/officeDocument/2006/relationships/image" Target="../media/image34.wmf"/><Relationship Id="rId25" Type="http://schemas.openxmlformats.org/officeDocument/2006/relationships/image" Target="../media/image42.wmf"/><Relationship Id="rId2" Type="http://schemas.openxmlformats.org/officeDocument/2006/relationships/image" Target="../media/image19.wmf"/><Relationship Id="rId16" Type="http://schemas.openxmlformats.org/officeDocument/2006/relationships/image" Target="../media/image33.wmf"/><Relationship Id="rId20" Type="http://schemas.openxmlformats.org/officeDocument/2006/relationships/image" Target="../media/image37.wmf"/><Relationship Id="rId1" Type="http://schemas.openxmlformats.org/officeDocument/2006/relationships/image" Target="../media/image18.wmf"/><Relationship Id="rId6" Type="http://schemas.openxmlformats.org/officeDocument/2006/relationships/image" Target="../media/image23.wmf"/><Relationship Id="rId11" Type="http://schemas.openxmlformats.org/officeDocument/2006/relationships/image" Target="../media/image28.wmf"/><Relationship Id="rId24" Type="http://schemas.openxmlformats.org/officeDocument/2006/relationships/image" Target="../media/image41.wmf"/><Relationship Id="rId5" Type="http://schemas.openxmlformats.org/officeDocument/2006/relationships/image" Target="../media/image22.wmf"/><Relationship Id="rId15" Type="http://schemas.openxmlformats.org/officeDocument/2006/relationships/image" Target="../media/image32.wmf"/><Relationship Id="rId23" Type="http://schemas.openxmlformats.org/officeDocument/2006/relationships/image" Target="../media/image40.wmf"/><Relationship Id="rId28" Type="http://schemas.openxmlformats.org/officeDocument/2006/relationships/image" Target="../media/image45.wmf"/><Relationship Id="rId10" Type="http://schemas.openxmlformats.org/officeDocument/2006/relationships/image" Target="../media/image27.wmf"/><Relationship Id="rId19" Type="http://schemas.openxmlformats.org/officeDocument/2006/relationships/image" Target="../media/image36.wmf"/><Relationship Id="rId4" Type="http://schemas.openxmlformats.org/officeDocument/2006/relationships/image" Target="../media/image21.wmf"/><Relationship Id="rId9" Type="http://schemas.openxmlformats.org/officeDocument/2006/relationships/image" Target="../media/image26.wmf"/><Relationship Id="rId14" Type="http://schemas.openxmlformats.org/officeDocument/2006/relationships/image" Target="../media/image31.wmf"/><Relationship Id="rId22" Type="http://schemas.openxmlformats.org/officeDocument/2006/relationships/image" Target="../media/image39.wmf"/><Relationship Id="rId27" Type="http://schemas.openxmlformats.org/officeDocument/2006/relationships/image" Target="../media/image44.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55.wmf"/><Relationship Id="rId3" Type="http://schemas.openxmlformats.org/officeDocument/2006/relationships/image" Target="../media/image50.wmf"/><Relationship Id="rId7" Type="http://schemas.openxmlformats.org/officeDocument/2006/relationships/image" Target="../media/image54.wmf"/><Relationship Id="rId12" Type="http://schemas.openxmlformats.org/officeDocument/2006/relationships/image" Target="../media/image59.wmf"/><Relationship Id="rId2" Type="http://schemas.openxmlformats.org/officeDocument/2006/relationships/image" Target="../media/image49.wmf"/><Relationship Id="rId1" Type="http://schemas.openxmlformats.org/officeDocument/2006/relationships/image" Target="../media/image48.wmf"/><Relationship Id="rId6" Type="http://schemas.openxmlformats.org/officeDocument/2006/relationships/image" Target="../media/image53.wmf"/><Relationship Id="rId11" Type="http://schemas.openxmlformats.org/officeDocument/2006/relationships/image" Target="../media/image58.wmf"/><Relationship Id="rId5" Type="http://schemas.openxmlformats.org/officeDocument/2006/relationships/image" Target="../media/image52.wmf"/><Relationship Id="rId10" Type="http://schemas.openxmlformats.org/officeDocument/2006/relationships/image" Target="../media/image57.wmf"/><Relationship Id="rId4" Type="http://schemas.openxmlformats.org/officeDocument/2006/relationships/image" Target="../media/image51.wmf"/><Relationship Id="rId9" Type="http://schemas.openxmlformats.org/officeDocument/2006/relationships/image" Target="../media/image56.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0" y="3118104"/>
            <a:ext cx="6606540" cy="211226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4"/>
            <a:ext cx="5440680" cy="25146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2"/>
            <a:ext cx="3380994"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6" y="2313432"/>
            <a:ext cx="3380994" cy="663854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6"/>
            <a:ext cx="6995160" cy="160934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2"/>
            <a:ext cx="6995160" cy="6638544"/>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66926" y="9750806"/>
            <a:ext cx="1598929" cy="121920"/>
          </a:xfrm>
          <a:prstGeom prst="rect">
            <a:avLst/>
          </a:prstGeom>
        </p:spPr>
        <p:txBody>
          <a:bodyPr wrap="square" lIns="0" tIns="0" rIns="0" bIns="0">
            <a:spAutoFit/>
          </a:bodyPr>
          <a:lstStyle>
            <a:lvl1pPr>
              <a:defRPr sz="750" b="0" i="0">
                <a:solidFill>
                  <a:schemeClr val="tx1"/>
                </a:solidFill>
                <a:latin typeface="Calibri"/>
                <a:cs typeface="Calibri"/>
              </a:defRPr>
            </a:lvl1pPr>
          </a:lstStyle>
          <a:p>
            <a:pPr marL="12700">
              <a:lnSpc>
                <a:spcPts val="815"/>
              </a:lnSpc>
            </a:pPr>
            <a:r>
              <a:rPr dirty="0"/>
              <a:t>© </a:t>
            </a:r>
            <a:r>
              <a:rPr spc="-5" dirty="0"/>
              <a:t>Gina Wilson (All Things Algebra),</a:t>
            </a:r>
            <a:r>
              <a:rPr spc="-15" dirty="0"/>
              <a:t> </a:t>
            </a:r>
            <a:r>
              <a:rPr spc="-5" dirty="0"/>
              <a:t>2016</a:t>
            </a:r>
          </a:p>
        </p:txBody>
      </p:sp>
      <p:sp>
        <p:nvSpPr>
          <p:cNvPr id="5" name="Holder 5"/>
          <p:cNvSpPr>
            <a:spLocks noGrp="1"/>
          </p:cNvSpPr>
          <p:nvPr>
            <p:ph type="dt" sz="half" idx="6"/>
          </p:nvPr>
        </p:nvSpPr>
        <p:spPr>
          <a:xfrm>
            <a:off x="388620" y="9354312"/>
            <a:ext cx="1787652" cy="50292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12/20/2017</a:t>
            </a:fld>
            <a:endParaRPr lang="en-US"/>
          </a:p>
        </p:txBody>
      </p:sp>
      <p:sp>
        <p:nvSpPr>
          <p:cNvPr id="6" name="Holder 6"/>
          <p:cNvSpPr>
            <a:spLocks noGrp="1"/>
          </p:cNvSpPr>
          <p:nvPr>
            <p:ph type="sldNum" sz="quarter" idx="7"/>
          </p:nvPr>
        </p:nvSpPr>
        <p:spPr>
          <a:xfrm>
            <a:off x="5596128" y="9354312"/>
            <a:ext cx="1787652" cy="50292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5.wmf"/><Relationship Id="rId18" Type="http://schemas.openxmlformats.org/officeDocument/2006/relationships/oleObject" Target="../embeddings/oleObject8.bin"/><Relationship Id="rId26" Type="http://schemas.openxmlformats.org/officeDocument/2006/relationships/oleObject" Target="../embeddings/oleObject12.bin"/><Relationship Id="rId3" Type="http://schemas.openxmlformats.org/officeDocument/2006/relationships/image" Target="../media/image17.PNG"/><Relationship Id="rId21" Type="http://schemas.openxmlformats.org/officeDocument/2006/relationships/image" Target="../media/image9.wmf"/><Relationship Id="rId34" Type="http://schemas.openxmlformats.org/officeDocument/2006/relationships/oleObject" Target="../embeddings/oleObject16.bin"/><Relationship Id="rId7" Type="http://schemas.openxmlformats.org/officeDocument/2006/relationships/image" Target="../media/image2.wmf"/><Relationship Id="rId12" Type="http://schemas.openxmlformats.org/officeDocument/2006/relationships/oleObject" Target="../embeddings/oleObject5.bin"/><Relationship Id="rId17" Type="http://schemas.openxmlformats.org/officeDocument/2006/relationships/image" Target="../media/image7.wmf"/><Relationship Id="rId25" Type="http://schemas.openxmlformats.org/officeDocument/2006/relationships/image" Target="../media/image11.wmf"/><Relationship Id="rId33" Type="http://schemas.openxmlformats.org/officeDocument/2006/relationships/image" Target="../media/image15.wmf"/><Relationship Id="rId2" Type="http://schemas.openxmlformats.org/officeDocument/2006/relationships/slideLayout" Target="../slideLayouts/slideLayout5.xml"/><Relationship Id="rId16" Type="http://schemas.openxmlformats.org/officeDocument/2006/relationships/oleObject" Target="../embeddings/oleObject7.bin"/><Relationship Id="rId20" Type="http://schemas.openxmlformats.org/officeDocument/2006/relationships/oleObject" Target="../embeddings/oleObject9.bin"/><Relationship Id="rId29" Type="http://schemas.openxmlformats.org/officeDocument/2006/relationships/image" Target="../media/image13.wmf"/><Relationship Id="rId1" Type="http://schemas.openxmlformats.org/officeDocument/2006/relationships/vmlDrawing" Target="../drawings/vmlDrawing1.vml"/><Relationship Id="rId6" Type="http://schemas.openxmlformats.org/officeDocument/2006/relationships/oleObject" Target="../embeddings/oleObject2.bin"/><Relationship Id="rId11" Type="http://schemas.openxmlformats.org/officeDocument/2006/relationships/image" Target="../media/image4.wmf"/><Relationship Id="rId24" Type="http://schemas.openxmlformats.org/officeDocument/2006/relationships/oleObject" Target="../embeddings/oleObject11.bin"/><Relationship Id="rId32" Type="http://schemas.openxmlformats.org/officeDocument/2006/relationships/oleObject" Target="../embeddings/oleObject15.bin"/><Relationship Id="rId5" Type="http://schemas.openxmlformats.org/officeDocument/2006/relationships/image" Target="../media/image1.wmf"/><Relationship Id="rId15" Type="http://schemas.openxmlformats.org/officeDocument/2006/relationships/image" Target="../media/image6.wmf"/><Relationship Id="rId23" Type="http://schemas.openxmlformats.org/officeDocument/2006/relationships/image" Target="../media/image10.wmf"/><Relationship Id="rId28" Type="http://schemas.openxmlformats.org/officeDocument/2006/relationships/oleObject" Target="../embeddings/oleObject13.bin"/><Relationship Id="rId10" Type="http://schemas.openxmlformats.org/officeDocument/2006/relationships/oleObject" Target="../embeddings/oleObject4.bin"/><Relationship Id="rId19" Type="http://schemas.openxmlformats.org/officeDocument/2006/relationships/image" Target="../media/image8.wmf"/><Relationship Id="rId31" Type="http://schemas.openxmlformats.org/officeDocument/2006/relationships/image" Target="../media/image14.wmf"/><Relationship Id="rId4" Type="http://schemas.openxmlformats.org/officeDocument/2006/relationships/oleObject" Target="../embeddings/oleObject1.bin"/><Relationship Id="rId9" Type="http://schemas.openxmlformats.org/officeDocument/2006/relationships/image" Target="../media/image3.wmf"/><Relationship Id="rId14" Type="http://schemas.openxmlformats.org/officeDocument/2006/relationships/oleObject" Target="../embeddings/oleObject6.bin"/><Relationship Id="rId22" Type="http://schemas.openxmlformats.org/officeDocument/2006/relationships/oleObject" Target="../embeddings/oleObject10.bin"/><Relationship Id="rId27" Type="http://schemas.openxmlformats.org/officeDocument/2006/relationships/image" Target="../media/image12.wmf"/><Relationship Id="rId30" Type="http://schemas.openxmlformats.org/officeDocument/2006/relationships/oleObject" Target="../embeddings/oleObject14.bin"/><Relationship Id="rId35" Type="http://schemas.openxmlformats.org/officeDocument/2006/relationships/image" Target="../media/image16.wmf"/></Relationships>
</file>

<file path=ppt/slides/_rels/slide2.xml.rels><?xml version="1.0" encoding="UTF-8" standalone="yes"?>
<Relationships xmlns="http://schemas.openxmlformats.org/package/2006/relationships"><Relationship Id="rId13" Type="http://schemas.openxmlformats.org/officeDocument/2006/relationships/image" Target="../media/image22.wmf"/><Relationship Id="rId18" Type="http://schemas.openxmlformats.org/officeDocument/2006/relationships/oleObject" Target="../embeddings/oleObject24.bin"/><Relationship Id="rId26" Type="http://schemas.openxmlformats.org/officeDocument/2006/relationships/oleObject" Target="../embeddings/oleObject28.bin"/><Relationship Id="rId39" Type="http://schemas.openxmlformats.org/officeDocument/2006/relationships/oleObject" Target="../embeddings/oleObject34.bin"/><Relationship Id="rId21" Type="http://schemas.openxmlformats.org/officeDocument/2006/relationships/image" Target="../media/image26.wmf"/><Relationship Id="rId34" Type="http://schemas.openxmlformats.org/officeDocument/2006/relationships/oleObject" Target="../embeddings/oleObject32.bin"/><Relationship Id="rId42" Type="http://schemas.openxmlformats.org/officeDocument/2006/relationships/image" Target="../media/image36.wmf"/><Relationship Id="rId47" Type="http://schemas.openxmlformats.org/officeDocument/2006/relationships/oleObject" Target="../embeddings/oleObject38.bin"/><Relationship Id="rId50" Type="http://schemas.openxmlformats.org/officeDocument/2006/relationships/image" Target="../media/image40.wmf"/><Relationship Id="rId55" Type="http://schemas.openxmlformats.org/officeDocument/2006/relationships/oleObject" Target="../embeddings/oleObject42.bin"/><Relationship Id="rId7" Type="http://schemas.openxmlformats.org/officeDocument/2006/relationships/image" Target="../media/image19.wmf"/><Relationship Id="rId12" Type="http://schemas.openxmlformats.org/officeDocument/2006/relationships/oleObject" Target="../embeddings/oleObject21.bin"/><Relationship Id="rId17" Type="http://schemas.openxmlformats.org/officeDocument/2006/relationships/image" Target="../media/image24.wmf"/><Relationship Id="rId25" Type="http://schemas.openxmlformats.org/officeDocument/2006/relationships/image" Target="../media/image28.wmf"/><Relationship Id="rId33" Type="http://schemas.openxmlformats.org/officeDocument/2006/relationships/image" Target="../media/image32.wmf"/><Relationship Id="rId38" Type="http://schemas.openxmlformats.org/officeDocument/2006/relationships/image" Target="../media/image34.wmf"/><Relationship Id="rId46" Type="http://schemas.openxmlformats.org/officeDocument/2006/relationships/image" Target="../media/image38.wmf"/><Relationship Id="rId59" Type="http://schemas.openxmlformats.org/officeDocument/2006/relationships/oleObject" Target="../embeddings/oleObject44.bin"/><Relationship Id="rId2" Type="http://schemas.openxmlformats.org/officeDocument/2006/relationships/slideLayout" Target="../slideLayouts/slideLayout5.xml"/><Relationship Id="rId16" Type="http://schemas.openxmlformats.org/officeDocument/2006/relationships/oleObject" Target="../embeddings/oleObject23.bin"/><Relationship Id="rId20" Type="http://schemas.openxmlformats.org/officeDocument/2006/relationships/oleObject" Target="../embeddings/oleObject25.bin"/><Relationship Id="rId29" Type="http://schemas.openxmlformats.org/officeDocument/2006/relationships/image" Target="../media/image30.wmf"/><Relationship Id="rId41" Type="http://schemas.openxmlformats.org/officeDocument/2006/relationships/oleObject" Target="../embeddings/oleObject35.bin"/><Relationship Id="rId54" Type="http://schemas.openxmlformats.org/officeDocument/2006/relationships/image" Target="../media/image42.wmf"/><Relationship Id="rId1" Type="http://schemas.openxmlformats.org/officeDocument/2006/relationships/vmlDrawing" Target="../drawings/vmlDrawing2.vml"/><Relationship Id="rId6" Type="http://schemas.openxmlformats.org/officeDocument/2006/relationships/oleObject" Target="../embeddings/oleObject18.bin"/><Relationship Id="rId11" Type="http://schemas.openxmlformats.org/officeDocument/2006/relationships/image" Target="../media/image21.wmf"/><Relationship Id="rId24" Type="http://schemas.openxmlformats.org/officeDocument/2006/relationships/oleObject" Target="../embeddings/oleObject27.bin"/><Relationship Id="rId32" Type="http://schemas.openxmlformats.org/officeDocument/2006/relationships/oleObject" Target="../embeddings/oleObject31.bin"/><Relationship Id="rId37" Type="http://schemas.openxmlformats.org/officeDocument/2006/relationships/oleObject" Target="../embeddings/oleObject33.bin"/><Relationship Id="rId40" Type="http://schemas.openxmlformats.org/officeDocument/2006/relationships/image" Target="../media/image35.wmf"/><Relationship Id="rId45" Type="http://schemas.openxmlformats.org/officeDocument/2006/relationships/oleObject" Target="../embeddings/oleObject37.bin"/><Relationship Id="rId53" Type="http://schemas.openxmlformats.org/officeDocument/2006/relationships/oleObject" Target="../embeddings/oleObject41.bin"/><Relationship Id="rId58" Type="http://schemas.openxmlformats.org/officeDocument/2006/relationships/image" Target="../media/image44.wmf"/><Relationship Id="rId5" Type="http://schemas.openxmlformats.org/officeDocument/2006/relationships/image" Target="../media/image18.wmf"/><Relationship Id="rId15" Type="http://schemas.openxmlformats.org/officeDocument/2006/relationships/image" Target="../media/image23.wmf"/><Relationship Id="rId23" Type="http://schemas.openxmlformats.org/officeDocument/2006/relationships/image" Target="../media/image27.wmf"/><Relationship Id="rId28" Type="http://schemas.openxmlformats.org/officeDocument/2006/relationships/oleObject" Target="../embeddings/oleObject29.bin"/><Relationship Id="rId36" Type="http://schemas.openxmlformats.org/officeDocument/2006/relationships/image" Target="../media/image47.png"/><Relationship Id="rId49" Type="http://schemas.openxmlformats.org/officeDocument/2006/relationships/oleObject" Target="../embeddings/oleObject39.bin"/><Relationship Id="rId57" Type="http://schemas.openxmlformats.org/officeDocument/2006/relationships/oleObject" Target="../embeddings/oleObject43.bin"/><Relationship Id="rId10" Type="http://schemas.openxmlformats.org/officeDocument/2006/relationships/oleObject" Target="../embeddings/oleObject20.bin"/><Relationship Id="rId19" Type="http://schemas.openxmlformats.org/officeDocument/2006/relationships/image" Target="../media/image25.wmf"/><Relationship Id="rId31" Type="http://schemas.openxmlformats.org/officeDocument/2006/relationships/image" Target="../media/image31.wmf"/><Relationship Id="rId44" Type="http://schemas.openxmlformats.org/officeDocument/2006/relationships/image" Target="../media/image37.wmf"/><Relationship Id="rId52" Type="http://schemas.openxmlformats.org/officeDocument/2006/relationships/image" Target="../media/image41.wmf"/><Relationship Id="rId60" Type="http://schemas.openxmlformats.org/officeDocument/2006/relationships/image" Target="../media/image45.wmf"/><Relationship Id="rId4" Type="http://schemas.openxmlformats.org/officeDocument/2006/relationships/oleObject" Target="../embeddings/oleObject17.bin"/><Relationship Id="rId9" Type="http://schemas.openxmlformats.org/officeDocument/2006/relationships/image" Target="../media/image20.wmf"/><Relationship Id="rId14" Type="http://schemas.openxmlformats.org/officeDocument/2006/relationships/oleObject" Target="../embeddings/oleObject22.bin"/><Relationship Id="rId22" Type="http://schemas.openxmlformats.org/officeDocument/2006/relationships/oleObject" Target="../embeddings/oleObject26.bin"/><Relationship Id="rId27" Type="http://schemas.openxmlformats.org/officeDocument/2006/relationships/image" Target="../media/image29.wmf"/><Relationship Id="rId30" Type="http://schemas.openxmlformats.org/officeDocument/2006/relationships/oleObject" Target="../embeddings/oleObject30.bin"/><Relationship Id="rId35" Type="http://schemas.openxmlformats.org/officeDocument/2006/relationships/image" Target="../media/image33.wmf"/><Relationship Id="rId43" Type="http://schemas.openxmlformats.org/officeDocument/2006/relationships/oleObject" Target="../embeddings/oleObject36.bin"/><Relationship Id="rId48" Type="http://schemas.openxmlformats.org/officeDocument/2006/relationships/image" Target="../media/image39.wmf"/><Relationship Id="rId56" Type="http://schemas.openxmlformats.org/officeDocument/2006/relationships/image" Target="../media/image43.wmf"/><Relationship Id="rId8" Type="http://schemas.openxmlformats.org/officeDocument/2006/relationships/oleObject" Target="../embeddings/oleObject19.bin"/><Relationship Id="rId51" Type="http://schemas.openxmlformats.org/officeDocument/2006/relationships/oleObject" Target="../embeddings/oleObject40.bin"/><Relationship Id="rId3" Type="http://schemas.openxmlformats.org/officeDocument/2006/relationships/image" Target="../media/image46.PN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47.bin"/><Relationship Id="rId13" Type="http://schemas.openxmlformats.org/officeDocument/2006/relationships/image" Target="../media/image52.wmf"/><Relationship Id="rId18" Type="http://schemas.openxmlformats.org/officeDocument/2006/relationships/oleObject" Target="../embeddings/oleObject52.bin"/><Relationship Id="rId26" Type="http://schemas.openxmlformats.org/officeDocument/2006/relationships/oleObject" Target="../embeddings/oleObject56.bin"/><Relationship Id="rId3" Type="http://schemas.openxmlformats.org/officeDocument/2006/relationships/image" Target="../media/image60.PNG"/><Relationship Id="rId21" Type="http://schemas.openxmlformats.org/officeDocument/2006/relationships/image" Target="../media/image56.wmf"/><Relationship Id="rId7" Type="http://schemas.openxmlformats.org/officeDocument/2006/relationships/image" Target="../media/image49.wmf"/><Relationship Id="rId12" Type="http://schemas.openxmlformats.org/officeDocument/2006/relationships/oleObject" Target="../embeddings/oleObject49.bin"/><Relationship Id="rId17" Type="http://schemas.openxmlformats.org/officeDocument/2006/relationships/image" Target="../media/image54.wmf"/><Relationship Id="rId25" Type="http://schemas.openxmlformats.org/officeDocument/2006/relationships/image" Target="../media/image58.wmf"/><Relationship Id="rId2" Type="http://schemas.openxmlformats.org/officeDocument/2006/relationships/slideLayout" Target="../slideLayouts/slideLayout5.xml"/><Relationship Id="rId16" Type="http://schemas.openxmlformats.org/officeDocument/2006/relationships/oleObject" Target="../embeddings/oleObject51.bin"/><Relationship Id="rId20" Type="http://schemas.openxmlformats.org/officeDocument/2006/relationships/oleObject" Target="../embeddings/oleObject53.bin"/><Relationship Id="rId1" Type="http://schemas.openxmlformats.org/officeDocument/2006/relationships/vmlDrawing" Target="../drawings/vmlDrawing3.vml"/><Relationship Id="rId6" Type="http://schemas.openxmlformats.org/officeDocument/2006/relationships/oleObject" Target="../embeddings/oleObject46.bin"/><Relationship Id="rId11" Type="http://schemas.openxmlformats.org/officeDocument/2006/relationships/image" Target="../media/image51.wmf"/><Relationship Id="rId24" Type="http://schemas.openxmlformats.org/officeDocument/2006/relationships/oleObject" Target="../embeddings/oleObject55.bin"/><Relationship Id="rId5" Type="http://schemas.openxmlformats.org/officeDocument/2006/relationships/image" Target="../media/image48.wmf"/><Relationship Id="rId15" Type="http://schemas.openxmlformats.org/officeDocument/2006/relationships/image" Target="../media/image53.wmf"/><Relationship Id="rId23" Type="http://schemas.openxmlformats.org/officeDocument/2006/relationships/image" Target="../media/image57.wmf"/><Relationship Id="rId10" Type="http://schemas.openxmlformats.org/officeDocument/2006/relationships/oleObject" Target="../embeddings/oleObject48.bin"/><Relationship Id="rId19" Type="http://schemas.openxmlformats.org/officeDocument/2006/relationships/image" Target="../media/image55.wmf"/><Relationship Id="rId4" Type="http://schemas.openxmlformats.org/officeDocument/2006/relationships/oleObject" Target="../embeddings/oleObject45.bin"/><Relationship Id="rId9" Type="http://schemas.openxmlformats.org/officeDocument/2006/relationships/image" Target="../media/image50.wmf"/><Relationship Id="rId14" Type="http://schemas.openxmlformats.org/officeDocument/2006/relationships/oleObject" Target="../embeddings/oleObject50.bin"/><Relationship Id="rId22" Type="http://schemas.openxmlformats.org/officeDocument/2006/relationships/oleObject" Target="../embeddings/oleObject54.bin"/><Relationship Id="rId27" Type="http://schemas.openxmlformats.org/officeDocument/2006/relationships/image" Target="../media/image59.wmf"/></Relationships>
</file>

<file path=ppt/slides/_rels/slide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grayscl/>
          </a:blip>
          <a:srcRect/>
          <a:stretch>
            <a:fillRect/>
          </a:stretch>
        </a:blipFill>
        <a:effectLst/>
      </p:bgPr>
    </p:bg>
    <p:spTree>
      <p:nvGrpSpPr>
        <p:cNvPr id="1" name=""/>
        <p:cNvGrpSpPr/>
        <p:nvPr/>
      </p:nvGrpSpPr>
      <p:grpSpPr>
        <a:xfrm>
          <a:off x="0" y="0"/>
          <a:ext cx="0" cy="0"/>
          <a:chOff x="0" y="0"/>
          <a:chExt cx="0" cy="0"/>
        </a:xfrm>
      </p:grpSpPr>
      <p:graphicFrame>
        <p:nvGraphicFramePr>
          <p:cNvPr id="64" name="Table 63">
            <a:extLst>
              <a:ext uri="{FF2B5EF4-FFF2-40B4-BE49-F238E27FC236}">
                <a16:creationId xmlns:a16="http://schemas.microsoft.com/office/drawing/2014/main" id="{9B99AFEB-C0F5-48C1-A754-C542A2D1A19C}"/>
              </a:ext>
            </a:extLst>
          </p:cNvPr>
          <p:cNvGraphicFramePr>
            <a:graphicFrameLocks noGrp="1"/>
          </p:cNvGraphicFramePr>
          <p:nvPr>
            <p:extLst>
              <p:ext uri="{D42A27DB-BD31-4B8C-83A1-F6EECF244321}">
                <p14:modId xmlns:p14="http://schemas.microsoft.com/office/powerpoint/2010/main" val="2458494201"/>
              </p:ext>
            </p:extLst>
          </p:nvPr>
        </p:nvGraphicFramePr>
        <p:xfrm>
          <a:off x="381001" y="1136070"/>
          <a:ext cx="3581400" cy="806196"/>
        </p:xfrm>
        <a:graphic>
          <a:graphicData uri="http://schemas.openxmlformats.org/drawingml/2006/table">
            <a:tbl>
              <a:tblPr/>
              <a:tblGrid>
                <a:gridCol w="3581400">
                  <a:extLst>
                    <a:ext uri="{9D8B030D-6E8A-4147-A177-3AD203B41FA5}">
                      <a16:colId xmlns:a16="http://schemas.microsoft.com/office/drawing/2014/main" val="20000"/>
                    </a:ext>
                  </a:extLst>
                </a:gridCol>
              </a:tblGrid>
              <a:tr h="0">
                <a:tc>
                  <a:txBody>
                    <a:bodyPr/>
                    <a:lstStyle/>
                    <a:p>
                      <a:pPr marL="0" marR="0" algn="l">
                        <a:lnSpc>
                          <a:spcPct val="115000"/>
                        </a:lnSpc>
                        <a:spcBef>
                          <a:spcPts val="0"/>
                        </a:spcBef>
                        <a:spcAft>
                          <a:spcPts val="1000"/>
                        </a:spcAft>
                      </a:pPr>
                      <a:r>
                        <a:rPr lang="en-US" sz="1150" b="1" dirty="0">
                          <a:effectLst/>
                          <a:latin typeface="Tahoma" panose="020B0604030504040204" pitchFamily="34" charset="0"/>
                          <a:ea typeface="Calibri" panose="020F0502020204030204" pitchFamily="34" charset="0"/>
                          <a:cs typeface="Times New Roman" panose="02020603050405020304" pitchFamily="18" charset="0"/>
                        </a:rPr>
                        <a:t>1.  </a:t>
                      </a:r>
                      <a:r>
                        <a:rPr lang="en-US" sz="1150" dirty="0">
                          <a:effectLst/>
                          <a:latin typeface="Tahoma" panose="020B0604030504040204" pitchFamily="34" charset="0"/>
                          <a:ea typeface="Calibri" panose="020F0502020204030204" pitchFamily="34" charset="0"/>
                          <a:cs typeface="Times New Roman" panose="02020603050405020304" pitchFamily="18" charset="0"/>
                        </a:rPr>
                        <a:t>The library labels each book with a five-digit </a:t>
                      </a:r>
                      <a:br>
                        <a:rPr lang="en-US" sz="1150" dirty="0">
                          <a:effectLst/>
                          <a:latin typeface="Tahoma" panose="020B0604030504040204" pitchFamily="34" charset="0"/>
                          <a:ea typeface="Calibri" panose="020F0502020204030204" pitchFamily="34" charset="0"/>
                          <a:cs typeface="Times New Roman" panose="02020603050405020304" pitchFamily="18" charset="0"/>
                        </a:rPr>
                      </a:br>
                      <a:r>
                        <a:rPr lang="en-US" sz="1150" dirty="0">
                          <a:effectLst/>
                          <a:latin typeface="Tahoma" panose="020B0604030504040204" pitchFamily="34" charset="0"/>
                          <a:ea typeface="Calibri" panose="020F0502020204030204" pitchFamily="34" charset="0"/>
                          <a:cs typeface="Times New Roman" panose="02020603050405020304" pitchFamily="18" charset="0"/>
                        </a:rPr>
                        <a:t>     code to identify the book in their computer </a:t>
                      </a:r>
                      <a:br>
                        <a:rPr lang="en-US" sz="1150" dirty="0">
                          <a:effectLst/>
                          <a:latin typeface="Tahoma" panose="020B0604030504040204" pitchFamily="34" charset="0"/>
                          <a:ea typeface="Calibri" panose="020F0502020204030204" pitchFamily="34" charset="0"/>
                          <a:cs typeface="Times New Roman" panose="02020603050405020304" pitchFamily="18" charset="0"/>
                        </a:rPr>
                      </a:br>
                      <a:r>
                        <a:rPr lang="en-US" sz="1150" dirty="0">
                          <a:effectLst/>
                          <a:latin typeface="Tahoma" panose="020B0604030504040204" pitchFamily="34" charset="0"/>
                          <a:ea typeface="Calibri" panose="020F0502020204030204" pitchFamily="34" charset="0"/>
                          <a:cs typeface="Times New Roman" panose="02020603050405020304" pitchFamily="18" charset="0"/>
                        </a:rPr>
                        <a:t>     system.  Each code is 3 digits (0-9) followed by </a:t>
                      </a:r>
                      <a:br>
                        <a:rPr lang="en-US" sz="1150" dirty="0">
                          <a:effectLst/>
                          <a:latin typeface="Tahoma" panose="020B0604030504040204" pitchFamily="34" charset="0"/>
                          <a:ea typeface="Calibri" panose="020F0502020204030204" pitchFamily="34" charset="0"/>
                          <a:cs typeface="Times New Roman" panose="02020603050405020304" pitchFamily="18" charset="0"/>
                        </a:rPr>
                      </a:br>
                      <a:r>
                        <a:rPr lang="en-US" sz="1150" dirty="0">
                          <a:effectLst/>
                          <a:latin typeface="Tahoma" panose="020B0604030504040204" pitchFamily="34" charset="0"/>
                          <a:ea typeface="Calibri" panose="020F0502020204030204" pitchFamily="34" charset="0"/>
                          <a:cs typeface="Times New Roman" panose="02020603050405020304" pitchFamily="18" charset="0"/>
                        </a:rPr>
                        <a:t>     two letters.  How many codes are possible?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65" name="Text Box 19">
            <a:extLst>
              <a:ext uri="{FF2B5EF4-FFF2-40B4-BE49-F238E27FC236}">
                <a16:creationId xmlns:a16="http://schemas.microsoft.com/office/drawing/2014/main" id="{70BEECEC-0FD0-49E4-B5A5-99673B55EE2B}"/>
              </a:ext>
            </a:extLst>
          </p:cNvPr>
          <p:cNvSpPr txBox="1">
            <a:spLocks noChangeArrowheads="1"/>
          </p:cNvSpPr>
          <p:nvPr/>
        </p:nvSpPr>
        <p:spPr bwMode="auto">
          <a:xfrm>
            <a:off x="6705600" y="28124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6" name="Text Box 19">
            <a:extLst>
              <a:ext uri="{FF2B5EF4-FFF2-40B4-BE49-F238E27FC236}">
                <a16:creationId xmlns:a16="http://schemas.microsoft.com/office/drawing/2014/main" id="{159FC205-43E5-4C52-8406-CDD368B0A5CA}"/>
              </a:ext>
            </a:extLst>
          </p:cNvPr>
          <p:cNvSpPr txBox="1">
            <a:spLocks noChangeArrowheads="1"/>
          </p:cNvSpPr>
          <p:nvPr/>
        </p:nvSpPr>
        <p:spPr bwMode="auto">
          <a:xfrm>
            <a:off x="6705600" y="92132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7" name="Text Box 19">
            <a:extLst>
              <a:ext uri="{FF2B5EF4-FFF2-40B4-BE49-F238E27FC236}">
                <a16:creationId xmlns:a16="http://schemas.microsoft.com/office/drawing/2014/main" id="{21B8D3EC-7A57-497B-B154-4D06F419D3FE}"/>
              </a:ext>
            </a:extLst>
          </p:cNvPr>
          <p:cNvSpPr txBox="1">
            <a:spLocks noChangeArrowheads="1"/>
          </p:cNvSpPr>
          <p:nvPr/>
        </p:nvSpPr>
        <p:spPr bwMode="auto">
          <a:xfrm>
            <a:off x="3276600" y="706951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8" name="Text Box 19">
            <a:extLst>
              <a:ext uri="{FF2B5EF4-FFF2-40B4-BE49-F238E27FC236}">
                <a16:creationId xmlns:a16="http://schemas.microsoft.com/office/drawing/2014/main" id="{50D0091B-B4AD-4264-83DD-FF65DEB88C71}"/>
              </a:ext>
            </a:extLst>
          </p:cNvPr>
          <p:cNvSpPr txBox="1">
            <a:spLocks noChangeArrowheads="1"/>
          </p:cNvSpPr>
          <p:nvPr/>
        </p:nvSpPr>
        <p:spPr bwMode="auto">
          <a:xfrm>
            <a:off x="6705600" y="70796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9" name="Text Box 19">
            <a:extLst>
              <a:ext uri="{FF2B5EF4-FFF2-40B4-BE49-F238E27FC236}">
                <a16:creationId xmlns:a16="http://schemas.microsoft.com/office/drawing/2014/main" id="{EE30268D-7BE9-4DB7-BCA0-6CCC50FF774F}"/>
              </a:ext>
            </a:extLst>
          </p:cNvPr>
          <p:cNvSpPr txBox="1">
            <a:spLocks noChangeArrowheads="1"/>
          </p:cNvSpPr>
          <p:nvPr/>
        </p:nvSpPr>
        <p:spPr bwMode="auto">
          <a:xfrm>
            <a:off x="6705600" y="49460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0" name="Text Box 19">
            <a:extLst>
              <a:ext uri="{FF2B5EF4-FFF2-40B4-BE49-F238E27FC236}">
                <a16:creationId xmlns:a16="http://schemas.microsoft.com/office/drawing/2014/main" id="{5D737E2E-37D4-48FD-92A0-951A9A967BA6}"/>
              </a:ext>
            </a:extLst>
          </p:cNvPr>
          <p:cNvSpPr txBox="1">
            <a:spLocks noChangeArrowheads="1"/>
          </p:cNvSpPr>
          <p:nvPr/>
        </p:nvSpPr>
        <p:spPr bwMode="auto">
          <a:xfrm>
            <a:off x="3276600" y="92132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1" name="Text Box 19">
            <a:extLst>
              <a:ext uri="{FF2B5EF4-FFF2-40B4-BE49-F238E27FC236}">
                <a16:creationId xmlns:a16="http://schemas.microsoft.com/office/drawing/2014/main" id="{D1E7F159-FE3E-4F3F-B038-88B805697F47}"/>
              </a:ext>
            </a:extLst>
          </p:cNvPr>
          <p:cNvSpPr txBox="1">
            <a:spLocks noChangeArrowheads="1"/>
          </p:cNvSpPr>
          <p:nvPr/>
        </p:nvSpPr>
        <p:spPr bwMode="auto">
          <a:xfrm>
            <a:off x="3276600" y="49460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2" name="Text Box 19">
            <a:extLst>
              <a:ext uri="{FF2B5EF4-FFF2-40B4-BE49-F238E27FC236}">
                <a16:creationId xmlns:a16="http://schemas.microsoft.com/office/drawing/2014/main" id="{B25A93FD-8886-41CF-BCC3-BFD01685D4CF}"/>
              </a:ext>
            </a:extLst>
          </p:cNvPr>
          <p:cNvSpPr txBox="1">
            <a:spLocks noChangeArrowheads="1"/>
          </p:cNvSpPr>
          <p:nvPr/>
        </p:nvSpPr>
        <p:spPr bwMode="auto">
          <a:xfrm>
            <a:off x="3276600" y="28124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3" name="Text Box 807">
            <a:extLst>
              <a:ext uri="{FF2B5EF4-FFF2-40B4-BE49-F238E27FC236}">
                <a16:creationId xmlns:a16="http://schemas.microsoft.com/office/drawing/2014/main" id="{CD0A0DD8-B1E0-43EA-91C9-6A91B96FE26C}"/>
              </a:ext>
            </a:extLst>
          </p:cNvPr>
          <p:cNvSpPr txBox="1">
            <a:spLocks noChangeArrowheads="1"/>
          </p:cNvSpPr>
          <p:nvPr/>
        </p:nvSpPr>
        <p:spPr bwMode="auto">
          <a:xfrm>
            <a:off x="685800" y="2126670"/>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468</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492,804</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527,000</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676,000</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4" name="Text Box 807">
            <a:extLst>
              <a:ext uri="{FF2B5EF4-FFF2-40B4-BE49-F238E27FC236}">
                <a16:creationId xmlns:a16="http://schemas.microsoft.com/office/drawing/2014/main" id="{4D0DCDE0-CEAD-4BAB-834C-862B143530DA}"/>
              </a:ext>
            </a:extLst>
          </p:cNvPr>
          <p:cNvSpPr txBox="1">
            <a:spLocks noChangeArrowheads="1"/>
          </p:cNvSpPr>
          <p:nvPr/>
        </p:nvSpPr>
        <p:spPr bwMode="auto">
          <a:xfrm>
            <a:off x="4114800" y="2050470"/>
            <a:ext cx="842645" cy="1137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5" name="Object 74">
            <a:extLst>
              <a:ext uri="{FF2B5EF4-FFF2-40B4-BE49-F238E27FC236}">
                <a16:creationId xmlns:a16="http://schemas.microsoft.com/office/drawing/2014/main" id="{2F387975-3500-4D42-9435-ABE192487122}"/>
              </a:ext>
            </a:extLst>
          </p:cNvPr>
          <p:cNvGraphicFramePr>
            <a:graphicFrameLocks noChangeAspect="1"/>
          </p:cNvGraphicFramePr>
          <p:nvPr>
            <p:extLst>
              <p:ext uri="{D42A27DB-BD31-4B8C-83A1-F6EECF244321}">
                <p14:modId xmlns:p14="http://schemas.microsoft.com/office/powerpoint/2010/main" val="1879099698"/>
              </p:ext>
            </p:extLst>
          </p:nvPr>
        </p:nvGraphicFramePr>
        <p:xfrm>
          <a:off x="4398645" y="2097460"/>
          <a:ext cx="237490" cy="195580"/>
        </p:xfrm>
        <a:graphic>
          <a:graphicData uri="http://schemas.openxmlformats.org/presentationml/2006/ole">
            <mc:AlternateContent xmlns:mc="http://schemas.openxmlformats.org/markup-compatibility/2006">
              <mc:Choice xmlns:v="urn:schemas-microsoft-com:vml" Requires="v">
                <p:oleObj spid="_x0000_s1601" name="Equation" r:id="rId4" imgW="215640" imgH="177480" progId="Equation.DSMT4">
                  <p:embed/>
                </p:oleObj>
              </mc:Choice>
              <mc:Fallback>
                <p:oleObj name="Equation" r:id="rId4" imgW="215640" imgH="177480" progId="Equation.DSMT4">
                  <p:embed/>
                  <p:pic>
                    <p:nvPicPr>
                      <p:cNvPr id="35" name="Object 34"/>
                      <p:cNvPicPr/>
                      <p:nvPr/>
                    </p:nvPicPr>
                    <p:blipFill>
                      <a:blip r:embed="rId5"/>
                      <a:stretch>
                        <a:fillRect/>
                      </a:stretch>
                    </p:blipFill>
                    <p:spPr>
                      <a:xfrm>
                        <a:off x="4398645" y="2097460"/>
                        <a:ext cx="237490" cy="195580"/>
                      </a:xfrm>
                      <a:prstGeom prst="rect">
                        <a:avLst/>
                      </a:prstGeom>
                    </p:spPr>
                  </p:pic>
                </p:oleObj>
              </mc:Fallback>
            </mc:AlternateContent>
          </a:graphicData>
        </a:graphic>
      </p:graphicFrame>
      <p:graphicFrame>
        <p:nvGraphicFramePr>
          <p:cNvPr id="76" name="Object 75">
            <a:extLst>
              <a:ext uri="{FF2B5EF4-FFF2-40B4-BE49-F238E27FC236}">
                <a16:creationId xmlns:a16="http://schemas.microsoft.com/office/drawing/2014/main" id="{0DEE63C2-023D-4706-88DB-93C801A7640D}"/>
              </a:ext>
            </a:extLst>
          </p:cNvPr>
          <p:cNvGraphicFramePr>
            <a:graphicFrameLocks noChangeAspect="1"/>
          </p:cNvGraphicFramePr>
          <p:nvPr>
            <p:extLst>
              <p:ext uri="{D42A27DB-BD31-4B8C-83A1-F6EECF244321}">
                <p14:modId xmlns:p14="http://schemas.microsoft.com/office/powerpoint/2010/main" val="1590498289"/>
              </p:ext>
            </p:extLst>
          </p:nvPr>
        </p:nvGraphicFramePr>
        <p:xfrm>
          <a:off x="4399280" y="2421310"/>
          <a:ext cx="254000" cy="190500"/>
        </p:xfrm>
        <a:graphic>
          <a:graphicData uri="http://schemas.openxmlformats.org/presentationml/2006/ole">
            <mc:AlternateContent xmlns:mc="http://schemas.openxmlformats.org/markup-compatibility/2006">
              <mc:Choice xmlns:v="urn:schemas-microsoft-com:vml" Requires="v">
                <p:oleObj spid="_x0000_s1602" name="Equation" r:id="rId6" imgW="253800" imgH="190440" progId="Equation.DSMT4">
                  <p:embed/>
                </p:oleObj>
              </mc:Choice>
              <mc:Fallback>
                <p:oleObj name="Equation" r:id="rId6" imgW="253800" imgH="190440" progId="Equation.DSMT4">
                  <p:embed/>
                  <p:pic>
                    <p:nvPicPr>
                      <p:cNvPr id="36" name="Object 35"/>
                      <p:cNvPicPr/>
                      <p:nvPr/>
                    </p:nvPicPr>
                    <p:blipFill>
                      <a:blip r:embed="rId7"/>
                      <a:stretch>
                        <a:fillRect/>
                      </a:stretch>
                    </p:blipFill>
                    <p:spPr>
                      <a:xfrm>
                        <a:off x="4399280" y="2421310"/>
                        <a:ext cx="254000" cy="190500"/>
                      </a:xfrm>
                      <a:prstGeom prst="rect">
                        <a:avLst/>
                      </a:prstGeom>
                    </p:spPr>
                  </p:pic>
                </p:oleObj>
              </mc:Fallback>
            </mc:AlternateContent>
          </a:graphicData>
        </a:graphic>
      </p:graphicFrame>
      <p:graphicFrame>
        <p:nvGraphicFramePr>
          <p:cNvPr id="77" name="Object 76">
            <a:extLst>
              <a:ext uri="{FF2B5EF4-FFF2-40B4-BE49-F238E27FC236}">
                <a16:creationId xmlns:a16="http://schemas.microsoft.com/office/drawing/2014/main" id="{40464348-0CF9-4A84-ADD5-A3A2F6D6109E}"/>
              </a:ext>
            </a:extLst>
          </p:cNvPr>
          <p:cNvGraphicFramePr>
            <a:graphicFrameLocks noChangeAspect="1"/>
          </p:cNvGraphicFramePr>
          <p:nvPr>
            <p:extLst>
              <p:ext uri="{D42A27DB-BD31-4B8C-83A1-F6EECF244321}">
                <p14:modId xmlns:p14="http://schemas.microsoft.com/office/powerpoint/2010/main" val="4199151819"/>
              </p:ext>
            </p:extLst>
          </p:nvPr>
        </p:nvGraphicFramePr>
        <p:xfrm>
          <a:off x="4385945" y="2619430"/>
          <a:ext cx="293370" cy="223520"/>
        </p:xfrm>
        <a:graphic>
          <a:graphicData uri="http://schemas.openxmlformats.org/presentationml/2006/ole">
            <mc:AlternateContent xmlns:mc="http://schemas.openxmlformats.org/markup-compatibility/2006">
              <mc:Choice xmlns:v="urn:schemas-microsoft-com:vml" Requires="v">
                <p:oleObj spid="_x0000_s1603" name="Equation" r:id="rId8" imgW="266400" imgH="203040" progId="Equation.DSMT4">
                  <p:embed/>
                </p:oleObj>
              </mc:Choice>
              <mc:Fallback>
                <p:oleObj name="Equation" r:id="rId8" imgW="266400" imgH="203040" progId="Equation.DSMT4">
                  <p:embed/>
                  <p:pic>
                    <p:nvPicPr>
                      <p:cNvPr id="37" name="Object 36"/>
                      <p:cNvPicPr/>
                      <p:nvPr/>
                    </p:nvPicPr>
                    <p:blipFill>
                      <a:blip r:embed="rId9"/>
                      <a:stretch>
                        <a:fillRect/>
                      </a:stretch>
                    </p:blipFill>
                    <p:spPr>
                      <a:xfrm>
                        <a:off x="4385945" y="2619430"/>
                        <a:ext cx="293370" cy="223520"/>
                      </a:xfrm>
                      <a:prstGeom prst="rect">
                        <a:avLst/>
                      </a:prstGeom>
                    </p:spPr>
                  </p:pic>
                </p:oleObj>
              </mc:Fallback>
            </mc:AlternateContent>
          </a:graphicData>
        </a:graphic>
      </p:graphicFrame>
      <p:graphicFrame>
        <p:nvGraphicFramePr>
          <p:cNvPr id="78" name="Object 77">
            <a:extLst>
              <a:ext uri="{FF2B5EF4-FFF2-40B4-BE49-F238E27FC236}">
                <a16:creationId xmlns:a16="http://schemas.microsoft.com/office/drawing/2014/main" id="{0CC30D03-24C5-497D-95A9-4BF5DEC44678}"/>
              </a:ext>
            </a:extLst>
          </p:cNvPr>
          <p:cNvGraphicFramePr>
            <a:graphicFrameLocks noChangeAspect="1"/>
          </p:cNvGraphicFramePr>
          <p:nvPr>
            <p:extLst>
              <p:ext uri="{D42A27DB-BD31-4B8C-83A1-F6EECF244321}">
                <p14:modId xmlns:p14="http://schemas.microsoft.com/office/powerpoint/2010/main" val="820861061"/>
              </p:ext>
            </p:extLst>
          </p:nvPr>
        </p:nvGraphicFramePr>
        <p:xfrm>
          <a:off x="4373880" y="2944550"/>
          <a:ext cx="355600" cy="177800"/>
        </p:xfrm>
        <a:graphic>
          <a:graphicData uri="http://schemas.openxmlformats.org/presentationml/2006/ole">
            <mc:AlternateContent xmlns:mc="http://schemas.openxmlformats.org/markup-compatibility/2006">
              <mc:Choice xmlns:v="urn:schemas-microsoft-com:vml" Requires="v">
                <p:oleObj spid="_x0000_s1604" name="Equation" r:id="rId10" imgW="355320" imgH="177480" progId="Equation.DSMT4">
                  <p:embed/>
                </p:oleObj>
              </mc:Choice>
              <mc:Fallback>
                <p:oleObj name="Equation" r:id="rId10" imgW="355320" imgH="177480" progId="Equation.DSMT4">
                  <p:embed/>
                  <p:pic>
                    <p:nvPicPr>
                      <p:cNvPr id="38" name="Object 37"/>
                      <p:cNvPicPr/>
                      <p:nvPr/>
                    </p:nvPicPr>
                    <p:blipFill>
                      <a:blip r:embed="rId11"/>
                      <a:stretch>
                        <a:fillRect/>
                      </a:stretch>
                    </p:blipFill>
                    <p:spPr>
                      <a:xfrm>
                        <a:off x="4373880" y="2944550"/>
                        <a:ext cx="355600" cy="177800"/>
                      </a:xfrm>
                      <a:prstGeom prst="rect">
                        <a:avLst/>
                      </a:prstGeom>
                    </p:spPr>
                  </p:pic>
                </p:oleObj>
              </mc:Fallback>
            </mc:AlternateContent>
          </a:graphicData>
        </a:graphic>
      </p:graphicFrame>
      <p:sp>
        <p:nvSpPr>
          <p:cNvPr id="79" name="Rectangle 78">
            <a:extLst>
              <a:ext uri="{FF2B5EF4-FFF2-40B4-BE49-F238E27FC236}">
                <a16:creationId xmlns:a16="http://schemas.microsoft.com/office/drawing/2014/main" id="{14307FBD-0D52-4EBE-BC8F-29AE3F8F4D86}"/>
              </a:ext>
            </a:extLst>
          </p:cNvPr>
          <p:cNvSpPr/>
          <p:nvPr/>
        </p:nvSpPr>
        <p:spPr>
          <a:xfrm>
            <a:off x="3820160" y="1080190"/>
            <a:ext cx="341884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  </a:t>
            </a:r>
            <a:r>
              <a:rPr lang="en-US" sz="1150" dirty="0">
                <a:effectLst/>
                <a:latin typeface="Tahoma" panose="020B0604030504040204" pitchFamily="34" charset="0"/>
                <a:ea typeface="Calibri" panose="020F0502020204030204" pitchFamily="34" charset="0"/>
              </a:rPr>
              <a:t>A test has 30 multiple choice questions with 4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choices each.  Which expressions represents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the total number of ways to answer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questions?</a:t>
            </a:r>
            <a:endParaRPr lang="en-US" dirty="0"/>
          </a:p>
        </p:txBody>
      </p:sp>
      <p:sp>
        <p:nvSpPr>
          <p:cNvPr id="80" name="Rectangle 79">
            <a:extLst>
              <a:ext uri="{FF2B5EF4-FFF2-40B4-BE49-F238E27FC236}">
                <a16:creationId xmlns:a16="http://schemas.microsoft.com/office/drawing/2014/main" id="{4EE44694-64EB-437C-A169-2CC77C2CB949}"/>
              </a:ext>
            </a:extLst>
          </p:cNvPr>
          <p:cNvSpPr/>
          <p:nvPr/>
        </p:nvSpPr>
        <p:spPr>
          <a:xfrm>
            <a:off x="391160" y="3213790"/>
            <a:ext cx="349504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  </a:t>
            </a:r>
            <a:r>
              <a:rPr lang="en-US" sz="1150" dirty="0">
                <a:effectLst/>
                <a:latin typeface="Tahoma" panose="020B0604030504040204" pitchFamily="34" charset="0"/>
                <a:ea typeface="Calibri" panose="020F0502020204030204" pitchFamily="34" charset="0"/>
              </a:rPr>
              <a:t>A coach needs to choose two players from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hockey team to be captain and assistant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captain.  If there are 20 players on the team,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how many ways he can assign the two roles?</a:t>
            </a:r>
            <a:endParaRPr lang="en-US" dirty="0"/>
          </a:p>
        </p:txBody>
      </p:sp>
      <p:sp>
        <p:nvSpPr>
          <p:cNvPr id="81" name="Text Box 807">
            <a:extLst>
              <a:ext uri="{FF2B5EF4-FFF2-40B4-BE49-F238E27FC236}">
                <a16:creationId xmlns:a16="http://schemas.microsoft.com/office/drawing/2014/main" id="{05BF311B-0056-4470-A46C-8E4362D55A14}"/>
              </a:ext>
            </a:extLst>
          </p:cNvPr>
          <p:cNvSpPr txBox="1">
            <a:spLocks noChangeArrowheads="1"/>
          </p:cNvSpPr>
          <p:nvPr/>
        </p:nvSpPr>
        <p:spPr bwMode="auto">
          <a:xfrm>
            <a:off x="685800" y="4260270"/>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a:effectLst/>
                <a:latin typeface="Tahoma" panose="020B0604030504040204" pitchFamily="34" charset="0"/>
                <a:ea typeface="Calibri" panose="020F0502020204030204" pitchFamily="34" charset="0"/>
                <a:cs typeface="Times New Roman" panose="02020603050405020304" pitchFamily="18" charset="0"/>
              </a:rPr>
              <a:t>A.   </a:t>
            </a:r>
            <a:r>
              <a:rPr lang="en-US" sz="1100">
                <a:effectLst/>
                <a:latin typeface="Tahoma" panose="020B0604030504040204" pitchFamily="34" charset="0"/>
                <a:ea typeface="Calibri" panose="020F0502020204030204" pitchFamily="34" charset="0"/>
                <a:cs typeface="Times New Roman" panose="02020603050405020304" pitchFamily="18" charset="0"/>
              </a:rPr>
              <a:t>100</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B.   </a:t>
            </a:r>
            <a:r>
              <a:rPr lang="en-US" sz="1100">
                <a:effectLst/>
                <a:latin typeface="Tahoma" panose="020B0604030504040204" pitchFamily="34" charset="0"/>
                <a:ea typeface="Calibri" panose="020F0502020204030204" pitchFamily="34" charset="0"/>
                <a:cs typeface="Times New Roman" panose="02020603050405020304" pitchFamily="18" charset="0"/>
              </a:rPr>
              <a:t>190</a:t>
            </a:r>
            <a:br>
              <a:rPr lang="en-US" sz="1100">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C.   </a:t>
            </a:r>
            <a:r>
              <a:rPr lang="en-US" sz="1100">
                <a:effectLst/>
                <a:latin typeface="Tahoma" panose="020B0604030504040204" pitchFamily="34" charset="0"/>
                <a:ea typeface="Calibri" panose="020F0502020204030204" pitchFamily="34" charset="0"/>
                <a:cs typeface="Times New Roman" panose="02020603050405020304" pitchFamily="18" charset="0"/>
              </a:rPr>
              <a:t>380</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D.   </a:t>
            </a:r>
            <a:r>
              <a:rPr lang="en-US" sz="1100">
                <a:effectLst/>
                <a:latin typeface="Tahoma" panose="020B0604030504040204" pitchFamily="34" charset="0"/>
                <a:ea typeface="Calibri" panose="020F0502020204030204" pitchFamily="34" charset="0"/>
                <a:cs typeface="Times New Roman" panose="02020603050405020304" pitchFamily="18" charset="0"/>
              </a:rPr>
              <a:t>450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2" name="Text Box 807">
            <a:extLst>
              <a:ext uri="{FF2B5EF4-FFF2-40B4-BE49-F238E27FC236}">
                <a16:creationId xmlns:a16="http://schemas.microsoft.com/office/drawing/2014/main" id="{E0558313-CBDB-45FA-AAC2-1E6DDC0BF6C8}"/>
              </a:ext>
            </a:extLst>
          </p:cNvPr>
          <p:cNvSpPr txBox="1">
            <a:spLocks noChangeArrowheads="1"/>
          </p:cNvSpPr>
          <p:nvPr/>
        </p:nvSpPr>
        <p:spPr bwMode="auto">
          <a:xfrm>
            <a:off x="4038600" y="4488870"/>
            <a:ext cx="2261870"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83" name="Object 82">
            <a:extLst>
              <a:ext uri="{FF2B5EF4-FFF2-40B4-BE49-F238E27FC236}">
                <a16:creationId xmlns:a16="http://schemas.microsoft.com/office/drawing/2014/main" id="{B72AFD82-FF05-461B-8D0F-9636E51EA551}"/>
              </a:ext>
            </a:extLst>
          </p:cNvPr>
          <p:cNvGraphicFramePr>
            <a:graphicFrameLocks noChangeAspect="1"/>
          </p:cNvGraphicFramePr>
          <p:nvPr>
            <p:extLst>
              <p:ext uri="{D42A27DB-BD31-4B8C-83A1-F6EECF244321}">
                <p14:modId xmlns:p14="http://schemas.microsoft.com/office/powerpoint/2010/main" val="623927895"/>
              </p:ext>
            </p:extLst>
          </p:nvPr>
        </p:nvGraphicFramePr>
        <p:xfrm>
          <a:off x="4343400" y="4565070"/>
          <a:ext cx="393700" cy="177800"/>
        </p:xfrm>
        <a:graphic>
          <a:graphicData uri="http://schemas.openxmlformats.org/presentationml/2006/ole">
            <mc:AlternateContent xmlns:mc="http://schemas.openxmlformats.org/markup-compatibility/2006">
              <mc:Choice xmlns:v="urn:schemas-microsoft-com:vml" Requires="v">
                <p:oleObj spid="_x0000_s1605" name="Equation" r:id="rId12" imgW="393480" imgH="177480" progId="Equation.DSMT4">
                  <p:embed/>
                </p:oleObj>
              </mc:Choice>
              <mc:Fallback>
                <p:oleObj name="Equation" r:id="rId12" imgW="393480" imgH="177480" progId="Equation.DSMT4">
                  <p:embed/>
                  <p:pic>
                    <p:nvPicPr>
                      <p:cNvPr id="43" name="Object 42"/>
                      <p:cNvPicPr/>
                      <p:nvPr/>
                    </p:nvPicPr>
                    <p:blipFill>
                      <a:blip r:embed="rId13"/>
                      <a:stretch>
                        <a:fillRect/>
                      </a:stretch>
                    </p:blipFill>
                    <p:spPr>
                      <a:xfrm>
                        <a:off x="4343400" y="4565070"/>
                        <a:ext cx="393700" cy="177800"/>
                      </a:xfrm>
                      <a:prstGeom prst="rect">
                        <a:avLst/>
                      </a:prstGeom>
                    </p:spPr>
                  </p:pic>
                </p:oleObj>
              </mc:Fallback>
            </mc:AlternateContent>
          </a:graphicData>
        </a:graphic>
      </p:graphicFrame>
      <p:graphicFrame>
        <p:nvGraphicFramePr>
          <p:cNvPr id="84" name="Object 83">
            <a:extLst>
              <a:ext uri="{FF2B5EF4-FFF2-40B4-BE49-F238E27FC236}">
                <a16:creationId xmlns:a16="http://schemas.microsoft.com/office/drawing/2014/main" id="{ABB5DB83-E324-4AE5-B082-AF2CA6279B29}"/>
              </a:ext>
            </a:extLst>
          </p:cNvPr>
          <p:cNvGraphicFramePr>
            <a:graphicFrameLocks noChangeAspect="1"/>
          </p:cNvGraphicFramePr>
          <p:nvPr>
            <p:extLst>
              <p:ext uri="{D42A27DB-BD31-4B8C-83A1-F6EECF244321}">
                <p14:modId xmlns:p14="http://schemas.microsoft.com/office/powerpoint/2010/main" val="955831540"/>
              </p:ext>
            </p:extLst>
          </p:nvPr>
        </p:nvGraphicFramePr>
        <p:xfrm>
          <a:off x="4343400" y="4849550"/>
          <a:ext cx="254000" cy="368300"/>
        </p:xfrm>
        <a:graphic>
          <a:graphicData uri="http://schemas.openxmlformats.org/presentationml/2006/ole">
            <mc:AlternateContent xmlns:mc="http://schemas.openxmlformats.org/markup-compatibility/2006">
              <mc:Choice xmlns:v="urn:schemas-microsoft-com:vml" Requires="v">
                <p:oleObj spid="_x0000_s1606" name="Equation" r:id="rId14" imgW="253800" imgH="368280" progId="Equation.DSMT4">
                  <p:embed/>
                </p:oleObj>
              </mc:Choice>
              <mc:Fallback>
                <p:oleObj name="Equation" r:id="rId14" imgW="253800" imgH="368280" progId="Equation.DSMT4">
                  <p:embed/>
                  <p:pic>
                    <p:nvPicPr>
                      <p:cNvPr id="44" name="Object 43"/>
                      <p:cNvPicPr/>
                      <p:nvPr/>
                    </p:nvPicPr>
                    <p:blipFill>
                      <a:blip r:embed="rId15"/>
                      <a:stretch>
                        <a:fillRect/>
                      </a:stretch>
                    </p:blipFill>
                    <p:spPr>
                      <a:xfrm>
                        <a:off x="4343400" y="4849550"/>
                        <a:ext cx="254000" cy="368300"/>
                      </a:xfrm>
                      <a:prstGeom prst="rect">
                        <a:avLst/>
                      </a:prstGeom>
                    </p:spPr>
                  </p:pic>
                </p:oleObj>
              </mc:Fallback>
            </mc:AlternateContent>
          </a:graphicData>
        </a:graphic>
      </p:graphicFrame>
      <p:graphicFrame>
        <p:nvGraphicFramePr>
          <p:cNvPr id="85" name="Object 84">
            <a:extLst>
              <a:ext uri="{FF2B5EF4-FFF2-40B4-BE49-F238E27FC236}">
                <a16:creationId xmlns:a16="http://schemas.microsoft.com/office/drawing/2014/main" id="{7737F61F-7133-41D4-8C07-97D498C5BC7B}"/>
              </a:ext>
            </a:extLst>
          </p:cNvPr>
          <p:cNvGraphicFramePr>
            <a:graphicFrameLocks noChangeAspect="1"/>
          </p:cNvGraphicFramePr>
          <p:nvPr>
            <p:extLst>
              <p:ext uri="{D42A27DB-BD31-4B8C-83A1-F6EECF244321}">
                <p14:modId xmlns:p14="http://schemas.microsoft.com/office/powerpoint/2010/main" val="3125055083"/>
              </p:ext>
            </p:extLst>
          </p:nvPr>
        </p:nvGraphicFramePr>
        <p:xfrm>
          <a:off x="5600700" y="4519350"/>
          <a:ext cx="279400" cy="223520"/>
        </p:xfrm>
        <a:graphic>
          <a:graphicData uri="http://schemas.openxmlformats.org/presentationml/2006/ole">
            <mc:AlternateContent xmlns:mc="http://schemas.openxmlformats.org/markup-compatibility/2006">
              <mc:Choice xmlns:v="urn:schemas-microsoft-com:vml" Requires="v">
                <p:oleObj spid="_x0000_s1607" name="Equation" r:id="rId16" imgW="253800" imgH="203040" progId="Equation.DSMT4">
                  <p:embed/>
                </p:oleObj>
              </mc:Choice>
              <mc:Fallback>
                <p:oleObj name="Equation" r:id="rId16" imgW="253800" imgH="203040" progId="Equation.DSMT4">
                  <p:embed/>
                  <p:pic>
                    <p:nvPicPr>
                      <p:cNvPr id="45" name="Object 44"/>
                      <p:cNvPicPr/>
                      <p:nvPr/>
                    </p:nvPicPr>
                    <p:blipFill>
                      <a:blip r:embed="rId17"/>
                      <a:stretch>
                        <a:fillRect/>
                      </a:stretch>
                    </p:blipFill>
                    <p:spPr>
                      <a:xfrm>
                        <a:off x="5600700" y="4519350"/>
                        <a:ext cx="279400" cy="223520"/>
                      </a:xfrm>
                      <a:prstGeom prst="rect">
                        <a:avLst/>
                      </a:prstGeom>
                    </p:spPr>
                  </p:pic>
                </p:oleObj>
              </mc:Fallback>
            </mc:AlternateContent>
          </a:graphicData>
        </a:graphic>
      </p:graphicFrame>
      <p:graphicFrame>
        <p:nvGraphicFramePr>
          <p:cNvPr id="86" name="Object 85">
            <a:extLst>
              <a:ext uri="{FF2B5EF4-FFF2-40B4-BE49-F238E27FC236}">
                <a16:creationId xmlns:a16="http://schemas.microsoft.com/office/drawing/2014/main" id="{874A2B97-8ACB-41D9-934A-4359458F38B7}"/>
              </a:ext>
            </a:extLst>
          </p:cNvPr>
          <p:cNvGraphicFramePr>
            <a:graphicFrameLocks noChangeAspect="1"/>
          </p:cNvGraphicFramePr>
          <p:nvPr>
            <p:extLst>
              <p:ext uri="{D42A27DB-BD31-4B8C-83A1-F6EECF244321}">
                <p14:modId xmlns:p14="http://schemas.microsoft.com/office/powerpoint/2010/main" val="1809045207"/>
              </p:ext>
            </p:extLst>
          </p:nvPr>
        </p:nvGraphicFramePr>
        <p:xfrm>
          <a:off x="5561330" y="4859710"/>
          <a:ext cx="307340" cy="223520"/>
        </p:xfrm>
        <a:graphic>
          <a:graphicData uri="http://schemas.openxmlformats.org/presentationml/2006/ole">
            <mc:AlternateContent xmlns:mc="http://schemas.openxmlformats.org/markup-compatibility/2006">
              <mc:Choice xmlns:v="urn:schemas-microsoft-com:vml" Requires="v">
                <p:oleObj spid="_x0000_s1608" name="Equation" r:id="rId18" imgW="279360" imgH="203040" progId="Equation.DSMT4">
                  <p:embed/>
                </p:oleObj>
              </mc:Choice>
              <mc:Fallback>
                <p:oleObj name="Equation" r:id="rId18" imgW="279360" imgH="203040" progId="Equation.DSMT4">
                  <p:embed/>
                  <p:pic>
                    <p:nvPicPr>
                      <p:cNvPr id="46" name="Object 45"/>
                      <p:cNvPicPr/>
                      <p:nvPr/>
                    </p:nvPicPr>
                    <p:blipFill>
                      <a:blip r:embed="rId19"/>
                      <a:stretch>
                        <a:fillRect/>
                      </a:stretch>
                    </p:blipFill>
                    <p:spPr>
                      <a:xfrm>
                        <a:off x="5561330" y="4859710"/>
                        <a:ext cx="307340" cy="223520"/>
                      </a:xfrm>
                      <a:prstGeom prst="rect">
                        <a:avLst/>
                      </a:prstGeom>
                    </p:spPr>
                  </p:pic>
                </p:oleObj>
              </mc:Fallback>
            </mc:AlternateContent>
          </a:graphicData>
        </a:graphic>
      </p:graphicFrame>
      <p:sp>
        <p:nvSpPr>
          <p:cNvPr id="87" name="Rectangle 86">
            <a:extLst>
              <a:ext uri="{FF2B5EF4-FFF2-40B4-BE49-F238E27FC236}">
                <a16:creationId xmlns:a16="http://schemas.microsoft.com/office/drawing/2014/main" id="{4ABCF81F-BF3D-458A-A041-156C6474B996}"/>
              </a:ext>
            </a:extLst>
          </p:cNvPr>
          <p:cNvSpPr/>
          <p:nvPr/>
        </p:nvSpPr>
        <p:spPr>
          <a:xfrm>
            <a:off x="3810000" y="3213790"/>
            <a:ext cx="350520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4. </a:t>
            </a:r>
            <a:r>
              <a:rPr lang="en-US" sz="1150" dirty="0">
                <a:effectLst/>
                <a:latin typeface="Tahoma" panose="020B0604030504040204" pitchFamily="34" charset="0"/>
                <a:ea typeface="Calibri" panose="020F0502020204030204" pitchFamily="34" charset="0"/>
              </a:rPr>
              <a:t>In a card game, each player is dealt a hand of 7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cards from a deck of 52 playing cards.  Which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expression represents the number of hands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possible?</a:t>
            </a:r>
            <a:endParaRPr lang="en-US" dirty="0"/>
          </a:p>
        </p:txBody>
      </p:sp>
      <p:sp>
        <p:nvSpPr>
          <p:cNvPr id="88" name="Rectangle 87">
            <a:extLst>
              <a:ext uri="{FF2B5EF4-FFF2-40B4-BE49-F238E27FC236}">
                <a16:creationId xmlns:a16="http://schemas.microsoft.com/office/drawing/2014/main" id="{E43BEE0F-BFC9-4876-8BA7-24A17D6A8E11}"/>
              </a:ext>
            </a:extLst>
          </p:cNvPr>
          <p:cNvSpPr/>
          <p:nvPr/>
        </p:nvSpPr>
        <p:spPr>
          <a:xfrm>
            <a:off x="381000" y="5337230"/>
            <a:ext cx="342900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5. </a:t>
            </a:r>
            <a:r>
              <a:rPr lang="en-US" sz="1150" dirty="0">
                <a:effectLst/>
                <a:latin typeface="Tahoma" panose="020B0604030504040204" pitchFamily="34" charset="0"/>
                <a:ea typeface="Calibri" panose="020F0502020204030204" pitchFamily="34" charset="0"/>
              </a:rPr>
              <a:t>SweetTooth Frozen Yogurt has 12 different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toppings to choose from.  If they add two new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toppings, how many ways more ways can Ian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choose three? </a:t>
            </a:r>
            <a:endParaRPr lang="en-US" dirty="0"/>
          </a:p>
        </p:txBody>
      </p:sp>
      <p:sp>
        <p:nvSpPr>
          <p:cNvPr id="89" name="Text Box 807">
            <a:extLst>
              <a:ext uri="{FF2B5EF4-FFF2-40B4-BE49-F238E27FC236}">
                <a16:creationId xmlns:a16="http://schemas.microsoft.com/office/drawing/2014/main" id="{2DDE3BDF-244A-43AB-88E1-6B7CE5488CE4}"/>
              </a:ext>
            </a:extLst>
          </p:cNvPr>
          <p:cNvSpPr txBox="1">
            <a:spLocks noChangeArrowheads="1"/>
          </p:cNvSpPr>
          <p:nvPr/>
        </p:nvSpPr>
        <p:spPr bwMode="auto">
          <a:xfrm>
            <a:off x="685800" y="6393870"/>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a:effectLst/>
                <a:latin typeface="Tahoma" panose="020B0604030504040204" pitchFamily="34" charset="0"/>
                <a:ea typeface="Calibri" panose="020F0502020204030204" pitchFamily="34" charset="0"/>
                <a:cs typeface="Times New Roman" panose="02020603050405020304" pitchFamily="18" charset="0"/>
              </a:rPr>
              <a:t>A.   </a:t>
            </a:r>
            <a:r>
              <a:rPr lang="en-US" sz="1100">
                <a:effectLst/>
                <a:latin typeface="Tahoma" panose="020B0604030504040204" pitchFamily="34" charset="0"/>
                <a:ea typeface="Calibri" panose="020F0502020204030204" pitchFamily="34" charset="0"/>
                <a:cs typeface="Times New Roman" panose="02020603050405020304" pitchFamily="18" charset="0"/>
              </a:rPr>
              <a:t>220</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B.   </a:t>
            </a:r>
            <a:r>
              <a:rPr lang="en-US" sz="1100">
                <a:effectLst/>
                <a:latin typeface="Tahoma" panose="020B0604030504040204" pitchFamily="34" charset="0"/>
                <a:ea typeface="Calibri" panose="020F0502020204030204" pitchFamily="34" charset="0"/>
                <a:cs typeface="Times New Roman" panose="02020603050405020304" pitchFamily="18" charset="0"/>
              </a:rPr>
              <a:t>144</a:t>
            </a:r>
            <a:br>
              <a:rPr lang="en-US" sz="1100">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C.   </a:t>
            </a:r>
            <a:r>
              <a:rPr lang="en-US" sz="1100">
                <a:effectLst/>
                <a:latin typeface="Tahoma" panose="020B0604030504040204" pitchFamily="34" charset="0"/>
                <a:ea typeface="Calibri" panose="020F0502020204030204" pitchFamily="34" charset="0"/>
                <a:cs typeface="Times New Roman" panose="02020603050405020304" pitchFamily="18" charset="0"/>
              </a:rPr>
              <a:t>364</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D.   </a:t>
            </a:r>
            <a:r>
              <a:rPr lang="en-US" sz="1100">
                <a:effectLst/>
                <a:latin typeface="Tahoma" panose="020B0604030504040204" pitchFamily="34" charset="0"/>
                <a:ea typeface="Calibri" panose="020F0502020204030204" pitchFamily="34" charset="0"/>
                <a:cs typeface="Times New Roman" panose="02020603050405020304" pitchFamily="18" charset="0"/>
              </a:rPr>
              <a:t>864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0" name="Rectangle 89">
            <a:extLst>
              <a:ext uri="{FF2B5EF4-FFF2-40B4-BE49-F238E27FC236}">
                <a16:creationId xmlns:a16="http://schemas.microsoft.com/office/drawing/2014/main" id="{42C82E10-7A2D-4F10-BB53-2A63865ADCA2}"/>
              </a:ext>
            </a:extLst>
          </p:cNvPr>
          <p:cNvSpPr/>
          <p:nvPr/>
        </p:nvSpPr>
        <p:spPr>
          <a:xfrm>
            <a:off x="3810000" y="5337230"/>
            <a:ext cx="35052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6. </a:t>
            </a:r>
            <a:r>
              <a:rPr lang="en-US" sz="1150" dirty="0">
                <a:effectLst/>
                <a:latin typeface="Tahoma" panose="020B0604030504040204" pitchFamily="34" charset="0"/>
                <a:ea typeface="Calibri" panose="020F0502020204030204" pitchFamily="34" charset="0"/>
              </a:rPr>
              <a:t>How many different ways can the 11 letters in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the word PROBABILITY be arranged?</a:t>
            </a:r>
            <a:endParaRPr lang="en-US" dirty="0"/>
          </a:p>
        </p:txBody>
      </p:sp>
      <p:sp>
        <p:nvSpPr>
          <p:cNvPr id="91" name="Text Box 807">
            <a:extLst>
              <a:ext uri="{FF2B5EF4-FFF2-40B4-BE49-F238E27FC236}">
                <a16:creationId xmlns:a16="http://schemas.microsoft.com/office/drawing/2014/main" id="{14A6961E-704B-45D2-A7D6-2121E997784D}"/>
              </a:ext>
            </a:extLst>
          </p:cNvPr>
          <p:cNvSpPr txBox="1">
            <a:spLocks noChangeArrowheads="1"/>
          </p:cNvSpPr>
          <p:nvPr/>
        </p:nvSpPr>
        <p:spPr bwMode="auto">
          <a:xfrm>
            <a:off x="4038600" y="6393870"/>
            <a:ext cx="121920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a:effectLst/>
                <a:latin typeface="Tahoma" panose="020B0604030504040204" pitchFamily="34" charset="0"/>
                <a:ea typeface="Calibri" panose="020F0502020204030204" pitchFamily="34" charset="0"/>
                <a:cs typeface="Times New Roman" panose="02020603050405020304" pitchFamily="18" charset="0"/>
              </a:rPr>
              <a:t>A.   </a:t>
            </a:r>
            <a:r>
              <a:rPr lang="en-US" sz="1100">
                <a:effectLst/>
                <a:latin typeface="Tahoma" panose="020B0604030504040204" pitchFamily="34" charset="0"/>
                <a:ea typeface="Calibri" panose="020F0502020204030204" pitchFamily="34" charset="0"/>
                <a:cs typeface="Times New Roman" panose="02020603050405020304" pitchFamily="18" charset="0"/>
              </a:rPr>
              <a:t>1,663,200</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B.   </a:t>
            </a:r>
            <a:r>
              <a:rPr lang="en-US" sz="1100">
                <a:effectLst/>
                <a:latin typeface="Tahoma" panose="020B0604030504040204" pitchFamily="34" charset="0"/>
                <a:ea typeface="Calibri" panose="020F0502020204030204" pitchFamily="34" charset="0"/>
                <a:cs typeface="Times New Roman" panose="02020603050405020304" pitchFamily="18" charset="0"/>
              </a:rPr>
              <a:t>7,241,600</a:t>
            </a:r>
            <a:br>
              <a:rPr lang="en-US" sz="1100">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C.   </a:t>
            </a:r>
            <a:r>
              <a:rPr lang="en-US" sz="1100">
                <a:effectLst/>
                <a:latin typeface="Tahoma" panose="020B0604030504040204" pitchFamily="34" charset="0"/>
                <a:ea typeface="Calibri" panose="020F0502020204030204" pitchFamily="34" charset="0"/>
                <a:cs typeface="Times New Roman" panose="02020603050405020304" pitchFamily="18" charset="0"/>
              </a:rPr>
              <a:t>9,979,200</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D.   </a:t>
            </a:r>
            <a:r>
              <a:rPr lang="en-US" sz="1100">
                <a:effectLst/>
                <a:latin typeface="Tahoma" panose="020B0604030504040204" pitchFamily="34" charset="0"/>
                <a:ea typeface="Calibri" panose="020F0502020204030204" pitchFamily="34" charset="0"/>
                <a:cs typeface="Times New Roman" panose="02020603050405020304" pitchFamily="18" charset="0"/>
              </a:rPr>
              <a:t>39,916,800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2" name="Text Box 807">
            <a:extLst>
              <a:ext uri="{FF2B5EF4-FFF2-40B4-BE49-F238E27FC236}">
                <a16:creationId xmlns:a16="http://schemas.microsoft.com/office/drawing/2014/main" id="{06E7A6E5-1731-4BD9-8E1F-A37B91B1FC65}"/>
              </a:ext>
            </a:extLst>
          </p:cNvPr>
          <p:cNvSpPr txBox="1">
            <a:spLocks noChangeArrowheads="1"/>
          </p:cNvSpPr>
          <p:nvPr/>
        </p:nvSpPr>
        <p:spPr bwMode="auto">
          <a:xfrm>
            <a:off x="4038600" y="86798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3" name="Text Box 807">
            <a:extLst>
              <a:ext uri="{FF2B5EF4-FFF2-40B4-BE49-F238E27FC236}">
                <a16:creationId xmlns:a16="http://schemas.microsoft.com/office/drawing/2014/main" id="{6BB94921-DAC8-40A7-8F95-8BBB5980A030}"/>
              </a:ext>
            </a:extLst>
          </p:cNvPr>
          <p:cNvSpPr txBox="1">
            <a:spLocks noChangeArrowheads="1"/>
          </p:cNvSpPr>
          <p:nvPr/>
        </p:nvSpPr>
        <p:spPr bwMode="auto">
          <a:xfrm>
            <a:off x="762000" y="86798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94" name="Object 93">
            <a:extLst>
              <a:ext uri="{FF2B5EF4-FFF2-40B4-BE49-F238E27FC236}">
                <a16:creationId xmlns:a16="http://schemas.microsoft.com/office/drawing/2014/main" id="{209EC2AD-54CD-49E5-AB88-9B86A95AE4F4}"/>
              </a:ext>
            </a:extLst>
          </p:cNvPr>
          <p:cNvGraphicFramePr>
            <a:graphicFrameLocks noChangeAspect="1"/>
          </p:cNvGraphicFramePr>
          <p:nvPr>
            <p:extLst>
              <p:ext uri="{D42A27DB-BD31-4B8C-83A1-F6EECF244321}">
                <p14:modId xmlns:p14="http://schemas.microsoft.com/office/powerpoint/2010/main" val="1276495725"/>
              </p:ext>
            </p:extLst>
          </p:nvPr>
        </p:nvGraphicFramePr>
        <p:xfrm>
          <a:off x="1066800" y="8669710"/>
          <a:ext cx="139700" cy="368300"/>
        </p:xfrm>
        <a:graphic>
          <a:graphicData uri="http://schemas.openxmlformats.org/presentationml/2006/ole">
            <mc:AlternateContent xmlns:mc="http://schemas.openxmlformats.org/markup-compatibility/2006">
              <mc:Choice xmlns:v="urn:schemas-microsoft-com:vml" Requires="v">
                <p:oleObj spid="_x0000_s1609" name="Equation" r:id="rId20" imgW="139680" imgH="368280" progId="Equation.DSMT4">
                  <p:embed/>
                </p:oleObj>
              </mc:Choice>
              <mc:Fallback>
                <p:oleObj name="Equation" r:id="rId20" imgW="139680" imgH="368280" progId="Equation.DSMT4">
                  <p:embed/>
                  <p:pic>
                    <p:nvPicPr>
                      <p:cNvPr id="54" name="Object 53"/>
                      <p:cNvPicPr/>
                      <p:nvPr/>
                    </p:nvPicPr>
                    <p:blipFill>
                      <a:blip r:embed="rId21"/>
                      <a:stretch>
                        <a:fillRect/>
                      </a:stretch>
                    </p:blipFill>
                    <p:spPr>
                      <a:xfrm>
                        <a:off x="1066800" y="8669710"/>
                        <a:ext cx="139700" cy="368300"/>
                      </a:xfrm>
                      <a:prstGeom prst="rect">
                        <a:avLst/>
                      </a:prstGeom>
                    </p:spPr>
                  </p:pic>
                </p:oleObj>
              </mc:Fallback>
            </mc:AlternateContent>
          </a:graphicData>
        </a:graphic>
      </p:graphicFrame>
      <p:graphicFrame>
        <p:nvGraphicFramePr>
          <p:cNvPr id="95" name="Object 94">
            <a:extLst>
              <a:ext uri="{FF2B5EF4-FFF2-40B4-BE49-F238E27FC236}">
                <a16:creationId xmlns:a16="http://schemas.microsoft.com/office/drawing/2014/main" id="{13C43B04-14C7-4950-989C-2EBE514B4DA7}"/>
              </a:ext>
            </a:extLst>
          </p:cNvPr>
          <p:cNvGraphicFramePr>
            <a:graphicFrameLocks noChangeAspect="1"/>
          </p:cNvGraphicFramePr>
          <p:nvPr>
            <p:extLst>
              <p:ext uri="{D42A27DB-BD31-4B8C-83A1-F6EECF244321}">
                <p14:modId xmlns:p14="http://schemas.microsoft.com/office/powerpoint/2010/main" val="1821235426"/>
              </p:ext>
            </p:extLst>
          </p:nvPr>
        </p:nvGraphicFramePr>
        <p:xfrm>
          <a:off x="1056640" y="9091350"/>
          <a:ext cx="152400" cy="368300"/>
        </p:xfrm>
        <a:graphic>
          <a:graphicData uri="http://schemas.openxmlformats.org/presentationml/2006/ole">
            <mc:AlternateContent xmlns:mc="http://schemas.openxmlformats.org/markup-compatibility/2006">
              <mc:Choice xmlns:v="urn:schemas-microsoft-com:vml" Requires="v">
                <p:oleObj spid="_x0000_s1610" name="Equation" r:id="rId22" imgW="152280" imgH="368280" progId="Equation.DSMT4">
                  <p:embed/>
                </p:oleObj>
              </mc:Choice>
              <mc:Fallback>
                <p:oleObj name="Equation" r:id="rId22" imgW="152280" imgH="368280" progId="Equation.DSMT4">
                  <p:embed/>
                  <p:pic>
                    <p:nvPicPr>
                      <p:cNvPr id="55" name="Object 54"/>
                      <p:cNvPicPr/>
                      <p:nvPr/>
                    </p:nvPicPr>
                    <p:blipFill>
                      <a:blip r:embed="rId23"/>
                      <a:stretch>
                        <a:fillRect/>
                      </a:stretch>
                    </p:blipFill>
                    <p:spPr>
                      <a:xfrm>
                        <a:off x="1056640" y="9091350"/>
                        <a:ext cx="152400" cy="368300"/>
                      </a:xfrm>
                      <a:prstGeom prst="rect">
                        <a:avLst/>
                      </a:prstGeom>
                    </p:spPr>
                  </p:pic>
                </p:oleObj>
              </mc:Fallback>
            </mc:AlternateContent>
          </a:graphicData>
        </a:graphic>
      </p:graphicFrame>
      <p:graphicFrame>
        <p:nvGraphicFramePr>
          <p:cNvPr id="96" name="Object 95">
            <a:extLst>
              <a:ext uri="{FF2B5EF4-FFF2-40B4-BE49-F238E27FC236}">
                <a16:creationId xmlns:a16="http://schemas.microsoft.com/office/drawing/2014/main" id="{2ABEAD78-6CA3-42C2-AD3A-757D588365B5}"/>
              </a:ext>
            </a:extLst>
          </p:cNvPr>
          <p:cNvGraphicFramePr>
            <a:graphicFrameLocks noChangeAspect="1"/>
          </p:cNvGraphicFramePr>
          <p:nvPr>
            <p:extLst>
              <p:ext uri="{D42A27DB-BD31-4B8C-83A1-F6EECF244321}">
                <p14:modId xmlns:p14="http://schemas.microsoft.com/office/powerpoint/2010/main" val="3209871551"/>
              </p:ext>
            </p:extLst>
          </p:nvPr>
        </p:nvGraphicFramePr>
        <p:xfrm>
          <a:off x="2326640" y="8659550"/>
          <a:ext cx="203200" cy="368300"/>
        </p:xfrm>
        <a:graphic>
          <a:graphicData uri="http://schemas.openxmlformats.org/presentationml/2006/ole">
            <mc:AlternateContent xmlns:mc="http://schemas.openxmlformats.org/markup-compatibility/2006">
              <mc:Choice xmlns:v="urn:schemas-microsoft-com:vml" Requires="v">
                <p:oleObj spid="_x0000_s1611" name="Equation" r:id="rId24" imgW="203040" imgH="368280" progId="Equation.DSMT4">
                  <p:embed/>
                </p:oleObj>
              </mc:Choice>
              <mc:Fallback>
                <p:oleObj name="Equation" r:id="rId24" imgW="203040" imgH="368280" progId="Equation.DSMT4">
                  <p:embed/>
                  <p:pic>
                    <p:nvPicPr>
                      <p:cNvPr id="56" name="Object 55"/>
                      <p:cNvPicPr/>
                      <p:nvPr/>
                    </p:nvPicPr>
                    <p:blipFill>
                      <a:blip r:embed="rId25"/>
                      <a:stretch>
                        <a:fillRect/>
                      </a:stretch>
                    </p:blipFill>
                    <p:spPr>
                      <a:xfrm>
                        <a:off x="2326640" y="8659550"/>
                        <a:ext cx="203200" cy="368300"/>
                      </a:xfrm>
                      <a:prstGeom prst="rect">
                        <a:avLst/>
                      </a:prstGeom>
                    </p:spPr>
                  </p:pic>
                </p:oleObj>
              </mc:Fallback>
            </mc:AlternateContent>
          </a:graphicData>
        </a:graphic>
      </p:graphicFrame>
      <p:graphicFrame>
        <p:nvGraphicFramePr>
          <p:cNvPr id="97" name="Object 96">
            <a:extLst>
              <a:ext uri="{FF2B5EF4-FFF2-40B4-BE49-F238E27FC236}">
                <a16:creationId xmlns:a16="http://schemas.microsoft.com/office/drawing/2014/main" id="{7EF1EAFA-B6D8-484C-8082-E5BD724DEA01}"/>
              </a:ext>
            </a:extLst>
          </p:cNvPr>
          <p:cNvGraphicFramePr>
            <a:graphicFrameLocks noChangeAspect="1"/>
          </p:cNvGraphicFramePr>
          <p:nvPr>
            <p:extLst>
              <p:ext uri="{D42A27DB-BD31-4B8C-83A1-F6EECF244321}">
                <p14:modId xmlns:p14="http://schemas.microsoft.com/office/powerpoint/2010/main" val="3782879908"/>
              </p:ext>
            </p:extLst>
          </p:nvPr>
        </p:nvGraphicFramePr>
        <p:xfrm>
          <a:off x="2338070" y="9106590"/>
          <a:ext cx="139700" cy="368300"/>
        </p:xfrm>
        <a:graphic>
          <a:graphicData uri="http://schemas.openxmlformats.org/presentationml/2006/ole">
            <mc:AlternateContent xmlns:mc="http://schemas.openxmlformats.org/markup-compatibility/2006">
              <mc:Choice xmlns:v="urn:schemas-microsoft-com:vml" Requires="v">
                <p:oleObj spid="_x0000_s1612" name="Equation" r:id="rId26" imgW="139680" imgH="368280" progId="Equation.DSMT4">
                  <p:embed/>
                </p:oleObj>
              </mc:Choice>
              <mc:Fallback>
                <p:oleObj name="Equation" r:id="rId26" imgW="139680" imgH="368280" progId="Equation.DSMT4">
                  <p:embed/>
                  <p:pic>
                    <p:nvPicPr>
                      <p:cNvPr id="57" name="Object 56"/>
                      <p:cNvPicPr/>
                      <p:nvPr/>
                    </p:nvPicPr>
                    <p:blipFill>
                      <a:blip r:embed="rId27"/>
                      <a:stretch>
                        <a:fillRect/>
                      </a:stretch>
                    </p:blipFill>
                    <p:spPr>
                      <a:xfrm>
                        <a:off x="2338070" y="9106590"/>
                        <a:ext cx="139700" cy="368300"/>
                      </a:xfrm>
                      <a:prstGeom prst="rect">
                        <a:avLst/>
                      </a:prstGeom>
                    </p:spPr>
                  </p:pic>
                </p:oleObj>
              </mc:Fallback>
            </mc:AlternateContent>
          </a:graphicData>
        </a:graphic>
      </p:graphicFrame>
      <p:sp>
        <p:nvSpPr>
          <p:cNvPr id="98" name="Rectangle 97">
            <a:extLst>
              <a:ext uri="{FF2B5EF4-FFF2-40B4-BE49-F238E27FC236}">
                <a16:creationId xmlns:a16="http://schemas.microsoft.com/office/drawing/2014/main" id="{0526F8FD-9197-4F73-B1BA-C52272CE5159}"/>
              </a:ext>
            </a:extLst>
          </p:cNvPr>
          <p:cNvSpPr/>
          <p:nvPr/>
        </p:nvSpPr>
        <p:spPr>
          <a:xfrm>
            <a:off x="401320" y="7460670"/>
            <a:ext cx="340868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7.  </a:t>
            </a:r>
            <a:r>
              <a:rPr lang="en-US" sz="1150" dirty="0">
                <a:effectLst/>
                <a:latin typeface="Tahoma" panose="020B0604030504040204" pitchFamily="34" charset="0"/>
                <a:ea typeface="Calibri" panose="020F0502020204030204" pitchFamily="34" charset="0"/>
              </a:rPr>
              <a:t>A month of the year is selected at random.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What is the probability that it has 31 days or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starts with the letter J? </a:t>
            </a:r>
            <a:endParaRPr lang="en-US" dirty="0"/>
          </a:p>
        </p:txBody>
      </p:sp>
      <p:graphicFrame>
        <p:nvGraphicFramePr>
          <p:cNvPr id="99" name="Object 98">
            <a:extLst>
              <a:ext uri="{FF2B5EF4-FFF2-40B4-BE49-F238E27FC236}">
                <a16:creationId xmlns:a16="http://schemas.microsoft.com/office/drawing/2014/main" id="{C5C0B435-D228-4237-B182-36EA5D53E73D}"/>
              </a:ext>
            </a:extLst>
          </p:cNvPr>
          <p:cNvGraphicFramePr>
            <a:graphicFrameLocks noChangeAspect="1"/>
          </p:cNvGraphicFramePr>
          <p:nvPr>
            <p:extLst>
              <p:ext uri="{D42A27DB-BD31-4B8C-83A1-F6EECF244321}">
                <p14:modId xmlns:p14="http://schemas.microsoft.com/office/powerpoint/2010/main" val="413422631"/>
              </p:ext>
            </p:extLst>
          </p:nvPr>
        </p:nvGraphicFramePr>
        <p:xfrm>
          <a:off x="4343400" y="8679870"/>
          <a:ext cx="203200" cy="368300"/>
        </p:xfrm>
        <a:graphic>
          <a:graphicData uri="http://schemas.openxmlformats.org/presentationml/2006/ole">
            <mc:AlternateContent xmlns:mc="http://schemas.openxmlformats.org/markup-compatibility/2006">
              <mc:Choice xmlns:v="urn:schemas-microsoft-com:vml" Requires="v">
                <p:oleObj spid="_x0000_s1613" name="Equation" r:id="rId28" imgW="203040" imgH="368280" progId="Equation.DSMT4">
                  <p:embed/>
                </p:oleObj>
              </mc:Choice>
              <mc:Fallback>
                <p:oleObj name="Equation" r:id="rId28" imgW="203040" imgH="368280" progId="Equation.DSMT4">
                  <p:embed/>
                  <p:pic>
                    <p:nvPicPr>
                      <p:cNvPr id="59" name="Object 58"/>
                      <p:cNvPicPr/>
                      <p:nvPr/>
                    </p:nvPicPr>
                    <p:blipFill>
                      <a:blip r:embed="rId29"/>
                      <a:stretch>
                        <a:fillRect/>
                      </a:stretch>
                    </p:blipFill>
                    <p:spPr>
                      <a:xfrm>
                        <a:off x="4343400" y="8679870"/>
                        <a:ext cx="203200" cy="368300"/>
                      </a:xfrm>
                      <a:prstGeom prst="rect">
                        <a:avLst/>
                      </a:prstGeom>
                    </p:spPr>
                  </p:pic>
                </p:oleObj>
              </mc:Fallback>
            </mc:AlternateContent>
          </a:graphicData>
        </a:graphic>
      </p:graphicFrame>
      <p:graphicFrame>
        <p:nvGraphicFramePr>
          <p:cNvPr id="100" name="Object 99">
            <a:extLst>
              <a:ext uri="{FF2B5EF4-FFF2-40B4-BE49-F238E27FC236}">
                <a16:creationId xmlns:a16="http://schemas.microsoft.com/office/drawing/2014/main" id="{F2CA6A1D-7F05-4E95-B73B-AB2112CC152C}"/>
              </a:ext>
            </a:extLst>
          </p:cNvPr>
          <p:cNvGraphicFramePr>
            <a:graphicFrameLocks noChangeAspect="1"/>
          </p:cNvGraphicFramePr>
          <p:nvPr>
            <p:extLst>
              <p:ext uri="{D42A27DB-BD31-4B8C-83A1-F6EECF244321}">
                <p14:modId xmlns:p14="http://schemas.microsoft.com/office/powerpoint/2010/main" val="1300905394"/>
              </p:ext>
            </p:extLst>
          </p:nvPr>
        </p:nvGraphicFramePr>
        <p:xfrm>
          <a:off x="4333240" y="9116750"/>
          <a:ext cx="215900" cy="368300"/>
        </p:xfrm>
        <a:graphic>
          <a:graphicData uri="http://schemas.openxmlformats.org/presentationml/2006/ole">
            <mc:AlternateContent xmlns:mc="http://schemas.openxmlformats.org/markup-compatibility/2006">
              <mc:Choice xmlns:v="urn:schemas-microsoft-com:vml" Requires="v">
                <p:oleObj spid="_x0000_s1614" name="Equation" r:id="rId30" imgW="215640" imgH="368280" progId="Equation.DSMT4">
                  <p:embed/>
                </p:oleObj>
              </mc:Choice>
              <mc:Fallback>
                <p:oleObj name="Equation" r:id="rId30" imgW="215640" imgH="368280" progId="Equation.DSMT4">
                  <p:embed/>
                  <p:pic>
                    <p:nvPicPr>
                      <p:cNvPr id="60" name="Object 59"/>
                      <p:cNvPicPr/>
                      <p:nvPr/>
                    </p:nvPicPr>
                    <p:blipFill>
                      <a:blip r:embed="rId31"/>
                      <a:stretch>
                        <a:fillRect/>
                      </a:stretch>
                    </p:blipFill>
                    <p:spPr>
                      <a:xfrm>
                        <a:off x="4333240" y="9116750"/>
                        <a:ext cx="215900" cy="368300"/>
                      </a:xfrm>
                      <a:prstGeom prst="rect">
                        <a:avLst/>
                      </a:prstGeom>
                    </p:spPr>
                  </p:pic>
                </p:oleObj>
              </mc:Fallback>
            </mc:AlternateContent>
          </a:graphicData>
        </a:graphic>
      </p:graphicFrame>
      <p:graphicFrame>
        <p:nvGraphicFramePr>
          <p:cNvPr id="101" name="Object 100">
            <a:extLst>
              <a:ext uri="{FF2B5EF4-FFF2-40B4-BE49-F238E27FC236}">
                <a16:creationId xmlns:a16="http://schemas.microsoft.com/office/drawing/2014/main" id="{A52944C2-BABB-486D-AEBA-979BE04CAF76}"/>
              </a:ext>
            </a:extLst>
          </p:cNvPr>
          <p:cNvGraphicFramePr>
            <a:graphicFrameLocks noChangeAspect="1"/>
          </p:cNvGraphicFramePr>
          <p:nvPr>
            <p:extLst>
              <p:ext uri="{D42A27DB-BD31-4B8C-83A1-F6EECF244321}">
                <p14:modId xmlns:p14="http://schemas.microsoft.com/office/powerpoint/2010/main" val="3438639667"/>
              </p:ext>
            </p:extLst>
          </p:nvPr>
        </p:nvGraphicFramePr>
        <p:xfrm>
          <a:off x="5643880" y="8664630"/>
          <a:ext cx="203200" cy="368300"/>
        </p:xfrm>
        <a:graphic>
          <a:graphicData uri="http://schemas.openxmlformats.org/presentationml/2006/ole">
            <mc:AlternateContent xmlns:mc="http://schemas.openxmlformats.org/markup-compatibility/2006">
              <mc:Choice xmlns:v="urn:schemas-microsoft-com:vml" Requires="v">
                <p:oleObj spid="_x0000_s1615" name="Equation" r:id="rId32" imgW="203040" imgH="368280" progId="Equation.DSMT4">
                  <p:embed/>
                </p:oleObj>
              </mc:Choice>
              <mc:Fallback>
                <p:oleObj name="Equation" r:id="rId32" imgW="203040" imgH="368280" progId="Equation.DSMT4">
                  <p:embed/>
                  <p:pic>
                    <p:nvPicPr>
                      <p:cNvPr id="61" name="Object 60"/>
                      <p:cNvPicPr/>
                      <p:nvPr/>
                    </p:nvPicPr>
                    <p:blipFill>
                      <a:blip r:embed="rId33"/>
                      <a:stretch>
                        <a:fillRect/>
                      </a:stretch>
                    </p:blipFill>
                    <p:spPr>
                      <a:xfrm>
                        <a:off x="5643880" y="8664630"/>
                        <a:ext cx="203200" cy="368300"/>
                      </a:xfrm>
                      <a:prstGeom prst="rect">
                        <a:avLst/>
                      </a:prstGeom>
                    </p:spPr>
                  </p:pic>
                </p:oleObj>
              </mc:Fallback>
            </mc:AlternateContent>
          </a:graphicData>
        </a:graphic>
      </p:graphicFrame>
      <p:graphicFrame>
        <p:nvGraphicFramePr>
          <p:cNvPr id="102" name="Object 101">
            <a:extLst>
              <a:ext uri="{FF2B5EF4-FFF2-40B4-BE49-F238E27FC236}">
                <a16:creationId xmlns:a16="http://schemas.microsoft.com/office/drawing/2014/main" id="{26D17AFF-8AAF-4E28-B45F-5918495572B8}"/>
              </a:ext>
            </a:extLst>
          </p:cNvPr>
          <p:cNvGraphicFramePr>
            <a:graphicFrameLocks noChangeAspect="1"/>
          </p:cNvGraphicFramePr>
          <p:nvPr>
            <p:extLst>
              <p:ext uri="{D42A27DB-BD31-4B8C-83A1-F6EECF244321}">
                <p14:modId xmlns:p14="http://schemas.microsoft.com/office/powerpoint/2010/main" val="596708193"/>
              </p:ext>
            </p:extLst>
          </p:nvPr>
        </p:nvGraphicFramePr>
        <p:xfrm>
          <a:off x="5618480" y="9081190"/>
          <a:ext cx="203200" cy="368300"/>
        </p:xfrm>
        <a:graphic>
          <a:graphicData uri="http://schemas.openxmlformats.org/presentationml/2006/ole">
            <mc:AlternateContent xmlns:mc="http://schemas.openxmlformats.org/markup-compatibility/2006">
              <mc:Choice xmlns:v="urn:schemas-microsoft-com:vml" Requires="v">
                <p:oleObj spid="_x0000_s1616" name="Equation" r:id="rId34" imgW="203040" imgH="368280" progId="Equation.DSMT4">
                  <p:embed/>
                </p:oleObj>
              </mc:Choice>
              <mc:Fallback>
                <p:oleObj name="Equation" r:id="rId34" imgW="203040" imgH="368280" progId="Equation.DSMT4">
                  <p:embed/>
                  <p:pic>
                    <p:nvPicPr>
                      <p:cNvPr id="62" name="Object 61"/>
                      <p:cNvPicPr/>
                      <p:nvPr/>
                    </p:nvPicPr>
                    <p:blipFill>
                      <a:blip r:embed="rId35"/>
                      <a:stretch>
                        <a:fillRect/>
                      </a:stretch>
                    </p:blipFill>
                    <p:spPr>
                      <a:xfrm>
                        <a:off x="5618480" y="9081190"/>
                        <a:ext cx="203200" cy="368300"/>
                      </a:xfrm>
                      <a:prstGeom prst="rect">
                        <a:avLst/>
                      </a:prstGeom>
                    </p:spPr>
                  </p:pic>
                </p:oleObj>
              </mc:Fallback>
            </mc:AlternateContent>
          </a:graphicData>
        </a:graphic>
      </p:graphicFrame>
      <p:graphicFrame>
        <p:nvGraphicFramePr>
          <p:cNvPr id="103" name="Table 102">
            <a:extLst>
              <a:ext uri="{FF2B5EF4-FFF2-40B4-BE49-F238E27FC236}">
                <a16:creationId xmlns:a16="http://schemas.microsoft.com/office/drawing/2014/main" id="{6F844831-3EDF-42E4-98BC-0A5A841E3F46}"/>
              </a:ext>
            </a:extLst>
          </p:cNvPr>
          <p:cNvGraphicFramePr>
            <a:graphicFrameLocks noGrp="1"/>
          </p:cNvGraphicFramePr>
          <p:nvPr>
            <p:extLst>
              <p:ext uri="{D42A27DB-BD31-4B8C-83A1-F6EECF244321}">
                <p14:modId xmlns:p14="http://schemas.microsoft.com/office/powerpoint/2010/main" val="1003912203"/>
              </p:ext>
            </p:extLst>
          </p:nvPr>
        </p:nvGraphicFramePr>
        <p:xfrm>
          <a:off x="3799840" y="7516550"/>
          <a:ext cx="3497262" cy="604647"/>
        </p:xfrm>
        <a:graphic>
          <a:graphicData uri="http://schemas.openxmlformats.org/drawingml/2006/table">
            <a:tbl>
              <a:tblPr/>
              <a:tblGrid>
                <a:gridCol w="3497262">
                  <a:extLst>
                    <a:ext uri="{9D8B030D-6E8A-4147-A177-3AD203B41FA5}">
                      <a16:colId xmlns:a16="http://schemas.microsoft.com/office/drawing/2014/main" val="20000"/>
                    </a:ext>
                  </a:extLst>
                </a:gridCol>
              </a:tblGrid>
              <a:tr h="0">
                <a:tc>
                  <a:txBody>
                    <a:bodyPr/>
                    <a:lstStyle/>
                    <a:p>
                      <a:pPr marL="0" marR="0" algn="l">
                        <a:lnSpc>
                          <a:spcPct val="115000"/>
                        </a:lnSpc>
                        <a:spcBef>
                          <a:spcPts val="0"/>
                        </a:spcBef>
                        <a:spcAft>
                          <a:spcPts val="1000"/>
                        </a:spcAft>
                      </a:pPr>
                      <a:r>
                        <a:rPr lang="en-US" sz="1150" b="1" dirty="0">
                          <a:effectLst/>
                          <a:latin typeface="Tahoma" panose="020B0604030504040204" pitchFamily="34" charset="0"/>
                          <a:ea typeface="Calibri" panose="020F0502020204030204" pitchFamily="34" charset="0"/>
                          <a:cs typeface="Times New Roman" panose="02020603050405020304" pitchFamily="18" charset="0"/>
                        </a:rPr>
                        <a:t>8.  </a:t>
                      </a:r>
                      <a:r>
                        <a:rPr lang="en-US" sz="1150" dirty="0">
                          <a:effectLst/>
                          <a:latin typeface="Tahoma" panose="020B0604030504040204" pitchFamily="34" charset="0"/>
                          <a:ea typeface="Calibri" panose="020F0502020204030204" pitchFamily="34" charset="0"/>
                          <a:cs typeface="Times New Roman" panose="02020603050405020304" pitchFamily="18" charset="0"/>
                        </a:rPr>
                        <a:t>A card is selected at random from a standard </a:t>
                      </a:r>
                      <a:br>
                        <a:rPr lang="en-US" sz="1150" dirty="0">
                          <a:effectLst/>
                          <a:latin typeface="Tahoma" panose="020B0604030504040204" pitchFamily="34" charset="0"/>
                          <a:ea typeface="Calibri" panose="020F0502020204030204" pitchFamily="34" charset="0"/>
                          <a:cs typeface="Times New Roman" panose="02020603050405020304" pitchFamily="18" charset="0"/>
                        </a:rPr>
                      </a:br>
                      <a:r>
                        <a:rPr lang="en-US" sz="1150" dirty="0">
                          <a:effectLst/>
                          <a:latin typeface="Tahoma" panose="020B0604030504040204" pitchFamily="34" charset="0"/>
                          <a:ea typeface="Calibri" panose="020F0502020204030204" pitchFamily="34" charset="0"/>
                          <a:cs typeface="Times New Roman" panose="02020603050405020304" pitchFamily="18" charset="0"/>
                        </a:rPr>
                        <a:t>     deck of 52 playing cards.  What is the </a:t>
                      </a:r>
                      <a:br>
                        <a:rPr lang="en-US" sz="1150" dirty="0">
                          <a:effectLst/>
                          <a:latin typeface="Tahoma" panose="020B0604030504040204" pitchFamily="34" charset="0"/>
                          <a:ea typeface="Calibri" panose="020F0502020204030204" pitchFamily="34" charset="0"/>
                          <a:cs typeface="Times New Roman" panose="02020603050405020304" pitchFamily="18" charset="0"/>
                        </a:rPr>
                      </a:br>
                      <a:r>
                        <a:rPr lang="en-US" sz="1150" dirty="0">
                          <a:effectLst/>
                          <a:latin typeface="Tahoma" panose="020B0604030504040204" pitchFamily="34" charset="0"/>
                          <a:ea typeface="Calibri" panose="020F0502020204030204" pitchFamily="34" charset="0"/>
                          <a:cs typeface="Times New Roman" panose="02020603050405020304" pitchFamily="18" charset="0"/>
                        </a:rPr>
                        <a:t>     probability that it is not a face card?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a:noFill/>
                    </a:lnL>
                    <a:lnR>
                      <a:noFill/>
                    </a:lnR>
                    <a:lnT>
                      <a:noFill/>
                    </a:lnT>
                    <a:lnB>
                      <a:noFill/>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grayscl/>
          </a:blip>
          <a:srcRect/>
          <a:stretch>
            <a:fillRect/>
          </a:stretch>
        </a:blipFill>
        <a:effectLst/>
      </p:bgPr>
    </p:bg>
    <p:spTree>
      <p:nvGrpSpPr>
        <p:cNvPr id="1" name=""/>
        <p:cNvGrpSpPr/>
        <p:nvPr/>
      </p:nvGrpSpPr>
      <p:grpSpPr>
        <a:xfrm>
          <a:off x="0" y="0"/>
          <a:ext cx="0" cy="0"/>
          <a:chOff x="0" y="0"/>
          <a:chExt cx="0" cy="0"/>
        </a:xfrm>
      </p:grpSpPr>
      <p:sp>
        <p:nvSpPr>
          <p:cNvPr id="60" name="Text Box 25">
            <a:extLst>
              <a:ext uri="{FF2B5EF4-FFF2-40B4-BE49-F238E27FC236}">
                <a16:creationId xmlns:a16="http://schemas.microsoft.com/office/drawing/2014/main" id="{E7CB3D73-6748-4E07-8D71-9DE59B9E67D4}"/>
              </a:ext>
            </a:extLst>
          </p:cNvPr>
          <p:cNvSpPr txBox="1">
            <a:spLocks noChangeArrowheads="1"/>
          </p:cNvSpPr>
          <p:nvPr/>
        </p:nvSpPr>
        <p:spPr bwMode="auto">
          <a:xfrm>
            <a:off x="3276600" y="204031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2" name="Text Box 25">
            <a:extLst>
              <a:ext uri="{FF2B5EF4-FFF2-40B4-BE49-F238E27FC236}">
                <a16:creationId xmlns:a16="http://schemas.microsoft.com/office/drawing/2014/main" id="{7AB6864C-0DB4-4E00-89B0-27760EF8D9AB}"/>
              </a:ext>
            </a:extLst>
          </p:cNvPr>
          <p:cNvSpPr txBox="1">
            <a:spLocks noChangeArrowheads="1"/>
          </p:cNvSpPr>
          <p:nvPr/>
        </p:nvSpPr>
        <p:spPr bwMode="auto">
          <a:xfrm>
            <a:off x="6736080" y="203523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2" name="Text Box 25">
            <a:extLst>
              <a:ext uri="{FF2B5EF4-FFF2-40B4-BE49-F238E27FC236}">
                <a16:creationId xmlns:a16="http://schemas.microsoft.com/office/drawing/2014/main" id="{06717306-86ED-44BD-A0E7-A4D87C17500F}"/>
              </a:ext>
            </a:extLst>
          </p:cNvPr>
          <p:cNvSpPr txBox="1">
            <a:spLocks noChangeArrowheads="1"/>
          </p:cNvSpPr>
          <p:nvPr/>
        </p:nvSpPr>
        <p:spPr bwMode="auto">
          <a:xfrm>
            <a:off x="6705600" y="44888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3" name="Text Box 25">
            <a:extLst>
              <a:ext uri="{FF2B5EF4-FFF2-40B4-BE49-F238E27FC236}">
                <a16:creationId xmlns:a16="http://schemas.microsoft.com/office/drawing/2014/main" id="{2A7187F4-D2E0-4609-8329-0539180CEB7F}"/>
              </a:ext>
            </a:extLst>
          </p:cNvPr>
          <p:cNvSpPr txBox="1">
            <a:spLocks noChangeArrowheads="1"/>
          </p:cNvSpPr>
          <p:nvPr/>
        </p:nvSpPr>
        <p:spPr bwMode="auto">
          <a:xfrm>
            <a:off x="6705600" y="65462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4" name="Text Box 25">
            <a:extLst>
              <a:ext uri="{FF2B5EF4-FFF2-40B4-BE49-F238E27FC236}">
                <a16:creationId xmlns:a16="http://schemas.microsoft.com/office/drawing/2014/main" id="{8D3565F9-B1B2-4874-AC7A-9E4A3C270ACF}"/>
              </a:ext>
            </a:extLst>
          </p:cNvPr>
          <p:cNvSpPr txBox="1">
            <a:spLocks noChangeArrowheads="1"/>
          </p:cNvSpPr>
          <p:nvPr/>
        </p:nvSpPr>
        <p:spPr bwMode="auto">
          <a:xfrm>
            <a:off x="3276600" y="4488870"/>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95" name="Text Box 807">
            <a:extLst>
              <a:ext uri="{FF2B5EF4-FFF2-40B4-BE49-F238E27FC236}">
                <a16:creationId xmlns:a16="http://schemas.microsoft.com/office/drawing/2014/main" id="{AF33745D-0D1C-4056-800F-9439884B40D0}"/>
              </a:ext>
            </a:extLst>
          </p:cNvPr>
          <p:cNvSpPr txBox="1">
            <a:spLocks noChangeArrowheads="1"/>
          </p:cNvSpPr>
          <p:nvPr/>
        </p:nvSpPr>
        <p:spPr bwMode="auto">
          <a:xfrm>
            <a:off x="685800" y="87560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6" name="Text Box 807">
            <a:extLst>
              <a:ext uri="{FF2B5EF4-FFF2-40B4-BE49-F238E27FC236}">
                <a16:creationId xmlns:a16="http://schemas.microsoft.com/office/drawing/2014/main" id="{6ADE89D6-A6B5-48D0-B058-4D40A664C8A4}"/>
              </a:ext>
            </a:extLst>
          </p:cNvPr>
          <p:cNvSpPr txBox="1">
            <a:spLocks noChangeArrowheads="1"/>
          </p:cNvSpPr>
          <p:nvPr/>
        </p:nvSpPr>
        <p:spPr bwMode="auto">
          <a:xfrm>
            <a:off x="609600" y="15170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7" name="Text Box 807">
            <a:extLst>
              <a:ext uri="{FF2B5EF4-FFF2-40B4-BE49-F238E27FC236}">
                <a16:creationId xmlns:a16="http://schemas.microsoft.com/office/drawing/2014/main" id="{D9F9809F-12FC-4CD5-A8BB-8D592E4988AA}"/>
              </a:ext>
            </a:extLst>
          </p:cNvPr>
          <p:cNvSpPr txBox="1">
            <a:spLocks noChangeArrowheads="1"/>
          </p:cNvSpPr>
          <p:nvPr/>
        </p:nvSpPr>
        <p:spPr bwMode="auto">
          <a:xfrm>
            <a:off x="685800" y="40316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8" name="Text Box 807">
            <a:extLst>
              <a:ext uri="{FF2B5EF4-FFF2-40B4-BE49-F238E27FC236}">
                <a16:creationId xmlns:a16="http://schemas.microsoft.com/office/drawing/2014/main" id="{C6CA1E46-2B8E-481D-B1E0-A88E88449F81}"/>
              </a:ext>
            </a:extLst>
          </p:cNvPr>
          <p:cNvSpPr txBox="1">
            <a:spLocks noChangeArrowheads="1"/>
          </p:cNvSpPr>
          <p:nvPr/>
        </p:nvSpPr>
        <p:spPr bwMode="auto">
          <a:xfrm>
            <a:off x="4114800" y="15170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9" name="Text Box 807">
            <a:extLst>
              <a:ext uri="{FF2B5EF4-FFF2-40B4-BE49-F238E27FC236}">
                <a16:creationId xmlns:a16="http://schemas.microsoft.com/office/drawing/2014/main" id="{BC697C8B-04DF-489C-93BD-341B1ACC965F}"/>
              </a:ext>
            </a:extLst>
          </p:cNvPr>
          <p:cNvSpPr txBox="1">
            <a:spLocks noChangeArrowheads="1"/>
          </p:cNvSpPr>
          <p:nvPr/>
        </p:nvSpPr>
        <p:spPr bwMode="auto">
          <a:xfrm>
            <a:off x="4191000" y="60890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00" name="Text Box 807">
            <a:extLst>
              <a:ext uri="{FF2B5EF4-FFF2-40B4-BE49-F238E27FC236}">
                <a16:creationId xmlns:a16="http://schemas.microsoft.com/office/drawing/2014/main" id="{AD9B795C-4A45-4F42-811A-CD71F37D6FED}"/>
              </a:ext>
            </a:extLst>
          </p:cNvPr>
          <p:cNvSpPr txBox="1">
            <a:spLocks noChangeArrowheads="1"/>
          </p:cNvSpPr>
          <p:nvPr/>
        </p:nvSpPr>
        <p:spPr bwMode="auto">
          <a:xfrm>
            <a:off x="4038600" y="403167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01" name="Object 100">
            <a:extLst>
              <a:ext uri="{FF2B5EF4-FFF2-40B4-BE49-F238E27FC236}">
                <a16:creationId xmlns:a16="http://schemas.microsoft.com/office/drawing/2014/main" id="{B7483799-21A6-4087-BD2F-06AB3A377A4F}"/>
              </a:ext>
            </a:extLst>
          </p:cNvPr>
          <p:cNvGraphicFramePr>
            <a:graphicFrameLocks noChangeAspect="1"/>
          </p:cNvGraphicFramePr>
          <p:nvPr>
            <p:extLst>
              <p:ext uri="{D42A27DB-BD31-4B8C-83A1-F6EECF244321}">
                <p14:modId xmlns:p14="http://schemas.microsoft.com/office/powerpoint/2010/main" val="3795816986"/>
              </p:ext>
            </p:extLst>
          </p:nvPr>
        </p:nvGraphicFramePr>
        <p:xfrm>
          <a:off x="949960" y="1496750"/>
          <a:ext cx="139700" cy="368300"/>
        </p:xfrm>
        <a:graphic>
          <a:graphicData uri="http://schemas.openxmlformats.org/presentationml/2006/ole">
            <mc:AlternateContent xmlns:mc="http://schemas.openxmlformats.org/markup-compatibility/2006">
              <mc:Choice xmlns:v="urn:schemas-microsoft-com:vml" Requires="v">
                <p:oleObj spid="_x0000_s2746" name="Equation" r:id="rId4" imgW="139680" imgH="368280" progId="Equation.DSMT4">
                  <p:embed/>
                </p:oleObj>
              </mc:Choice>
              <mc:Fallback>
                <p:oleObj name="Equation" r:id="rId4" imgW="139680" imgH="368280" progId="Equation.DSMT4">
                  <p:embed/>
                  <p:pic>
                    <p:nvPicPr>
                      <p:cNvPr id="71" name="Object 70"/>
                      <p:cNvPicPr/>
                      <p:nvPr/>
                    </p:nvPicPr>
                    <p:blipFill>
                      <a:blip r:embed="rId5"/>
                      <a:stretch>
                        <a:fillRect/>
                      </a:stretch>
                    </p:blipFill>
                    <p:spPr>
                      <a:xfrm>
                        <a:off x="949960" y="1496750"/>
                        <a:ext cx="139700" cy="368300"/>
                      </a:xfrm>
                      <a:prstGeom prst="rect">
                        <a:avLst/>
                      </a:prstGeom>
                    </p:spPr>
                  </p:pic>
                </p:oleObj>
              </mc:Fallback>
            </mc:AlternateContent>
          </a:graphicData>
        </a:graphic>
      </p:graphicFrame>
      <p:graphicFrame>
        <p:nvGraphicFramePr>
          <p:cNvPr id="102" name="Object 101">
            <a:extLst>
              <a:ext uri="{FF2B5EF4-FFF2-40B4-BE49-F238E27FC236}">
                <a16:creationId xmlns:a16="http://schemas.microsoft.com/office/drawing/2014/main" id="{E2FAF755-079C-4BE5-883F-BBDC2A22F98C}"/>
              </a:ext>
            </a:extLst>
          </p:cNvPr>
          <p:cNvGraphicFramePr>
            <a:graphicFrameLocks noChangeAspect="1"/>
          </p:cNvGraphicFramePr>
          <p:nvPr>
            <p:extLst>
              <p:ext uri="{D42A27DB-BD31-4B8C-83A1-F6EECF244321}">
                <p14:modId xmlns:p14="http://schemas.microsoft.com/office/powerpoint/2010/main" val="2951664902"/>
              </p:ext>
            </p:extLst>
          </p:nvPr>
        </p:nvGraphicFramePr>
        <p:xfrm>
          <a:off x="914400" y="1964110"/>
          <a:ext cx="152400" cy="368300"/>
        </p:xfrm>
        <a:graphic>
          <a:graphicData uri="http://schemas.openxmlformats.org/presentationml/2006/ole">
            <mc:AlternateContent xmlns:mc="http://schemas.openxmlformats.org/markup-compatibility/2006">
              <mc:Choice xmlns:v="urn:schemas-microsoft-com:vml" Requires="v">
                <p:oleObj spid="_x0000_s2747" name="Equation" r:id="rId6" imgW="152280" imgH="368280" progId="Equation.DSMT4">
                  <p:embed/>
                </p:oleObj>
              </mc:Choice>
              <mc:Fallback>
                <p:oleObj name="Equation" r:id="rId6" imgW="152280" imgH="368280" progId="Equation.DSMT4">
                  <p:embed/>
                  <p:pic>
                    <p:nvPicPr>
                      <p:cNvPr id="72" name="Object 71"/>
                      <p:cNvPicPr/>
                      <p:nvPr/>
                    </p:nvPicPr>
                    <p:blipFill>
                      <a:blip r:embed="rId7"/>
                      <a:stretch>
                        <a:fillRect/>
                      </a:stretch>
                    </p:blipFill>
                    <p:spPr>
                      <a:xfrm>
                        <a:off x="914400" y="1964110"/>
                        <a:ext cx="152400" cy="368300"/>
                      </a:xfrm>
                      <a:prstGeom prst="rect">
                        <a:avLst/>
                      </a:prstGeom>
                    </p:spPr>
                  </p:pic>
                </p:oleObj>
              </mc:Fallback>
            </mc:AlternateContent>
          </a:graphicData>
        </a:graphic>
      </p:graphicFrame>
      <p:graphicFrame>
        <p:nvGraphicFramePr>
          <p:cNvPr id="103" name="Object 102">
            <a:extLst>
              <a:ext uri="{FF2B5EF4-FFF2-40B4-BE49-F238E27FC236}">
                <a16:creationId xmlns:a16="http://schemas.microsoft.com/office/drawing/2014/main" id="{409944B7-6B6F-477F-8C9B-A488FEE30334}"/>
              </a:ext>
            </a:extLst>
          </p:cNvPr>
          <p:cNvGraphicFramePr>
            <a:graphicFrameLocks noChangeAspect="1"/>
          </p:cNvGraphicFramePr>
          <p:nvPr>
            <p:extLst>
              <p:ext uri="{D42A27DB-BD31-4B8C-83A1-F6EECF244321}">
                <p14:modId xmlns:p14="http://schemas.microsoft.com/office/powerpoint/2010/main" val="2517946133"/>
              </p:ext>
            </p:extLst>
          </p:nvPr>
        </p:nvGraphicFramePr>
        <p:xfrm>
          <a:off x="2115820" y="1517070"/>
          <a:ext cx="215900" cy="368300"/>
        </p:xfrm>
        <a:graphic>
          <a:graphicData uri="http://schemas.openxmlformats.org/presentationml/2006/ole">
            <mc:AlternateContent xmlns:mc="http://schemas.openxmlformats.org/markup-compatibility/2006">
              <mc:Choice xmlns:v="urn:schemas-microsoft-com:vml" Requires="v">
                <p:oleObj spid="_x0000_s2748" name="Equation" r:id="rId8" imgW="215640" imgH="368280" progId="Equation.DSMT4">
                  <p:embed/>
                </p:oleObj>
              </mc:Choice>
              <mc:Fallback>
                <p:oleObj name="Equation" r:id="rId8" imgW="215640" imgH="368280" progId="Equation.DSMT4">
                  <p:embed/>
                  <p:pic>
                    <p:nvPicPr>
                      <p:cNvPr id="73" name="Object 72"/>
                      <p:cNvPicPr/>
                      <p:nvPr/>
                    </p:nvPicPr>
                    <p:blipFill>
                      <a:blip r:embed="rId9"/>
                      <a:stretch>
                        <a:fillRect/>
                      </a:stretch>
                    </p:blipFill>
                    <p:spPr>
                      <a:xfrm>
                        <a:off x="2115820" y="1517070"/>
                        <a:ext cx="215900" cy="368300"/>
                      </a:xfrm>
                      <a:prstGeom prst="rect">
                        <a:avLst/>
                      </a:prstGeom>
                    </p:spPr>
                  </p:pic>
                </p:oleObj>
              </mc:Fallback>
            </mc:AlternateContent>
          </a:graphicData>
        </a:graphic>
      </p:graphicFrame>
      <p:graphicFrame>
        <p:nvGraphicFramePr>
          <p:cNvPr id="104" name="Object 103">
            <a:extLst>
              <a:ext uri="{FF2B5EF4-FFF2-40B4-BE49-F238E27FC236}">
                <a16:creationId xmlns:a16="http://schemas.microsoft.com/office/drawing/2014/main" id="{70BDF311-DA25-407F-BD5F-047760F6B500}"/>
              </a:ext>
            </a:extLst>
          </p:cNvPr>
          <p:cNvGraphicFramePr>
            <a:graphicFrameLocks noChangeAspect="1"/>
          </p:cNvGraphicFramePr>
          <p:nvPr>
            <p:extLst>
              <p:ext uri="{D42A27DB-BD31-4B8C-83A1-F6EECF244321}">
                <p14:modId xmlns:p14="http://schemas.microsoft.com/office/powerpoint/2010/main" val="2626352319"/>
              </p:ext>
            </p:extLst>
          </p:nvPr>
        </p:nvGraphicFramePr>
        <p:xfrm>
          <a:off x="2110740" y="1974270"/>
          <a:ext cx="215900" cy="368300"/>
        </p:xfrm>
        <a:graphic>
          <a:graphicData uri="http://schemas.openxmlformats.org/presentationml/2006/ole">
            <mc:AlternateContent xmlns:mc="http://schemas.openxmlformats.org/markup-compatibility/2006">
              <mc:Choice xmlns:v="urn:schemas-microsoft-com:vml" Requires="v">
                <p:oleObj spid="_x0000_s2749" name="Equation" r:id="rId10" imgW="215640" imgH="368280" progId="Equation.DSMT4">
                  <p:embed/>
                </p:oleObj>
              </mc:Choice>
              <mc:Fallback>
                <p:oleObj name="Equation" r:id="rId10" imgW="215640" imgH="368280" progId="Equation.DSMT4">
                  <p:embed/>
                  <p:pic>
                    <p:nvPicPr>
                      <p:cNvPr id="74" name="Object 73"/>
                      <p:cNvPicPr/>
                      <p:nvPr/>
                    </p:nvPicPr>
                    <p:blipFill>
                      <a:blip r:embed="rId11"/>
                      <a:stretch>
                        <a:fillRect/>
                      </a:stretch>
                    </p:blipFill>
                    <p:spPr>
                      <a:xfrm>
                        <a:off x="2110740" y="1974270"/>
                        <a:ext cx="215900" cy="368300"/>
                      </a:xfrm>
                      <a:prstGeom prst="rect">
                        <a:avLst/>
                      </a:prstGeom>
                    </p:spPr>
                  </p:pic>
                </p:oleObj>
              </mc:Fallback>
            </mc:AlternateContent>
          </a:graphicData>
        </a:graphic>
      </p:graphicFrame>
      <p:sp>
        <p:nvSpPr>
          <p:cNvPr id="105" name="Rectangle 104">
            <a:extLst>
              <a:ext uri="{FF2B5EF4-FFF2-40B4-BE49-F238E27FC236}">
                <a16:creationId xmlns:a16="http://schemas.microsoft.com/office/drawing/2014/main" id="{EA4E8F58-A92D-4280-9038-959E8CE7915C}"/>
              </a:ext>
            </a:extLst>
          </p:cNvPr>
          <p:cNvSpPr/>
          <p:nvPr/>
        </p:nvSpPr>
        <p:spPr>
          <a:xfrm>
            <a:off x="391160" y="318190"/>
            <a:ext cx="349504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9.  </a:t>
            </a:r>
            <a:r>
              <a:rPr lang="en-US" sz="1150" dirty="0">
                <a:effectLst/>
                <a:latin typeface="Tahoma" panose="020B0604030504040204" pitchFamily="34" charset="0"/>
                <a:ea typeface="Calibri" panose="020F0502020204030204" pitchFamily="34" charset="0"/>
              </a:rPr>
              <a:t>A die is rolled then a letter in the word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STATISTICS is randomly selected.  What is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probability of at least a three, then the letter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a:t>
            </a:r>
            <a:endParaRPr lang="en-US" dirty="0"/>
          </a:p>
        </p:txBody>
      </p:sp>
      <p:graphicFrame>
        <p:nvGraphicFramePr>
          <p:cNvPr id="106" name="Object 105">
            <a:extLst>
              <a:ext uri="{FF2B5EF4-FFF2-40B4-BE49-F238E27FC236}">
                <a16:creationId xmlns:a16="http://schemas.microsoft.com/office/drawing/2014/main" id="{647647AE-4BAA-45AD-9364-4B1ACEB17770}"/>
              </a:ext>
            </a:extLst>
          </p:cNvPr>
          <p:cNvGraphicFramePr>
            <a:graphicFrameLocks noChangeAspect="1"/>
          </p:cNvGraphicFramePr>
          <p:nvPr>
            <p:extLst>
              <p:ext uri="{D42A27DB-BD31-4B8C-83A1-F6EECF244321}">
                <p14:modId xmlns:p14="http://schemas.microsoft.com/office/powerpoint/2010/main" val="1033355440"/>
              </p:ext>
            </p:extLst>
          </p:nvPr>
        </p:nvGraphicFramePr>
        <p:xfrm>
          <a:off x="4439920" y="1496750"/>
          <a:ext cx="203200" cy="368300"/>
        </p:xfrm>
        <a:graphic>
          <a:graphicData uri="http://schemas.openxmlformats.org/presentationml/2006/ole">
            <mc:AlternateContent xmlns:mc="http://schemas.openxmlformats.org/markup-compatibility/2006">
              <mc:Choice xmlns:v="urn:schemas-microsoft-com:vml" Requires="v">
                <p:oleObj spid="_x0000_s2750" name="Equation" r:id="rId12" imgW="203040" imgH="368280" progId="Equation.DSMT4">
                  <p:embed/>
                </p:oleObj>
              </mc:Choice>
              <mc:Fallback>
                <p:oleObj name="Equation" r:id="rId12" imgW="203040" imgH="368280" progId="Equation.DSMT4">
                  <p:embed/>
                  <p:pic>
                    <p:nvPicPr>
                      <p:cNvPr id="76" name="Object 75"/>
                      <p:cNvPicPr/>
                      <p:nvPr/>
                    </p:nvPicPr>
                    <p:blipFill>
                      <a:blip r:embed="rId13"/>
                      <a:stretch>
                        <a:fillRect/>
                      </a:stretch>
                    </p:blipFill>
                    <p:spPr>
                      <a:xfrm>
                        <a:off x="4439920" y="1496750"/>
                        <a:ext cx="203200" cy="368300"/>
                      </a:xfrm>
                      <a:prstGeom prst="rect">
                        <a:avLst/>
                      </a:prstGeom>
                    </p:spPr>
                  </p:pic>
                </p:oleObj>
              </mc:Fallback>
            </mc:AlternateContent>
          </a:graphicData>
        </a:graphic>
      </p:graphicFrame>
      <p:graphicFrame>
        <p:nvGraphicFramePr>
          <p:cNvPr id="107" name="Object 106">
            <a:extLst>
              <a:ext uri="{FF2B5EF4-FFF2-40B4-BE49-F238E27FC236}">
                <a16:creationId xmlns:a16="http://schemas.microsoft.com/office/drawing/2014/main" id="{B15CAC13-D408-4789-BD21-948A9F25AFB8}"/>
              </a:ext>
            </a:extLst>
          </p:cNvPr>
          <p:cNvGraphicFramePr>
            <a:graphicFrameLocks noChangeAspect="1"/>
          </p:cNvGraphicFramePr>
          <p:nvPr>
            <p:extLst>
              <p:ext uri="{D42A27DB-BD31-4B8C-83A1-F6EECF244321}">
                <p14:modId xmlns:p14="http://schemas.microsoft.com/office/powerpoint/2010/main" val="1088531468"/>
              </p:ext>
            </p:extLst>
          </p:nvPr>
        </p:nvGraphicFramePr>
        <p:xfrm>
          <a:off x="4419600" y="1974270"/>
          <a:ext cx="215900" cy="368300"/>
        </p:xfrm>
        <a:graphic>
          <a:graphicData uri="http://schemas.openxmlformats.org/presentationml/2006/ole">
            <mc:AlternateContent xmlns:mc="http://schemas.openxmlformats.org/markup-compatibility/2006">
              <mc:Choice xmlns:v="urn:schemas-microsoft-com:vml" Requires="v">
                <p:oleObj spid="_x0000_s2751" name="Equation" r:id="rId14" imgW="215640" imgH="368280" progId="Equation.DSMT4">
                  <p:embed/>
                </p:oleObj>
              </mc:Choice>
              <mc:Fallback>
                <p:oleObj name="Equation" r:id="rId14" imgW="215640" imgH="368280" progId="Equation.DSMT4">
                  <p:embed/>
                  <p:pic>
                    <p:nvPicPr>
                      <p:cNvPr id="77" name="Object 76"/>
                      <p:cNvPicPr/>
                      <p:nvPr/>
                    </p:nvPicPr>
                    <p:blipFill>
                      <a:blip r:embed="rId15"/>
                      <a:stretch>
                        <a:fillRect/>
                      </a:stretch>
                    </p:blipFill>
                    <p:spPr>
                      <a:xfrm>
                        <a:off x="4419600" y="1974270"/>
                        <a:ext cx="215900" cy="368300"/>
                      </a:xfrm>
                      <a:prstGeom prst="rect">
                        <a:avLst/>
                      </a:prstGeom>
                    </p:spPr>
                  </p:pic>
                </p:oleObj>
              </mc:Fallback>
            </mc:AlternateContent>
          </a:graphicData>
        </a:graphic>
      </p:graphicFrame>
      <p:graphicFrame>
        <p:nvGraphicFramePr>
          <p:cNvPr id="108" name="Object 107">
            <a:extLst>
              <a:ext uri="{FF2B5EF4-FFF2-40B4-BE49-F238E27FC236}">
                <a16:creationId xmlns:a16="http://schemas.microsoft.com/office/drawing/2014/main" id="{2B6D66EF-1279-4E7D-9929-2460592AF5B9}"/>
              </a:ext>
            </a:extLst>
          </p:cNvPr>
          <p:cNvGraphicFramePr>
            <a:graphicFrameLocks noChangeAspect="1"/>
          </p:cNvGraphicFramePr>
          <p:nvPr>
            <p:extLst>
              <p:ext uri="{D42A27DB-BD31-4B8C-83A1-F6EECF244321}">
                <p14:modId xmlns:p14="http://schemas.microsoft.com/office/powerpoint/2010/main" val="830459946"/>
              </p:ext>
            </p:extLst>
          </p:nvPr>
        </p:nvGraphicFramePr>
        <p:xfrm>
          <a:off x="5593080" y="1517070"/>
          <a:ext cx="203200" cy="368300"/>
        </p:xfrm>
        <a:graphic>
          <a:graphicData uri="http://schemas.openxmlformats.org/presentationml/2006/ole">
            <mc:AlternateContent xmlns:mc="http://schemas.openxmlformats.org/markup-compatibility/2006">
              <mc:Choice xmlns:v="urn:schemas-microsoft-com:vml" Requires="v">
                <p:oleObj spid="_x0000_s2752" name="Equation" r:id="rId16" imgW="203040" imgH="368280" progId="Equation.DSMT4">
                  <p:embed/>
                </p:oleObj>
              </mc:Choice>
              <mc:Fallback>
                <p:oleObj name="Equation" r:id="rId16" imgW="203040" imgH="368280" progId="Equation.DSMT4">
                  <p:embed/>
                  <p:pic>
                    <p:nvPicPr>
                      <p:cNvPr id="78" name="Object 77"/>
                      <p:cNvPicPr/>
                      <p:nvPr/>
                    </p:nvPicPr>
                    <p:blipFill>
                      <a:blip r:embed="rId17"/>
                      <a:stretch>
                        <a:fillRect/>
                      </a:stretch>
                    </p:blipFill>
                    <p:spPr>
                      <a:xfrm>
                        <a:off x="5593080" y="1517070"/>
                        <a:ext cx="203200" cy="368300"/>
                      </a:xfrm>
                      <a:prstGeom prst="rect">
                        <a:avLst/>
                      </a:prstGeom>
                    </p:spPr>
                  </p:pic>
                </p:oleObj>
              </mc:Fallback>
            </mc:AlternateContent>
          </a:graphicData>
        </a:graphic>
      </p:graphicFrame>
      <p:graphicFrame>
        <p:nvGraphicFramePr>
          <p:cNvPr id="109" name="Object 108">
            <a:extLst>
              <a:ext uri="{FF2B5EF4-FFF2-40B4-BE49-F238E27FC236}">
                <a16:creationId xmlns:a16="http://schemas.microsoft.com/office/drawing/2014/main" id="{9ABA83B1-9FE3-4CD6-8A05-C4A6A53963A1}"/>
              </a:ext>
            </a:extLst>
          </p:cNvPr>
          <p:cNvGraphicFramePr>
            <a:graphicFrameLocks noChangeAspect="1"/>
          </p:cNvGraphicFramePr>
          <p:nvPr>
            <p:extLst>
              <p:ext uri="{D42A27DB-BD31-4B8C-83A1-F6EECF244321}">
                <p14:modId xmlns:p14="http://schemas.microsoft.com/office/powerpoint/2010/main" val="2093326843"/>
              </p:ext>
            </p:extLst>
          </p:nvPr>
        </p:nvGraphicFramePr>
        <p:xfrm>
          <a:off x="5585460" y="1974270"/>
          <a:ext cx="215900" cy="368300"/>
        </p:xfrm>
        <a:graphic>
          <a:graphicData uri="http://schemas.openxmlformats.org/presentationml/2006/ole">
            <mc:AlternateContent xmlns:mc="http://schemas.openxmlformats.org/markup-compatibility/2006">
              <mc:Choice xmlns:v="urn:schemas-microsoft-com:vml" Requires="v">
                <p:oleObj spid="_x0000_s2753" name="Equation" r:id="rId18" imgW="215640" imgH="368280" progId="Equation.DSMT4">
                  <p:embed/>
                </p:oleObj>
              </mc:Choice>
              <mc:Fallback>
                <p:oleObj name="Equation" r:id="rId18" imgW="215640" imgH="368280" progId="Equation.DSMT4">
                  <p:embed/>
                  <p:pic>
                    <p:nvPicPr>
                      <p:cNvPr id="79" name="Object 78"/>
                      <p:cNvPicPr/>
                      <p:nvPr/>
                    </p:nvPicPr>
                    <p:blipFill>
                      <a:blip r:embed="rId19"/>
                      <a:stretch>
                        <a:fillRect/>
                      </a:stretch>
                    </p:blipFill>
                    <p:spPr>
                      <a:xfrm>
                        <a:off x="5585460" y="1974270"/>
                        <a:ext cx="215900" cy="368300"/>
                      </a:xfrm>
                      <a:prstGeom prst="rect">
                        <a:avLst/>
                      </a:prstGeom>
                    </p:spPr>
                  </p:pic>
                </p:oleObj>
              </mc:Fallback>
            </mc:AlternateContent>
          </a:graphicData>
        </a:graphic>
      </p:graphicFrame>
      <p:sp>
        <p:nvSpPr>
          <p:cNvPr id="110" name="Rectangle 109">
            <a:extLst>
              <a:ext uri="{FF2B5EF4-FFF2-40B4-BE49-F238E27FC236}">
                <a16:creationId xmlns:a16="http://schemas.microsoft.com/office/drawing/2014/main" id="{D87C9839-719E-49A3-9490-8544877D1348}"/>
              </a:ext>
            </a:extLst>
          </p:cNvPr>
          <p:cNvSpPr/>
          <p:nvPr/>
        </p:nvSpPr>
        <p:spPr>
          <a:xfrm>
            <a:off x="3810000" y="333430"/>
            <a:ext cx="3505200" cy="977191"/>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10.  </a:t>
            </a:r>
            <a:r>
              <a:rPr lang="en-US" sz="1150" dirty="0">
                <a:effectLst/>
                <a:latin typeface="Tahoma" panose="020B0604030504040204" pitchFamily="34" charset="0"/>
                <a:ea typeface="Calibri" panose="020F0502020204030204" pitchFamily="34" charset="0"/>
              </a:rPr>
              <a:t>Gavin and Jack are practicing shots against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their goalie. On their last 15 attempts, Gavin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made 6 and Jack made 7.  Based on this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performance, what is the probability that they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both make their next shot?</a:t>
            </a:r>
            <a:endParaRPr lang="en-US" dirty="0"/>
          </a:p>
        </p:txBody>
      </p:sp>
      <p:sp>
        <p:nvSpPr>
          <p:cNvPr id="111" name="Rectangle 110">
            <a:extLst>
              <a:ext uri="{FF2B5EF4-FFF2-40B4-BE49-F238E27FC236}">
                <a16:creationId xmlns:a16="http://schemas.microsoft.com/office/drawing/2014/main" id="{5567EFF7-0000-44CA-B96C-5B62CD811262}"/>
              </a:ext>
            </a:extLst>
          </p:cNvPr>
          <p:cNvSpPr/>
          <p:nvPr/>
        </p:nvSpPr>
        <p:spPr>
          <a:xfrm>
            <a:off x="411480" y="2421310"/>
            <a:ext cx="69342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11-12:  </a:t>
            </a:r>
            <a:r>
              <a:rPr lang="en-US" sz="1150" dirty="0">
                <a:effectLst/>
                <a:latin typeface="Tahoma" panose="020B0604030504040204" pitchFamily="34" charset="0"/>
                <a:ea typeface="Calibri" panose="020F0502020204030204" pitchFamily="34" charset="0"/>
              </a:rPr>
              <a:t>A basket contains 8 green apples, 11 red apples, 5 nectarines, and 12 oranges. Mark randomly chooses a piece of fruit, eats it, then selects another.  Find each probability.</a:t>
            </a:r>
            <a:endParaRPr lang="en-US" dirty="0"/>
          </a:p>
        </p:txBody>
      </p:sp>
      <p:graphicFrame>
        <p:nvGraphicFramePr>
          <p:cNvPr id="112" name="Object 111">
            <a:extLst>
              <a:ext uri="{FF2B5EF4-FFF2-40B4-BE49-F238E27FC236}">
                <a16:creationId xmlns:a16="http://schemas.microsoft.com/office/drawing/2014/main" id="{AD298D5B-464E-448F-9F8B-F071B9DC8BB0}"/>
              </a:ext>
            </a:extLst>
          </p:cNvPr>
          <p:cNvGraphicFramePr>
            <a:graphicFrameLocks noChangeAspect="1"/>
          </p:cNvGraphicFramePr>
          <p:nvPr>
            <p:extLst>
              <p:ext uri="{D42A27DB-BD31-4B8C-83A1-F6EECF244321}">
                <p14:modId xmlns:p14="http://schemas.microsoft.com/office/powerpoint/2010/main" val="4219531017"/>
              </p:ext>
            </p:extLst>
          </p:nvPr>
        </p:nvGraphicFramePr>
        <p:xfrm>
          <a:off x="1010920" y="4031670"/>
          <a:ext cx="215900" cy="368300"/>
        </p:xfrm>
        <a:graphic>
          <a:graphicData uri="http://schemas.openxmlformats.org/presentationml/2006/ole">
            <mc:AlternateContent xmlns:mc="http://schemas.openxmlformats.org/markup-compatibility/2006">
              <mc:Choice xmlns:v="urn:schemas-microsoft-com:vml" Requires="v">
                <p:oleObj spid="_x0000_s2754" name="Equation" r:id="rId20" imgW="215640" imgH="368280" progId="Equation.DSMT4">
                  <p:embed/>
                </p:oleObj>
              </mc:Choice>
              <mc:Fallback>
                <p:oleObj name="Equation" r:id="rId20" imgW="215640" imgH="368280" progId="Equation.DSMT4">
                  <p:embed/>
                  <p:pic>
                    <p:nvPicPr>
                      <p:cNvPr id="82" name="Object 81"/>
                      <p:cNvPicPr/>
                      <p:nvPr/>
                    </p:nvPicPr>
                    <p:blipFill>
                      <a:blip r:embed="rId21"/>
                      <a:stretch>
                        <a:fillRect/>
                      </a:stretch>
                    </p:blipFill>
                    <p:spPr>
                      <a:xfrm>
                        <a:off x="1010920" y="4031670"/>
                        <a:ext cx="215900" cy="368300"/>
                      </a:xfrm>
                      <a:prstGeom prst="rect">
                        <a:avLst/>
                      </a:prstGeom>
                    </p:spPr>
                  </p:pic>
                </p:oleObj>
              </mc:Fallback>
            </mc:AlternateContent>
          </a:graphicData>
        </a:graphic>
      </p:graphicFrame>
      <p:graphicFrame>
        <p:nvGraphicFramePr>
          <p:cNvPr id="113" name="Object 112">
            <a:extLst>
              <a:ext uri="{FF2B5EF4-FFF2-40B4-BE49-F238E27FC236}">
                <a16:creationId xmlns:a16="http://schemas.microsoft.com/office/drawing/2014/main" id="{D69CAE57-20BB-4ABF-962F-6130B365943C}"/>
              </a:ext>
            </a:extLst>
          </p:cNvPr>
          <p:cNvGraphicFramePr>
            <a:graphicFrameLocks noChangeAspect="1"/>
          </p:cNvGraphicFramePr>
          <p:nvPr>
            <p:extLst>
              <p:ext uri="{D42A27DB-BD31-4B8C-83A1-F6EECF244321}">
                <p14:modId xmlns:p14="http://schemas.microsoft.com/office/powerpoint/2010/main" val="3443773501"/>
              </p:ext>
            </p:extLst>
          </p:nvPr>
        </p:nvGraphicFramePr>
        <p:xfrm>
          <a:off x="990600" y="4458390"/>
          <a:ext cx="279400" cy="368300"/>
        </p:xfrm>
        <a:graphic>
          <a:graphicData uri="http://schemas.openxmlformats.org/presentationml/2006/ole">
            <mc:AlternateContent xmlns:mc="http://schemas.openxmlformats.org/markup-compatibility/2006">
              <mc:Choice xmlns:v="urn:schemas-microsoft-com:vml" Requires="v">
                <p:oleObj spid="_x0000_s2755" name="Equation" r:id="rId22" imgW="279360" imgH="368280" progId="Equation.DSMT4">
                  <p:embed/>
                </p:oleObj>
              </mc:Choice>
              <mc:Fallback>
                <p:oleObj name="Equation" r:id="rId22" imgW="279360" imgH="368280" progId="Equation.DSMT4">
                  <p:embed/>
                  <p:pic>
                    <p:nvPicPr>
                      <p:cNvPr id="83" name="Object 82"/>
                      <p:cNvPicPr/>
                      <p:nvPr/>
                    </p:nvPicPr>
                    <p:blipFill>
                      <a:blip r:embed="rId23"/>
                      <a:stretch>
                        <a:fillRect/>
                      </a:stretch>
                    </p:blipFill>
                    <p:spPr>
                      <a:xfrm>
                        <a:off x="990600" y="4458390"/>
                        <a:ext cx="279400" cy="368300"/>
                      </a:xfrm>
                      <a:prstGeom prst="rect">
                        <a:avLst/>
                      </a:prstGeom>
                    </p:spPr>
                  </p:pic>
                </p:oleObj>
              </mc:Fallback>
            </mc:AlternateContent>
          </a:graphicData>
        </a:graphic>
      </p:graphicFrame>
      <p:graphicFrame>
        <p:nvGraphicFramePr>
          <p:cNvPr id="114" name="Object 113">
            <a:extLst>
              <a:ext uri="{FF2B5EF4-FFF2-40B4-BE49-F238E27FC236}">
                <a16:creationId xmlns:a16="http://schemas.microsoft.com/office/drawing/2014/main" id="{96500CA3-C020-4510-AB1B-E1A280F12149}"/>
              </a:ext>
            </a:extLst>
          </p:cNvPr>
          <p:cNvGraphicFramePr>
            <a:graphicFrameLocks noChangeAspect="1"/>
          </p:cNvGraphicFramePr>
          <p:nvPr>
            <p:extLst>
              <p:ext uri="{D42A27DB-BD31-4B8C-83A1-F6EECF244321}">
                <p14:modId xmlns:p14="http://schemas.microsoft.com/office/powerpoint/2010/main" val="2185168827"/>
              </p:ext>
            </p:extLst>
          </p:nvPr>
        </p:nvGraphicFramePr>
        <p:xfrm>
          <a:off x="2178050" y="4031670"/>
          <a:ext cx="215900" cy="368300"/>
        </p:xfrm>
        <a:graphic>
          <a:graphicData uri="http://schemas.openxmlformats.org/presentationml/2006/ole">
            <mc:AlternateContent xmlns:mc="http://schemas.openxmlformats.org/markup-compatibility/2006">
              <mc:Choice xmlns:v="urn:schemas-microsoft-com:vml" Requires="v">
                <p:oleObj spid="_x0000_s2756" name="Equation" r:id="rId24" imgW="215640" imgH="368280" progId="Equation.DSMT4">
                  <p:embed/>
                </p:oleObj>
              </mc:Choice>
              <mc:Fallback>
                <p:oleObj name="Equation" r:id="rId24" imgW="215640" imgH="368280" progId="Equation.DSMT4">
                  <p:embed/>
                  <p:pic>
                    <p:nvPicPr>
                      <p:cNvPr id="84" name="Object 83"/>
                      <p:cNvPicPr/>
                      <p:nvPr/>
                    </p:nvPicPr>
                    <p:blipFill>
                      <a:blip r:embed="rId25"/>
                      <a:stretch>
                        <a:fillRect/>
                      </a:stretch>
                    </p:blipFill>
                    <p:spPr>
                      <a:xfrm>
                        <a:off x="2178050" y="4031670"/>
                        <a:ext cx="215900" cy="368300"/>
                      </a:xfrm>
                      <a:prstGeom prst="rect">
                        <a:avLst/>
                      </a:prstGeom>
                    </p:spPr>
                  </p:pic>
                </p:oleObj>
              </mc:Fallback>
            </mc:AlternateContent>
          </a:graphicData>
        </a:graphic>
      </p:graphicFrame>
      <p:graphicFrame>
        <p:nvGraphicFramePr>
          <p:cNvPr id="115" name="Object 114">
            <a:extLst>
              <a:ext uri="{FF2B5EF4-FFF2-40B4-BE49-F238E27FC236}">
                <a16:creationId xmlns:a16="http://schemas.microsoft.com/office/drawing/2014/main" id="{CE6CE0F7-63DE-4D02-B026-B72E48A9F92D}"/>
              </a:ext>
            </a:extLst>
          </p:cNvPr>
          <p:cNvGraphicFramePr>
            <a:graphicFrameLocks noChangeAspect="1"/>
          </p:cNvGraphicFramePr>
          <p:nvPr>
            <p:extLst>
              <p:ext uri="{D42A27DB-BD31-4B8C-83A1-F6EECF244321}">
                <p14:modId xmlns:p14="http://schemas.microsoft.com/office/powerpoint/2010/main" val="1123267113"/>
              </p:ext>
            </p:extLst>
          </p:nvPr>
        </p:nvGraphicFramePr>
        <p:xfrm>
          <a:off x="2178050" y="4478710"/>
          <a:ext cx="215900" cy="368300"/>
        </p:xfrm>
        <a:graphic>
          <a:graphicData uri="http://schemas.openxmlformats.org/presentationml/2006/ole">
            <mc:AlternateContent xmlns:mc="http://schemas.openxmlformats.org/markup-compatibility/2006">
              <mc:Choice xmlns:v="urn:schemas-microsoft-com:vml" Requires="v">
                <p:oleObj spid="_x0000_s2757" name="Equation" r:id="rId26" imgW="215640" imgH="368280" progId="Equation.DSMT4">
                  <p:embed/>
                </p:oleObj>
              </mc:Choice>
              <mc:Fallback>
                <p:oleObj name="Equation" r:id="rId26" imgW="215640" imgH="368280" progId="Equation.DSMT4">
                  <p:embed/>
                  <p:pic>
                    <p:nvPicPr>
                      <p:cNvPr id="85" name="Object 84"/>
                      <p:cNvPicPr/>
                      <p:nvPr/>
                    </p:nvPicPr>
                    <p:blipFill>
                      <a:blip r:embed="rId27"/>
                      <a:stretch>
                        <a:fillRect/>
                      </a:stretch>
                    </p:blipFill>
                    <p:spPr>
                      <a:xfrm>
                        <a:off x="2178050" y="4478710"/>
                        <a:ext cx="215900" cy="368300"/>
                      </a:xfrm>
                      <a:prstGeom prst="rect">
                        <a:avLst/>
                      </a:prstGeom>
                    </p:spPr>
                  </p:pic>
                </p:oleObj>
              </mc:Fallback>
            </mc:AlternateContent>
          </a:graphicData>
        </a:graphic>
      </p:graphicFrame>
      <p:sp>
        <p:nvSpPr>
          <p:cNvPr id="116" name="Rectangle 115">
            <a:extLst>
              <a:ext uri="{FF2B5EF4-FFF2-40B4-BE49-F238E27FC236}">
                <a16:creationId xmlns:a16="http://schemas.microsoft.com/office/drawing/2014/main" id="{D3CEE30E-53D3-49F8-98AA-38CE4A03D896}"/>
              </a:ext>
            </a:extLst>
          </p:cNvPr>
          <p:cNvSpPr/>
          <p:nvPr/>
        </p:nvSpPr>
        <p:spPr>
          <a:xfrm>
            <a:off x="381000" y="2771830"/>
            <a:ext cx="2669320"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11.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(a green apple then a nectarine)</a:t>
            </a:r>
            <a:endParaRPr lang="en-US" dirty="0"/>
          </a:p>
        </p:txBody>
      </p:sp>
      <p:graphicFrame>
        <p:nvGraphicFramePr>
          <p:cNvPr id="117" name="Object 116">
            <a:extLst>
              <a:ext uri="{FF2B5EF4-FFF2-40B4-BE49-F238E27FC236}">
                <a16:creationId xmlns:a16="http://schemas.microsoft.com/office/drawing/2014/main" id="{BF4E5EEA-F5FF-40E7-B67C-04296B92540F}"/>
              </a:ext>
            </a:extLst>
          </p:cNvPr>
          <p:cNvGraphicFramePr>
            <a:graphicFrameLocks noChangeAspect="1"/>
          </p:cNvGraphicFramePr>
          <p:nvPr>
            <p:extLst>
              <p:ext uri="{D42A27DB-BD31-4B8C-83A1-F6EECF244321}">
                <p14:modId xmlns:p14="http://schemas.microsoft.com/office/powerpoint/2010/main" val="2240710104"/>
              </p:ext>
            </p:extLst>
          </p:nvPr>
        </p:nvGraphicFramePr>
        <p:xfrm>
          <a:off x="4368800" y="4011350"/>
          <a:ext cx="139700" cy="368300"/>
        </p:xfrm>
        <a:graphic>
          <a:graphicData uri="http://schemas.openxmlformats.org/presentationml/2006/ole">
            <mc:AlternateContent xmlns:mc="http://schemas.openxmlformats.org/markup-compatibility/2006">
              <mc:Choice xmlns:v="urn:schemas-microsoft-com:vml" Requires="v">
                <p:oleObj spid="_x0000_s2758" name="Equation" r:id="rId28" imgW="139680" imgH="368280" progId="Equation.DSMT4">
                  <p:embed/>
                </p:oleObj>
              </mc:Choice>
              <mc:Fallback>
                <p:oleObj name="Equation" r:id="rId28" imgW="139680" imgH="368280" progId="Equation.DSMT4">
                  <p:embed/>
                  <p:pic>
                    <p:nvPicPr>
                      <p:cNvPr id="87" name="Object 86"/>
                      <p:cNvPicPr/>
                      <p:nvPr/>
                    </p:nvPicPr>
                    <p:blipFill>
                      <a:blip r:embed="rId29"/>
                      <a:stretch>
                        <a:fillRect/>
                      </a:stretch>
                    </p:blipFill>
                    <p:spPr>
                      <a:xfrm>
                        <a:off x="4368800" y="4011350"/>
                        <a:ext cx="139700" cy="368300"/>
                      </a:xfrm>
                      <a:prstGeom prst="rect">
                        <a:avLst/>
                      </a:prstGeom>
                    </p:spPr>
                  </p:pic>
                </p:oleObj>
              </mc:Fallback>
            </mc:AlternateContent>
          </a:graphicData>
        </a:graphic>
      </p:graphicFrame>
      <p:graphicFrame>
        <p:nvGraphicFramePr>
          <p:cNvPr id="118" name="Object 117">
            <a:extLst>
              <a:ext uri="{FF2B5EF4-FFF2-40B4-BE49-F238E27FC236}">
                <a16:creationId xmlns:a16="http://schemas.microsoft.com/office/drawing/2014/main" id="{1A6F65F5-3A9B-48EB-B5AE-206DC20C916A}"/>
              </a:ext>
            </a:extLst>
          </p:cNvPr>
          <p:cNvGraphicFramePr>
            <a:graphicFrameLocks noChangeAspect="1"/>
          </p:cNvGraphicFramePr>
          <p:nvPr>
            <p:extLst>
              <p:ext uri="{D42A27DB-BD31-4B8C-83A1-F6EECF244321}">
                <p14:modId xmlns:p14="http://schemas.microsoft.com/office/powerpoint/2010/main" val="2715196646"/>
              </p:ext>
            </p:extLst>
          </p:nvPr>
        </p:nvGraphicFramePr>
        <p:xfrm>
          <a:off x="4333240" y="4432990"/>
          <a:ext cx="215900" cy="368300"/>
        </p:xfrm>
        <a:graphic>
          <a:graphicData uri="http://schemas.openxmlformats.org/presentationml/2006/ole">
            <mc:AlternateContent xmlns:mc="http://schemas.openxmlformats.org/markup-compatibility/2006">
              <mc:Choice xmlns:v="urn:schemas-microsoft-com:vml" Requires="v">
                <p:oleObj spid="_x0000_s2759" name="Equation" r:id="rId30" imgW="215640" imgH="368280" progId="Equation.DSMT4">
                  <p:embed/>
                </p:oleObj>
              </mc:Choice>
              <mc:Fallback>
                <p:oleObj name="Equation" r:id="rId30" imgW="215640" imgH="368280" progId="Equation.DSMT4">
                  <p:embed/>
                  <p:pic>
                    <p:nvPicPr>
                      <p:cNvPr id="88" name="Object 87"/>
                      <p:cNvPicPr/>
                      <p:nvPr/>
                    </p:nvPicPr>
                    <p:blipFill>
                      <a:blip r:embed="rId31"/>
                      <a:stretch>
                        <a:fillRect/>
                      </a:stretch>
                    </p:blipFill>
                    <p:spPr>
                      <a:xfrm>
                        <a:off x="4333240" y="4432990"/>
                        <a:ext cx="215900" cy="368300"/>
                      </a:xfrm>
                      <a:prstGeom prst="rect">
                        <a:avLst/>
                      </a:prstGeom>
                    </p:spPr>
                  </p:pic>
                </p:oleObj>
              </mc:Fallback>
            </mc:AlternateContent>
          </a:graphicData>
        </a:graphic>
      </p:graphicFrame>
      <p:graphicFrame>
        <p:nvGraphicFramePr>
          <p:cNvPr id="119" name="Object 118">
            <a:extLst>
              <a:ext uri="{FF2B5EF4-FFF2-40B4-BE49-F238E27FC236}">
                <a16:creationId xmlns:a16="http://schemas.microsoft.com/office/drawing/2014/main" id="{6E30FE23-F689-461B-8D52-8CE72CAC3D55}"/>
              </a:ext>
            </a:extLst>
          </p:cNvPr>
          <p:cNvGraphicFramePr>
            <a:graphicFrameLocks noChangeAspect="1"/>
          </p:cNvGraphicFramePr>
          <p:nvPr>
            <p:extLst>
              <p:ext uri="{D42A27DB-BD31-4B8C-83A1-F6EECF244321}">
                <p14:modId xmlns:p14="http://schemas.microsoft.com/office/powerpoint/2010/main" val="82332062"/>
              </p:ext>
            </p:extLst>
          </p:nvPr>
        </p:nvGraphicFramePr>
        <p:xfrm>
          <a:off x="5519420" y="4021510"/>
          <a:ext cx="279400" cy="368300"/>
        </p:xfrm>
        <a:graphic>
          <a:graphicData uri="http://schemas.openxmlformats.org/presentationml/2006/ole">
            <mc:AlternateContent xmlns:mc="http://schemas.openxmlformats.org/markup-compatibility/2006">
              <mc:Choice xmlns:v="urn:schemas-microsoft-com:vml" Requires="v">
                <p:oleObj spid="_x0000_s2760" name="Equation" r:id="rId32" imgW="279360" imgH="368280" progId="Equation.DSMT4">
                  <p:embed/>
                </p:oleObj>
              </mc:Choice>
              <mc:Fallback>
                <p:oleObj name="Equation" r:id="rId32" imgW="279360" imgH="368280" progId="Equation.DSMT4">
                  <p:embed/>
                  <p:pic>
                    <p:nvPicPr>
                      <p:cNvPr id="89" name="Object 88"/>
                      <p:cNvPicPr/>
                      <p:nvPr/>
                    </p:nvPicPr>
                    <p:blipFill>
                      <a:blip r:embed="rId33"/>
                      <a:stretch>
                        <a:fillRect/>
                      </a:stretch>
                    </p:blipFill>
                    <p:spPr>
                      <a:xfrm>
                        <a:off x="5519420" y="4021510"/>
                        <a:ext cx="279400" cy="368300"/>
                      </a:xfrm>
                      <a:prstGeom prst="rect">
                        <a:avLst/>
                      </a:prstGeom>
                    </p:spPr>
                  </p:pic>
                </p:oleObj>
              </mc:Fallback>
            </mc:AlternateContent>
          </a:graphicData>
        </a:graphic>
      </p:graphicFrame>
      <p:graphicFrame>
        <p:nvGraphicFramePr>
          <p:cNvPr id="120" name="Object 119">
            <a:extLst>
              <a:ext uri="{FF2B5EF4-FFF2-40B4-BE49-F238E27FC236}">
                <a16:creationId xmlns:a16="http://schemas.microsoft.com/office/drawing/2014/main" id="{2E7D3038-73B8-4E35-87D2-976AA4242A1C}"/>
              </a:ext>
            </a:extLst>
          </p:cNvPr>
          <p:cNvGraphicFramePr>
            <a:graphicFrameLocks noChangeAspect="1"/>
          </p:cNvGraphicFramePr>
          <p:nvPr>
            <p:extLst>
              <p:ext uri="{D42A27DB-BD31-4B8C-83A1-F6EECF244321}">
                <p14:modId xmlns:p14="http://schemas.microsoft.com/office/powerpoint/2010/main" val="2851815044"/>
              </p:ext>
            </p:extLst>
          </p:nvPr>
        </p:nvGraphicFramePr>
        <p:xfrm>
          <a:off x="5509260" y="4478710"/>
          <a:ext cx="279400" cy="368300"/>
        </p:xfrm>
        <a:graphic>
          <a:graphicData uri="http://schemas.openxmlformats.org/presentationml/2006/ole">
            <mc:AlternateContent xmlns:mc="http://schemas.openxmlformats.org/markup-compatibility/2006">
              <mc:Choice xmlns:v="urn:schemas-microsoft-com:vml" Requires="v">
                <p:oleObj spid="_x0000_s2761" name="Equation" r:id="rId34" imgW="279360" imgH="368280" progId="Equation.DSMT4">
                  <p:embed/>
                </p:oleObj>
              </mc:Choice>
              <mc:Fallback>
                <p:oleObj name="Equation" r:id="rId34" imgW="279360" imgH="368280" progId="Equation.DSMT4">
                  <p:embed/>
                  <p:pic>
                    <p:nvPicPr>
                      <p:cNvPr id="90" name="Object 89"/>
                      <p:cNvPicPr/>
                      <p:nvPr/>
                    </p:nvPicPr>
                    <p:blipFill>
                      <a:blip r:embed="rId35"/>
                      <a:stretch>
                        <a:fillRect/>
                      </a:stretch>
                    </p:blipFill>
                    <p:spPr>
                      <a:xfrm>
                        <a:off x="5509260" y="4478710"/>
                        <a:ext cx="279400" cy="368300"/>
                      </a:xfrm>
                      <a:prstGeom prst="rect">
                        <a:avLst/>
                      </a:prstGeom>
                    </p:spPr>
                  </p:pic>
                </p:oleObj>
              </mc:Fallback>
            </mc:AlternateContent>
          </a:graphicData>
        </a:graphic>
      </p:graphicFrame>
      <p:sp>
        <p:nvSpPr>
          <p:cNvPr id="121" name="Rectangle 120">
            <a:extLst>
              <a:ext uri="{FF2B5EF4-FFF2-40B4-BE49-F238E27FC236}">
                <a16:creationId xmlns:a16="http://schemas.microsoft.com/office/drawing/2014/main" id="{1ED7D27C-16C9-4589-9D69-E437F4A7DD8B}"/>
              </a:ext>
            </a:extLst>
          </p:cNvPr>
          <p:cNvSpPr/>
          <p:nvPr/>
        </p:nvSpPr>
        <p:spPr>
          <a:xfrm>
            <a:off x="3820160" y="2771830"/>
            <a:ext cx="1475084"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12.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(two oranges)</a:t>
            </a:r>
            <a:endParaRPr lang="en-US" dirty="0"/>
          </a:p>
        </p:txBody>
      </p:sp>
      <p:pic>
        <p:nvPicPr>
          <p:cNvPr id="122" name="Picture 121">
            <a:extLst>
              <a:ext uri="{FF2B5EF4-FFF2-40B4-BE49-F238E27FC236}">
                <a16:creationId xmlns:a16="http://schemas.microsoft.com/office/drawing/2014/main" id="{87A8E294-BC1D-4891-9596-D7998D4FC063}"/>
              </a:ext>
            </a:extLst>
          </p:cNvPr>
          <p:cNvPicPr>
            <a:picLocks noChangeAspect="1"/>
          </p:cNvPicPr>
          <p:nvPr/>
        </p:nvPicPr>
        <p:blipFill>
          <a:blip r:embed="rId36"/>
          <a:stretch>
            <a:fillRect/>
          </a:stretch>
        </p:blipFill>
        <p:spPr>
          <a:xfrm>
            <a:off x="609600" y="5631870"/>
            <a:ext cx="1428750" cy="1285875"/>
          </a:xfrm>
          <a:prstGeom prst="rect">
            <a:avLst/>
          </a:prstGeom>
        </p:spPr>
      </p:pic>
      <p:sp>
        <p:nvSpPr>
          <p:cNvPr id="123" name="Rectangle 122">
            <a:extLst>
              <a:ext uri="{FF2B5EF4-FFF2-40B4-BE49-F238E27FC236}">
                <a16:creationId xmlns:a16="http://schemas.microsoft.com/office/drawing/2014/main" id="{8AD66947-FBD9-40DA-B304-16F38665D842}"/>
              </a:ext>
            </a:extLst>
          </p:cNvPr>
          <p:cNvSpPr/>
          <p:nvPr/>
        </p:nvSpPr>
        <p:spPr>
          <a:xfrm>
            <a:off x="381000" y="4869870"/>
            <a:ext cx="350520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13.  </a:t>
            </a:r>
            <a:r>
              <a:rPr lang="en-US" sz="1150" dirty="0">
                <a:effectLst/>
                <a:latin typeface="Tahoma" panose="020B0604030504040204" pitchFamily="34" charset="0"/>
                <a:ea typeface="Calibri" panose="020F0502020204030204" pitchFamily="34" charset="0"/>
              </a:rPr>
              <a:t>The spinner below is spun.  Find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probability that it lands on a an odd number,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given that it lands on a white space. Write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your answer as a fraction in simplest form.</a:t>
            </a:r>
            <a:endParaRPr lang="en-US" dirty="0"/>
          </a:p>
        </p:txBody>
      </p:sp>
      <p:sp>
        <p:nvSpPr>
          <p:cNvPr id="124" name="Text Box 322">
            <a:extLst>
              <a:ext uri="{FF2B5EF4-FFF2-40B4-BE49-F238E27FC236}">
                <a16:creationId xmlns:a16="http://schemas.microsoft.com/office/drawing/2014/main" id="{B4B25AEC-067E-4149-AAB5-7B12C8BDD449}"/>
              </a:ext>
            </a:extLst>
          </p:cNvPr>
          <p:cNvSpPr txBox="1">
            <a:spLocks noChangeArrowheads="1"/>
          </p:cNvSpPr>
          <p:nvPr/>
        </p:nvSpPr>
        <p:spPr bwMode="auto">
          <a:xfrm>
            <a:off x="3276600" y="6317670"/>
            <a:ext cx="520700" cy="590550"/>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graphicFrame>
        <p:nvGraphicFramePr>
          <p:cNvPr id="125" name="Object 124">
            <a:extLst>
              <a:ext uri="{FF2B5EF4-FFF2-40B4-BE49-F238E27FC236}">
                <a16:creationId xmlns:a16="http://schemas.microsoft.com/office/drawing/2014/main" id="{6AB9F6D0-36A4-4713-B657-3332CE87C3A1}"/>
              </a:ext>
            </a:extLst>
          </p:cNvPr>
          <p:cNvGraphicFramePr>
            <a:graphicFrameLocks noChangeAspect="1"/>
          </p:cNvGraphicFramePr>
          <p:nvPr>
            <p:extLst>
              <p:ext uri="{D42A27DB-BD31-4B8C-83A1-F6EECF244321}">
                <p14:modId xmlns:p14="http://schemas.microsoft.com/office/powerpoint/2010/main" val="3471083815"/>
              </p:ext>
            </p:extLst>
          </p:nvPr>
        </p:nvGraphicFramePr>
        <p:xfrm>
          <a:off x="4546600" y="6089070"/>
          <a:ext cx="139700" cy="368300"/>
        </p:xfrm>
        <a:graphic>
          <a:graphicData uri="http://schemas.openxmlformats.org/presentationml/2006/ole">
            <mc:AlternateContent xmlns:mc="http://schemas.openxmlformats.org/markup-compatibility/2006">
              <mc:Choice xmlns:v="urn:schemas-microsoft-com:vml" Requires="v">
                <p:oleObj spid="_x0000_s2762" name="Equation" r:id="rId37" imgW="139680" imgH="368280" progId="Equation.DSMT4">
                  <p:embed/>
                </p:oleObj>
              </mc:Choice>
              <mc:Fallback>
                <p:oleObj name="Equation" r:id="rId37" imgW="139680" imgH="368280" progId="Equation.DSMT4">
                  <p:embed/>
                  <p:pic>
                    <p:nvPicPr>
                      <p:cNvPr id="131" name="Object 130"/>
                      <p:cNvPicPr/>
                      <p:nvPr/>
                    </p:nvPicPr>
                    <p:blipFill>
                      <a:blip r:embed="rId38"/>
                      <a:stretch>
                        <a:fillRect/>
                      </a:stretch>
                    </p:blipFill>
                    <p:spPr>
                      <a:xfrm>
                        <a:off x="4546600" y="6089070"/>
                        <a:ext cx="139700" cy="368300"/>
                      </a:xfrm>
                      <a:prstGeom prst="rect">
                        <a:avLst/>
                      </a:prstGeom>
                    </p:spPr>
                  </p:pic>
                </p:oleObj>
              </mc:Fallback>
            </mc:AlternateContent>
          </a:graphicData>
        </a:graphic>
      </p:graphicFrame>
      <p:graphicFrame>
        <p:nvGraphicFramePr>
          <p:cNvPr id="126" name="Object 125">
            <a:extLst>
              <a:ext uri="{FF2B5EF4-FFF2-40B4-BE49-F238E27FC236}">
                <a16:creationId xmlns:a16="http://schemas.microsoft.com/office/drawing/2014/main" id="{248EC1BD-921E-41A7-A425-A0E3BE69FE60}"/>
              </a:ext>
            </a:extLst>
          </p:cNvPr>
          <p:cNvGraphicFramePr>
            <a:graphicFrameLocks noChangeAspect="1"/>
          </p:cNvGraphicFramePr>
          <p:nvPr>
            <p:extLst>
              <p:ext uri="{D42A27DB-BD31-4B8C-83A1-F6EECF244321}">
                <p14:modId xmlns:p14="http://schemas.microsoft.com/office/powerpoint/2010/main" val="444677761"/>
              </p:ext>
            </p:extLst>
          </p:nvPr>
        </p:nvGraphicFramePr>
        <p:xfrm>
          <a:off x="4526280" y="6525950"/>
          <a:ext cx="139700" cy="368300"/>
        </p:xfrm>
        <a:graphic>
          <a:graphicData uri="http://schemas.openxmlformats.org/presentationml/2006/ole">
            <mc:AlternateContent xmlns:mc="http://schemas.openxmlformats.org/markup-compatibility/2006">
              <mc:Choice xmlns:v="urn:schemas-microsoft-com:vml" Requires="v">
                <p:oleObj spid="_x0000_s2763" name="Equation" r:id="rId39" imgW="139680" imgH="368280" progId="Equation.DSMT4">
                  <p:embed/>
                </p:oleObj>
              </mc:Choice>
              <mc:Fallback>
                <p:oleObj name="Equation" r:id="rId39" imgW="139680" imgH="368280" progId="Equation.DSMT4">
                  <p:embed/>
                  <p:pic>
                    <p:nvPicPr>
                      <p:cNvPr id="132" name="Object 131"/>
                      <p:cNvPicPr/>
                      <p:nvPr/>
                    </p:nvPicPr>
                    <p:blipFill>
                      <a:blip r:embed="rId40"/>
                      <a:stretch>
                        <a:fillRect/>
                      </a:stretch>
                    </p:blipFill>
                    <p:spPr>
                      <a:xfrm>
                        <a:off x="4526280" y="6525950"/>
                        <a:ext cx="139700" cy="368300"/>
                      </a:xfrm>
                      <a:prstGeom prst="rect">
                        <a:avLst/>
                      </a:prstGeom>
                    </p:spPr>
                  </p:pic>
                </p:oleObj>
              </mc:Fallback>
            </mc:AlternateContent>
          </a:graphicData>
        </a:graphic>
      </p:graphicFrame>
      <p:graphicFrame>
        <p:nvGraphicFramePr>
          <p:cNvPr id="127" name="Object 126">
            <a:extLst>
              <a:ext uri="{FF2B5EF4-FFF2-40B4-BE49-F238E27FC236}">
                <a16:creationId xmlns:a16="http://schemas.microsoft.com/office/drawing/2014/main" id="{32C688B3-BA71-43E1-92CD-5362F09412EF}"/>
              </a:ext>
            </a:extLst>
          </p:cNvPr>
          <p:cNvGraphicFramePr>
            <a:graphicFrameLocks noChangeAspect="1"/>
          </p:cNvGraphicFramePr>
          <p:nvPr>
            <p:extLst>
              <p:ext uri="{D42A27DB-BD31-4B8C-83A1-F6EECF244321}">
                <p14:modId xmlns:p14="http://schemas.microsoft.com/office/powerpoint/2010/main" val="238881382"/>
              </p:ext>
            </p:extLst>
          </p:nvPr>
        </p:nvGraphicFramePr>
        <p:xfrm>
          <a:off x="5689600" y="6089070"/>
          <a:ext cx="139700" cy="368300"/>
        </p:xfrm>
        <a:graphic>
          <a:graphicData uri="http://schemas.openxmlformats.org/presentationml/2006/ole">
            <mc:AlternateContent xmlns:mc="http://schemas.openxmlformats.org/markup-compatibility/2006">
              <mc:Choice xmlns:v="urn:schemas-microsoft-com:vml" Requires="v">
                <p:oleObj spid="_x0000_s2764" name="Equation" r:id="rId41" imgW="139680" imgH="368280" progId="Equation.DSMT4">
                  <p:embed/>
                </p:oleObj>
              </mc:Choice>
              <mc:Fallback>
                <p:oleObj name="Equation" r:id="rId41" imgW="139680" imgH="368280" progId="Equation.DSMT4">
                  <p:embed/>
                  <p:pic>
                    <p:nvPicPr>
                      <p:cNvPr id="133" name="Object 132"/>
                      <p:cNvPicPr/>
                      <p:nvPr/>
                    </p:nvPicPr>
                    <p:blipFill>
                      <a:blip r:embed="rId42"/>
                      <a:stretch>
                        <a:fillRect/>
                      </a:stretch>
                    </p:blipFill>
                    <p:spPr>
                      <a:xfrm>
                        <a:off x="5689600" y="6089070"/>
                        <a:ext cx="139700" cy="368300"/>
                      </a:xfrm>
                      <a:prstGeom prst="rect">
                        <a:avLst/>
                      </a:prstGeom>
                    </p:spPr>
                  </p:pic>
                </p:oleObj>
              </mc:Fallback>
            </mc:AlternateContent>
          </a:graphicData>
        </a:graphic>
      </p:graphicFrame>
      <p:graphicFrame>
        <p:nvGraphicFramePr>
          <p:cNvPr id="144" name="Object 143">
            <a:extLst>
              <a:ext uri="{FF2B5EF4-FFF2-40B4-BE49-F238E27FC236}">
                <a16:creationId xmlns:a16="http://schemas.microsoft.com/office/drawing/2014/main" id="{8C0D8BEA-A6A5-4E85-8161-751ACEC000A1}"/>
              </a:ext>
            </a:extLst>
          </p:cNvPr>
          <p:cNvGraphicFramePr>
            <a:graphicFrameLocks noChangeAspect="1"/>
          </p:cNvGraphicFramePr>
          <p:nvPr>
            <p:extLst>
              <p:ext uri="{D42A27DB-BD31-4B8C-83A1-F6EECF244321}">
                <p14:modId xmlns:p14="http://schemas.microsoft.com/office/powerpoint/2010/main" val="3404695206"/>
              </p:ext>
            </p:extLst>
          </p:nvPr>
        </p:nvGraphicFramePr>
        <p:xfrm>
          <a:off x="5689600" y="6546270"/>
          <a:ext cx="139700" cy="368300"/>
        </p:xfrm>
        <a:graphic>
          <a:graphicData uri="http://schemas.openxmlformats.org/presentationml/2006/ole">
            <mc:AlternateContent xmlns:mc="http://schemas.openxmlformats.org/markup-compatibility/2006">
              <mc:Choice xmlns:v="urn:schemas-microsoft-com:vml" Requires="v">
                <p:oleObj spid="_x0000_s2765" name="Equation" r:id="rId43" imgW="139680" imgH="368280" progId="Equation.DSMT4">
                  <p:embed/>
                </p:oleObj>
              </mc:Choice>
              <mc:Fallback>
                <p:oleObj name="Equation" r:id="rId43" imgW="139680" imgH="368280" progId="Equation.DSMT4">
                  <p:embed/>
                  <p:pic>
                    <p:nvPicPr>
                      <p:cNvPr id="134" name="Object 133"/>
                      <p:cNvPicPr/>
                      <p:nvPr/>
                    </p:nvPicPr>
                    <p:blipFill>
                      <a:blip r:embed="rId44"/>
                      <a:stretch>
                        <a:fillRect/>
                      </a:stretch>
                    </p:blipFill>
                    <p:spPr>
                      <a:xfrm>
                        <a:off x="5689600" y="6546270"/>
                        <a:ext cx="139700" cy="368300"/>
                      </a:xfrm>
                      <a:prstGeom prst="rect">
                        <a:avLst/>
                      </a:prstGeom>
                    </p:spPr>
                  </p:pic>
                </p:oleObj>
              </mc:Fallback>
            </mc:AlternateContent>
          </a:graphicData>
        </a:graphic>
      </p:graphicFrame>
      <p:sp>
        <p:nvSpPr>
          <p:cNvPr id="151" name="Rectangle 150">
            <a:extLst>
              <a:ext uri="{FF2B5EF4-FFF2-40B4-BE49-F238E27FC236}">
                <a16:creationId xmlns:a16="http://schemas.microsoft.com/office/drawing/2014/main" id="{FF31096B-5EAD-4B5D-988C-CC14E1A03692}"/>
              </a:ext>
            </a:extLst>
          </p:cNvPr>
          <p:cNvSpPr/>
          <p:nvPr/>
        </p:nvSpPr>
        <p:spPr>
          <a:xfrm>
            <a:off x="3810000" y="4869870"/>
            <a:ext cx="35052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14. </a:t>
            </a:r>
            <a:r>
              <a:rPr lang="en-US" sz="1150" dirty="0">
                <a:effectLst/>
                <a:latin typeface="Tahoma" panose="020B0604030504040204" pitchFamily="34" charset="0"/>
                <a:ea typeface="Calibri" panose="020F0502020204030204" pitchFamily="34" charset="0"/>
              </a:rPr>
              <a:t> Two dice are rolled.  What is the probability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that the sum of the dice is at least 5, given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that one die is showing a 2.</a:t>
            </a:r>
            <a:endParaRPr lang="en-US" dirty="0"/>
          </a:p>
        </p:txBody>
      </p:sp>
      <p:sp>
        <p:nvSpPr>
          <p:cNvPr id="152" name="Rectangle 151">
            <a:extLst>
              <a:ext uri="{FF2B5EF4-FFF2-40B4-BE49-F238E27FC236}">
                <a16:creationId xmlns:a16="http://schemas.microsoft.com/office/drawing/2014/main" id="{D1D56D61-C13B-48C7-B75D-A177CB098BF9}"/>
              </a:ext>
            </a:extLst>
          </p:cNvPr>
          <p:cNvSpPr/>
          <p:nvPr/>
        </p:nvSpPr>
        <p:spPr>
          <a:xfrm>
            <a:off x="426720" y="6947590"/>
            <a:ext cx="69723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15-16.  </a:t>
            </a:r>
            <a:r>
              <a:rPr lang="en-US" sz="1150" dirty="0">
                <a:effectLst/>
                <a:latin typeface="Tahoma" panose="020B0604030504040204" pitchFamily="34" charset="0"/>
                <a:ea typeface="Calibri" panose="020F0502020204030204" pitchFamily="34" charset="0"/>
              </a:rPr>
              <a:t>Out of a group of 120 students that were surveyed about winter sports, 28 said they ski and 52 said they snowboard.  Sixteen of the students who said they ski said they also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snowboard.  If a student is chosen at random, find each probability.</a:t>
            </a:r>
            <a:endParaRPr lang="en-US" dirty="0"/>
          </a:p>
        </p:txBody>
      </p:sp>
      <p:sp>
        <p:nvSpPr>
          <p:cNvPr id="153" name="Text Box 807">
            <a:extLst>
              <a:ext uri="{FF2B5EF4-FFF2-40B4-BE49-F238E27FC236}">
                <a16:creationId xmlns:a16="http://schemas.microsoft.com/office/drawing/2014/main" id="{21DBB0A0-420B-40E5-AA42-650F858F43B9}"/>
              </a:ext>
            </a:extLst>
          </p:cNvPr>
          <p:cNvSpPr txBox="1">
            <a:spLocks noChangeArrowheads="1"/>
          </p:cNvSpPr>
          <p:nvPr/>
        </p:nvSpPr>
        <p:spPr bwMode="auto">
          <a:xfrm>
            <a:off x="3962400" y="8740830"/>
            <a:ext cx="1934210" cy="925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154" name="Object 153">
            <a:extLst>
              <a:ext uri="{FF2B5EF4-FFF2-40B4-BE49-F238E27FC236}">
                <a16:creationId xmlns:a16="http://schemas.microsoft.com/office/drawing/2014/main" id="{D0B316B7-1E6A-484D-A725-1C2DAC8C7D7D}"/>
              </a:ext>
            </a:extLst>
          </p:cNvPr>
          <p:cNvGraphicFramePr>
            <a:graphicFrameLocks noChangeAspect="1"/>
          </p:cNvGraphicFramePr>
          <p:nvPr>
            <p:extLst>
              <p:ext uri="{D42A27DB-BD31-4B8C-83A1-F6EECF244321}">
                <p14:modId xmlns:p14="http://schemas.microsoft.com/office/powerpoint/2010/main" val="1204820390"/>
              </p:ext>
            </p:extLst>
          </p:nvPr>
        </p:nvGraphicFramePr>
        <p:xfrm>
          <a:off x="4267200" y="8740830"/>
          <a:ext cx="215900" cy="368300"/>
        </p:xfrm>
        <a:graphic>
          <a:graphicData uri="http://schemas.openxmlformats.org/presentationml/2006/ole">
            <mc:AlternateContent xmlns:mc="http://schemas.openxmlformats.org/markup-compatibility/2006">
              <mc:Choice xmlns:v="urn:schemas-microsoft-com:vml" Requires="v">
                <p:oleObj spid="_x0000_s2766" name="Equation" r:id="rId45" imgW="215640" imgH="368280" progId="Equation.DSMT4">
                  <p:embed/>
                </p:oleObj>
              </mc:Choice>
              <mc:Fallback>
                <p:oleObj name="Equation" r:id="rId45" imgW="215640" imgH="368280" progId="Equation.DSMT4">
                  <p:embed/>
                  <p:pic>
                    <p:nvPicPr>
                      <p:cNvPr id="138" name="Object 137"/>
                      <p:cNvPicPr/>
                      <p:nvPr/>
                    </p:nvPicPr>
                    <p:blipFill>
                      <a:blip r:embed="rId46"/>
                      <a:stretch>
                        <a:fillRect/>
                      </a:stretch>
                    </p:blipFill>
                    <p:spPr>
                      <a:xfrm>
                        <a:off x="4267200" y="8740830"/>
                        <a:ext cx="215900" cy="368300"/>
                      </a:xfrm>
                      <a:prstGeom prst="rect">
                        <a:avLst/>
                      </a:prstGeom>
                    </p:spPr>
                  </p:pic>
                </p:oleObj>
              </mc:Fallback>
            </mc:AlternateContent>
          </a:graphicData>
        </a:graphic>
      </p:graphicFrame>
      <p:graphicFrame>
        <p:nvGraphicFramePr>
          <p:cNvPr id="155" name="Object 154">
            <a:extLst>
              <a:ext uri="{FF2B5EF4-FFF2-40B4-BE49-F238E27FC236}">
                <a16:creationId xmlns:a16="http://schemas.microsoft.com/office/drawing/2014/main" id="{2310DCED-B30E-4634-8013-F4C631917FD8}"/>
              </a:ext>
            </a:extLst>
          </p:cNvPr>
          <p:cNvGraphicFramePr>
            <a:graphicFrameLocks noChangeAspect="1"/>
          </p:cNvGraphicFramePr>
          <p:nvPr>
            <p:extLst>
              <p:ext uri="{D42A27DB-BD31-4B8C-83A1-F6EECF244321}">
                <p14:modId xmlns:p14="http://schemas.microsoft.com/office/powerpoint/2010/main" val="2669971613"/>
              </p:ext>
            </p:extLst>
          </p:nvPr>
        </p:nvGraphicFramePr>
        <p:xfrm>
          <a:off x="4267200" y="9162470"/>
          <a:ext cx="215900" cy="368300"/>
        </p:xfrm>
        <a:graphic>
          <a:graphicData uri="http://schemas.openxmlformats.org/presentationml/2006/ole">
            <mc:AlternateContent xmlns:mc="http://schemas.openxmlformats.org/markup-compatibility/2006">
              <mc:Choice xmlns:v="urn:schemas-microsoft-com:vml" Requires="v">
                <p:oleObj spid="_x0000_s2767" name="Equation" r:id="rId47" imgW="215640" imgH="368280" progId="Equation.DSMT4">
                  <p:embed/>
                </p:oleObj>
              </mc:Choice>
              <mc:Fallback>
                <p:oleObj name="Equation" r:id="rId47" imgW="215640" imgH="368280" progId="Equation.DSMT4">
                  <p:embed/>
                  <p:pic>
                    <p:nvPicPr>
                      <p:cNvPr id="139" name="Object 138"/>
                      <p:cNvPicPr/>
                      <p:nvPr/>
                    </p:nvPicPr>
                    <p:blipFill>
                      <a:blip r:embed="rId48"/>
                      <a:stretch>
                        <a:fillRect/>
                      </a:stretch>
                    </p:blipFill>
                    <p:spPr>
                      <a:xfrm>
                        <a:off x="4267200" y="9162470"/>
                        <a:ext cx="215900" cy="368300"/>
                      </a:xfrm>
                      <a:prstGeom prst="rect">
                        <a:avLst/>
                      </a:prstGeom>
                    </p:spPr>
                  </p:pic>
                </p:oleObj>
              </mc:Fallback>
            </mc:AlternateContent>
          </a:graphicData>
        </a:graphic>
      </p:graphicFrame>
      <p:graphicFrame>
        <p:nvGraphicFramePr>
          <p:cNvPr id="156" name="Object 155">
            <a:extLst>
              <a:ext uri="{FF2B5EF4-FFF2-40B4-BE49-F238E27FC236}">
                <a16:creationId xmlns:a16="http://schemas.microsoft.com/office/drawing/2014/main" id="{62F1A2D1-405D-4CED-ABDA-C3FB9869F275}"/>
              </a:ext>
            </a:extLst>
          </p:cNvPr>
          <p:cNvGraphicFramePr>
            <a:graphicFrameLocks noChangeAspect="1"/>
          </p:cNvGraphicFramePr>
          <p:nvPr>
            <p:extLst>
              <p:ext uri="{D42A27DB-BD31-4B8C-83A1-F6EECF244321}">
                <p14:modId xmlns:p14="http://schemas.microsoft.com/office/powerpoint/2010/main" val="3101798821"/>
              </p:ext>
            </p:extLst>
          </p:nvPr>
        </p:nvGraphicFramePr>
        <p:xfrm>
          <a:off x="5486400" y="8740830"/>
          <a:ext cx="139700" cy="368300"/>
        </p:xfrm>
        <a:graphic>
          <a:graphicData uri="http://schemas.openxmlformats.org/presentationml/2006/ole">
            <mc:AlternateContent xmlns:mc="http://schemas.openxmlformats.org/markup-compatibility/2006">
              <mc:Choice xmlns:v="urn:schemas-microsoft-com:vml" Requires="v">
                <p:oleObj spid="_x0000_s2768" name="Equation" r:id="rId49" imgW="139680" imgH="368280" progId="Equation.DSMT4">
                  <p:embed/>
                </p:oleObj>
              </mc:Choice>
              <mc:Fallback>
                <p:oleObj name="Equation" r:id="rId49" imgW="139680" imgH="368280" progId="Equation.DSMT4">
                  <p:embed/>
                  <p:pic>
                    <p:nvPicPr>
                      <p:cNvPr id="140" name="Object 139"/>
                      <p:cNvPicPr/>
                      <p:nvPr/>
                    </p:nvPicPr>
                    <p:blipFill>
                      <a:blip r:embed="rId50"/>
                      <a:stretch>
                        <a:fillRect/>
                      </a:stretch>
                    </p:blipFill>
                    <p:spPr>
                      <a:xfrm>
                        <a:off x="5486400" y="8740830"/>
                        <a:ext cx="139700" cy="368300"/>
                      </a:xfrm>
                      <a:prstGeom prst="rect">
                        <a:avLst/>
                      </a:prstGeom>
                    </p:spPr>
                  </p:pic>
                </p:oleObj>
              </mc:Fallback>
            </mc:AlternateContent>
          </a:graphicData>
        </a:graphic>
      </p:graphicFrame>
      <p:graphicFrame>
        <p:nvGraphicFramePr>
          <p:cNvPr id="157" name="Object 156">
            <a:extLst>
              <a:ext uri="{FF2B5EF4-FFF2-40B4-BE49-F238E27FC236}">
                <a16:creationId xmlns:a16="http://schemas.microsoft.com/office/drawing/2014/main" id="{2D460057-E07F-4C42-9AC8-306D73C6FA8E}"/>
              </a:ext>
            </a:extLst>
          </p:cNvPr>
          <p:cNvGraphicFramePr>
            <a:graphicFrameLocks noChangeAspect="1"/>
          </p:cNvGraphicFramePr>
          <p:nvPr>
            <p:extLst>
              <p:ext uri="{D42A27DB-BD31-4B8C-83A1-F6EECF244321}">
                <p14:modId xmlns:p14="http://schemas.microsoft.com/office/powerpoint/2010/main" val="2432113739"/>
              </p:ext>
            </p:extLst>
          </p:nvPr>
        </p:nvGraphicFramePr>
        <p:xfrm>
          <a:off x="5476240" y="9177710"/>
          <a:ext cx="203200" cy="368300"/>
        </p:xfrm>
        <a:graphic>
          <a:graphicData uri="http://schemas.openxmlformats.org/presentationml/2006/ole">
            <mc:AlternateContent xmlns:mc="http://schemas.openxmlformats.org/markup-compatibility/2006">
              <mc:Choice xmlns:v="urn:schemas-microsoft-com:vml" Requires="v">
                <p:oleObj spid="_x0000_s2769" name="Equation" r:id="rId51" imgW="203040" imgH="368280" progId="Equation.DSMT4">
                  <p:embed/>
                </p:oleObj>
              </mc:Choice>
              <mc:Fallback>
                <p:oleObj name="Equation" r:id="rId51" imgW="203040" imgH="368280" progId="Equation.DSMT4">
                  <p:embed/>
                  <p:pic>
                    <p:nvPicPr>
                      <p:cNvPr id="141" name="Object 140"/>
                      <p:cNvPicPr/>
                      <p:nvPr/>
                    </p:nvPicPr>
                    <p:blipFill>
                      <a:blip r:embed="rId52"/>
                      <a:stretch>
                        <a:fillRect/>
                      </a:stretch>
                    </p:blipFill>
                    <p:spPr>
                      <a:xfrm>
                        <a:off x="5476240" y="9177710"/>
                        <a:ext cx="203200" cy="368300"/>
                      </a:xfrm>
                      <a:prstGeom prst="rect">
                        <a:avLst/>
                      </a:prstGeom>
                    </p:spPr>
                  </p:pic>
                </p:oleObj>
              </mc:Fallback>
            </mc:AlternateContent>
          </a:graphicData>
        </a:graphic>
      </p:graphicFrame>
      <p:sp>
        <p:nvSpPr>
          <p:cNvPr id="158" name="Rectangle 157">
            <a:extLst>
              <a:ext uri="{FF2B5EF4-FFF2-40B4-BE49-F238E27FC236}">
                <a16:creationId xmlns:a16="http://schemas.microsoft.com/office/drawing/2014/main" id="{0308ADB3-9937-42EA-ABFF-D34C6C4C9D55}"/>
              </a:ext>
            </a:extLst>
          </p:cNvPr>
          <p:cNvSpPr/>
          <p:nvPr/>
        </p:nvSpPr>
        <p:spPr>
          <a:xfrm>
            <a:off x="3820160" y="7496230"/>
            <a:ext cx="2361544"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16. </a:t>
            </a:r>
            <a:r>
              <a:rPr lang="en-US" sz="1150" dirty="0">
                <a:effectLst/>
                <a:latin typeface="Tahoma" panose="020B0604030504040204" pitchFamily="34" charset="0"/>
                <a:ea typeface="Calibri" panose="020F0502020204030204" pitchFamily="34" charset="0"/>
              </a:rPr>
              <a:t>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(ski | does not snowboard)</a:t>
            </a:r>
            <a:endParaRPr lang="en-US" dirty="0"/>
          </a:p>
        </p:txBody>
      </p:sp>
      <p:sp>
        <p:nvSpPr>
          <p:cNvPr id="159" name="Text Box 12">
            <a:extLst>
              <a:ext uri="{FF2B5EF4-FFF2-40B4-BE49-F238E27FC236}">
                <a16:creationId xmlns:a16="http://schemas.microsoft.com/office/drawing/2014/main" id="{5236D376-564C-4045-97FF-B80FD95A1F4E}"/>
              </a:ext>
            </a:extLst>
          </p:cNvPr>
          <p:cNvSpPr txBox="1">
            <a:spLocks noChangeArrowheads="1"/>
          </p:cNvSpPr>
          <p:nvPr/>
        </p:nvSpPr>
        <p:spPr bwMode="auto">
          <a:xfrm>
            <a:off x="3276600" y="8984670"/>
            <a:ext cx="520700" cy="590550"/>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160" name="Text Box 12">
            <a:extLst>
              <a:ext uri="{FF2B5EF4-FFF2-40B4-BE49-F238E27FC236}">
                <a16:creationId xmlns:a16="http://schemas.microsoft.com/office/drawing/2014/main" id="{7013C0EF-17C7-4C5C-BB51-8ACC432574CB}"/>
              </a:ext>
            </a:extLst>
          </p:cNvPr>
          <p:cNvSpPr txBox="1">
            <a:spLocks noChangeArrowheads="1"/>
          </p:cNvSpPr>
          <p:nvPr/>
        </p:nvSpPr>
        <p:spPr bwMode="auto">
          <a:xfrm>
            <a:off x="6700520" y="8964350"/>
            <a:ext cx="520700" cy="590550"/>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graphicFrame>
        <p:nvGraphicFramePr>
          <p:cNvPr id="161" name="Object 160">
            <a:extLst>
              <a:ext uri="{FF2B5EF4-FFF2-40B4-BE49-F238E27FC236}">
                <a16:creationId xmlns:a16="http://schemas.microsoft.com/office/drawing/2014/main" id="{EC3477F1-C637-41EA-A73B-39133CC02F2A}"/>
              </a:ext>
            </a:extLst>
          </p:cNvPr>
          <p:cNvGraphicFramePr>
            <a:graphicFrameLocks noChangeAspect="1"/>
          </p:cNvGraphicFramePr>
          <p:nvPr>
            <p:extLst>
              <p:ext uri="{D42A27DB-BD31-4B8C-83A1-F6EECF244321}">
                <p14:modId xmlns:p14="http://schemas.microsoft.com/office/powerpoint/2010/main" val="4146727590"/>
              </p:ext>
            </p:extLst>
          </p:nvPr>
        </p:nvGraphicFramePr>
        <p:xfrm>
          <a:off x="1000760" y="8735750"/>
          <a:ext cx="215900" cy="368300"/>
        </p:xfrm>
        <a:graphic>
          <a:graphicData uri="http://schemas.openxmlformats.org/presentationml/2006/ole">
            <mc:AlternateContent xmlns:mc="http://schemas.openxmlformats.org/markup-compatibility/2006">
              <mc:Choice xmlns:v="urn:schemas-microsoft-com:vml" Requires="v">
                <p:oleObj spid="_x0000_s2770" name="Equation" r:id="rId53" imgW="215640" imgH="368280" progId="Equation.DSMT4">
                  <p:embed/>
                </p:oleObj>
              </mc:Choice>
              <mc:Fallback>
                <p:oleObj name="Equation" r:id="rId53" imgW="215640" imgH="368280" progId="Equation.DSMT4">
                  <p:embed/>
                  <p:pic>
                    <p:nvPicPr>
                      <p:cNvPr id="146" name="Object 145"/>
                      <p:cNvPicPr/>
                      <p:nvPr/>
                    </p:nvPicPr>
                    <p:blipFill>
                      <a:blip r:embed="rId54"/>
                      <a:stretch>
                        <a:fillRect/>
                      </a:stretch>
                    </p:blipFill>
                    <p:spPr>
                      <a:xfrm>
                        <a:off x="1000760" y="8735750"/>
                        <a:ext cx="215900" cy="368300"/>
                      </a:xfrm>
                      <a:prstGeom prst="rect">
                        <a:avLst/>
                      </a:prstGeom>
                    </p:spPr>
                  </p:pic>
                </p:oleObj>
              </mc:Fallback>
            </mc:AlternateContent>
          </a:graphicData>
        </a:graphic>
      </p:graphicFrame>
      <p:graphicFrame>
        <p:nvGraphicFramePr>
          <p:cNvPr id="162" name="Object 161">
            <a:extLst>
              <a:ext uri="{FF2B5EF4-FFF2-40B4-BE49-F238E27FC236}">
                <a16:creationId xmlns:a16="http://schemas.microsoft.com/office/drawing/2014/main" id="{774F2873-100C-4AC3-A0F2-01B736941AB1}"/>
              </a:ext>
            </a:extLst>
          </p:cNvPr>
          <p:cNvGraphicFramePr>
            <a:graphicFrameLocks noChangeAspect="1"/>
          </p:cNvGraphicFramePr>
          <p:nvPr>
            <p:extLst>
              <p:ext uri="{D42A27DB-BD31-4B8C-83A1-F6EECF244321}">
                <p14:modId xmlns:p14="http://schemas.microsoft.com/office/powerpoint/2010/main" val="701634997"/>
              </p:ext>
            </p:extLst>
          </p:nvPr>
        </p:nvGraphicFramePr>
        <p:xfrm>
          <a:off x="1000760" y="9182790"/>
          <a:ext cx="215900" cy="368300"/>
        </p:xfrm>
        <a:graphic>
          <a:graphicData uri="http://schemas.openxmlformats.org/presentationml/2006/ole">
            <mc:AlternateContent xmlns:mc="http://schemas.openxmlformats.org/markup-compatibility/2006">
              <mc:Choice xmlns:v="urn:schemas-microsoft-com:vml" Requires="v">
                <p:oleObj spid="_x0000_s2771" name="Equation" r:id="rId55" imgW="215640" imgH="368280" progId="Equation.DSMT4">
                  <p:embed/>
                </p:oleObj>
              </mc:Choice>
              <mc:Fallback>
                <p:oleObj name="Equation" r:id="rId55" imgW="215640" imgH="368280" progId="Equation.DSMT4">
                  <p:embed/>
                  <p:pic>
                    <p:nvPicPr>
                      <p:cNvPr id="147" name="Object 146"/>
                      <p:cNvPicPr/>
                      <p:nvPr/>
                    </p:nvPicPr>
                    <p:blipFill>
                      <a:blip r:embed="rId56"/>
                      <a:stretch>
                        <a:fillRect/>
                      </a:stretch>
                    </p:blipFill>
                    <p:spPr>
                      <a:xfrm>
                        <a:off x="1000760" y="9182790"/>
                        <a:ext cx="215900" cy="368300"/>
                      </a:xfrm>
                      <a:prstGeom prst="rect">
                        <a:avLst/>
                      </a:prstGeom>
                    </p:spPr>
                  </p:pic>
                </p:oleObj>
              </mc:Fallback>
            </mc:AlternateContent>
          </a:graphicData>
        </a:graphic>
      </p:graphicFrame>
      <p:graphicFrame>
        <p:nvGraphicFramePr>
          <p:cNvPr id="163" name="Object 162">
            <a:extLst>
              <a:ext uri="{FF2B5EF4-FFF2-40B4-BE49-F238E27FC236}">
                <a16:creationId xmlns:a16="http://schemas.microsoft.com/office/drawing/2014/main" id="{F2367737-1A1A-4B88-975D-C23E8A539271}"/>
              </a:ext>
            </a:extLst>
          </p:cNvPr>
          <p:cNvGraphicFramePr>
            <a:graphicFrameLocks noChangeAspect="1"/>
          </p:cNvGraphicFramePr>
          <p:nvPr>
            <p:extLst>
              <p:ext uri="{D42A27DB-BD31-4B8C-83A1-F6EECF244321}">
                <p14:modId xmlns:p14="http://schemas.microsoft.com/office/powerpoint/2010/main" val="2021523246"/>
              </p:ext>
            </p:extLst>
          </p:nvPr>
        </p:nvGraphicFramePr>
        <p:xfrm>
          <a:off x="2189480" y="8725590"/>
          <a:ext cx="203200" cy="368300"/>
        </p:xfrm>
        <a:graphic>
          <a:graphicData uri="http://schemas.openxmlformats.org/presentationml/2006/ole">
            <mc:AlternateContent xmlns:mc="http://schemas.openxmlformats.org/markup-compatibility/2006">
              <mc:Choice xmlns:v="urn:schemas-microsoft-com:vml" Requires="v">
                <p:oleObj spid="_x0000_s2772" name="Equation" r:id="rId57" imgW="203040" imgH="368280" progId="Equation.DSMT4">
                  <p:embed/>
                </p:oleObj>
              </mc:Choice>
              <mc:Fallback>
                <p:oleObj name="Equation" r:id="rId57" imgW="203040" imgH="368280" progId="Equation.DSMT4">
                  <p:embed/>
                  <p:pic>
                    <p:nvPicPr>
                      <p:cNvPr id="148" name="Object 147"/>
                      <p:cNvPicPr/>
                      <p:nvPr/>
                    </p:nvPicPr>
                    <p:blipFill>
                      <a:blip r:embed="rId58"/>
                      <a:stretch>
                        <a:fillRect/>
                      </a:stretch>
                    </p:blipFill>
                    <p:spPr>
                      <a:xfrm>
                        <a:off x="2189480" y="8725590"/>
                        <a:ext cx="203200" cy="368300"/>
                      </a:xfrm>
                      <a:prstGeom prst="rect">
                        <a:avLst/>
                      </a:prstGeom>
                    </p:spPr>
                  </p:pic>
                </p:oleObj>
              </mc:Fallback>
            </mc:AlternateContent>
          </a:graphicData>
        </a:graphic>
      </p:graphicFrame>
      <p:graphicFrame>
        <p:nvGraphicFramePr>
          <p:cNvPr id="164" name="Object 163">
            <a:extLst>
              <a:ext uri="{FF2B5EF4-FFF2-40B4-BE49-F238E27FC236}">
                <a16:creationId xmlns:a16="http://schemas.microsoft.com/office/drawing/2014/main" id="{AA1450EB-D048-47F1-B162-A60BBFEBE0AB}"/>
              </a:ext>
            </a:extLst>
          </p:cNvPr>
          <p:cNvGraphicFramePr>
            <a:graphicFrameLocks noChangeAspect="1"/>
          </p:cNvGraphicFramePr>
          <p:nvPr>
            <p:extLst>
              <p:ext uri="{D42A27DB-BD31-4B8C-83A1-F6EECF244321}">
                <p14:modId xmlns:p14="http://schemas.microsoft.com/office/powerpoint/2010/main" val="3500193122"/>
              </p:ext>
            </p:extLst>
          </p:nvPr>
        </p:nvGraphicFramePr>
        <p:xfrm>
          <a:off x="2209800" y="9182790"/>
          <a:ext cx="152400" cy="368300"/>
        </p:xfrm>
        <a:graphic>
          <a:graphicData uri="http://schemas.openxmlformats.org/presentationml/2006/ole">
            <mc:AlternateContent xmlns:mc="http://schemas.openxmlformats.org/markup-compatibility/2006">
              <mc:Choice xmlns:v="urn:schemas-microsoft-com:vml" Requires="v">
                <p:oleObj spid="_x0000_s2773" name="Equation" r:id="rId59" imgW="152280" imgH="368280" progId="Equation.DSMT4">
                  <p:embed/>
                </p:oleObj>
              </mc:Choice>
              <mc:Fallback>
                <p:oleObj name="Equation" r:id="rId59" imgW="152280" imgH="368280" progId="Equation.DSMT4">
                  <p:embed/>
                  <p:pic>
                    <p:nvPicPr>
                      <p:cNvPr id="149" name="Object 148"/>
                      <p:cNvPicPr/>
                      <p:nvPr/>
                    </p:nvPicPr>
                    <p:blipFill>
                      <a:blip r:embed="rId60"/>
                      <a:stretch>
                        <a:fillRect/>
                      </a:stretch>
                    </p:blipFill>
                    <p:spPr>
                      <a:xfrm>
                        <a:off x="2209800" y="9182790"/>
                        <a:ext cx="152400" cy="368300"/>
                      </a:xfrm>
                      <a:prstGeom prst="rect">
                        <a:avLst/>
                      </a:prstGeom>
                    </p:spPr>
                  </p:pic>
                </p:oleObj>
              </mc:Fallback>
            </mc:AlternateContent>
          </a:graphicData>
        </a:graphic>
      </p:graphicFrame>
      <p:sp>
        <p:nvSpPr>
          <p:cNvPr id="165" name="Rectangle 164">
            <a:extLst>
              <a:ext uri="{FF2B5EF4-FFF2-40B4-BE49-F238E27FC236}">
                <a16:creationId xmlns:a16="http://schemas.microsoft.com/office/drawing/2014/main" id="{8240C995-ADA9-42F5-80A2-6CCF25273679}"/>
              </a:ext>
            </a:extLst>
          </p:cNvPr>
          <p:cNvSpPr/>
          <p:nvPr/>
        </p:nvSpPr>
        <p:spPr>
          <a:xfrm>
            <a:off x="391160" y="7496230"/>
            <a:ext cx="1752403"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15. </a:t>
            </a:r>
            <a:r>
              <a:rPr lang="en-US" sz="1150" dirty="0">
                <a:effectLst/>
                <a:latin typeface="Tahoma" panose="020B0604030504040204" pitchFamily="34" charset="0"/>
                <a:ea typeface="Calibri" panose="020F0502020204030204" pitchFamily="34" charset="0"/>
              </a:rPr>
              <a:t>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(snowboard | ski)</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grayscl/>
          </a:blip>
          <a:srcRect/>
          <a:stretch>
            <a:fillRect/>
          </a:stretch>
        </a:blipFill>
        <a:effectLst/>
      </p:bgPr>
    </p:bg>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87648B66-4C5E-4101-894A-01B7214AD957}"/>
              </a:ext>
            </a:extLst>
          </p:cNvPr>
          <p:cNvSpPr/>
          <p:nvPr/>
        </p:nvSpPr>
        <p:spPr>
          <a:xfrm>
            <a:off x="436880" y="333431"/>
            <a:ext cx="67818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17-18.  </a:t>
            </a:r>
            <a:r>
              <a:rPr lang="en-US" sz="1150" dirty="0">
                <a:effectLst/>
                <a:latin typeface="Tahoma" panose="020B0604030504040204" pitchFamily="34" charset="0"/>
                <a:ea typeface="Calibri" panose="020F0502020204030204" pitchFamily="34" charset="0"/>
              </a:rPr>
              <a:t>The table below shows the number of students at Parkland High School that made honor roll last quarter.  If a student is chosen at random, find each probability.  Give your answers as fractions in simplest form.</a:t>
            </a:r>
            <a:endParaRPr lang="en-US" dirty="0"/>
          </a:p>
        </p:txBody>
      </p:sp>
      <p:graphicFrame>
        <p:nvGraphicFramePr>
          <p:cNvPr id="62" name="Table 61">
            <a:extLst>
              <a:ext uri="{FF2B5EF4-FFF2-40B4-BE49-F238E27FC236}">
                <a16:creationId xmlns:a16="http://schemas.microsoft.com/office/drawing/2014/main" id="{2BD260D6-1903-485B-96B9-64F7866A8162}"/>
              </a:ext>
            </a:extLst>
          </p:cNvPr>
          <p:cNvGraphicFramePr>
            <a:graphicFrameLocks noGrp="1"/>
          </p:cNvGraphicFramePr>
          <p:nvPr>
            <p:extLst>
              <p:ext uri="{D42A27DB-BD31-4B8C-83A1-F6EECF244321}">
                <p14:modId xmlns:p14="http://schemas.microsoft.com/office/powerpoint/2010/main" val="3496960001"/>
              </p:ext>
            </p:extLst>
          </p:nvPr>
        </p:nvGraphicFramePr>
        <p:xfrm>
          <a:off x="1143000" y="1059871"/>
          <a:ext cx="2003425" cy="1443990"/>
        </p:xfrm>
        <a:graphic>
          <a:graphicData uri="http://schemas.openxmlformats.org/drawingml/2006/table">
            <a:tbl>
              <a:tblPr firstRow="1" firstCol="1" bandRow="1"/>
              <a:tblGrid>
                <a:gridCol w="860425">
                  <a:extLst>
                    <a:ext uri="{9D8B030D-6E8A-4147-A177-3AD203B41FA5}">
                      <a16:colId xmlns:a16="http://schemas.microsoft.com/office/drawing/2014/main" val="20000"/>
                    </a:ext>
                  </a:extLst>
                </a:gridCol>
                <a:gridCol w="571500">
                  <a:extLst>
                    <a:ext uri="{9D8B030D-6E8A-4147-A177-3AD203B41FA5}">
                      <a16:colId xmlns:a16="http://schemas.microsoft.com/office/drawing/2014/main" val="20001"/>
                    </a:ext>
                  </a:extLst>
                </a:gridCol>
                <a:gridCol w="571500">
                  <a:extLst>
                    <a:ext uri="{9D8B030D-6E8A-4147-A177-3AD203B41FA5}">
                      <a16:colId xmlns:a16="http://schemas.microsoft.com/office/drawing/2014/main" val="20002"/>
                    </a:ext>
                  </a:extLst>
                </a:gridCol>
              </a:tblGrid>
              <a:tr h="210185">
                <a:tc rowSpan="2">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2">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Honor Roll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10185">
                <a:tc vMerge="1">
                  <a:txBody>
                    <a:bodyPr/>
                    <a:lstStyle/>
                    <a:p>
                      <a:endParaRPr lang="en-US"/>
                    </a:p>
                  </a:txBody>
                  <a:tcPr/>
                </a:tc>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9</a:t>
                      </a:r>
                      <a:r>
                        <a:rPr lang="en-US" sz="1050" b="1" baseline="30000">
                          <a:effectLst/>
                          <a:latin typeface="Century Gothic" panose="020B0502020202020204" pitchFamily="34" charset="0"/>
                          <a:ea typeface="Calibri" panose="020F0502020204030204" pitchFamily="34" charset="0"/>
                          <a:cs typeface="Tahoma" panose="020B0604030504040204" pitchFamily="34" charset="0"/>
                        </a:rPr>
                        <a:t>th</a:t>
                      </a:r>
                      <a:r>
                        <a:rPr lang="en-US" sz="1050" b="1">
                          <a:effectLst/>
                          <a:latin typeface="Century Gothic" panose="020B0502020202020204" pitchFamily="34" charset="0"/>
                          <a:ea typeface="Calibri" panose="020F0502020204030204" pitchFamily="34" charset="0"/>
                          <a:cs typeface="Tahoma" panose="020B0604030504040204" pitchFamily="34" charset="0"/>
                        </a:rPr>
                        <a:t> Grade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72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120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10</a:t>
                      </a:r>
                      <a:r>
                        <a:rPr lang="en-US" sz="1050" b="1" baseline="30000">
                          <a:effectLst/>
                          <a:latin typeface="Century Gothic" panose="020B0502020202020204" pitchFamily="34" charset="0"/>
                          <a:ea typeface="Calibri" panose="020F0502020204030204" pitchFamily="34" charset="0"/>
                          <a:cs typeface="Tahoma" panose="020B0604030504040204" pitchFamily="34" charset="0"/>
                        </a:rPr>
                        <a:t>th</a:t>
                      </a:r>
                      <a:r>
                        <a:rPr lang="en-US" sz="1050" b="1">
                          <a:effectLst/>
                          <a:latin typeface="Century Gothic" panose="020B0502020202020204" pitchFamily="34" charset="0"/>
                          <a:ea typeface="Calibri" panose="020F0502020204030204" pitchFamily="34" charset="0"/>
                          <a:cs typeface="Tahoma" panose="020B0604030504040204" pitchFamily="34" charset="0"/>
                        </a:rPr>
                        <a:t> Grade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95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117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11</a:t>
                      </a:r>
                      <a:r>
                        <a:rPr lang="en-US" sz="1050" b="1" baseline="30000">
                          <a:effectLst/>
                          <a:latin typeface="Century Gothic" panose="020B0502020202020204" pitchFamily="34" charset="0"/>
                          <a:ea typeface="Calibri" panose="020F0502020204030204" pitchFamily="34" charset="0"/>
                          <a:cs typeface="Tahoma" panose="020B0604030504040204" pitchFamily="34" charset="0"/>
                        </a:rPr>
                        <a:t>th</a:t>
                      </a:r>
                      <a:r>
                        <a:rPr lang="en-US" sz="1050" b="1">
                          <a:effectLst/>
                          <a:latin typeface="Century Gothic" panose="020B0502020202020204" pitchFamily="34" charset="0"/>
                          <a:ea typeface="Calibri" panose="020F0502020204030204" pitchFamily="34" charset="0"/>
                          <a:cs typeface="Tahoma" panose="020B0604030504040204" pitchFamily="34" charset="0"/>
                        </a:rPr>
                        <a:t> Grade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76</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124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12</a:t>
                      </a:r>
                      <a:r>
                        <a:rPr lang="en-US" sz="1050" b="1" baseline="30000">
                          <a:effectLst/>
                          <a:latin typeface="Century Gothic" panose="020B0502020202020204" pitchFamily="34" charset="0"/>
                          <a:ea typeface="Calibri" panose="020F0502020204030204" pitchFamily="34" charset="0"/>
                          <a:cs typeface="Tahoma" panose="020B0604030504040204" pitchFamily="34" charset="0"/>
                        </a:rPr>
                        <a:t>th</a:t>
                      </a:r>
                      <a:r>
                        <a:rPr lang="en-US" sz="1050" b="1">
                          <a:effectLst/>
                          <a:latin typeface="Century Gothic" panose="020B0502020202020204" pitchFamily="34" charset="0"/>
                          <a:ea typeface="Calibri" panose="020F0502020204030204" pitchFamily="34" charset="0"/>
                          <a:cs typeface="Tahoma" panose="020B0604030504040204" pitchFamily="34" charset="0"/>
                        </a:rPr>
                        <a:t> Grade</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57</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dirty="0">
                          <a:effectLst/>
                          <a:latin typeface="Century Gothic" panose="020B0502020202020204" pitchFamily="34" charset="0"/>
                          <a:ea typeface="Calibri" panose="020F0502020204030204" pitchFamily="34" charset="0"/>
                          <a:cs typeface="Times New Roman" panose="02020603050405020304" pitchFamily="18" charset="0"/>
                        </a:rPr>
                        <a:t>139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3" name="Rectangle 62">
            <a:extLst>
              <a:ext uri="{FF2B5EF4-FFF2-40B4-BE49-F238E27FC236}">
                <a16:creationId xmlns:a16="http://schemas.microsoft.com/office/drawing/2014/main" id="{5AFE08C8-263B-498A-BDA0-10276FE802B9}"/>
              </a:ext>
            </a:extLst>
          </p:cNvPr>
          <p:cNvSpPr/>
          <p:nvPr/>
        </p:nvSpPr>
        <p:spPr>
          <a:xfrm>
            <a:off x="3820160" y="861751"/>
            <a:ext cx="2207656"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17.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(honor roll | 11</a:t>
            </a:r>
            <a:r>
              <a:rPr lang="en-US" sz="1150" baseline="30000" dirty="0">
                <a:effectLst/>
                <a:latin typeface="Tahoma" panose="020B0604030504040204" pitchFamily="34" charset="0"/>
                <a:ea typeface="Calibri" panose="020F0502020204030204" pitchFamily="34" charset="0"/>
              </a:rPr>
              <a:t>th</a:t>
            </a:r>
            <a:r>
              <a:rPr lang="en-US" sz="1150" dirty="0">
                <a:effectLst/>
                <a:latin typeface="Tahoma" panose="020B0604030504040204" pitchFamily="34" charset="0"/>
                <a:ea typeface="Calibri" panose="020F0502020204030204" pitchFamily="34" charset="0"/>
              </a:rPr>
              <a:t> grader)</a:t>
            </a:r>
            <a:endParaRPr lang="en-US" dirty="0"/>
          </a:p>
        </p:txBody>
      </p:sp>
      <p:sp>
        <p:nvSpPr>
          <p:cNvPr id="64" name="Rectangle 63">
            <a:extLst>
              <a:ext uri="{FF2B5EF4-FFF2-40B4-BE49-F238E27FC236}">
                <a16:creationId xmlns:a16="http://schemas.microsoft.com/office/drawing/2014/main" id="{07C3CDDD-5E00-4485-800C-35EB184BF47F}"/>
              </a:ext>
            </a:extLst>
          </p:cNvPr>
          <p:cNvSpPr/>
          <p:nvPr/>
        </p:nvSpPr>
        <p:spPr>
          <a:xfrm>
            <a:off x="3810000" y="1745671"/>
            <a:ext cx="2385589"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18.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(9</a:t>
            </a:r>
            <a:r>
              <a:rPr lang="en-US" sz="1150" baseline="30000" dirty="0">
                <a:effectLst/>
                <a:latin typeface="Tahoma" panose="020B0604030504040204" pitchFamily="34" charset="0"/>
                <a:ea typeface="Calibri" panose="020F0502020204030204" pitchFamily="34" charset="0"/>
              </a:rPr>
              <a:t>th</a:t>
            </a:r>
            <a:r>
              <a:rPr lang="en-US" sz="1150" dirty="0">
                <a:effectLst/>
                <a:latin typeface="Tahoma" panose="020B0604030504040204" pitchFamily="34" charset="0"/>
                <a:ea typeface="Calibri" panose="020F0502020204030204" pitchFamily="34" charset="0"/>
              </a:rPr>
              <a:t> grader | not honor roll)</a:t>
            </a:r>
            <a:endParaRPr lang="en-US" dirty="0"/>
          </a:p>
        </p:txBody>
      </p:sp>
      <p:sp>
        <p:nvSpPr>
          <p:cNvPr id="65" name="Text Box 16">
            <a:extLst>
              <a:ext uri="{FF2B5EF4-FFF2-40B4-BE49-F238E27FC236}">
                <a16:creationId xmlns:a16="http://schemas.microsoft.com/office/drawing/2014/main" id="{B17A044B-FDDE-4190-8039-443EF8A9D61C}"/>
              </a:ext>
            </a:extLst>
          </p:cNvPr>
          <p:cNvSpPr txBox="1">
            <a:spLocks noChangeArrowheads="1"/>
          </p:cNvSpPr>
          <p:nvPr/>
        </p:nvSpPr>
        <p:spPr bwMode="auto">
          <a:xfrm>
            <a:off x="6715760" y="2004751"/>
            <a:ext cx="520700" cy="590550"/>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6" name="Text Box 16">
            <a:extLst>
              <a:ext uri="{FF2B5EF4-FFF2-40B4-BE49-F238E27FC236}">
                <a16:creationId xmlns:a16="http://schemas.microsoft.com/office/drawing/2014/main" id="{85328612-D3FE-4941-8C94-984865D4B3F4}"/>
              </a:ext>
            </a:extLst>
          </p:cNvPr>
          <p:cNvSpPr txBox="1">
            <a:spLocks noChangeArrowheads="1"/>
          </p:cNvSpPr>
          <p:nvPr/>
        </p:nvSpPr>
        <p:spPr bwMode="auto">
          <a:xfrm>
            <a:off x="6705600" y="1136071"/>
            <a:ext cx="520700" cy="590550"/>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7" name="Rectangle 66">
            <a:extLst>
              <a:ext uri="{FF2B5EF4-FFF2-40B4-BE49-F238E27FC236}">
                <a16:creationId xmlns:a16="http://schemas.microsoft.com/office/drawing/2014/main" id="{90E4A7A8-E42D-4FEA-A497-7D36C459B581}"/>
              </a:ext>
            </a:extLst>
          </p:cNvPr>
          <p:cNvSpPr/>
          <p:nvPr/>
        </p:nvSpPr>
        <p:spPr>
          <a:xfrm>
            <a:off x="426720" y="2614351"/>
            <a:ext cx="68961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19-20.  </a:t>
            </a:r>
            <a:r>
              <a:rPr lang="en-US" sz="1150" dirty="0">
                <a:effectLst/>
                <a:latin typeface="Tahoma" panose="020B0604030504040204" pitchFamily="34" charset="0"/>
                <a:ea typeface="Calibri" panose="020F0502020204030204" pitchFamily="34" charset="0"/>
              </a:rPr>
              <a:t>Rob and Casey are at batting practice.  The table below shows the joint relative frequencies for their misses, fouls, hits, and homeruns.  Give the marginal relative frequencies, then find each probability. </a:t>
            </a:r>
            <a:endParaRPr lang="en-US" dirty="0"/>
          </a:p>
        </p:txBody>
      </p:sp>
      <p:graphicFrame>
        <p:nvGraphicFramePr>
          <p:cNvPr id="68" name="Table 67">
            <a:extLst>
              <a:ext uri="{FF2B5EF4-FFF2-40B4-BE49-F238E27FC236}">
                <a16:creationId xmlns:a16="http://schemas.microsoft.com/office/drawing/2014/main" id="{018BB939-4FF7-429F-AE5D-D875E6F6A4F6}"/>
              </a:ext>
            </a:extLst>
          </p:cNvPr>
          <p:cNvGraphicFramePr>
            <a:graphicFrameLocks noGrp="1"/>
          </p:cNvGraphicFramePr>
          <p:nvPr>
            <p:extLst>
              <p:ext uri="{D42A27DB-BD31-4B8C-83A1-F6EECF244321}">
                <p14:modId xmlns:p14="http://schemas.microsoft.com/office/powerpoint/2010/main" val="172786548"/>
              </p:ext>
            </p:extLst>
          </p:nvPr>
        </p:nvGraphicFramePr>
        <p:xfrm>
          <a:off x="685800" y="3574471"/>
          <a:ext cx="2917825" cy="1489710"/>
        </p:xfrm>
        <a:graphic>
          <a:graphicData uri="http://schemas.openxmlformats.org/drawingml/2006/table">
            <a:tbl>
              <a:tblPr firstRow="1" firstCol="1" bandRow="1"/>
              <a:tblGrid>
                <a:gridCol w="849630">
                  <a:extLst>
                    <a:ext uri="{9D8B030D-6E8A-4147-A177-3AD203B41FA5}">
                      <a16:colId xmlns:a16="http://schemas.microsoft.com/office/drawing/2014/main" val="20000"/>
                    </a:ext>
                  </a:extLst>
                </a:gridCol>
                <a:gridCol w="688975">
                  <a:extLst>
                    <a:ext uri="{9D8B030D-6E8A-4147-A177-3AD203B41FA5}">
                      <a16:colId xmlns:a16="http://schemas.microsoft.com/office/drawing/2014/main" val="20001"/>
                    </a:ext>
                  </a:extLst>
                </a:gridCol>
                <a:gridCol w="689610">
                  <a:extLst>
                    <a:ext uri="{9D8B030D-6E8A-4147-A177-3AD203B41FA5}">
                      <a16:colId xmlns:a16="http://schemas.microsoft.com/office/drawing/2014/main" val="20002"/>
                    </a:ext>
                  </a:extLst>
                </a:gridCol>
                <a:gridCol w="689610">
                  <a:extLst>
                    <a:ext uri="{9D8B030D-6E8A-4147-A177-3AD203B41FA5}">
                      <a16:colId xmlns:a16="http://schemas.microsoft.com/office/drawing/2014/main" val="20003"/>
                    </a:ext>
                  </a:extLst>
                </a:gridCol>
              </a:tblGrid>
              <a:tr h="210185">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Rob</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Casey</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Misses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.1125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Fouls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.10</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.05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Hits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.2875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.3375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Homeruns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.0375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.025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55905">
                <a:tc>
                  <a:txBody>
                    <a:bodyPr/>
                    <a:lstStyle/>
                    <a:p>
                      <a:pPr marL="0" marR="0" algn="ctr">
                        <a:lnSpc>
                          <a:spcPct val="115000"/>
                        </a:lnSpc>
                        <a:spcBef>
                          <a:spcPts val="0"/>
                        </a:spcBef>
                        <a:spcAft>
                          <a:spcPts val="0"/>
                        </a:spcAft>
                      </a:pPr>
                      <a:r>
                        <a:rPr lang="en-US" sz="1050" b="1">
                          <a:effectLst/>
                          <a:latin typeface="Century Gothic" panose="020B0502020202020204" pitchFamily="34" charset="0"/>
                          <a:ea typeface="Calibri" panose="020F0502020204030204" pitchFamily="34" charset="0"/>
                          <a:cs typeface="Tahoma" panose="020B0604030504040204" pitchFamily="34" charset="0"/>
                        </a:rPr>
                        <a:t>Total</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15000"/>
                        </a:lnSpc>
                        <a:spcBef>
                          <a:spcPts val="0"/>
                        </a:spcBef>
                        <a:spcAft>
                          <a:spcPts val="0"/>
                        </a:spcAft>
                      </a:pPr>
                      <a:r>
                        <a:rPr lang="en-US" sz="1050" dirty="0">
                          <a:effectLst/>
                          <a:latin typeface="Century Gothic" panose="020B0502020202020204" pitchFamily="34" charset="0"/>
                          <a:ea typeface="Calibri" panose="020F0502020204030204" pitchFamily="34" charset="0"/>
                          <a:cs typeface="Times New Roman" panose="02020603050405020304" pitchFamily="18" charset="0"/>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9" name="Text Box 807">
            <a:extLst>
              <a:ext uri="{FF2B5EF4-FFF2-40B4-BE49-F238E27FC236}">
                <a16:creationId xmlns:a16="http://schemas.microsoft.com/office/drawing/2014/main" id="{996216D4-3C77-429C-8937-03D4C8ED8034}"/>
              </a:ext>
            </a:extLst>
          </p:cNvPr>
          <p:cNvSpPr txBox="1">
            <a:spLocks noChangeArrowheads="1"/>
          </p:cNvSpPr>
          <p:nvPr/>
        </p:nvSpPr>
        <p:spPr bwMode="auto">
          <a:xfrm>
            <a:off x="3886200" y="3787831"/>
            <a:ext cx="2801620" cy="474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B.           C.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0" name="Object 69">
            <a:extLst>
              <a:ext uri="{FF2B5EF4-FFF2-40B4-BE49-F238E27FC236}">
                <a16:creationId xmlns:a16="http://schemas.microsoft.com/office/drawing/2014/main" id="{551CA44D-FB0F-42DF-80BF-FDCA840798D0}"/>
              </a:ext>
            </a:extLst>
          </p:cNvPr>
          <p:cNvGraphicFramePr>
            <a:graphicFrameLocks noChangeAspect="1"/>
          </p:cNvGraphicFramePr>
          <p:nvPr>
            <p:extLst>
              <p:ext uri="{D42A27DB-BD31-4B8C-83A1-F6EECF244321}">
                <p14:modId xmlns:p14="http://schemas.microsoft.com/office/powerpoint/2010/main" val="4047115190"/>
              </p:ext>
            </p:extLst>
          </p:nvPr>
        </p:nvGraphicFramePr>
        <p:xfrm>
          <a:off x="4191000" y="3787831"/>
          <a:ext cx="228600" cy="368300"/>
        </p:xfrm>
        <a:graphic>
          <a:graphicData uri="http://schemas.openxmlformats.org/presentationml/2006/ole">
            <mc:AlternateContent xmlns:mc="http://schemas.openxmlformats.org/markup-compatibility/2006">
              <mc:Choice xmlns:v="urn:schemas-microsoft-com:vml" Requires="v">
                <p:oleObj spid="_x0000_s3265" name="Equation" r:id="rId4" imgW="228600" imgH="368280" progId="Equation.DSMT4">
                  <p:embed/>
                </p:oleObj>
              </mc:Choice>
              <mc:Fallback>
                <p:oleObj name="Equation" r:id="rId4" imgW="228600" imgH="368280" progId="Equation.DSMT4">
                  <p:embed/>
                  <p:pic>
                    <p:nvPicPr>
                      <p:cNvPr id="31" name="Object 30"/>
                      <p:cNvPicPr/>
                      <p:nvPr/>
                    </p:nvPicPr>
                    <p:blipFill>
                      <a:blip r:embed="rId5"/>
                      <a:stretch>
                        <a:fillRect/>
                      </a:stretch>
                    </p:blipFill>
                    <p:spPr>
                      <a:xfrm>
                        <a:off x="4191000" y="3787831"/>
                        <a:ext cx="228600" cy="368300"/>
                      </a:xfrm>
                      <a:prstGeom prst="rect">
                        <a:avLst/>
                      </a:prstGeom>
                    </p:spPr>
                  </p:pic>
                </p:oleObj>
              </mc:Fallback>
            </mc:AlternateContent>
          </a:graphicData>
        </a:graphic>
      </p:graphicFrame>
      <p:graphicFrame>
        <p:nvGraphicFramePr>
          <p:cNvPr id="71" name="Object 70">
            <a:extLst>
              <a:ext uri="{FF2B5EF4-FFF2-40B4-BE49-F238E27FC236}">
                <a16:creationId xmlns:a16="http://schemas.microsoft.com/office/drawing/2014/main" id="{5FB6A8AD-2722-47F9-A986-15E474EB37AD}"/>
              </a:ext>
            </a:extLst>
          </p:cNvPr>
          <p:cNvGraphicFramePr>
            <a:graphicFrameLocks noChangeAspect="1"/>
          </p:cNvGraphicFramePr>
          <p:nvPr>
            <p:extLst>
              <p:ext uri="{D42A27DB-BD31-4B8C-83A1-F6EECF244321}">
                <p14:modId xmlns:p14="http://schemas.microsoft.com/office/powerpoint/2010/main" val="4001962180"/>
              </p:ext>
            </p:extLst>
          </p:nvPr>
        </p:nvGraphicFramePr>
        <p:xfrm>
          <a:off x="4800600" y="3787831"/>
          <a:ext cx="139700" cy="368300"/>
        </p:xfrm>
        <a:graphic>
          <a:graphicData uri="http://schemas.openxmlformats.org/presentationml/2006/ole">
            <mc:AlternateContent xmlns:mc="http://schemas.openxmlformats.org/markup-compatibility/2006">
              <mc:Choice xmlns:v="urn:schemas-microsoft-com:vml" Requires="v">
                <p:oleObj spid="_x0000_s3266" name="Equation" r:id="rId6" imgW="139680" imgH="368280" progId="Equation.DSMT4">
                  <p:embed/>
                </p:oleObj>
              </mc:Choice>
              <mc:Fallback>
                <p:oleObj name="Equation" r:id="rId6" imgW="139680" imgH="368280" progId="Equation.DSMT4">
                  <p:embed/>
                  <p:pic>
                    <p:nvPicPr>
                      <p:cNvPr id="32" name="Object 31"/>
                      <p:cNvPicPr/>
                      <p:nvPr/>
                    </p:nvPicPr>
                    <p:blipFill>
                      <a:blip r:embed="rId7"/>
                      <a:stretch>
                        <a:fillRect/>
                      </a:stretch>
                    </p:blipFill>
                    <p:spPr>
                      <a:xfrm>
                        <a:off x="4800600" y="3787831"/>
                        <a:ext cx="139700" cy="368300"/>
                      </a:xfrm>
                      <a:prstGeom prst="rect">
                        <a:avLst/>
                      </a:prstGeom>
                    </p:spPr>
                  </p:pic>
                </p:oleObj>
              </mc:Fallback>
            </mc:AlternateContent>
          </a:graphicData>
        </a:graphic>
      </p:graphicFrame>
      <p:graphicFrame>
        <p:nvGraphicFramePr>
          <p:cNvPr id="72" name="Object 71">
            <a:extLst>
              <a:ext uri="{FF2B5EF4-FFF2-40B4-BE49-F238E27FC236}">
                <a16:creationId xmlns:a16="http://schemas.microsoft.com/office/drawing/2014/main" id="{2353ACE4-803A-4A96-8F7F-6E61928B7128}"/>
              </a:ext>
            </a:extLst>
          </p:cNvPr>
          <p:cNvGraphicFramePr>
            <a:graphicFrameLocks noChangeAspect="1"/>
          </p:cNvGraphicFramePr>
          <p:nvPr>
            <p:extLst>
              <p:ext uri="{D42A27DB-BD31-4B8C-83A1-F6EECF244321}">
                <p14:modId xmlns:p14="http://schemas.microsoft.com/office/powerpoint/2010/main" val="2399881463"/>
              </p:ext>
            </p:extLst>
          </p:nvPr>
        </p:nvGraphicFramePr>
        <p:xfrm>
          <a:off x="5378450" y="3787831"/>
          <a:ext cx="215900" cy="368300"/>
        </p:xfrm>
        <a:graphic>
          <a:graphicData uri="http://schemas.openxmlformats.org/presentationml/2006/ole">
            <mc:AlternateContent xmlns:mc="http://schemas.openxmlformats.org/markup-compatibility/2006">
              <mc:Choice xmlns:v="urn:schemas-microsoft-com:vml" Requires="v">
                <p:oleObj spid="_x0000_s3267" name="Equation" r:id="rId8" imgW="215640" imgH="368280" progId="Equation.DSMT4">
                  <p:embed/>
                </p:oleObj>
              </mc:Choice>
              <mc:Fallback>
                <p:oleObj name="Equation" r:id="rId8" imgW="215640" imgH="368280" progId="Equation.DSMT4">
                  <p:embed/>
                  <p:pic>
                    <p:nvPicPr>
                      <p:cNvPr id="33" name="Object 32"/>
                      <p:cNvPicPr/>
                      <p:nvPr/>
                    </p:nvPicPr>
                    <p:blipFill>
                      <a:blip r:embed="rId9"/>
                      <a:stretch>
                        <a:fillRect/>
                      </a:stretch>
                    </p:blipFill>
                    <p:spPr>
                      <a:xfrm>
                        <a:off x="5378450" y="3787831"/>
                        <a:ext cx="215900" cy="368300"/>
                      </a:xfrm>
                      <a:prstGeom prst="rect">
                        <a:avLst/>
                      </a:prstGeom>
                    </p:spPr>
                  </p:pic>
                </p:oleObj>
              </mc:Fallback>
            </mc:AlternateContent>
          </a:graphicData>
        </a:graphic>
      </p:graphicFrame>
      <p:graphicFrame>
        <p:nvGraphicFramePr>
          <p:cNvPr id="73" name="Object 72">
            <a:extLst>
              <a:ext uri="{FF2B5EF4-FFF2-40B4-BE49-F238E27FC236}">
                <a16:creationId xmlns:a16="http://schemas.microsoft.com/office/drawing/2014/main" id="{2C4D100A-A931-450A-93C7-7CC1C77F04D4}"/>
              </a:ext>
            </a:extLst>
          </p:cNvPr>
          <p:cNvGraphicFramePr>
            <a:graphicFrameLocks noChangeAspect="1"/>
          </p:cNvGraphicFramePr>
          <p:nvPr>
            <p:extLst>
              <p:ext uri="{D42A27DB-BD31-4B8C-83A1-F6EECF244321}">
                <p14:modId xmlns:p14="http://schemas.microsoft.com/office/powerpoint/2010/main" val="2152444117"/>
              </p:ext>
            </p:extLst>
          </p:nvPr>
        </p:nvGraphicFramePr>
        <p:xfrm>
          <a:off x="6019800" y="3787831"/>
          <a:ext cx="203200" cy="368300"/>
        </p:xfrm>
        <a:graphic>
          <a:graphicData uri="http://schemas.openxmlformats.org/presentationml/2006/ole">
            <mc:AlternateContent xmlns:mc="http://schemas.openxmlformats.org/markup-compatibility/2006">
              <mc:Choice xmlns:v="urn:schemas-microsoft-com:vml" Requires="v">
                <p:oleObj spid="_x0000_s3268" name="Equation" r:id="rId10" imgW="203040" imgH="368280" progId="Equation.DSMT4">
                  <p:embed/>
                </p:oleObj>
              </mc:Choice>
              <mc:Fallback>
                <p:oleObj name="Equation" r:id="rId10" imgW="203040" imgH="368280" progId="Equation.DSMT4">
                  <p:embed/>
                  <p:pic>
                    <p:nvPicPr>
                      <p:cNvPr id="34" name="Object 33"/>
                      <p:cNvPicPr/>
                      <p:nvPr/>
                    </p:nvPicPr>
                    <p:blipFill>
                      <a:blip r:embed="rId11"/>
                      <a:stretch>
                        <a:fillRect/>
                      </a:stretch>
                    </p:blipFill>
                    <p:spPr>
                      <a:xfrm>
                        <a:off x="6019800" y="3787831"/>
                        <a:ext cx="203200" cy="368300"/>
                      </a:xfrm>
                      <a:prstGeom prst="rect">
                        <a:avLst/>
                      </a:prstGeom>
                    </p:spPr>
                  </p:pic>
                </p:oleObj>
              </mc:Fallback>
            </mc:AlternateContent>
          </a:graphicData>
        </a:graphic>
      </p:graphicFrame>
      <p:sp>
        <p:nvSpPr>
          <p:cNvPr id="74" name="Rectangle 73">
            <a:extLst>
              <a:ext uri="{FF2B5EF4-FFF2-40B4-BE49-F238E27FC236}">
                <a16:creationId xmlns:a16="http://schemas.microsoft.com/office/drawing/2014/main" id="{08D587C9-497F-4B31-A0A1-7217181FDDD0}"/>
              </a:ext>
            </a:extLst>
          </p:cNvPr>
          <p:cNvSpPr/>
          <p:nvPr/>
        </p:nvSpPr>
        <p:spPr>
          <a:xfrm>
            <a:off x="3810000" y="3162991"/>
            <a:ext cx="1826141"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19.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(homerun | Casey)</a:t>
            </a:r>
            <a:endParaRPr lang="en-US" dirty="0"/>
          </a:p>
        </p:txBody>
      </p:sp>
      <p:sp>
        <p:nvSpPr>
          <p:cNvPr id="75" name="Text Box 312">
            <a:extLst>
              <a:ext uri="{FF2B5EF4-FFF2-40B4-BE49-F238E27FC236}">
                <a16:creationId xmlns:a16="http://schemas.microsoft.com/office/drawing/2014/main" id="{8DF34CCA-6A98-4BD0-8022-A09DF3703783}"/>
              </a:ext>
            </a:extLst>
          </p:cNvPr>
          <p:cNvSpPr txBox="1">
            <a:spLocks noChangeArrowheads="1"/>
          </p:cNvSpPr>
          <p:nvPr/>
        </p:nvSpPr>
        <p:spPr bwMode="auto">
          <a:xfrm>
            <a:off x="6720840" y="383355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6" name="Text Box 312">
            <a:extLst>
              <a:ext uri="{FF2B5EF4-FFF2-40B4-BE49-F238E27FC236}">
                <a16:creationId xmlns:a16="http://schemas.microsoft.com/office/drawing/2014/main" id="{55FD2AEB-E4A5-475E-817B-6A3C12326690}"/>
              </a:ext>
            </a:extLst>
          </p:cNvPr>
          <p:cNvSpPr txBox="1">
            <a:spLocks noChangeArrowheads="1"/>
          </p:cNvSpPr>
          <p:nvPr/>
        </p:nvSpPr>
        <p:spPr bwMode="auto">
          <a:xfrm>
            <a:off x="6705600" y="486987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7" name="Text Box 807">
            <a:extLst>
              <a:ext uri="{FF2B5EF4-FFF2-40B4-BE49-F238E27FC236}">
                <a16:creationId xmlns:a16="http://schemas.microsoft.com/office/drawing/2014/main" id="{CA60CB30-97B1-48E0-BC05-C8C93C902697}"/>
              </a:ext>
            </a:extLst>
          </p:cNvPr>
          <p:cNvSpPr txBox="1">
            <a:spLocks noChangeArrowheads="1"/>
          </p:cNvSpPr>
          <p:nvPr/>
        </p:nvSpPr>
        <p:spPr bwMode="auto">
          <a:xfrm>
            <a:off x="3886200" y="4869871"/>
            <a:ext cx="2801620" cy="474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4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B.           C.           D.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100" b="1" dirty="0">
                <a:effectLst/>
                <a:latin typeface="Tahoma" panose="020B0604030504040204" pitchFamily="34" charset="0"/>
                <a:ea typeface="Calibri" panose="020F0502020204030204" pitchFamily="34" charset="0"/>
                <a:cs typeface="Times New Roman" panose="02020603050405020304" pitchFamily="18" charset="0"/>
              </a:rPr>
            </a:b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78" name="Object 77">
            <a:extLst>
              <a:ext uri="{FF2B5EF4-FFF2-40B4-BE49-F238E27FC236}">
                <a16:creationId xmlns:a16="http://schemas.microsoft.com/office/drawing/2014/main" id="{EA148C48-A217-4F68-8DE5-BA4CB8C23130}"/>
              </a:ext>
            </a:extLst>
          </p:cNvPr>
          <p:cNvGraphicFramePr>
            <a:graphicFrameLocks noChangeAspect="1"/>
          </p:cNvGraphicFramePr>
          <p:nvPr>
            <p:extLst>
              <p:ext uri="{D42A27DB-BD31-4B8C-83A1-F6EECF244321}">
                <p14:modId xmlns:p14="http://schemas.microsoft.com/office/powerpoint/2010/main" val="3596768000"/>
              </p:ext>
            </p:extLst>
          </p:nvPr>
        </p:nvGraphicFramePr>
        <p:xfrm>
          <a:off x="4241800" y="4869871"/>
          <a:ext cx="215900" cy="368300"/>
        </p:xfrm>
        <a:graphic>
          <a:graphicData uri="http://schemas.openxmlformats.org/presentationml/2006/ole">
            <mc:AlternateContent xmlns:mc="http://schemas.openxmlformats.org/markup-compatibility/2006">
              <mc:Choice xmlns:v="urn:schemas-microsoft-com:vml" Requires="v">
                <p:oleObj spid="_x0000_s3269" name="Equation" r:id="rId12" imgW="215640" imgH="368280" progId="Equation.DSMT4">
                  <p:embed/>
                </p:oleObj>
              </mc:Choice>
              <mc:Fallback>
                <p:oleObj name="Equation" r:id="rId12" imgW="215640" imgH="368280" progId="Equation.DSMT4">
                  <p:embed/>
                  <p:pic>
                    <p:nvPicPr>
                      <p:cNvPr id="39" name="Object 38"/>
                      <p:cNvPicPr/>
                      <p:nvPr/>
                    </p:nvPicPr>
                    <p:blipFill>
                      <a:blip r:embed="rId13"/>
                      <a:stretch>
                        <a:fillRect/>
                      </a:stretch>
                    </p:blipFill>
                    <p:spPr>
                      <a:xfrm>
                        <a:off x="4241800" y="4869871"/>
                        <a:ext cx="215900" cy="368300"/>
                      </a:xfrm>
                      <a:prstGeom prst="rect">
                        <a:avLst/>
                      </a:prstGeom>
                    </p:spPr>
                  </p:pic>
                </p:oleObj>
              </mc:Fallback>
            </mc:AlternateContent>
          </a:graphicData>
        </a:graphic>
      </p:graphicFrame>
      <p:graphicFrame>
        <p:nvGraphicFramePr>
          <p:cNvPr id="79" name="Object 78">
            <a:extLst>
              <a:ext uri="{FF2B5EF4-FFF2-40B4-BE49-F238E27FC236}">
                <a16:creationId xmlns:a16="http://schemas.microsoft.com/office/drawing/2014/main" id="{6AAF4DA1-889D-40B6-A6B2-8B43C3B2BDB5}"/>
              </a:ext>
            </a:extLst>
          </p:cNvPr>
          <p:cNvGraphicFramePr>
            <a:graphicFrameLocks noChangeAspect="1"/>
          </p:cNvGraphicFramePr>
          <p:nvPr>
            <p:extLst>
              <p:ext uri="{D42A27DB-BD31-4B8C-83A1-F6EECF244321}">
                <p14:modId xmlns:p14="http://schemas.microsoft.com/office/powerpoint/2010/main" val="1960727319"/>
              </p:ext>
            </p:extLst>
          </p:nvPr>
        </p:nvGraphicFramePr>
        <p:xfrm>
          <a:off x="4800600" y="4869871"/>
          <a:ext cx="228600" cy="368300"/>
        </p:xfrm>
        <a:graphic>
          <a:graphicData uri="http://schemas.openxmlformats.org/presentationml/2006/ole">
            <mc:AlternateContent xmlns:mc="http://schemas.openxmlformats.org/markup-compatibility/2006">
              <mc:Choice xmlns:v="urn:schemas-microsoft-com:vml" Requires="v">
                <p:oleObj spid="_x0000_s3270" name="Equation" r:id="rId14" imgW="228600" imgH="368280" progId="Equation.DSMT4">
                  <p:embed/>
                </p:oleObj>
              </mc:Choice>
              <mc:Fallback>
                <p:oleObj name="Equation" r:id="rId14" imgW="228600" imgH="368280" progId="Equation.DSMT4">
                  <p:embed/>
                  <p:pic>
                    <p:nvPicPr>
                      <p:cNvPr id="40" name="Object 39"/>
                      <p:cNvPicPr/>
                      <p:nvPr/>
                    </p:nvPicPr>
                    <p:blipFill>
                      <a:blip r:embed="rId15"/>
                      <a:stretch>
                        <a:fillRect/>
                      </a:stretch>
                    </p:blipFill>
                    <p:spPr>
                      <a:xfrm>
                        <a:off x="4800600" y="4869871"/>
                        <a:ext cx="228600" cy="368300"/>
                      </a:xfrm>
                      <a:prstGeom prst="rect">
                        <a:avLst/>
                      </a:prstGeom>
                    </p:spPr>
                  </p:pic>
                </p:oleObj>
              </mc:Fallback>
            </mc:AlternateContent>
          </a:graphicData>
        </a:graphic>
      </p:graphicFrame>
      <p:graphicFrame>
        <p:nvGraphicFramePr>
          <p:cNvPr id="80" name="Object 79">
            <a:extLst>
              <a:ext uri="{FF2B5EF4-FFF2-40B4-BE49-F238E27FC236}">
                <a16:creationId xmlns:a16="http://schemas.microsoft.com/office/drawing/2014/main" id="{453DE89E-8CDA-4128-AF96-83D4B95D3209}"/>
              </a:ext>
            </a:extLst>
          </p:cNvPr>
          <p:cNvGraphicFramePr>
            <a:graphicFrameLocks noChangeAspect="1"/>
          </p:cNvGraphicFramePr>
          <p:nvPr>
            <p:extLst>
              <p:ext uri="{D42A27DB-BD31-4B8C-83A1-F6EECF244321}">
                <p14:modId xmlns:p14="http://schemas.microsoft.com/office/powerpoint/2010/main" val="3578398812"/>
              </p:ext>
            </p:extLst>
          </p:nvPr>
        </p:nvGraphicFramePr>
        <p:xfrm>
          <a:off x="5410200" y="4869871"/>
          <a:ext cx="215900" cy="368300"/>
        </p:xfrm>
        <a:graphic>
          <a:graphicData uri="http://schemas.openxmlformats.org/presentationml/2006/ole">
            <mc:AlternateContent xmlns:mc="http://schemas.openxmlformats.org/markup-compatibility/2006">
              <mc:Choice xmlns:v="urn:schemas-microsoft-com:vml" Requires="v">
                <p:oleObj spid="_x0000_s3271" name="Equation" r:id="rId16" imgW="215640" imgH="368280" progId="Equation.DSMT4">
                  <p:embed/>
                </p:oleObj>
              </mc:Choice>
              <mc:Fallback>
                <p:oleObj name="Equation" r:id="rId16" imgW="215640" imgH="368280" progId="Equation.DSMT4">
                  <p:embed/>
                  <p:pic>
                    <p:nvPicPr>
                      <p:cNvPr id="41" name="Object 40"/>
                      <p:cNvPicPr/>
                      <p:nvPr/>
                    </p:nvPicPr>
                    <p:blipFill>
                      <a:blip r:embed="rId17"/>
                      <a:stretch>
                        <a:fillRect/>
                      </a:stretch>
                    </p:blipFill>
                    <p:spPr>
                      <a:xfrm>
                        <a:off x="5410200" y="4869871"/>
                        <a:ext cx="215900" cy="368300"/>
                      </a:xfrm>
                      <a:prstGeom prst="rect">
                        <a:avLst/>
                      </a:prstGeom>
                    </p:spPr>
                  </p:pic>
                </p:oleObj>
              </mc:Fallback>
            </mc:AlternateContent>
          </a:graphicData>
        </a:graphic>
      </p:graphicFrame>
      <p:graphicFrame>
        <p:nvGraphicFramePr>
          <p:cNvPr id="81" name="Object 80">
            <a:extLst>
              <a:ext uri="{FF2B5EF4-FFF2-40B4-BE49-F238E27FC236}">
                <a16:creationId xmlns:a16="http://schemas.microsoft.com/office/drawing/2014/main" id="{4D2446EA-198A-4351-8B43-3FB42D95F7A6}"/>
              </a:ext>
            </a:extLst>
          </p:cNvPr>
          <p:cNvGraphicFramePr>
            <a:graphicFrameLocks noChangeAspect="1"/>
          </p:cNvGraphicFramePr>
          <p:nvPr>
            <p:extLst>
              <p:ext uri="{D42A27DB-BD31-4B8C-83A1-F6EECF244321}">
                <p14:modId xmlns:p14="http://schemas.microsoft.com/office/powerpoint/2010/main" val="1052628278"/>
              </p:ext>
            </p:extLst>
          </p:nvPr>
        </p:nvGraphicFramePr>
        <p:xfrm>
          <a:off x="6019800" y="4869871"/>
          <a:ext cx="215900" cy="368300"/>
        </p:xfrm>
        <a:graphic>
          <a:graphicData uri="http://schemas.openxmlformats.org/presentationml/2006/ole">
            <mc:AlternateContent xmlns:mc="http://schemas.openxmlformats.org/markup-compatibility/2006">
              <mc:Choice xmlns:v="urn:schemas-microsoft-com:vml" Requires="v">
                <p:oleObj spid="_x0000_s3272" name="Equation" r:id="rId18" imgW="215640" imgH="368280" progId="Equation.DSMT4">
                  <p:embed/>
                </p:oleObj>
              </mc:Choice>
              <mc:Fallback>
                <p:oleObj name="Equation" r:id="rId18" imgW="215640" imgH="368280" progId="Equation.DSMT4">
                  <p:embed/>
                  <p:pic>
                    <p:nvPicPr>
                      <p:cNvPr id="42" name="Object 41"/>
                      <p:cNvPicPr/>
                      <p:nvPr/>
                    </p:nvPicPr>
                    <p:blipFill>
                      <a:blip r:embed="rId19"/>
                      <a:stretch>
                        <a:fillRect/>
                      </a:stretch>
                    </p:blipFill>
                    <p:spPr>
                      <a:xfrm>
                        <a:off x="6019800" y="4869871"/>
                        <a:ext cx="215900" cy="368300"/>
                      </a:xfrm>
                      <a:prstGeom prst="rect">
                        <a:avLst/>
                      </a:prstGeom>
                    </p:spPr>
                  </p:pic>
                </p:oleObj>
              </mc:Fallback>
            </mc:AlternateContent>
          </a:graphicData>
        </a:graphic>
      </p:graphicFrame>
      <p:sp>
        <p:nvSpPr>
          <p:cNvPr id="82" name="Rectangle 81">
            <a:extLst>
              <a:ext uri="{FF2B5EF4-FFF2-40B4-BE49-F238E27FC236}">
                <a16:creationId xmlns:a16="http://schemas.microsoft.com/office/drawing/2014/main" id="{275950E1-315C-492F-896F-FCA398741F4B}"/>
              </a:ext>
            </a:extLst>
          </p:cNvPr>
          <p:cNvSpPr/>
          <p:nvPr/>
        </p:nvSpPr>
        <p:spPr>
          <a:xfrm>
            <a:off x="3810000" y="4229791"/>
            <a:ext cx="1284326" cy="284693"/>
          </a:xfrm>
          <a:prstGeom prst="rect">
            <a:avLst/>
          </a:prstGeom>
        </p:spPr>
        <p:txBody>
          <a:bodyPr wrap="none">
            <a:spAutoFit/>
          </a:bodyPr>
          <a:lstStyle/>
          <a:p>
            <a:r>
              <a:rPr lang="en-US" sz="1150" b="1" dirty="0">
                <a:effectLst/>
                <a:latin typeface="Tahoma" panose="020B0604030504040204" pitchFamily="34" charset="0"/>
                <a:ea typeface="Calibri" panose="020F0502020204030204" pitchFamily="34" charset="0"/>
              </a:rPr>
              <a:t>20.  </a:t>
            </a:r>
            <a:r>
              <a:rPr lang="en-US" sz="1250" i="1" dirty="0">
                <a:effectLst/>
                <a:latin typeface="Times New Roman" panose="02020603050405020304" pitchFamily="18" charset="0"/>
                <a:ea typeface="Calibri" panose="020F0502020204030204" pitchFamily="34" charset="0"/>
              </a:rPr>
              <a:t>P</a:t>
            </a:r>
            <a:r>
              <a:rPr lang="en-US" sz="1150" dirty="0">
                <a:effectLst/>
                <a:latin typeface="Tahoma" panose="020B0604030504040204" pitchFamily="34" charset="0"/>
                <a:ea typeface="Calibri" panose="020F0502020204030204" pitchFamily="34" charset="0"/>
              </a:rPr>
              <a:t>(Rob | hit)</a:t>
            </a:r>
            <a:endParaRPr lang="en-US" dirty="0"/>
          </a:p>
        </p:txBody>
      </p:sp>
      <p:sp>
        <p:nvSpPr>
          <p:cNvPr id="83" name="Rectangle 82">
            <a:extLst>
              <a:ext uri="{FF2B5EF4-FFF2-40B4-BE49-F238E27FC236}">
                <a16:creationId xmlns:a16="http://schemas.microsoft.com/office/drawing/2014/main" id="{C0469D8A-D035-4320-AD35-7B1840C208E1}"/>
              </a:ext>
            </a:extLst>
          </p:cNvPr>
          <p:cNvSpPr/>
          <p:nvPr/>
        </p:nvSpPr>
        <p:spPr>
          <a:xfrm>
            <a:off x="3820160" y="5286431"/>
            <a:ext cx="350520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22.  </a:t>
            </a:r>
            <a:r>
              <a:rPr lang="en-US" sz="1150" dirty="0">
                <a:effectLst/>
                <a:latin typeface="Tahoma" panose="020B0604030504040204" pitchFamily="34" charset="0"/>
                <a:ea typeface="Calibri" panose="020F0502020204030204" pitchFamily="34" charset="0"/>
              </a:rPr>
              <a:t>When Sophia’s mom picks her up from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school, she is late one third of the time.  For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the next 15 days, what is the probability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that she will be late at most three days? </a:t>
            </a:r>
            <a:endParaRPr lang="en-US" dirty="0"/>
          </a:p>
        </p:txBody>
      </p:sp>
      <p:sp>
        <p:nvSpPr>
          <p:cNvPr id="84" name="Text Box 807">
            <a:extLst>
              <a:ext uri="{FF2B5EF4-FFF2-40B4-BE49-F238E27FC236}">
                <a16:creationId xmlns:a16="http://schemas.microsoft.com/office/drawing/2014/main" id="{B5EEE149-9C3F-4862-B6D2-99A8CE41AF9E}"/>
              </a:ext>
            </a:extLst>
          </p:cNvPr>
          <p:cNvSpPr txBox="1">
            <a:spLocks noChangeArrowheads="1"/>
          </p:cNvSpPr>
          <p:nvPr/>
        </p:nvSpPr>
        <p:spPr bwMode="auto">
          <a:xfrm>
            <a:off x="4114800" y="6241471"/>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79.08%</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79.31%</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20.69%</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20.92%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5" name="Text Box 309">
            <a:extLst>
              <a:ext uri="{FF2B5EF4-FFF2-40B4-BE49-F238E27FC236}">
                <a16:creationId xmlns:a16="http://schemas.microsoft.com/office/drawing/2014/main" id="{6549A0B6-3579-4177-A26A-59E75FA80243}"/>
              </a:ext>
            </a:extLst>
          </p:cNvPr>
          <p:cNvSpPr txBox="1">
            <a:spLocks noChangeArrowheads="1"/>
          </p:cNvSpPr>
          <p:nvPr/>
        </p:nvSpPr>
        <p:spPr bwMode="auto">
          <a:xfrm>
            <a:off x="6705600" y="700347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86" name="Text Box 309">
            <a:extLst>
              <a:ext uri="{FF2B5EF4-FFF2-40B4-BE49-F238E27FC236}">
                <a16:creationId xmlns:a16="http://schemas.microsoft.com/office/drawing/2014/main" id="{650AB92F-868E-4B10-AD88-EA9B8B247BDF}"/>
              </a:ext>
            </a:extLst>
          </p:cNvPr>
          <p:cNvSpPr txBox="1">
            <a:spLocks noChangeArrowheads="1"/>
          </p:cNvSpPr>
          <p:nvPr/>
        </p:nvSpPr>
        <p:spPr bwMode="auto">
          <a:xfrm>
            <a:off x="6705600" y="921327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87" name="Text Box 309">
            <a:extLst>
              <a:ext uri="{FF2B5EF4-FFF2-40B4-BE49-F238E27FC236}">
                <a16:creationId xmlns:a16="http://schemas.microsoft.com/office/drawing/2014/main" id="{7AD6F53B-CD01-424E-9F7E-A3E45FFB771C}"/>
              </a:ext>
            </a:extLst>
          </p:cNvPr>
          <p:cNvSpPr txBox="1">
            <a:spLocks noChangeArrowheads="1"/>
          </p:cNvSpPr>
          <p:nvPr/>
        </p:nvSpPr>
        <p:spPr bwMode="auto">
          <a:xfrm>
            <a:off x="3276600" y="921327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88" name="Text Box 309">
            <a:extLst>
              <a:ext uri="{FF2B5EF4-FFF2-40B4-BE49-F238E27FC236}">
                <a16:creationId xmlns:a16="http://schemas.microsoft.com/office/drawing/2014/main" id="{B19DC3D4-4257-4AD5-8E59-86D6DDC5EE2A}"/>
              </a:ext>
            </a:extLst>
          </p:cNvPr>
          <p:cNvSpPr txBox="1">
            <a:spLocks noChangeArrowheads="1"/>
          </p:cNvSpPr>
          <p:nvPr/>
        </p:nvSpPr>
        <p:spPr bwMode="auto">
          <a:xfrm>
            <a:off x="3276600" y="7003471"/>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89" name="Rectangle 88">
            <a:extLst>
              <a:ext uri="{FF2B5EF4-FFF2-40B4-BE49-F238E27FC236}">
                <a16:creationId xmlns:a16="http://schemas.microsoft.com/office/drawing/2014/main" id="{F9C60455-1F94-4284-8FD4-9E76DCB42336}"/>
              </a:ext>
            </a:extLst>
          </p:cNvPr>
          <p:cNvSpPr/>
          <p:nvPr/>
        </p:nvSpPr>
        <p:spPr>
          <a:xfrm>
            <a:off x="391160" y="5286431"/>
            <a:ext cx="349504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21.  </a:t>
            </a:r>
            <a:r>
              <a:rPr lang="en-US" sz="1150" dirty="0">
                <a:effectLst/>
                <a:latin typeface="Tahoma" panose="020B0604030504040204" pitchFamily="34" charset="0"/>
                <a:ea typeface="Calibri" panose="020F0502020204030204" pitchFamily="34" charset="0"/>
              </a:rPr>
              <a:t>The odds of winning a game at the carnival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are 3 in 7.  If Liza plays the game nine times,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what is the probability that she wins exactly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two times?</a:t>
            </a:r>
            <a:endParaRPr lang="en-US" dirty="0"/>
          </a:p>
        </p:txBody>
      </p:sp>
      <p:sp>
        <p:nvSpPr>
          <p:cNvPr id="90" name="Text Box 807">
            <a:extLst>
              <a:ext uri="{FF2B5EF4-FFF2-40B4-BE49-F238E27FC236}">
                <a16:creationId xmlns:a16="http://schemas.microsoft.com/office/drawing/2014/main" id="{69F5B109-80DF-4B01-8447-A5A452903F78}"/>
              </a:ext>
            </a:extLst>
          </p:cNvPr>
          <p:cNvSpPr txBox="1">
            <a:spLocks noChangeArrowheads="1"/>
          </p:cNvSpPr>
          <p:nvPr/>
        </p:nvSpPr>
        <p:spPr bwMode="auto">
          <a:xfrm>
            <a:off x="762000" y="6241471"/>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13.15%</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3.12%</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10.84%</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8.23%</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1" name="Rectangle 90">
            <a:extLst>
              <a:ext uri="{FF2B5EF4-FFF2-40B4-BE49-F238E27FC236}">
                <a16:creationId xmlns:a16="http://schemas.microsoft.com/office/drawing/2014/main" id="{ACED8DAE-F4CC-4670-9ED1-CEC19F777E08}"/>
              </a:ext>
            </a:extLst>
          </p:cNvPr>
          <p:cNvSpPr/>
          <p:nvPr/>
        </p:nvSpPr>
        <p:spPr>
          <a:xfrm>
            <a:off x="381000" y="7460671"/>
            <a:ext cx="3505200" cy="800219"/>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23.  </a:t>
            </a:r>
            <a:r>
              <a:rPr lang="en-US" sz="1150" dirty="0">
                <a:effectLst/>
                <a:latin typeface="Tahoma" panose="020B0604030504040204" pitchFamily="34" charset="0"/>
                <a:ea typeface="Calibri" panose="020F0502020204030204" pitchFamily="34" charset="0"/>
              </a:rPr>
              <a:t>When Tom plays darts, he hits the target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65% of the time.  Find the probability that 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hits the target at least four out of next six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attempts.</a:t>
            </a:r>
            <a:endParaRPr lang="en-US" dirty="0"/>
          </a:p>
        </p:txBody>
      </p:sp>
      <p:sp>
        <p:nvSpPr>
          <p:cNvPr id="92" name="Text Box 807">
            <a:extLst>
              <a:ext uri="{FF2B5EF4-FFF2-40B4-BE49-F238E27FC236}">
                <a16:creationId xmlns:a16="http://schemas.microsoft.com/office/drawing/2014/main" id="{AC2BA1F0-3554-4C25-91C3-6E78D61927B3}"/>
              </a:ext>
            </a:extLst>
          </p:cNvPr>
          <p:cNvSpPr txBox="1">
            <a:spLocks noChangeArrowheads="1"/>
          </p:cNvSpPr>
          <p:nvPr/>
        </p:nvSpPr>
        <p:spPr bwMode="auto">
          <a:xfrm>
            <a:off x="762000" y="8451271"/>
            <a:ext cx="106172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a:effectLst/>
                <a:latin typeface="Tahoma" panose="020B0604030504040204" pitchFamily="34" charset="0"/>
                <a:ea typeface="Calibri" panose="020F0502020204030204" pitchFamily="34" charset="0"/>
                <a:cs typeface="Times New Roman" panose="02020603050405020304" pitchFamily="18" charset="0"/>
              </a:rPr>
              <a:t>A.   </a:t>
            </a:r>
            <a:r>
              <a:rPr lang="en-US" sz="1100">
                <a:effectLst/>
                <a:latin typeface="Tahoma" panose="020B0604030504040204" pitchFamily="34" charset="0"/>
                <a:ea typeface="Calibri" panose="020F0502020204030204" pitchFamily="34" charset="0"/>
                <a:cs typeface="Times New Roman" panose="02020603050405020304" pitchFamily="18" charset="0"/>
              </a:rPr>
              <a:t>57.17%</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B.   </a:t>
            </a:r>
            <a:r>
              <a:rPr lang="en-US" sz="1100">
                <a:effectLst/>
                <a:latin typeface="Tahoma" panose="020B0604030504040204" pitchFamily="34" charset="0"/>
                <a:ea typeface="Calibri" panose="020F0502020204030204" pitchFamily="34" charset="0"/>
                <a:cs typeface="Times New Roman" panose="02020603050405020304" pitchFamily="18" charset="0"/>
              </a:rPr>
              <a:t>64.71%</a:t>
            </a:r>
            <a:br>
              <a:rPr lang="en-US" sz="1100">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C.   </a:t>
            </a:r>
            <a:r>
              <a:rPr lang="en-US" sz="1100">
                <a:effectLst/>
                <a:latin typeface="Tahoma" panose="020B0604030504040204" pitchFamily="34" charset="0"/>
                <a:ea typeface="Calibri" panose="020F0502020204030204" pitchFamily="34" charset="0"/>
                <a:cs typeface="Times New Roman" panose="02020603050405020304" pitchFamily="18" charset="0"/>
              </a:rPr>
              <a:t>42.83%</a:t>
            </a:r>
            <a:br>
              <a:rPr lang="en-US" sz="1100" b="1">
                <a:effectLst/>
                <a:latin typeface="Tahoma" panose="020B0604030504040204" pitchFamily="34" charset="0"/>
                <a:ea typeface="Calibri" panose="020F0502020204030204" pitchFamily="34" charset="0"/>
                <a:cs typeface="Times New Roman" panose="02020603050405020304" pitchFamily="18" charset="0"/>
              </a:rPr>
            </a:br>
            <a:r>
              <a:rPr lang="en-US" sz="1100" b="1">
                <a:effectLst/>
                <a:latin typeface="Tahoma" panose="020B0604030504040204" pitchFamily="34" charset="0"/>
                <a:ea typeface="Calibri" panose="020F0502020204030204" pitchFamily="34" charset="0"/>
                <a:cs typeface="Times New Roman" panose="02020603050405020304" pitchFamily="18" charset="0"/>
              </a:rPr>
              <a:t>D.   </a:t>
            </a:r>
            <a:r>
              <a:rPr lang="en-US" sz="1100">
                <a:effectLst/>
                <a:latin typeface="Tahoma" panose="020B0604030504040204" pitchFamily="34" charset="0"/>
                <a:ea typeface="Calibri" panose="020F0502020204030204" pitchFamily="34" charset="0"/>
                <a:cs typeface="Times New Roman" panose="02020603050405020304" pitchFamily="18" charset="0"/>
              </a:rPr>
              <a:t>35.29%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3" name="Text Box 807">
            <a:extLst>
              <a:ext uri="{FF2B5EF4-FFF2-40B4-BE49-F238E27FC236}">
                <a16:creationId xmlns:a16="http://schemas.microsoft.com/office/drawing/2014/main" id="{E898F0FF-F5AF-4143-8C34-491B84DE577C}"/>
              </a:ext>
            </a:extLst>
          </p:cNvPr>
          <p:cNvSpPr txBox="1">
            <a:spLocks noChangeArrowheads="1"/>
          </p:cNvSpPr>
          <p:nvPr/>
        </p:nvSpPr>
        <p:spPr bwMode="auto">
          <a:xfrm>
            <a:off x="4191000" y="8451271"/>
            <a:ext cx="1228725" cy="12769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3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br>
              <a:rPr lang="en-US" sz="1100" dirty="0">
                <a:effectLst/>
                <a:latin typeface="Tahoma" panose="020B0604030504040204" pitchFamily="34" charset="0"/>
                <a:ea typeface="Calibri" panose="020F0502020204030204" pitchFamily="34" charset="0"/>
                <a:cs typeface="Times New Roman" panose="02020603050405020304" pitchFamily="18" charset="0"/>
              </a:rPr>
            </a:br>
            <a:br>
              <a:rPr lang="en-US" sz="100" dirty="0">
                <a:effectLst/>
                <a:latin typeface="Tahoma" panose="020B0604030504040204" pitchFamily="34" charset="0"/>
                <a:ea typeface="Calibri" panose="020F0502020204030204" pitchFamily="34" charset="0"/>
                <a:cs typeface="Times New Roman" panose="02020603050405020304" pitchFamily="18" charset="0"/>
              </a:rPr>
            </a:br>
            <a:br>
              <a:rPr lang="en-US" sz="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br>
              <a:rPr lang="en-US" sz="100" b="1" dirty="0">
                <a:latin typeface="Tahoma" panose="020B0604030504040204" pitchFamily="34" charset="0"/>
                <a:ea typeface="Calibri" panose="020F0502020204030204" pitchFamily="34" charset="0"/>
                <a:cs typeface="Times New Roman" panose="02020603050405020304" pitchFamily="18" charset="0"/>
              </a:rPr>
            </a:br>
            <a:br>
              <a:rPr lang="en-US" sz="100" b="1" dirty="0">
                <a:latin typeface="Tahoma" panose="020B0604030504040204" pitchFamily="34" charset="0"/>
                <a:ea typeface="Calibri" panose="020F0502020204030204" pitchFamily="34" charset="0"/>
                <a:cs typeface="Times New Roman" panose="02020603050405020304" pitchFamily="18" charset="0"/>
              </a:rPr>
            </a:br>
            <a:br>
              <a:rPr lang="en-US" sz="100" b="1" dirty="0">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4" name="Rectangle 93">
            <a:extLst>
              <a:ext uri="{FF2B5EF4-FFF2-40B4-BE49-F238E27FC236}">
                <a16:creationId xmlns:a16="http://schemas.microsoft.com/office/drawing/2014/main" id="{54AFE3CF-F107-45CC-A632-318A728D2058}"/>
              </a:ext>
            </a:extLst>
          </p:cNvPr>
          <p:cNvSpPr/>
          <p:nvPr/>
        </p:nvSpPr>
        <p:spPr>
          <a:xfrm>
            <a:off x="3830320" y="7440351"/>
            <a:ext cx="3408680" cy="461665"/>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24.  </a:t>
            </a:r>
            <a:r>
              <a:rPr lang="en-US" sz="1150" dirty="0">
                <a:effectLst/>
                <a:latin typeface="Tahoma" panose="020B0604030504040204" pitchFamily="34" charset="0"/>
                <a:ea typeface="Calibri" panose="020F0502020204030204" pitchFamily="34" charset="0"/>
              </a:rPr>
              <a:t>What is the fourth term in the binomial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expansion of (2</a:t>
            </a:r>
            <a:r>
              <a:rPr lang="en-US" sz="1250" i="1" dirty="0">
                <a:effectLst/>
                <a:latin typeface="Times New Roman" panose="02020603050405020304" pitchFamily="18" charset="0"/>
                <a:ea typeface="Calibri" panose="020F0502020204030204" pitchFamily="34" charset="0"/>
              </a:rPr>
              <a:t>x </a:t>
            </a:r>
            <a:r>
              <a:rPr lang="en-US" sz="1150" dirty="0">
                <a:effectLst/>
                <a:latin typeface="Tahoma" panose="020B0604030504040204" pitchFamily="34" charset="0"/>
                <a:ea typeface="Calibri" panose="020F0502020204030204" pitchFamily="34" charset="0"/>
              </a:rPr>
              <a:t>– </a:t>
            </a:r>
            <a:r>
              <a:rPr lang="en-US" sz="1250" i="1" dirty="0">
                <a:effectLst/>
                <a:latin typeface="Times New Roman" panose="02020603050405020304" pitchFamily="18" charset="0"/>
                <a:ea typeface="Calibri" panose="020F0502020204030204" pitchFamily="34" charset="0"/>
              </a:rPr>
              <a:t>y</a:t>
            </a:r>
            <a:r>
              <a:rPr lang="en-US" sz="1150" dirty="0">
                <a:effectLst/>
                <a:latin typeface="Tahoma" panose="020B0604030504040204" pitchFamily="34" charset="0"/>
                <a:ea typeface="Calibri" panose="020F0502020204030204" pitchFamily="34" charset="0"/>
              </a:rPr>
              <a:t>)</a:t>
            </a:r>
            <a:r>
              <a:rPr lang="en-US" sz="1150" baseline="30000" dirty="0">
                <a:effectLst/>
                <a:latin typeface="Tahoma" panose="020B0604030504040204" pitchFamily="34" charset="0"/>
                <a:ea typeface="Calibri" panose="020F0502020204030204" pitchFamily="34" charset="0"/>
              </a:rPr>
              <a:t>7</a:t>
            </a:r>
            <a:r>
              <a:rPr lang="en-US" sz="1150" dirty="0">
                <a:effectLst/>
                <a:latin typeface="Tahoma" panose="020B0604030504040204" pitchFamily="34" charset="0"/>
                <a:ea typeface="Calibri" panose="020F0502020204030204" pitchFamily="34" charset="0"/>
              </a:rPr>
              <a:t>?</a:t>
            </a:r>
            <a:endParaRPr lang="en-US" dirty="0"/>
          </a:p>
        </p:txBody>
      </p:sp>
      <p:graphicFrame>
        <p:nvGraphicFramePr>
          <p:cNvPr id="95" name="Object 94">
            <a:extLst>
              <a:ext uri="{FF2B5EF4-FFF2-40B4-BE49-F238E27FC236}">
                <a16:creationId xmlns:a16="http://schemas.microsoft.com/office/drawing/2014/main" id="{262AECC3-B4DA-418A-A7D0-AB984B0B4FB1}"/>
              </a:ext>
            </a:extLst>
          </p:cNvPr>
          <p:cNvGraphicFramePr>
            <a:graphicFrameLocks noChangeAspect="1"/>
          </p:cNvGraphicFramePr>
          <p:nvPr>
            <p:extLst>
              <p:ext uri="{D42A27DB-BD31-4B8C-83A1-F6EECF244321}">
                <p14:modId xmlns:p14="http://schemas.microsoft.com/office/powerpoint/2010/main" val="4218770218"/>
              </p:ext>
            </p:extLst>
          </p:nvPr>
        </p:nvGraphicFramePr>
        <p:xfrm>
          <a:off x="4485005" y="8496991"/>
          <a:ext cx="533400" cy="215900"/>
        </p:xfrm>
        <a:graphic>
          <a:graphicData uri="http://schemas.openxmlformats.org/presentationml/2006/ole">
            <mc:AlternateContent xmlns:mc="http://schemas.openxmlformats.org/markup-compatibility/2006">
              <mc:Choice xmlns:v="urn:schemas-microsoft-com:vml" Requires="v">
                <p:oleObj spid="_x0000_s3273" name="Equation" r:id="rId20" imgW="533160" imgH="215640" progId="Equation.DSMT4">
                  <p:embed/>
                </p:oleObj>
              </mc:Choice>
              <mc:Fallback>
                <p:oleObj name="Equation" r:id="rId20" imgW="533160" imgH="215640" progId="Equation.DSMT4">
                  <p:embed/>
                  <p:pic>
                    <p:nvPicPr>
                      <p:cNvPr id="56" name="Object 55"/>
                      <p:cNvPicPr/>
                      <p:nvPr/>
                    </p:nvPicPr>
                    <p:blipFill>
                      <a:blip r:embed="rId21"/>
                      <a:stretch>
                        <a:fillRect/>
                      </a:stretch>
                    </p:blipFill>
                    <p:spPr>
                      <a:xfrm>
                        <a:off x="4485005" y="8496991"/>
                        <a:ext cx="533400" cy="215900"/>
                      </a:xfrm>
                      <a:prstGeom prst="rect">
                        <a:avLst/>
                      </a:prstGeom>
                    </p:spPr>
                  </p:pic>
                </p:oleObj>
              </mc:Fallback>
            </mc:AlternateContent>
          </a:graphicData>
        </a:graphic>
      </p:graphicFrame>
      <p:graphicFrame>
        <p:nvGraphicFramePr>
          <p:cNvPr id="96" name="Object 95">
            <a:extLst>
              <a:ext uri="{FF2B5EF4-FFF2-40B4-BE49-F238E27FC236}">
                <a16:creationId xmlns:a16="http://schemas.microsoft.com/office/drawing/2014/main" id="{DB855F8D-4F67-4C50-A529-2988E98AF4A1}"/>
              </a:ext>
            </a:extLst>
          </p:cNvPr>
          <p:cNvGraphicFramePr>
            <a:graphicFrameLocks noChangeAspect="1"/>
          </p:cNvGraphicFramePr>
          <p:nvPr>
            <p:extLst>
              <p:ext uri="{D42A27DB-BD31-4B8C-83A1-F6EECF244321}">
                <p14:modId xmlns:p14="http://schemas.microsoft.com/office/powerpoint/2010/main" val="1791818514"/>
              </p:ext>
            </p:extLst>
          </p:nvPr>
        </p:nvGraphicFramePr>
        <p:xfrm>
          <a:off x="4474845" y="8776391"/>
          <a:ext cx="533400" cy="215900"/>
        </p:xfrm>
        <a:graphic>
          <a:graphicData uri="http://schemas.openxmlformats.org/presentationml/2006/ole">
            <mc:AlternateContent xmlns:mc="http://schemas.openxmlformats.org/markup-compatibility/2006">
              <mc:Choice xmlns:v="urn:schemas-microsoft-com:vml" Requires="v">
                <p:oleObj spid="_x0000_s3274" name="Equation" r:id="rId22" imgW="533160" imgH="215640" progId="Equation.DSMT4">
                  <p:embed/>
                </p:oleObj>
              </mc:Choice>
              <mc:Fallback>
                <p:oleObj name="Equation" r:id="rId22" imgW="533160" imgH="215640" progId="Equation.DSMT4">
                  <p:embed/>
                  <p:pic>
                    <p:nvPicPr>
                      <p:cNvPr id="57" name="Object 56"/>
                      <p:cNvPicPr/>
                      <p:nvPr/>
                    </p:nvPicPr>
                    <p:blipFill>
                      <a:blip r:embed="rId23"/>
                      <a:stretch>
                        <a:fillRect/>
                      </a:stretch>
                    </p:blipFill>
                    <p:spPr>
                      <a:xfrm>
                        <a:off x="4474845" y="8776391"/>
                        <a:ext cx="533400" cy="215900"/>
                      </a:xfrm>
                      <a:prstGeom prst="rect">
                        <a:avLst/>
                      </a:prstGeom>
                    </p:spPr>
                  </p:pic>
                </p:oleObj>
              </mc:Fallback>
            </mc:AlternateContent>
          </a:graphicData>
        </a:graphic>
      </p:graphicFrame>
      <p:graphicFrame>
        <p:nvGraphicFramePr>
          <p:cNvPr id="97" name="Object 96">
            <a:extLst>
              <a:ext uri="{FF2B5EF4-FFF2-40B4-BE49-F238E27FC236}">
                <a16:creationId xmlns:a16="http://schemas.microsoft.com/office/drawing/2014/main" id="{CDA341FC-A573-4EF3-84A9-4B6E1312E328}"/>
              </a:ext>
            </a:extLst>
          </p:cNvPr>
          <p:cNvGraphicFramePr>
            <a:graphicFrameLocks noChangeAspect="1"/>
          </p:cNvGraphicFramePr>
          <p:nvPr>
            <p:extLst>
              <p:ext uri="{D42A27DB-BD31-4B8C-83A1-F6EECF244321}">
                <p14:modId xmlns:p14="http://schemas.microsoft.com/office/powerpoint/2010/main" val="3542902640"/>
              </p:ext>
            </p:extLst>
          </p:nvPr>
        </p:nvGraphicFramePr>
        <p:xfrm>
          <a:off x="4439285" y="9030391"/>
          <a:ext cx="609600" cy="215900"/>
        </p:xfrm>
        <a:graphic>
          <a:graphicData uri="http://schemas.openxmlformats.org/presentationml/2006/ole">
            <mc:AlternateContent xmlns:mc="http://schemas.openxmlformats.org/markup-compatibility/2006">
              <mc:Choice xmlns:v="urn:schemas-microsoft-com:vml" Requires="v">
                <p:oleObj spid="_x0000_s3275" name="Equation" r:id="rId24" imgW="609480" imgH="215640" progId="Equation.DSMT4">
                  <p:embed/>
                </p:oleObj>
              </mc:Choice>
              <mc:Fallback>
                <p:oleObj name="Equation" r:id="rId24" imgW="609480" imgH="215640" progId="Equation.DSMT4">
                  <p:embed/>
                  <p:pic>
                    <p:nvPicPr>
                      <p:cNvPr id="58" name="Object 57"/>
                      <p:cNvPicPr/>
                      <p:nvPr/>
                    </p:nvPicPr>
                    <p:blipFill>
                      <a:blip r:embed="rId25"/>
                      <a:stretch>
                        <a:fillRect/>
                      </a:stretch>
                    </p:blipFill>
                    <p:spPr>
                      <a:xfrm>
                        <a:off x="4439285" y="9030391"/>
                        <a:ext cx="609600" cy="215900"/>
                      </a:xfrm>
                      <a:prstGeom prst="rect">
                        <a:avLst/>
                      </a:prstGeom>
                    </p:spPr>
                  </p:pic>
                </p:oleObj>
              </mc:Fallback>
            </mc:AlternateContent>
          </a:graphicData>
        </a:graphic>
      </p:graphicFrame>
      <p:graphicFrame>
        <p:nvGraphicFramePr>
          <p:cNvPr id="98" name="Object 97">
            <a:extLst>
              <a:ext uri="{FF2B5EF4-FFF2-40B4-BE49-F238E27FC236}">
                <a16:creationId xmlns:a16="http://schemas.microsoft.com/office/drawing/2014/main" id="{6112CC6C-6772-4BB3-A24E-79CAD5A34356}"/>
              </a:ext>
            </a:extLst>
          </p:cNvPr>
          <p:cNvGraphicFramePr>
            <a:graphicFrameLocks noChangeAspect="1"/>
          </p:cNvGraphicFramePr>
          <p:nvPr>
            <p:extLst>
              <p:ext uri="{D42A27DB-BD31-4B8C-83A1-F6EECF244321}">
                <p14:modId xmlns:p14="http://schemas.microsoft.com/office/powerpoint/2010/main" val="546342913"/>
              </p:ext>
            </p:extLst>
          </p:nvPr>
        </p:nvGraphicFramePr>
        <p:xfrm>
          <a:off x="4485005" y="9309791"/>
          <a:ext cx="609600" cy="215900"/>
        </p:xfrm>
        <a:graphic>
          <a:graphicData uri="http://schemas.openxmlformats.org/presentationml/2006/ole">
            <mc:AlternateContent xmlns:mc="http://schemas.openxmlformats.org/markup-compatibility/2006">
              <mc:Choice xmlns:v="urn:schemas-microsoft-com:vml" Requires="v">
                <p:oleObj spid="_x0000_s3276" name="Equation" r:id="rId26" imgW="609480" imgH="215640" progId="Equation.DSMT4">
                  <p:embed/>
                </p:oleObj>
              </mc:Choice>
              <mc:Fallback>
                <p:oleObj name="Equation" r:id="rId26" imgW="609480" imgH="215640" progId="Equation.DSMT4">
                  <p:embed/>
                  <p:pic>
                    <p:nvPicPr>
                      <p:cNvPr id="59" name="Object 58"/>
                      <p:cNvPicPr/>
                      <p:nvPr/>
                    </p:nvPicPr>
                    <p:blipFill>
                      <a:blip r:embed="rId27"/>
                      <a:stretch>
                        <a:fillRect/>
                      </a:stretch>
                    </p:blipFill>
                    <p:spPr>
                      <a:xfrm>
                        <a:off x="4485005" y="9309791"/>
                        <a:ext cx="609600" cy="215900"/>
                      </a:xfrm>
                      <a:prstGeom prst="rect">
                        <a:avLst/>
                      </a:prstGeom>
                    </p:spPr>
                  </p:pic>
                </p:oleObj>
              </mc:Fallback>
            </mc:AlternateContent>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sp>
        <p:nvSpPr>
          <p:cNvPr id="38" name="Rectangle 37">
            <a:extLst>
              <a:ext uri="{FF2B5EF4-FFF2-40B4-BE49-F238E27FC236}">
                <a16:creationId xmlns:a16="http://schemas.microsoft.com/office/drawing/2014/main" id="{CC1C5A77-4F3F-4CCA-A6E6-896681C0E2FD}"/>
              </a:ext>
            </a:extLst>
          </p:cNvPr>
          <p:cNvSpPr/>
          <p:nvPr/>
        </p:nvSpPr>
        <p:spPr>
          <a:xfrm>
            <a:off x="447040" y="374995"/>
            <a:ext cx="58674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25-26: </a:t>
            </a:r>
            <a:r>
              <a:rPr lang="en-US" sz="1150" dirty="0">
                <a:effectLst/>
                <a:latin typeface="Tahoma" panose="020B0604030504040204" pitchFamily="34" charset="0"/>
                <a:ea typeface="Calibri" panose="020F0502020204030204" pitchFamily="34" charset="0"/>
              </a:rPr>
              <a:t>The following data represents the high temperatures for the next several days in Buffalo, NY:  {17, 26, 3, 13, 29, 34, 32, 30, 41}</a:t>
            </a:r>
            <a:endParaRPr lang="en-US" dirty="0"/>
          </a:p>
        </p:txBody>
      </p:sp>
      <p:sp>
        <p:nvSpPr>
          <p:cNvPr id="39" name="Rectangle 38">
            <a:extLst>
              <a:ext uri="{FF2B5EF4-FFF2-40B4-BE49-F238E27FC236}">
                <a16:creationId xmlns:a16="http://schemas.microsoft.com/office/drawing/2014/main" id="{7EB42496-EA05-4223-87F4-F2E990BA2474}"/>
              </a:ext>
            </a:extLst>
          </p:cNvPr>
          <p:cNvSpPr/>
          <p:nvPr/>
        </p:nvSpPr>
        <p:spPr>
          <a:xfrm>
            <a:off x="391160" y="755995"/>
            <a:ext cx="341884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25. </a:t>
            </a:r>
            <a:r>
              <a:rPr lang="en-US" sz="1150" dirty="0">
                <a:effectLst/>
                <a:latin typeface="Tahoma" panose="020B0604030504040204" pitchFamily="34" charset="0"/>
                <a:ea typeface="Calibri" panose="020F0502020204030204" pitchFamily="34" charset="0"/>
              </a:rPr>
              <a:t>Find the mean absolute deviation.  Round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your answer to the nearest hundredth of a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degree.</a:t>
            </a:r>
            <a:endParaRPr lang="en-US" dirty="0"/>
          </a:p>
        </p:txBody>
      </p:sp>
      <p:sp>
        <p:nvSpPr>
          <p:cNvPr id="40" name="Text Box 320">
            <a:extLst>
              <a:ext uri="{FF2B5EF4-FFF2-40B4-BE49-F238E27FC236}">
                <a16:creationId xmlns:a16="http://schemas.microsoft.com/office/drawing/2014/main" id="{6934FDA4-F4A8-4489-8734-C8EB56A43B4E}"/>
              </a:ext>
            </a:extLst>
          </p:cNvPr>
          <p:cNvSpPr txBox="1">
            <a:spLocks noChangeArrowheads="1"/>
          </p:cNvSpPr>
          <p:nvPr/>
        </p:nvSpPr>
        <p:spPr bwMode="auto">
          <a:xfrm>
            <a:off x="2976880" y="2752435"/>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1" name="Rectangle 40">
            <a:extLst>
              <a:ext uri="{FF2B5EF4-FFF2-40B4-BE49-F238E27FC236}">
                <a16:creationId xmlns:a16="http://schemas.microsoft.com/office/drawing/2014/main" id="{35C2C11F-D763-4948-AC40-B7734F001763}"/>
              </a:ext>
            </a:extLst>
          </p:cNvPr>
          <p:cNvSpPr/>
          <p:nvPr/>
        </p:nvSpPr>
        <p:spPr>
          <a:xfrm>
            <a:off x="3815080" y="745835"/>
            <a:ext cx="350012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26. </a:t>
            </a:r>
            <a:r>
              <a:rPr lang="en-US" sz="1150" dirty="0">
                <a:effectLst/>
                <a:latin typeface="Tahoma" panose="020B0604030504040204" pitchFamily="34" charset="0"/>
                <a:ea typeface="Calibri" panose="020F0502020204030204" pitchFamily="34" charset="0"/>
              </a:rPr>
              <a:t>Which of the following values represent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standard deviation and variance for the data?</a:t>
            </a:r>
            <a:endParaRPr lang="en-US" dirty="0"/>
          </a:p>
        </p:txBody>
      </p:sp>
      <p:sp>
        <p:nvSpPr>
          <p:cNvPr id="42" name="Text Box 807">
            <a:extLst>
              <a:ext uri="{FF2B5EF4-FFF2-40B4-BE49-F238E27FC236}">
                <a16:creationId xmlns:a16="http://schemas.microsoft.com/office/drawing/2014/main" id="{ACF68549-E212-4BC4-A147-B4EAB61AC6F3}"/>
              </a:ext>
            </a:extLst>
          </p:cNvPr>
          <p:cNvSpPr txBox="1">
            <a:spLocks noChangeArrowheads="1"/>
          </p:cNvSpPr>
          <p:nvPr/>
        </p:nvSpPr>
        <p:spPr bwMode="auto">
          <a:xfrm>
            <a:off x="3911600" y="1253835"/>
            <a:ext cx="3439160"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Standard Deviation = 9.33; Variance = 3.05</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Standard Deviation = 9.33; Variance = 87.05</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Standard Deviation = 11.16; Variance = 124.55</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Standard Deviation = 11.16; Variance = 3.34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3" name="Text Box 323">
            <a:extLst>
              <a:ext uri="{FF2B5EF4-FFF2-40B4-BE49-F238E27FC236}">
                <a16:creationId xmlns:a16="http://schemas.microsoft.com/office/drawing/2014/main" id="{DB326B52-A909-4DF4-ABD6-09DCFDEAB647}"/>
              </a:ext>
            </a:extLst>
          </p:cNvPr>
          <p:cNvSpPr txBox="1">
            <a:spLocks noChangeArrowheads="1"/>
          </p:cNvSpPr>
          <p:nvPr/>
        </p:nvSpPr>
        <p:spPr bwMode="auto">
          <a:xfrm>
            <a:off x="6715760" y="2742275"/>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4" name="Text Box 323">
            <a:extLst>
              <a:ext uri="{FF2B5EF4-FFF2-40B4-BE49-F238E27FC236}">
                <a16:creationId xmlns:a16="http://schemas.microsoft.com/office/drawing/2014/main" id="{9D2DDE33-4719-4C77-B781-89D22AAD6134}"/>
              </a:ext>
            </a:extLst>
          </p:cNvPr>
          <p:cNvSpPr txBox="1">
            <a:spLocks noChangeArrowheads="1"/>
          </p:cNvSpPr>
          <p:nvPr/>
        </p:nvSpPr>
        <p:spPr bwMode="auto">
          <a:xfrm>
            <a:off x="3276600" y="5109555"/>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5" name="Text Box 323">
            <a:extLst>
              <a:ext uri="{FF2B5EF4-FFF2-40B4-BE49-F238E27FC236}">
                <a16:creationId xmlns:a16="http://schemas.microsoft.com/office/drawing/2014/main" id="{9F9AEF15-08A5-4546-A2DF-DB2E68433274}"/>
              </a:ext>
            </a:extLst>
          </p:cNvPr>
          <p:cNvSpPr txBox="1">
            <a:spLocks noChangeArrowheads="1"/>
          </p:cNvSpPr>
          <p:nvPr/>
        </p:nvSpPr>
        <p:spPr bwMode="auto">
          <a:xfrm>
            <a:off x="6705600" y="5140035"/>
            <a:ext cx="522605"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dirty="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6" name="Text Box 807">
            <a:extLst>
              <a:ext uri="{FF2B5EF4-FFF2-40B4-BE49-F238E27FC236}">
                <a16:creationId xmlns:a16="http://schemas.microsoft.com/office/drawing/2014/main" id="{7486DB41-80D1-4D6A-AB83-53583E9DD7C1}"/>
              </a:ext>
            </a:extLst>
          </p:cNvPr>
          <p:cNvSpPr txBox="1">
            <a:spLocks noChangeArrowheads="1"/>
          </p:cNvSpPr>
          <p:nvPr/>
        </p:nvSpPr>
        <p:spPr bwMode="auto">
          <a:xfrm>
            <a:off x="609600" y="4301835"/>
            <a:ext cx="1927225"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It will decrease.</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It will increase.</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It will stay the same.</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It’s impossible to tell.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graphicFrame>
        <p:nvGraphicFramePr>
          <p:cNvPr id="47" name="Table 46">
            <a:extLst>
              <a:ext uri="{FF2B5EF4-FFF2-40B4-BE49-F238E27FC236}">
                <a16:creationId xmlns:a16="http://schemas.microsoft.com/office/drawing/2014/main" id="{CD105DFB-FDEE-400D-9EB1-356B8BBFF713}"/>
              </a:ext>
            </a:extLst>
          </p:cNvPr>
          <p:cNvGraphicFramePr>
            <a:graphicFrameLocks noGrp="1"/>
          </p:cNvGraphicFramePr>
          <p:nvPr>
            <p:extLst>
              <p:ext uri="{D42A27DB-BD31-4B8C-83A1-F6EECF244321}">
                <p14:modId xmlns:p14="http://schemas.microsoft.com/office/powerpoint/2010/main" val="1721153143"/>
              </p:ext>
            </p:extLst>
          </p:nvPr>
        </p:nvGraphicFramePr>
        <p:xfrm>
          <a:off x="381001" y="3158835"/>
          <a:ext cx="3276600" cy="219075"/>
        </p:xfrm>
        <a:graphic>
          <a:graphicData uri="http://schemas.openxmlformats.org/drawingml/2006/table">
            <a:tbl>
              <a:tblPr/>
              <a:tblGrid>
                <a:gridCol w="3276600">
                  <a:extLst>
                    <a:ext uri="{9D8B030D-6E8A-4147-A177-3AD203B41FA5}">
                      <a16:colId xmlns:a16="http://schemas.microsoft.com/office/drawing/2014/main" val="20000"/>
                    </a:ext>
                  </a:extLst>
                </a:gridCol>
              </a:tblGrid>
              <a:tr h="0">
                <a:tc>
                  <a:txBody>
                    <a:bodyPr/>
                    <a:lstStyle/>
                    <a:p>
                      <a:pPr marL="0" marR="0" algn="l">
                        <a:lnSpc>
                          <a:spcPct val="115000"/>
                        </a:lnSpc>
                        <a:spcBef>
                          <a:spcPts val="0"/>
                        </a:spcBef>
                        <a:spcAft>
                          <a:spcPts val="1000"/>
                        </a:spcAft>
                      </a:pPr>
                      <a:r>
                        <a:rPr lang="en-US" sz="1150" b="1" dirty="0">
                          <a:effectLst/>
                          <a:latin typeface="Tahoma" panose="020B0604030504040204" pitchFamily="34" charset="0"/>
                          <a:ea typeface="Calibri" panose="020F0502020204030204" pitchFamily="34" charset="0"/>
                          <a:cs typeface="Times New Roman" panose="02020603050405020304" pitchFamily="18" charset="0"/>
                        </a:rPr>
                        <a:t>27.  </a:t>
                      </a:r>
                      <a:r>
                        <a:rPr lang="en-US" sz="1150" dirty="0">
                          <a:effectLst/>
                          <a:latin typeface="Tahoma" panose="020B0604030504040204" pitchFamily="34" charset="0"/>
                          <a:ea typeface="Calibri" panose="020F0502020204030204" pitchFamily="34" charset="0"/>
                          <a:cs typeface="Times New Roman" panose="02020603050405020304" pitchFamily="18" charset="0"/>
                        </a:rPr>
                        <a:t>Given Data Set </a:t>
                      </a:r>
                      <a:r>
                        <a:rPr lang="en-US" sz="1250" i="1" dirty="0">
                          <a:effectLst/>
                          <a:latin typeface="Times New Roman" panose="02020603050405020304" pitchFamily="18" charset="0"/>
                          <a:ea typeface="Calibri" panose="020F0502020204030204" pitchFamily="34" charset="0"/>
                          <a:cs typeface="Times New Roman" panose="02020603050405020304" pitchFamily="18" charset="0"/>
                        </a:rPr>
                        <a:t>A</a:t>
                      </a:r>
                      <a:r>
                        <a:rPr lang="en-US" sz="1150" dirty="0">
                          <a:effectLst/>
                          <a:latin typeface="Tahoma" panose="020B0604030504040204" pitchFamily="34" charset="0"/>
                          <a:ea typeface="Calibri" panose="020F0502020204030204" pitchFamily="34" charset="0"/>
                          <a:cs typeface="Times New Roman" panose="02020603050405020304" pitchFamily="18" charset="0"/>
                        </a:rPr>
                        <a:t>: {12, 14, 17, 5, 10, 8}</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114300" marR="11430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48" name="Rectangle 47">
            <a:extLst>
              <a:ext uri="{FF2B5EF4-FFF2-40B4-BE49-F238E27FC236}">
                <a16:creationId xmlns:a16="http://schemas.microsoft.com/office/drawing/2014/main" id="{B67AD4E8-6C8D-469A-9EB0-B28418CFA6DF}"/>
              </a:ext>
            </a:extLst>
          </p:cNvPr>
          <p:cNvSpPr/>
          <p:nvPr/>
        </p:nvSpPr>
        <p:spPr>
          <a:xfrm>
            <a:off x="762000" y="3311235"/>
            <a:ext cx="3124200" cy="900246"/>
          </a:xfrm>
          <a:prstGeom prst="rect">
            <a:avLst/>
          </a:prstGeom>
        </p:spPr>
        <p:txBody>
          <a:bodyPr wrap="square">
            <a:spAutoFit/>
          </a:bodyPr>
          <a:lstStyle/>
          <a:p>
            <a:r>
              <a:rPr lang="en-US" sz="1150" dirty="0">
                <a:effectLst/>
                <a:latin typeface="Tahoma" panose="020B0604030504040204" pitchFamily="34" charset="0"/>
                <a:ea typeface="Calibri" panose="020F0502020204030204" pitchFamily="34" charset="0"/>
              </a:rPr>
              <a:t>If 6 is added to this data set, which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statement accurate describes the change in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the disbursement of data. </a:t>
            </a:r>
            <a:br>
              <a:rPr lang="en-US" sz="1150" dirty="0">
                <a:effectLst/>
                <a:latin typeface="Tahoma" panose="020B0604030504040204" pitchFamily="34" charset="0"/>
                <a:ea typeface="Calibri" panose="020F0502020204030204" pitchFamily="34" charset="0"/>
              </a:rPr>
            </a:br>
            <a:endParaRPr lang="en-US" dirty="0"/>
          </a:p>
        </p:txBody>
      </p:sp>
      <p:sp>
        <p:nvSpPr>
          <p:cNvPr id="49" name="Rectangle 48">
            <a:extLst>
              <a:ext uri="{FF2B5EF4-FFF2-40B4-BE49-F238E27FC236}">
                <a16:creationId xmlns:a16="http://schemas.microsoft.com/office/drawing/2014/main" id="{B51487F8-BA35-40FD-BFF5-4E44F54CED6C}"/>
              </a:ext>
            </a:extLst>
          </p:cNvPr>
          <p:cNvSpPr/>
          <p:nvPr/>
        </p:nvSpPr>
        <p:spPr>
          <a:xfrm>
            <a:off x="3810000" y="3118195"/>
            <a:ext cx="35052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28. </a:t>
            </a:r>
            <a:r>
              <a:rPr lang="en-US" sz="1150" dirty="0">
                <a:effectLst/>
                <a:latin typeface="Tahoma" panose="020B0604030504040204" pitchFamily="34" charset="0"/>
                <a:ea typeface="Calibri" panose="020F0502020204030204" pitchFamily="34" charset="0"/>
              </a:rPr>
              <a:t>If the mean and standard deviation of a data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set are given, which data set has a variance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equal to 16?</a:t>
            </a:r>
            <a:endParaRPr lang="en-US" dirty="0"/>
          </a:p>
        </p:txBody>
      </p:sp>
      <p:sp>
        <p:nvSpPr>
          <p:cNvPr id="50" name="Text Box 807">
            <a:extLst>
              <a:ext uri="{FF2B5EF4-FFF2-40B4-BE49-F238E27FC236}">
                <a16:creationId xmlns:a16="http://schemas.microsoft.com/office/drawing/2014/main" id="{4C596650-B698-400A-B1DC-25E18E6EF8AF}"/>
              </a:ext>
            </a:extLst>
          </p:cNvPr>
          <p:cNvSpPr txBox="1">
            <a:spLocks noChangeArrowheads="1"/>
          </p:cNvSpPr>
          <p:nvPr/>
        </p:nvSpPr>
        <p:spPr bwMode="auto">
          <a:xfrm>
            <a:off x="4038600" y="3844635"/>
            <a:ext cx="2820035" cy="1058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50000"/>
              </a:lnSpc>
              <a:spcBef>
                <a:spcPts val="0"/>
              </a:spcBef>
              <a:spcAft>
                <a:spcPts val="1000"/>
              </a:spcAft>
            </a:pPr>
            <a:r>
              <a:rPr lang="en-US" sz="1100" b="1" dirty="0">
                <a:effectLst/>
                <a:latin typeface="Tahoma" panose="020B0604030504040204" pitchFamily="34" charset="0"/>
                <a:ea typeface="Calibri" panose="020F0502020204030204" pitchFamily="34" charset="0"/>
                <a:cs typeface="Times New Roman" panose="02020603050405020304" pitchFamily="18" charset="0"/>
              </a:rPr>
              <a:t>A.  </a:t>
            </a:r>
            <a:r>
              <a:rPr lang="en-US" sz="1100" dirty="0">
                <a:effectLst/>
                <a:latin typeface="Tahoma" panose="020B0604030504040204" pitchFamily="34" charset="0"/>
                <a:ea typeface="Calibri" panose="020F0502020204030204" pitchFamily="34" charset="0"/>
                <a:cs typeface="Times New Roman" panose="02020603050405020304" pitchFamily="18" charset="0"/>
              </a:rPr>
              <a:t>Mean = 4; Standard Deviation = 8</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B.  </a:t>
            </a:r>
            <a:r>
              <a:rPr lang="en-US" sz="1100" dirty="0">
                <a:effectLst/>
                <a:latin typeface="Tahoma" panose="020B0604030504040204" pitchFamily="34" charset="0"/>
                <a:ea typeface="Calibri" panose="020F0502020204030204" pitchFamily="34" charset="0"/>
                <a:cs typeface="Times New Roman" panose="02020603050405020304" pitchFamily="18" charset="0"/>
              </a:rPr>
              <a:t>Mean = 256; Standard Deviation = 8</a:t>
            </a:r>
            <a:br>
              <a:rPr lang="en-US" sz="1100"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C.  </a:t>
            </a:r>
            <a:r>
              <a:rPr lang="en-US" sz="1100" dirty="0">
                <a:effectLst/>
                <a:latin typeface="Tahoma" panose="020B0604030504040204" pitchFamily="34" charset="0"/>
                <a:ea typeface="Calibri" panose="020F0502020204030204" pitchFamily="34" charset="0"/>
                <a:cs typeface="Times New Roman" panose="02020603050405020304" pitchFamily="18" charset="0"/>
              </a:rPr>
              <a:t>Mean = 4; Standard Deviation = 256</a:t>
            </a:r>
            <a:br>
              <a:rPr lang="en-US" sz="1100" b="1" dirty="0">
                <a:effectLst/>
                <a:latin typeface="Tahoma" panose="020B0604030504040204" pitchFamily="34" charset="0"/>
                <a:ea typeface="Calibri" panose="020F0502020204030204" pitchFamily="34" charset="0"/>
                <a:cs typeface="Times New Roman" panose="02020603050405020304" pitchFamily="18" charset="0"/>
              </a:rPr>
            </a:br>
            <a:r>
              <a:rPr lang="en-US" sz="1100" b="1" dirty="0">
                <a:effectLst/>
                <a:latin typeface="Tahoma" panose="020B0604030504040204" pitchFamily="34" charset="0"/>
                <a:ea typeface="Calibri" panose="020F0502020204030204" pitchFamily="34" charset="0"/>
                <a:cs typeface="Times New Roman" panose="02020603050405020304" pitchFamily="18" charset="0"/>
              </a:rPr>
              <a:t>D.  </a:t>
            </a:r>
            <a:r>
              <a:rPr lang="en-US" sz="1100" dirty="0">
                <a:effectLst/>
                <a:latin typeface="Tahoma" panose="020B0604030504040204" pitchFamily="34" charset="0"/>
                <a:ea typeface="Calibri" panose="020F0502020204030204" pitchFamily="34" charset="0"/>
                <a:cs typeface="Times New Roman" panose="02020603050405020304" pitchFamily="18" charset="0"/>
              </a:rPr>
              <a:t>Mean = 256; Standard Deviation = 4</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1" name="Rectangle 50">
            <a:extLst>
              <a:ext uri="{FF2B5EF4-FFF2-40B4-BE49-F238E27FC236}">
                <a16:creationId xmlns:a16="http://schemas.microsoft.com/office/drawing/2014/main" id="{C5294E97-9158-4650-97A2-1F66B6FB437F}"/>
              </a:ext>
            </a:extLst>
          </p:cNvPr>
          <p:cNvSpPr/>
          <p:nvPr/>
        </p:nvSpPr>
        <p:spPr>
          <a:xfrm>
            <a:off x="609600" y="5597235"/>
            <a:ext cx="3581400" cy="977191"/>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  The wind speeds throughout the month of</a:t>
            </a:r>
            <a:br>
              <a:rPr lang="en-US" sz="1150" b="1" dirty="0">
                <a:effectLst/>
                <a:latin typeface="Tahoma" panose="020B0604030504040204" pitchFamily="34" charset="0"/>
                <a:ea typeface="Calibri" panose="020F0502020204030204" pitchFamily="34" charset="0"/>
              </a:rPr>
            </a:br>
            <a:r>
              <a:rPr lang="en-US" sz="1150" b="1" dirty="0">
                <a:effectLst/>
                <a:latin typeface="Tahoma" panose="020B0604030504040204" pitchFamily="34" charset="0"/>
                <a:ea typeface="Calibri" panose="020F0502020204030204" pitchFamily="34" charset="0"/>
              </a:rPr>
              <a:t>April were normally distributed with a mean </a:t>
            </a:r>
            <a:br>
              <a:rPr lang="en-US" sz="1150" b="1" dirty="0">
                <a:effectLst/>
                <a:latin typeface="Tahoma" panose="020B0604030504040204" pitchFamily="34" charset="0"/>
                <a:ea typeface="Calibri" panose="020F0502020204030204" pitchFamily="34" charset="0"/>
              </a:rPr>
            </a:br>
            <a:r>
              <a:rPr lang="en-US" sz="1150" b="1" dirty="0">
                <a:effectLst/>
                <a:latin typeface="Tahoma" panose="020B0604030504040204" pitchFamily="34" charset="0"/>
                <a:ea typeface="Calibri" panose="020F0502020204030204" pitchFamily="34" charset="0"/>
              </a:rPr>
              <a:t>      of 17 mph and a standard deviation </a:t>
            </a:r>
            <a:br>
              <a:rPr lang="en-US" sz="1150" b="1" dirty="0">
                <a:effectLst/>
                <a:latin typeface="Tahoma" panose="020B0604030504040204" pitchFamily="34" charset="0"/>
                <a:ea typeface="Calibri" panose="020F0502020204030204" pitchFamily="34" charset="0"/>
              </a:rPr>
            </a:br>
            <a:r>
              <a:rPr lang="en-US" sz="1150" b="1" dirty="0">
                <a:effectLst/>
                <a:latin typeface="Tahoma" panose="020B0604030504040204" pitchFamily="34" charset="0"/>
                <a:ea typeface="Calibri" panose="020F0502020204030204" pitchFamily="34" charset="0"/>
              </a:rPr>
              <a:t>    of 4 mph. Label the normal distribution </a:t>
            </a:r>
            <a:br>
              <a:rPr lang="en-US" sz="1150" b="1" dirty="0">
                <a:effectLst/>
                <a:latin typeface="Tahoma" panose="020B0604030504040204" pitchFamily="34" charset="0"/>
                <a:ea typeface="Calibri" panose="020F0502020204030204" pitchFamily="34" charset="0"/>
              </a:rPr>
            </a:br>
            <a:r>
              <a:rPr lang="en-US" sz="1150" b="1" dirty="0">
                <a:effectLst/>
                <a:latin typeface="Tahoma" panose="020B0604030504040204" pitchFamily="34" charset="0"/>
                <a:ea typeface="Calibri" panose="020F0502020204030204" pitchFamily="34" charset="0"/>
              </a:rPr>
              <a:t>       curve, then answer questions 29-32:</a:t>
            </a:r>
            <a:endParaRPr lang="en-US" dirty="0"/>
          </a:p>
        </p:txBody>
      </p:sp>
      <p:sp>
        <p:nvSpPr>
          <p:cNvPr id="63" name="Rectangle 62">
            <a:extLst>
              <a:ext uri="{FF2B5EF4-FFF2-40B4-BE49-F238E27FC236}">
                <a16:creationId xmlns:a16="http://schemas.microsoft.com/office/drawing/2014/main" id="{ADEB9755-957F-4921-94D3-4EC39C19E20B}"/>
              </a:ext>
            </a:extLst>
          </p:cNvPr>
          <p:cNvSpPr/>
          <p:nvPr/>
        </p:nvSpPr>
        <p:spPr>
          <a:xfrm>
            <a:off x="4145280" y="5510875"/>
            <a:ext cx="31242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29. </a:t>
            </a:r>
            <a:r>
              <a:rPr lang="en-US" sz="1150" dirty="0">
                <a:effectLst/>
                <a:latin typeface="Tahoma" panose="020B0604030504040204" pitchFamily="34" charset="0"/>
                <a:ea typeface="Calibri" panose="020F0502020204030204" pitchFamily="34" charset="0"/>
              </a:rPr>
              <a:t> What percent of the days had wind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speeds between 5 and 13 mph?</a:t>
            </a:r>
            <a:endParaRPr lang="en-US" dirty="0"/>
          </a:p>
        </p:txBody>
      </p:sp>
      <p:sp>
        <p:nvSpPr>
          <p:cNvPr id="64" name="Rectangle 63">
            <a:extLst>
              <a:ext uri="{FF2B5EF4-FFF2-40B4-BE49-F238E27FC236}">
                <a16:creationId xmlns:a16="http://schemas.microsoft.com/office/drawing/2014/main" id="{0B526253-6B3A-411E-9C9F-81B0B8738000}"/>
              </a:ext>
            </a:extLst>
          </p:cNvPr>
          <p:cNvSpPr/>
          <p:nvPr/>
        </p:nvSpPr>
        <p:spPr>
          <a:xfrm>
            <a:off x="4150360" y="6537035"/>
            <a:ext cx="308864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30. </a:t>
            </a:r>
            <a:r>
              <a:rPr lang="en-US" sz="1150" dirty="0">
                <a:effectLst/>
                <a:latin typeface="Tahoma" panose="020B0604030504040204" pitchFamily="34" charset="0"/>
                <a:ea typeface="Calibri" panose="020F0502020204030204" pitchFamily="34" charset="0"/>
              </a:rPr>
              <a:t> What percent of the days had wind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speeds of at least 9 mph?</a:t>
            </a:r>
            <a:endParaRPr lang="en-US" dirty="0"/>
          </a:p>
        </p:txBody>
      </p:sp>
      <p:sp>
        <p:nvSpPr>
          <p:cNvPr id="65" name="Rectangle 64">
            <a:extLst>
              <a:ext uri="{FF2B5EF4-FFF2-40B4-BE49-F238E27FC236}">
                <a16:creationId xmlns:a16="http://schemas.microsoft.com/office/drawing/2014/main" id="{260232CA-49E4-4696-B422-AB10F8CFFF95}"/>
              </a:ext>
            </a:extLst>
          </p:cNvPr>
          <p:cNvSpPr/>
          <p:nvPr/>
        </p:nvSpPr>
        <p:spPr>
          <a:xfrm>
            <a:off x="4145280" y="7547955"/>
            <a:ext cx="316992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31. </a:t>
            </a:r>
            <a:r>
              <a:rPr lang="en-US" sz="1150" dirty="0">
                <a:effectLst/>
                <a:latin typeface="Tahoma" panose="020B0604030504040204" pitchFamily="34" charset="0"/>
                <a:ea typeface="Calibri" panose="020F0502020204030204" pitchFamily="34" charset="0"/>
              </a:rPr>
              <a:t>What is the probability that a day had a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wind speed of no more than 21 mph?</a:t>
            </a:r>
            <a:endParaRPr lang="en-US" dirty="0"/>
          </a:p>
        </p:txBody>
      </p:sp>
      <p:sp>
        <p:nvSpPr>
          <p:cNvPr id="66" name="Rectangle 65">
            <a:extLst>
              <a:ext uri="{FF2B5EF4-FFF2-40B4-BE49-F238E27FC236}">
                <a16:creationId xmlns:a16="http://schemas.microsoft.com/office/drawing/2014/main" id="{33CB72C9-2843-4BA4-A467-28DC734CC573}"/>
              </a:ext>
            </a:extLst>
          </p:cNvPr>
          <p:cNvSpPr/>
          <p:nvPr/>
        </p:nvSpPr>
        <p:spPr>
          <a:xfrm>
            <a:off x="4155440" y="8569035"/>
            <a:ext cx="315976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32.  </a:t>
            </a:r>
            <a:r>
              <a:rPr lang="en-US" sz="1150" dirty="0">
                <a:effectLst/>
                <a:latin typeface="Tahoma" panose="020B0604030504040204" pitchFamily="34" charset="0"/>
                <a:ea typeface="Calibri" panose="020F0502020204030204" pitchFamily="34" charset="0"/>
              </a:rPr>
              <a:t>Approximately how many days had wind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speeds between 17 and 25 mph?</a:t>
            </a:r>
            <a:endParaRPr lang="en-US" dirty="0"/>
          </a:p>
        </p:txBody>
      </p:sp>
      <p:sp>
        <p:nvSpPr>
          <p:cNvPr id="67" name="Text Box 329">
            <a:extLst>
              <a:ext uri="{FF2B5EF4-FFF2-40B4-BE49-F238E27FC236}">
                <a16:creationId xmlns:a16="http://schemas.microsoft.com/office/drawing/2014/main" id="{92D620B2-3C42-4AA8-B3AD-BE66626339B8}"/>
              </a:ext>
            </a:extLst>
          </p:cNvPr>
          <p:cNvSpPr txBox="1">
            <a:spLocks noChangeArrowheads="1"/>
          </p:cNvSpPr>
          <p:nvPr/>
        </p:nvSpPr>
        <p:spPr bwMode="auto">
          <a:xfrm>
            <a:off x="6400800" y="9209115"/>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8" name="Text Box 329">
            <a:extLst>
              <a:ext uri="{FF2B5EF4-FFF2-40B4-BE49-F238E27FC236}">
                <a16:creationId xmlns:a16="http://schemas.microsoft.com/office/drawing/2014/main" id="{4585C0C1-779B-4BFA-9FFA-36CFEAC8E71E}"/>
              </a:ext>
            </a:extLst>
          </p:cNvPr>
          <p:cNvSpPr txBox="1">
            <a:spLocks noChangeArrowheads="1"/>
          </p:cNvSpPr>
          <p:nvPr/>
        </p:nvSpPr>
        <p:spPr bwMode="auto">
          <a:xfrm>
            <a:off x="6400800" y="8188035"/>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69" name="Text Box 329">
            <a:extLst>
              <a:ext uri="{FF2B5EF4-FFF2-40B4-BE49-F238E27FC236}">
                <a16:creationId xmlns:a16="http://schemas.microsoft.com/office/drawing/2014/main" id="{967D3C2F-3BA1-4697-8ADC-AB0F80F7A3F5}"/>
              </a:ext>
            </a:extLst>
          </p:cNvPr>
          <p:cNvSpPr txBox="1">
            <a:spLocks noChangeArrowheads="1"/>
          </p:cNvSpPr>
          <p:nvPr/>
        </p:nvSpPr>
        <p:spPr bwMode="auto">
          <a:xfrm>
            <a:off x="6400800" y="7161875"/>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70" name="Text Box 329">
            <a:extLst>
              <a:ext uri="{FF2B5EF4-FFF2-40B4-BE49-F238E27FC236}">
                <a16:creationId xmlns:a16="http://schemas.microsoft.com/office/drawing/2014/main" id="{70BAF0CE-FDBB-4581-9FA9-96F3BFC9FD8F}"/>
              </a:ext>
            </a:extLst>
          </p:cNvPr>
          <p:cNvSpPr txBox="1">
            <a:spLocks noChangeArrowheads="1"/>
          </p:cNvSpPr>
          <p:nvPr/>
        </p:nvSpPr>
        <p:spPr bwMode="auto">
          <a:xfrm>
            <a:off x="6400800" y="6130635"/>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pic>
        <p:nvPicPr>
          <p:cNvPr id="2" name="Picture 1">
            <a:extLst>
              <a:ext uri="{FF2B5EF4-FFF2-40B4-BE49-F238E27FC236}">
                <a16:creationId xmlns:a16="http://schemas.microsoft.com/office/drawing/2014/main" id="{E4B21747-9594-47A2-991A-F566D5FC846E}"/>
              </a:ext>
            </a:extLst>
          </p:cNvPr>
          <p:cNvPicPr>
            <a:picLocks noChangeAspect="1"/>
          </p:cNvPicPr>
          <p:nvPr/>
        </p:nvPicPr>
        <p:blipFill>
          <a:blip r:embed="rId3"/>
          <a:stretch>
            <a:fillRect/>
          </a:stretch>
        </p:blipFill>
        <p:spPr>
          <a:xfrm>
            <a:off x="533400" y="6981982"/>
            <a:ext cx="3566469" cy="165825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grayscl/>
          </a:blip>
          <a:srcRect/>
          <a:stretch>
            <a:fillRect/>
          </a:stretch>
        </a:blipFill>
        <a:effectLst/>
      </p:bgPr>
    </p:bg>
    <p:spTree>
      <p:nvGrpSpPr>
        <p:cNvPr id="1" name=""/>
        <p:cNvGrpSpPr/>
        <p:nvPr/>
      </p:nvGrpSpPr>
      <p:grpSpPr>
        <a:xfrm>
          <a:off x="0" y="0"/>
          <a:ext cx="0" cy="0"/>
          <a:chOff x="0" y="0"/>
          <a:chExt cx="0" cy="0"/>
        </a:xfrm>
      </p:grpSpPr>
      <p:sp>
        <p:nvSpPr>
          <p:cNvPr id="30" name="Rectangle 29">
            <a:extLst>
              <a:ext uri="{FF2B5EF4-FFF2-40B4-BE49-F238E27FC236}">
                <a16:creationId xmlns:a16="http://schemas.microsoft.com/office/drawing/2014/main" id="{65BBE669-6FEA-423C-8899-36A2B9E7ACBB}"/>
              </a:ext>
            </a:extLst>
          </p:cNvPr>
          <p:cNvSpPr/>
          <p:nvPr/>
        </p:nvSpPr>
        <p:spPr>
          <a:xfrm>
            <a:off x="391160" y="323271"/>
            <a:ext cx="3495040" cy="1169551"/>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34.  </a:t>
            </a:r>
            <a:r>
              <a:rPr lang="en-US" sz="1150" dirty="0">
                <a:effectLst/>
                <a:latin typeface="Tahoma" panose="020B0604030504040204" pitchFamily="34" charset="0"/>
                <a:ea typeface="Calibri" panose="020F0502020204030204" pitchFamily="34" charset="0"/>
              </a:rPr>
              <a:t>The time it takes to complete a test is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normally distributed with a mean of 45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minutes and a standard deviation of 12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minutes.  If Nick took an hour and 8 minutes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to complete the test, find his </a:t>
            </a:r>
            <a:r>
              <a:rPr lang="en-US" sz="1250" i="1" dirty="0">
                <a:effectLst/>
                <a:latin typeface="Times New Roman" panose="02020603050405020304" pitchFamily="18" charset="0"/>
                <a:ea typeface="Calibri" panose="020F0502020204030204" pitchFamily="34" charset="0"/>
              </a:rPr>
              <a:t>z</a:t>
            </a:r>
            <a:r>
              <a:rPr lang="en-US" sz="1150" dirty="0">
                <a:effectLst/>
                <a:latin typeface="Tahoma" panose="020B0604030504040204" pitchFamily="34" charset="0"/>
                <a:ea typeface="Calibri" panose="020F0502020204030204" pitchFamily="34" charset="0"/>
              </a:rPr>
              <a:t>-score to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nearest hundredth.</a:t>
            </a:r>
            <a:endParaRPr lang="en-US" dirty="0"/>
          </a:p>
        </p:txBody>
      </p:sp>
      <p:sp>
        <p:nvSpPr>
          <p:cNvPr id="31" name="Rectangle 30">
            <a:extLst>
              <a:ext uri="{FF2B5EF4-FFF2-40B4-BE49-F238E27FC236}">
                <a16:creationId xmlns:a16="http://schemas.microsoft.com/office/drawing/2014/main" id="{75FE53BF-839E-4185-A6F8-0860D16D3CA5}"/>
              </a:ext>
            </a:extLst>
          </p:cNvPr>
          <p:cNvSpPr/>
          <p:nvPr/>
        </p:nvSpPr>
        <p:spPr>
          <a:xfrm>
            <a:off x="3820160" y="338511"/>
            <a:ext cx="3495040" cy="977191"/>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35. </a:t>
            </a:r>
            <a:r>
              <a:rPr lang="en-US" sz="1150" dirty="0">
                <a:effectLst/>
                <a:latin typeface="Tahoma" panose="020B0604030504040204" pitchFamily="34" charset="0"/>
                <a:ea typeface="Calibri" panose="020F0502020204030204" pitchFamily="34" charset="0"/>
              </a:rPr>
              <a:t>The mean price of a computers sold at a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particular store is $949 with a standard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deviation of $75.  The z-score of a certain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computer is -0.8.  What is the price of the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computer?</a:t>
            </a:r>
            <a:endParaRPr lang="en-US" dirty="0"/>
          </a:p>
        </p:txBody>
      </p:sp>
      <p:sp>
        <p:nvSpPr>
          <p:cNvPr id="32" name="Rectangle 31">
            <a:extLst>
              <a:ext uri="{FF2B5EF4-FFF2-40B4-BE49-F238E27FC236}">
                <a16:creationId xmlns:a16="http://schemas.microsoft.com/office/drawing/2014/main" id="{2027336E-EC6A-4BEA-9015-93464ED8959E}"/>
              </a:ext>
            </a:extLst>
          </p:cNvPr>
          <p:cNvSpPr/>
          <p:nvPr/>
        </p:nvSpPr>
        <p:spPr>
          <a:xfrm>
            <a:off x="381000" y="2944551"/>
            <a:ext cx="3505200" cy="1169551"/>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35. </a:t>
            </a:r>
            <a:r>
              <a:rPr lang="en-US" sz="1150" dirty="0">
                <a:effectLst/>
                <a:latin typeface="Tahoma" panose="020B0604030504040204" pitchFamily="34" charset="0"/>
                <a:ea typeface="Calibri" panose="020F0502020204030204" pitchFamily="34" charset="0"/>
              </a:rPr>
              <a:t>The number of ounces of water a person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drinks per day is normally distributed with a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standard deviation of 15 ounces.  If Sean</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drinks 88 ounces per day with a </a:t>
            </a:r>
            <a:r>
              <a:rPr lang="en-US" sz="1250" i="1" dirty="0">
                <a:effectLst/>
                <a:latin typeface="Times New Roman" panose="02020603050405020304" pitchFamily="18" charset="0"/>
                <a:ea typeface="Calibri" panose="020F0502020204030204" pitchFamily="34" charset="0"/>
              </a:rPr>
              <a:t>z</a:t>
            </a:r>
            <a:r>
              <a:rPr lang="en-US" sz="1150" dirty="0">
                <a:effectLst/>
                <a:latin typeface="Tahoma" panose="020B0604030504040204" pitchFamily="34" charset="0"/>
                <a:ea typeface="Calibri" panose="020F0502020204030204" pitchFamily="34" charset="0"/>
              </a:rPr>
              <a:t>-score of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1.6, what is the mean ounces a day of water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that a person drinks?</a:t>
            </a:r>
            <a:endParaRPr lang="en-US" dirty="0"/>
          </a:p>
        </p:txBody>
      </p:sp>
      <p:sp>
        <p:nvSpPr>
          <p:cNvPr id="33" name="Rectangle 32">
            <a:extLst>
              <a:ext uri="{FF2B5EF4-FFF2-40B4-BE49-F238E27FC236}">
                <a16:creationId xmlns:a16="http://schemas.microsoft.com/office/drawing/2014/main" id="{04B79D00-90D3-4541-AF58-A6900B33939A}"/>
              </a:ext>
            </a:extLst>
          </p:cNvPr>
          <p:cNvSpPr/>
          <p:nvPr/>
        </p:nvSpPr>
        <p:spPr>
          <a:xfrm>
            <a:off x="3825240" y="2949631"/>
            <a:ext cx="3489960" cy="1092607"/>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36.  </a:t>
            </a:r>
            <a:r>
              <a:rPr lang="en-US" sz="1150" dirty="0">
                <a:effectLst/>
                <a:latin typeface="Tahoma" panose="020B0604030504040204" pitchFamily="34" charset="0"/>
                <a:ea typeface="Calibri" panose="020F0502020204030204" pitchFamily="34" charset="0"/>
              </a:rPr>
              <a:t>The scores on an Algebra 2 midterm were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normally distributed with a mean of 82.  If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Kendall scored 67 with a </a:t>
            </a:r>
            <a:r>
              <a:rPr lang="en-US" sz="1250" i="1" dirty="0">
                <a:effectLst/>
                <a:latin typeface="Times New Roman" panose="02020603050405020304" pitchFamily="18" charset="0"/>
                <a:ea typeface="Calibri" panose="020F0502020204030204" pitchFamily="34" charset="0"/>
              </a:rPr>
              <a:t>z</a:t>
            </a:r>
            <a:r>
              <a:rPr lang="en-US" sz="1150" dirty="0">
                <a:effectLst/>
                <a:latin typeface="Tahoma" panose="020B0604030504040204" pitchFamily="34" charset="0"/>
                <a:ea typeface="Calibri" panose="020F0502020204030204" pitchFamily="34" charset="0"/>
              </a:rPr>
              <a:t>-score of -2.5, what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is the standard deviation?</a:t>
            </a:r>
            <a:br>
              <a:rPr lang="en-US" sz="1150" dirty="0">
                <a:effectLst/>
                <a:latin typeface="Tahoma" panose="020B0604030504040204" pitchFamily="34" charset="0"/>
                <a:ea typeface="Calibri" panose="020F0502020204030204" pitchFamily="34" charset="0"/>
              </a:rPr>
            </a:br>
            <a:endParaRPr lang="en-US" dirty="0"/>
          </a:p>
        </p:txBody>
      </p:sp>
      <p:sp>
        <p:nvSpPr>
          <p:cNvPr id="34" name="Text Box 335">
            <a:extLst>
              <a:ext uri="{FF2B5EF4-FFF2-40B4-BE49-F238E27FC236}">
                <a16:creationId xmlns:a16="http://schemas.microsoft.com/office/drawing/2014/main" id="{12577DD4-5797-4212-83EF-90374F64D2D5}"/>
              </a:ext>
            </a:extLst>
          </p:cNvPr>
          <p:cNvSpPr txBox="1">
            <a:spLocks noChangeArrowheads="1"/>
          </p:cNvSpPr>
          <p:nvPr/>
        </p:nvSpPr>
        <p:spPr bwMode="auto">
          <a:xfrm>
            <a:off x="2971800" y="51746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5" name="Text Box 335">
            <a:extLst>
              <a:ext uri="{FF2B5EF4-FFF2-40B4-BE49-F238E27FC236}">
                <a16:creationId xmlns:a16="http://schemas.microsoft.com/office/drawing/2014/main" id="{2327C306-73EE-46E1-A378-CA5A1953F217}"/>
              </a:ext>
            </a:extLst>
          </p:cNvPr>
          <p:cNvSpPr txBox="1">
            <a:spLocks noChangeArrowheads="1"/>
          </p:cNvSpPr>
          <p:nvPr/>
        </p:nvSpPr>
        <p:spPr bwMode="auto">
          <a:xfrm>
            <a:off x="6400800" y="51746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6" name="Text Box 335">
            <a:extLst>
              <a:ext uri="{FF2B5EF4-FFF2-40B4-BE49-F238E27FC236}">
                <a16:creationId xmlns:a16="http://schemas.microsoft.com/office/drawing/2014/main" id="{1D64A1EB-7595-4BDD-B421-1166D57F9D54}"/>
              </a:ext>
            </a:extLst>
          </p:cNvPr>
          <p:cNvSpPr txBox="1">
            <a:spLocks noChangeArrowheads="1"/>
          </p:cNvSpPr>
          <p:nvPr/>
        </p:nvSpPr>
        <p:spPr bwMode="auto">
          <a:xfrm>
            <a:off x="6400800" y="25584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7" name="Text Box 335">
            <a:extLst>
              <a:ext uri="{FF2B5EF4-FFF2-40B4-BE49-F238E27FC236}">
                <a16:creationId xmlns:a16="http://schemas.microsoft.com/office/drawing/2014/main" id="{02BCA59D-2549-4174-B655-0E0C3AFB8755}"/>
              </a:ext>
            </a:extLst>
          </p:cNvPr>
          <p:cNvSpPr txBox="1">
            <a:spLocks noChangeArrowheads="1"/>
          </p:cNvSpPr>
          <p:nvPr/>
        </p:nvSpPr>
        <p:spPr bwMode="auto">
          <a:xfrm>
            <a:off x="2971800" y="25584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8" name="Text Box 335">
            <a:extLst>
              <a:ext uri="{FF2B5EF4-FFF2-40B4-BE49-F238E27FC236}">
                <a16:creationId xmlns:a16="http://schemas.microsoft.com/office/drawing/2014/main" id="{2B0F4777-B1EB-4C1E-8F34-92ACCC2B94C0}"/>
              </a:ext>
            </a:extLst>
          </p:cNvPr>
          <p:cNvSpPr txBox="1">
            <a:spLocks noChangeArrowheads="1"/>
          </p:cNvSpPr>
          <p:nvPr/>
        </p:nvSpPr>
        <p:spPr bwMode="auto">
          <a:xfrm>
            <a:off x="2971800" y="92132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39" name="Text Box 335">
            <a:extLst>
              <a:ext uri="{FF2B5EF4-FFF2-40B4-BE49-F238E27FC236}">
                <a16:creationId xmlns:a16="http://schemas.microsoft.com/office/drawing/2014/main" id="{8C58B036-2757-4151-A873-49D79A1D2A01}"/>
              </a:ext>
            </a:extLst>
          </p:cNvPr>
          <p:cNvSpPr txBox="1">
            <a:spLocks noChangeArrowheads="1"/>
          </p:cNvSpPr>
          <p:nvPr/>
        </p:nvSpPr>
        <p:spPr bwMode="auto">
          <a:xfrm>
            <a:off x="6400800" y="92132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0" name="Text Box 335">
            <a:extLst>
              <a:ext uri="{FF2B5EF4-FFF2-40B4-BE49-F238E27FC236}">
                <a16:creationId xmlns:a16="http://schemas.microsoft.com/office/drawing/2014/main" id="{04E891DC-C926-4D82-A20A-9FF18BC59A8B}"/>
              </a:ext>
            </a:extLst>
          </p:cNvPr>
          <p:cNvSpPr txBox="1">
            <a:spLocks noChangeArrowheads="1"/>
          </p:cNvSpPr>
          <p:nvPr/>
        </p:nvSpPr>
        <p:spPr bwMode="auto">
          <a:xfrm>
            <a:off x="6400800" y="73844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1" name="Text Box 335">
            <a:extLst>
              <a:ext uri="{FF2B5EF4-FFF2-40B4-BE49-F238E27FC236}">
                <a16:creationId xmlns:a16="http://schemas.microsoft.com/office/drawing/2014/main" id="{89BA786A-240E-4FD7-9F28-5BADE9ECA631}"/>
              </a:ext>
            </a:extLst>
          </p:cNvPr>
          <p:cNvSpPr txBox="1">
            <a:spLocks noChangeArrowheads="1"/>
          </p:cNvSpPr>
          <p:nvPr/>
        </p:nvSpPr>
        <p:spPr bwMode="auto">
          <a:xfrm>
            <a:off x="2971800" y="7384471"/>
            <a:ext cx="836930" cy="358775"/>
          </a:xfrm>
          <a:prstGeom prst="rect">
            <a:avLst/>
          </a:prstGeom>
          <a:noFill/>
          <a:ln w="9525">
            <a:solidFill>
              <a:srgbClr val="000000"/>
            </a:solidFill>
            <a:miter lim="800000"/>
            <a:headEnd/>
            <a:tailEnd/>
          </a:ln>
        </p:spPr>
        <p:txBody>
          <a:bodyPr rot="0" vert="horz" wrap="square" lIns="91440" tIns="45720" rIns="91440" bIns="45720" anchor="t" anchorCtr="0" upright="1">
            <a:noAutofit/>
          </a:bodyPr>
          <a:lstStyle/>
          <a:p>
            <a:pPr marL="0" marR="0">
              <a:lnSpc>
                <a:spcPct val="115000"/>
              </a:lnSpc>
              <a:spcBef>
                <a:spcPts val="0"/>
              </a:spcBef>
              <a:spcAft>
                <a:spcPts val="1000"/>
              </a:spcAft>
            </a:pPr>
            <a:r>
              <a:rPr lang="en-US" sz="1100">
                <a:effectLst/>
                <a:latin typeface="Calibri" panose="020F0502020204030204" pitchFamily="34" charset="0"/>
                <a:ea typeface="Calibri" panose="020F0502020204030204" pitchFamily="34" charset="0"/>
                <a:cs typeface="Times New Roman" panose="02020603050405020304" pitchFamily="18" charset="0"/>
              </a:rPr>
              <a:t> </a:t>
            </a:r>
          </a:p>
        </p:txBody>
      </p:sp>
      <p:sp>
        <p:nvSpPr>
          <p:cNvPr id="42" name="Rectangle 41">
            <a:extLst>
              <a:ext uri="{FF2B5EF4-FFF2-40B4-BE49-F238E27FC236}">
                <a16:creationId xmlns:a16="http://schemas.microsoft.com/office/drawing/2014/main" id="{37ED5825-1981-4220-B2E6-7339A53D7F5E}"/>
              </a:ext>
            </a:extLst>
          </p:cNvPr>
          <p:cNvSpPr/>
          <p:nvPr/>
        </p:nvSpPr>
        <p:spPr>
          <a:xfrm>
            <a:off x="421640" y="5555671"/>
            <a:ext cx="62103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Use for questions 37-40:  </a:t>
            </a:r>
            <a:r>
              <a:rPr lang="en-US" sz="1150" dirty="0">
                <a:effectLst/>
                <a:latin typeface="Tahoma" panose="020B0604030504040204" pitchFamily="34" charset="0"/>
                <a:ea typeface="Calibri" panose="020F0502020204030204" pitchFamily="34" charset="0"/>
              </a:rPr>
              <a:t>The 100-meter dash times in the girls track meet were normally distributed with a mean of 13 seconds and a standard deviation of 0.3 seconds. </a:t>
            </a:r>
            <a:endParaRPr lang="en-US" dirty="0"/>
          </a:p>
        </p:txBody>
      </p:sp>
      <p:sp>
        <p:nvSpPr>
          <p:cNvPr id="43" name="Rectangle 42">
            <a:extLst>
              <a:ext uri="{FF2B5EF4-FFF2-40B4-BE49-F238E27FC236}">
                <a16:creationId xmlns:a16="http://schemas.microsoft.com/office/drawing/2014/main" id="{B5D8D7FD-45EB-4F64-A9EC-B2A82B02724E}"/>
              </a:ext>
            </a:extLst>
          </p:cNvPr>
          <p:cNvSpPr/>
          <p:nvPr/>
        </p:nvSpPr>
        <p:spPr>
          <a:xfrm>
            <a:off x="401320" y="5936671"/>
            <a:ext cx="340868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37. </a:t>
            </a:r>
            <a:r>
              <a:rPr lang="en-US" sz="1150" dirty="0">
                <a:effectLst/>
                <a:latin typeface="Tahoma" panose="020B0604030504040204" pitchFamily="34" charset="0"/>
                <a:ea typeface="Calibri" panose="020F0502020204030204" pitchFamily="34" charset="0"/>
              </a:rPr>
              <a:t>What is the probability that a runner finished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between 12.4 and 14 seconds?</a:t>
            </a:r>
            <a:endParaRPr lang="en-US" dirty="0"/>
          </a:p>
        </p:txBody>
      </p:sp>
      <p:sp>
        <p:nvSpPr>
          <p:cNvPr id="44" name="Rectangle 43">
            <a:extLst>
              <a:ext uri="{FF2B5EF4-FFF2-40B4-BE49-F238E27FC236}">
                <a16:creationId xmlns:a16="http://schemas.microsoft.com/office/drawing/2014/main" id="{D6AEF53B-B7B2-4C6E-8D6B-19C8BB10DEA5}"/>
              </a:ext>
            </a:extLst>
          </p:cNvPr>
          <p:cNvSpPr/>
          <p:nvPr/>
        </p:nvSpPr>
        <p:spPr>
          <a:xfrm>
            <a:off x="3830320" y="5936671"/>
            <a:ext cx="35052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38. </a:t>
            </a:r>
            <a:r>
              <a:rPr lang="en-US" sz="1150" dirty="0">
                <a:effectLst/>
                <a:latin typeface="Tahoma" panose="020B0604030504040204" pitchFamily="34" charset="0"/>
                <a:ea typeface="Calibri" panose="020F0502020204030204" pitchFamily="34" charset="0"/>
              </a:rPr>
              <a:t> What is the probability that a runner finished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in under 12.7 seconds?</a:t>
            </a:r>
            <a:endParaRPr lang="en-US" dirty="0"/>
          </a:p>
        </p:txBody>
      </p:sp>
      <p:sp>
        <p:nvSpPr>
          <p:cNvPr id="45" name="Rectangle 44">
            <a:extLst>
              <a:ext uri="{FF2B5EF4-FFF2-40B4-BE49-F238E27FC236}">
                <a16:creationId xmlns:a16="http://schemas.microsoft.com/office/drawing/2014/main" id="{7B5FA218-3B86-4694-AFF4-AD6F5FF6DF96}"/>
              </a:ext>
            </a:extLst>
          </p:cNvPr>
          <p:cNvSpPr/>
          <p:nvPr/>
        </p:nvSpPr>
        <p:spPr>
          <a:xfrm>
            <a:off x="391160" y="7765471"/>
            <a:ext cx="3505200" cy="446276"/>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39. </a:t>
            </a:r>
            <a:r>
              <a:rPr lang="en-US" sz="1150" dirty="0">
                <a:effectLst/>
                <a:latin typeface="Tahoma" panose="020B0604030504040204" pitchFamily="34" charset="0"/>
                <a:ea typeface="Calibri" panose="020F0502020204030204" pitchFamily="34" charset="0"/>
              </a:rPr>
              <a:t> What is the probability that it took a runner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more than 13.5 seconds?</a:t>
            </a:r>
            <a:endParaRPr lang="en-US" dirty="0"/>
          </a:p>
        </p:txBody>
      </p:sp>
      <p:sp>
        <p:nvSpPr>
          <p:cNvPr id="46" name="Rectangle 45">
            <a:extLst>
              <a:ext uri="{FF2B5EF4-FFF2-40B4-BE49-F238E27FC236}">
                <a16:creationId xmlns:a16="http://schemas.microsoft.com/office/drawing/2014/main" id="{55FF0440-D4EE-4FC6-B544-DAD651003D69}"/>
              </a:ext>
            </a:extLst>
          </p:cNvPr>
          <p:cNvSpPr/>
          <p:nvPr/>
        </p:nvSpPr>
        <p:spPr>
          <a:xfrm>
            <a:off x="3810000" y="7765471"/>
            <a:ext cx="3505200" cy="623248"/>
          </a:xfrm>
          <a:prstGeom prst="rect">
            <a:avLst/>
          </a:prstGeom>
        </p:spPr>
        <p:txBody>
          <a:bodyPr wrap="square">
            <a:spAutoFit/>
          </a:bodyPr>
          <a:lstStyle/>
          <a:p>
            <a:r>
              <a:rPr lang="en-US" sz="1150" b="1" dirty="0">
                <a:effectLst/>
                <a:latin typeface="Tahoma" panose="020B0604030504040204" pitchFamily="34" charset="0"/>
                <a:ea typeface="Calibri" panose="020F0502020204030204" pitchFamily="34" charset="0"/>
              </a:rPr>
              <a:t>40. </a:t>
            </a:r>
            <a:r>
              <a:rPr lang="en-US" sz="1150" dirty="0">
                <a:effectLst/>
                <a:latin typeface="Tahoma" panose="020B0604030504040204" pitchFamily="34" charset="0"/>
                <a:ea typeface="Calibri" panose="020F0502020204030204" pitchFamily="34" charset="0"/>
              </a:rPr>
              <a:t>Lana finished the race in 13.2 seconds.  If 84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other girls ran in the event, approximately </a:t>
            </a:r>
            <a:br>
              <a:rPr lang="en-US" sz="1150" dirty="0">
                <a:effectLst/>
                <a:latin typeface="Tahoma" panose="020B0604030504040204" pitchFamily="34" charset="0"/>
                <a:ea typeface="Calibri" panose="020F0502020204030204" pitchFamily="34" charset="0"/>
              </a:rPr>
            </a:br>
            <a:r>
              <a:rPr lang="en-US" sz="1150" dirty="0">
                <a:effectLst/>
                <a:latin typeface="Tahoma" panose="020B0604030504040204" pitchFamily="34" charset="0"/>
                <a:ea typeface="Calibri" panose="020F0502020204030204" pitchFamily="34" charset="0"/>
              </a:rPr>
              <a:t>      how many runners did she beat?</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107</TotalTime>
  <Words>830</Words>
  <Application>Microsoft Office PowerPoint</Application>
  <PresentationFormat>Custom</PresentationFormat>
  <Paragraphs>152</Paragraphs>
  <Slides>5</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5</vt:i4>
      </vt:variant>
    </vt:vector>
  </HeadingPairs>
  <TitlesOfParts>
    <vt:vector size="11" baseType="lpstr">
      <vt:lpstr>Calibri</vt:lpstr>
      <vt:lpstr>Century Gothic</vt:lpstr>
      <vt:lpstr>Tahoma</vt:lpstr>
      <vt:lpstr>Times New Roman</vt:lpstr>
      <vt:lpstr>Office Theme</vt:lpstr>
      <vt:lpstr>Equation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Microsoft Word - 20 - Unit 11 Test</dc:title>
  <dc:creator>allth</dc:creator>
  <cp:lastModifiedBy>Gina Wilson</cp:lastModifiedBy>
  <cp:revision>42</cp:revision>
  <dcterms:created xsi:type="dcterms:W3CDTF">2017-12-14T16:24:01Z</dcterms:created>
  <dcterms:modified xsi:type="dcterms:W3CDTF">2017-12-20T22:23:03Z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2016-02-11T00:00:00Z</vt:filetime>
  </property>
  <property fmtid="{D5CDD505-2E9C-101B-9397-08002B2CF9AE}" pid="3" name="Creator">
    <vt:lpwstr>PrimoPDF http://www.primopdf.com</vt:lpwstr>
  </property>
  <property fmtid="{D5CDD505-2E9C-101B-9397-08002B2CF9AE}" pid="4" name="LastSaved">
    <vt:filetime>2017-12-14T00:00:00Z</vt:filetime>
  </property>
</Properties>
</file>