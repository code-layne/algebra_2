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7772400" cy="100584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441" y="-5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05055" y="9739479"/>
            <a:ext cx="1510665" cy="1155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770"/>
              </a:lnSpc>
            </a:pPr>
            <a:r>
              <a:rPr spc="5" dirty="0"/>
              <a:t>©</a:t>
            </a:r>
            <a:r>
              <a:rPr spc="-15" dirty="0"/>
              <a:t> </a:t>
            </a:r>
            <a:r>
              <a:rPr dirty="0"/>
              <a:t>Gina</a:t>
            </a:r>
            <a:r>
              <a:rPr spc="-5" dirty="0"/>
              <a:t> </a:t>
            </a:r>
            <a:r>
              <a:rPr dirty="0"/>
              <a:t>Wilson</a:t>
            </a:r>
            <a:r>
              <a:rPr spc="-10" dirty="0"/>
              <a:t> </a:t>
            </a:r>
            <a:r>
              <a:rPr dirty="0"/>
              <a:t>(All</a:t>
            </a:r>
            <a:r>
              <a:rPr spc="-10" dirty="0"/>
              <a:t> </a:t>
            </a:r>
            <a:r>
              <a:rPr spc="-5" dirty="0"/>
              <a:t>Things</a:t>
            </a:r>
            <a:r>
              <a:rPr spc="-15" dirty="0"/>
              <a:t> </a:t>
            </a:r>
            <a:r>
              <a:rPr dirty="0"/>
              <a:t>Algebra),</a:t>
            </a:r>
            <a:r>
              <a:rPr spc="-5" dirty="0"/>
              <a:t> </a:t>
            </a:r>
            <a:r>
              <a:rPr spc="5" dirty="0"/>
              <a:t>201</a:t>
            </a:r>
            <a:r>
              <a:rPr spc="-345" dirty="0">
                <a:latin typeface="SimSun"/>
                <a:cs typeface="SimSun"/>
              </a:rPr>
              <a:t>ヶ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7.w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2" Type="http://schemas.openxmlformats.org/officeDocument/2006/relationships/image" Target="../media/image1.JP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Relationship Id="rId8" Type="http://schemas.openxmlformats.org/officeDocument/2006/relationships/image" Target="../media/image4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2.bin"/><Relationship Id="rId18" Type="http://schemas.openxmlformats.org/officeDocument/2006/relationships/image" Target="../media/image26.wmf"/><Relationship Id="rId26" Type="http://schemas.openxmlformats.org/officeDocument/2006/relationships/image" Target="../media/image30.wmf"/><Relationship Id="rId3" Type="http://schemas.openxmlformats.org/officeDocument/2006/relationships/oleObject" Target="../embeddings/oleObject17.bin"/><Relationship Id="rId21" Type="http://schemas.openxmlformats.org/officeDocument/2006/relationships/oleObject" Target="../embeddings/oleObject26.bin"/><Relationship Id="rId34" Type="http://schemas.openxmlformats.org/officeDocument/2006/relationships/image" Target="../media/image34.wmf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4.bin"/><Relationship Id="rId25" Type="http://schemas.openxmlformats.org/officeDocument/2006/relationships/oleObject" Target="../embeddings/oleObject28.bin"/><Relationship Id="rId33" Type="http://schemas.openxmlformats.org/officeDocument/2006/relationships/oleObject" Target="../embeddings/oleObject32.bin"/><Relationship Id="rId2" Type="http://schemas.openxmlformats.org/officeDocument/2006/relationships/image" Target="../media/image18.JPG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29" Type="http://schemas.openxmlformats.org/officeDocument/2006/relationships/oleObject" Target="../embeddings/oleObject30.bin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1.bin"/><Relationship Id="rId24" Type="http://schemas.openxmlformats.org/officeDocument/2006/relationships/image" Target="../media/image29.wmf"/><Relationship Id="rId32" Type="http://schemas.openxmlformats.org/officeDocument/2006/relationships/image" Target="../media/image33.wmf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23" Type="http://schemas.openxmlformats.org/officeDocument/2006/relationships/oleObject" Target="../embeddings/oleObject27.bin"/><Relationship Id="rId28" Type="http://schemas.openxmlformats.org/officeDocument/2006/relationships/image" Target="../media/image31.wmf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5.bin"/><Relationship Id="rId31" Type="http://schemas.openxmlformats.org/officeDocument/2006/relationships/oleObject" Target="../embeddings/oleObject31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Relationship Id="rId27" Type="http://schemas.openxmlformats.org/officeDocument/2006/relationships/oleObject" Target="../embeddings/oleObject29.bin"/><Relationship Id="rId30" Type="http://schemas.openxmlformats.org/officeDocument/2006/relationships/image" Target="../media/image32.wmf"/><Relationship Id="rId8" Type="http://schemas.openxmlformats.org/officeDocument/2006/relationships/image" Target="../media/image21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43.wmf"/><Relationship Id="rId26" Type="http://schemas.openxmlformats.org/officeDocument/2006/relationships/image" Target="../media/image47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40.bin"/><Relationship Id="rId25" Type="http://schemas.openxmlformats.org/officeDocument/2006/relationships/oleObject" Target="../embeddings/oleObject44.bin"/><Relationship Id="rId2" Type="http://schemas.openxmlformats.org/officeDocument/2006/relationships/image" Target="../media/image35.JPG"/><Relationship Id="rId16" Type="http://schemas.openxmlformats.org/officeDocument/2006/relationships/image" Target="../media/image42.wmf"/><Relationship Id="rId20" Type="http://schemas.openxmlformats.org/officeDocument/2006/relationships/image" Target="../media/image44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46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3.bin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41.wmf"/><Relationship Id="rId22" Type="http://schemas.openxmlformats.org/officeDocument/2006/relationships/image" Target="../media/image45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7.bin"/><Relationship Id="rId13" Type="http://schemas.openxmlformats.org/officeDocument/2006/relationships/image" Target="../media/image54.wmf"/><Relationship Id="rId18" Type="http://schemas.openxmlformats.org/officeDocument/2006/relationships/oleObject" Target="../embeddings/oleObject52.bin"/><Relationship Id="rId26" Type="http://schemas.openxmlformats.org/officeDocument/2006/relationships/oleObject" Target="../embeddings/oleObject56.bin"/><Relationship Id="rId3" Type="http://schemas.openxmlformats.org/officeDocument/2006/relationships/image" Target="../media/image49.png"/><Relationship Id="rId21" Type="http://schemas.openxmlformats.org/officeDocument/2006/relationships/image" Target="../media/image58.wmf"/><Relationship Id="rId7" Type="http://schemas.openxmlformats.org/officeDocument/2006/relationships/image" Target="../media/image51.wmf"/><Relationship Id="rId12" Type="http://schemas.openxmlformats.org/officeDocument/2006/relationships/oleObject" Target="../embeddings/oleObject49.bin"/><Relationship Id="rId17" Type="http://schemas.openxmlformats.org/officeDocument/2006/relationships/image" Target="../media/image56.wmf"/><Relationship Id="rId25" Type="http://schemas.openxmlformats.org/officeDocument/2006/relationships/image" Target="../media/image60.wmf"/><Relationship Id="rId2" Type="http://schemas.openxmlformats.org/officeDocument/2006/relationships/image" Target="../media/image48.JPG"/><Relationship Id="rId16" Type="http://schemas.openxmlformats.org/officeDocument/2006/relationships/oleObject" Target="../embeddings/oleObject51.bin"/><Relationship Id="rId20" Type="http://schemas.openxmlformats.org/officeDocument/2006/relationships/oleObject" Target="../embeddings/oleObject53.bin"/><Relationship Id="rId29" Type="http://schemas.openxmlformats.org/officeDocument/2006/relationships/image" Target="../media/image62.wmf"/><Relationship Id="rId1" Type="http://schemas.openxmlformats.org/officeDocument/2006/relationships/slideLayout" Target="../slideLayouts/slideLayout5.x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53.wmf"/><Relationship Id="rId24" Type="http://schemas.openxmlformats.org/officeDocument/2006/relationships/oleObject" Target="../embeddings/oleObject55.bin"/><Relationship Id="rId5" Type="http://schemas.openxmlformats.org/officeDocument/2006/relationships/image" Target="../media/image50.wmf"/><Relationship Id="rId15" Type="http://schemas.openxmlformats.org/officeDocument/2006/relationships/image" Target="../media/image55.wmf"/><Relationship Id="rId23" Type="http://schemas.openxmlformats.org/officeDocument/2006/relationships/image" Target="../media/image59.wmf"/><Relationship Id="rId28" Type="http://schemas.openxmlformats.org/officeDocument/2006/relationships/oleObject" Target="../embeddings/oleObject57.bin"/><Relationship Id="rId10" Type="http://schemas.openxmlformats.org/officeDocument/2006/relationships/oleObject" Target="../embeddings/oleObject48.bin"/><Relationship Id="rId19" Type="http://schemas.openxmlformats.org/officeDocument/2006/relationships/image" Target="../media/image57.wmf"/><Relationship Id="rId31" Type="http://schemas.openxmlformats.org/officeDocument/2006/relationships/image" Target="../media/image63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52.wmf"/><Relationship Id="rId14" Type="http://schemas.openxmlformats.org/officeDocument/2006/relationships/oleObject" Target="../embeddings/oleObject50.bin"/><Relationship Id="rId22" Type="http://schemas.openxmlformats.org/officeDocument/2006/relationships/oleObject" Target="../embeddings/oleObject54.bin"/><Relationship Id="rId27" Type="http://schemas.openxmlformats.org/officeDocument/2006/relationships/image" Target="../media/image61.wmf"/><Relationship Id="rId30" Type="http://schemas.openxmlformats.org/officeDocument/2006/relationships/oleObject" Target="../embeddings/oleObject58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89935"/>
              </p:ext>
            </p:extLst>
          </p:nvPr>
        </p:nvGraphicFramePr>
        <p:xfrm>
          <a:off x="389776" y="1102340"/>
          <a:ext cx="3515474" cy="175451"/>
        </p:xfrm>
        <a:graphic>
          <a:graphicData uri="http://schemas.openxmlformats.org/drawingml/2006/table">
            <a:tbl>
              <a:tblPr/>
              <a:tblGrid>
                <a:gridCol w="35154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 the first five terms of the sequence: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85A8812C-B6CA-9A95-394C-0453B8822E47}"/>
              </a:ext>
            </a:extLst>
          </p:cNvPr>
          <p:cNvGrpSpPr/>
          <p:nvPr/>
        </p:nvGrpSpPr>
        <p:grpSpPr>
          <a:xfrm>
            <a:off x="4006101" y="2151319"/>
            <a:ext cx="3205480" cy="585470"/>
            <a:chOff x="3962400" y="2091784"/>
            <a:chExt cx="3205480" cy="585470"/>
          </a:xfrm>
        </p:grpSpPr>
        <p:sp>
          <p:nvSpPr>
            <p:cNvPr id="8" name="object 4"/>
            <p:cNvSpPr/>
            <p:nvPr/>
          </p:nvSpPr>
          <p:spPr>
            <a:xfrm>
              <a:off x="3962400" y="2091784"/>
              <a:ext cx="3205480" cy="585470"/>
            </a:xfrm>
            <a:custGeom>
              <a:avLst/>
              <a:gdLst/>
              <a:ahLst/>
              <a:cxnLst/>
              <a:rect l="l" t="t" r="r" b="b"/>
              <a:pathLst>
                <a:path w="3205479" h="585469">
                  <a:moveTo>
                    <a:pt x="3204971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3204971" y="585215"/>
                  </a:lnTo>
                  <a:lnTo>
                    <a:pt x="3204971" y="580643"/>
                  </a:lnTo>
                  <a:lnTo>
                    <a:pt x="9143" y="580643"/>
                  </a:lnTo>
                  <a:lnTo>
                    <a:pt x="4571" y="576071"/>
                  </a:lnTo>
                  <a:lnTo>
                    <a:pt x="9143" y="576071"/>
                  </a:lnTo>
                  <a:lnTo>
                    <a:pt x="9143" y="9143"/>
                  </a:lnTo>
                  <a:lnTo>
                    <a:pt x="4571" y="9143"/>
                  </a:lnTo>
                  <a:lnTo>
                    <a:pt x="9143" y="4571"/>
                  </a:lnTo>
                  <a:lnTo>
                    <a:pt x="3204971" y="4571"/>
                  </a:lnTo>
                  <a:lnTo>
                    <a:pt x="3204971" y="0"/>
                  </a:lnTo>
                  <a:close/>
                </a:path>
                <a:path w="3205479" h="585469">
                  <a:moveTo>
                    <a:pt x="9143" y="576071"/>
                  </a:moveTo>
                  <a:lnTo>
                    <a:pt x="4571" y="576071"/>
                  </a:lnTo>
                  <a:lnTo>
                    <a:pt x="9143" y="580643"/>
                  </a:lnTo>
                  <a:lnTo>
                    <a:pt x="9143" y="576071"/>
                  </a:lnTo>
                  <a:close/>
                </a:path>
                <a:path w="3205479" h="585469">
                  <a:moveTo>
                    <a:pt x="3195827" y="576071"/>
                  </a:moveTo>
                  <a:lnTo>
                    <a:pt x="9143" y="576071"/>
                  </a:lnTo>
                  <a:lnTo>
                    <a:pt x="9143" y="580643"/>
                  </a:lnTo>
                  <a:lnTo>
                    <a:pt x="3195827" y="580643"/>
                  </a:lnTo>
                  <a:lnTo>
                    <a:pt x="3195827" y="576071"/>
                  </a:lnTo>
                  <a:close/>
                </a:path>
                <a:path w="3205479" h="585469">
                  <a:moveTo>
                    <a:pt x="3195827" y="4571"/>
                  </a:moveTo>
                  <a:lnTo>
                    <a:pt x="3195827" y="580643"/>
                  </a:lnTo>
                  <a:lnTo>
                    <a:pt x="3200399" y="576071"/>
                  </a:lnTo>
                  <a:lnTo>
                    <a:pt x="3204971" y="576071"/>
                  </a:lnTo>
                  <a:lnTo>
                    <a:pt x="3204971" y="9143"/>
                  </a:lnTo>
                  <a:lnTo>
                    <a:pt x="3200399" y="9143"/>
                  </a:lnTo>
                  <a:lnTo>
                    <a:pt x="3195827" y="4571"/>
                  </a:lnTo>
                  <a:close/>
                </a:path>
                <a:path w="3205479" h="585469">
                  <a:moveTo>
                    <a:pt x="3204971" y="576071"/>
                  </a:moveTo>
                  <a:lnTo>
                    <a:pt x="3200399" y="576071"/>
                  </a:lnTo>
                  <a:lnTo>
                    <a:pt x="3195827" y="580643"/>
                  </a:lnTo>
                  <a:lnTo>
                    <a:pt x="3204971" y="580643"/>
                  </a:lnTo>
                  <a:lnTo>
                    <a:pt x="3204971" y="576071"/>
                  </a:lnTo>
                  <a:close/>
                </a:path>
                <a:path w="3205479" h="585469">
                  <a:moveTo>
                    <a:pt x="9143" y="4571"/>
                  </a:moveTo>
                  <a:lnTo>
                    <a:pt x="4571" y="9143"/>
                  </a:lnTo>
                  <a:lnTo>
                    <a:pt x="9143" y="9143"/>
                  </a:lnTo>
                  <a:lnTo>
                    <a:pt x="9143" y="4571"/>
                  </a:lnTo>
                  <a:close/>
                </a:path>
                <a:path w="3205479" h="585469">
                  <a:moveTo>
                    <a:pt x="3195827" y="4571"/>
                  </a:moveTo>
                  <a:lnTo>
                    <a:pt x="9143" y="4571"/>
                  </a:lnTo>
                  <a:lnTo>
                    <a:pt x="9143" y="9143"/>
                  </a:lnTo>
                  <a:lnTo>
                    <a:pt x="3195827" y="9143"/>
                  </a:lnTo>
                  <a:lnTo>
                    <a:pt x="3195827" y="4571"/>
                  </a:lnTo>
                  <a:close/>
                </a:path>
                <a:path w="3205479" h="585469">
                  <a:moveTo>
                    <a:pt x="3204971" y="4571"/>
                  </a:moveTo>
                  <a:lnTo>
                    <a:pt x="3195827" y="4571"/>
                  </a:lnTo>
                  <a:lnTo>
                    <a:pt x="3200399" y="9143"/>
                  </a:lnTo>
                  <a:lnTo>
                    <a:pt x="3204971" y="9143"/>
                  </a:lnTo>
                  <a:lnTo>
                    <a:pt x="3204971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3"/>
            <p:cNvSpPr/>
            <p:nvPr/>
          </p:nvSpPr>
          <p:spPr>
            <a:xfrm>
              <a:off x="399248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4"/>
            <p:cNvSpPr/>
            <p:nvPr/>
          </p:nvSpPr>
          <p:spPr>
            <a:xfrm>
              <a:off x="462514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5"/>
            <p:cNvSpPr/>
            <p:nvPr/>
          </p:nvSpPr>
          <p:spPr>
            <a:xfrm>
              <a:off x="525780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6"/>
            <p:cNvSpPr/>
            <p:nvPr/>
          </p:nvSpPr>
          <p:spPr>
            <a:xfrm>
              <a:off x="5890459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7"/>
            <p:cNvSpPr/>
            <p:nvPr/>
          </p:nvSpPr>
          <p:spPr>
            <a:xfrm>
              <a:off x="6523118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867582"/>
              </p:ext>
            </p:extLst>
          </p:nvPr>
        </p:nvGraphicFramePr>
        <p:xfrm>
          <a:off x="3871216" y="1101184"/>
          <a:ext cx="3192462" cy="175451"/>
        </p:xfrm>
        <a:graphic>
          <a:graphicData uri="http://schemas.openxmlformats.org/drawingml/2006/table">
            <a:tbl>
              <a:tblPr/>
              <a:tblGrid>
                <a:gridCol w="31924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 the first five terms of the sequence: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90094"/>
              </p:ext>
            </p:extLst>
          </p:nvPr>
        </p:nvGraphicFramePr>
        <p:xfrm>
          <a:off x="381000" y="2853784"/>
          <a:ext cx="3344862" cy="175451"/>
        </p:xfrm>
        <a:graphic>
          <a:graphicData uri="http://schemas.openxmlformats.org/drawingml/2006/table">
            <a:tbl>
              <a:tblPr/>
              <a:tblGrid>
                <a:gridCol w="334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 the first five terms of the sequence: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3898968"/>
              </p:ext>
            </p:extLst>
          </p:nvPr>
        </p:nvGraphicFramePr>
        <p:xfrm>
          <a:off x="3846839" y="2876384"/>
          <a:ext cx="3344862" cy="175451"/>
        </p:xfrm>
        <a:graphic>
          <a:graphicData uri="http://schemas.openxmlformats.org/drawingml/2006/table">
            <a:tbl>
              <a:tblPr/>
              <a:tblGrid>
                <a:gridCol w="334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Give the first five terms of the sequence: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7568550"/>
              </p:ext>
            </p:extLst>
          </p:nvPr>
        </p:nvGraphicFramePr>
        <p:xfrm>
          <a:off x="1041513" y="1415378"/>
          <a:ext cx="13716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71600" imgH="215640" progId="Equation.DSMT4">
                  <p:embed/>
                </p:oleObj>
              </mc:Choice>
              <mc:Fallback>
                <p:oleObj name="Equation" r:id="rId3" imgW="1371600" imgH="215640" progId="Equation.DSMT4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41513" y="1415378"/>
                        <a:ext cx="13716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Rectangle 26"/>
          <p:cNvSpPr/>
          <p:nvPr/>
        </p:nvSpPr>
        <p:spPr>
          <a:xfrm>
            <a:off x="2354423" y="1355788"/>
            <a:ext cx="8967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" lvl="0" algn="ctr"/>
            <a:r>
              <a:rPr lang="en-US" sz="1100" b="1" kern="0" spc="-5" dirty="0">
                <a:solidFill>
                  <a:prstClr val="black"/>
                </a:solidFill>
                <a:latin typeface="Tahoma"/>
                <a:cs typeface="Tahoma"/>
              </a:rPr>
              <a:t>(</a:t>
            </a:r>
            <a:r>
              <a:rPr lang="en-US" sz="1100" b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for</a:t>
            </a:r>
            <a:r>
              <a:rPr lang="en-US" sz="1100" b="1" kern="0" spc="-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12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n</a:t>
            </a:r>
            <a:r>
              <a:rPr lang="en-US" sz="11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 </a:t>
            </a:r>
            <a:r>
              <a:rPr lang="en-US" sz="1100" b="1" kern="0" spc="-5" dirty="0">
                <a:solidFill>
                  <a:prstClr val="black"/>
                </a:solidFill>
                <a:latin typeface="Tahoma"/>
                <a:cs typeface="Tahoma"/>
              </a:rPr>
              <a:t>≥</a:t>
            </a:r>
            <a:r>
              <a:rPr lang="en-US" sz="1100" b="1" kern="0" spc="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1100" b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2</a:t>
            </a:r>
            <a:r>
              <a:rPr lang="en-US" sz="1100" b="1" kern="0" spc="-5" dirty="0">
                <a:solidFill>
                  <a:prstClr val="black"/>
                </a:solidFill>
                <a:latin typeface="Tahoma"/>
                <a:cs typeface="Tahoma"/>
              </a:rPr>
              <a:t>)</a:t>
            </a:r>
            <a:endParaRPr lang="en-US" sz="1100" kern="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2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827447"/>
              </p:ext>
            </p:extLst>
          </p:nvPr>
        </p:nvGraphicFramePr>
        <p:xfrm>
          <a:off x="4233453" y="1365563"/>
          <a:ext cx="1816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5840" imgH="380880" progId="Equation.DSMT4">
                  <p:embed/>
                </p:oleObj>
              </mc:Choice>
              <mc:Fallback>
                <p:oleObj name="Equation" r:id="rId5" imgW="1815840" imgH="380880" progId="Equation.DSMT4">
                  <p:embed/>
                  <p:pic>
                    <p:nvPicPr>
                      <p:cNvPr id="86" name="Object 8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33453" y="1365563"/>
                        <a:ext cx="1816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28"/>
          <p:cNvSpPr/>
          <p:nvPr/>
        </p:nvSpPr>
        <p:spPr>
          <a:xfrm>
            <a:off x="6066647" y="1472676"/>
            <a:ext cx="875048" cy="2208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" lvl="0" algn="ctr">
              <a:lnSpc>
                <a:spcPts val="1010"/>
              </a:lnSpc>
              <a:tabLst>
                <a:tab pos="1626870" algn="l"/>
                <a:tab pos="2023110" algn="l"/>
              </a:tabLst>
            </a:pPr>
            <a:r>
              <a:rPr lang="en-US" sz="1100" b="1" kern="0" spc="-5" dirty="0">
                <a:solidFill>
                  <a:prstClr val="black"/>
                </a:solidFill>
                <a:latin typeface="Tahoma"/>
                <a:cs typeface="Tahoma"/>
              </a:rPr>
              <a:t>(</a:t>
            </a:r>
            <a:r>
              <a:rPr lang="en-US" sz="1100" b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for</a:t>
            </a:r>
            <a:r>
              <a:rPr lang="en-US" sz="1100" b="1" kern="0" spc="-5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1100" b="1" i="1" kern="0" spc="-5" dirty="0">
                <a:solidFill>
                  <a:prstClr val="black"/>
                </a:solidFill>
                <a:latin typeface="Times New Roman"/>
                <a:cs typeface="Times New Roman"/>
              </a:rPr>
              <a:t>n </a:t>
            </a:r>
            <a:r>
              <a:rPr lang="en-US" sz="1100" b="1" kern="0" spc="-5" dirty="0">
                <a:solidFill>
                  <a:prstClr val="black"/>
                </a:solidFill>
                <a:latin typeface="Tahoma"/>
                <a:cs typeface="Tahoma"/>
              </a:rPr>
              <a:t>≥</a:t>
            </a:r>
            <a:r>
              <a:rPr lang="en-US" sz="1100" b="1" kern="0" spc="-114" dirty="0">
                <a:solidFill>
                  <a:prstClr val="black"/>
                </a:solidFill>
                <a:latin typeface="Tahoma"/>
                <a:cs typeface="Tahoma"/>
              </a:rPr>
              <a:t> </a:t>
            </a:r>
            <a:r>
              <a:rPr lang="en-US" sz="1100" b="1" kern="0" spc="-5" dirty="0">
                <a:solidFill>
                  <a:prstClr val="black"/>
                </a:solidFill>
                <a:latin typeface="Century Gothic" panose="020B0502020202020204" pitchFamily="34" charset="0"/>
                <a:cs typeface="Tahoma"/>
              </a:rPr>
              <a:t>3</a:t>
            </a:r>
            <a:r>
              <a:rPr lang="en-US" sz="1100" b="1" kern="0" spc="-5" dirty="0">
                <a:solidFill>
                  <a:prstClr val="black"/>
                </a:solidFill>
                <a:latin typeface="Tahoma"/>
                <a:cs typeface="Tahoma"/>
              </a:rPr>
              <a:t>)</a:t>
            </a:r>
            <a:endParaRPr lang="en-US" sz="1100" kern="0" dirty="0">
              <a:solidFill>
                <a:prstClr val="black"/>
              </a:solidFill>
              <a:latin typeface="Tahoma"/>
              <a:cs typeface="Tahoma"/>
            </a:endParaRPr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992105"/>
              </p:ext>
            </p:extLst>
          </p:nvPr>
        </p:nvGraphicFramePr>
        <p:xfrm>
          <a:off x="1697831" y="3166209"/>
          <a:ext cx="7874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87320" imgH="241200" progId="Equation.DSMT4">
                  <p:embed/>
                </p:oleObj>
              </mc:Choice>
              <mc:Fallback>
                <p:oleObj name="Equation" r:id="rId7" imgW="787320" imgH="241200" progId="Equation.DSMT4">
                  <p:embed/>
                  <p:pic>
                    <p:nvPicPr>
                      <p:cNvPr id="88" name="Object 8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97831" y="3166209"/>
                        <a:ext cx="7874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9364128"/>
              </p:ext>
            </p:extLst>
          </p:nvPr>
        </p:nvGraphicFramePr>
        <p:xfrm>
          <a:off x="5260861" y="3122334"/>
          <a:ext cx="635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34680" imgH="380880" progId="Equation.DSMT4">
                  <p:embed/>
                </p:oleObj>
              </mc:Choice>
              <mc:Fallback>
                <p:oleObj name="Equation" r:id="rId9" imgW="634680" imgH="380880" progId="Equation.DSMT4">
                  <p:embed/>
                  <p:pic>
                    <p:nvPicPr>
                      <p:cNvPr id="89" name="Object 8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260861" y="3122334"/>
                        <a:ext cx="6350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4535251"/>
              </p:ext>
            </p:extLst>
          </p:nvPr>
        </p:nvGraphicFramePr>
        <p:xfrm>
          <a:off x="415562" y="4638070"/>
          <a:ext cx="3421062" cy="368364"/>
        </p:xfrm>
        <a:graphic>
          <a:graphicData uri="http://schemas.openxmlformats.org/drawingml/2006/table">
            <a:tbl>
              <a:tblPr/>
              <a:tblGrid>
                <a:gridCol w="34210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formula can be used to represent the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sequence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069249"/>
              </p:ext>
            </p:extLst>
          </p:nvPr>
        </p:nvGraphicFramePr>
        <p:xfrm>
          <a:off x="1417638" y="5126038"/>
          <a:ext cx="1346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346040" imgH="253800" progId="Equation.DSMT4">
                  <p:embed/>
                </p:oleObj>
              </mc:Choice>
              <mc:Fallback>
                <p:oleObj name="Equation" r:id="rId11" imgW="1346040" imgH="253800" progId="Equation.DSMT4">
                  <p:embed/>
                  <p:pic>
                    <p:nvPicPr>
                      <p:cNvPr id="91" name="Object 90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417638" y="5126038"/>
                        <a:ext cx="1346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7869778"/>
              </p:ext>
            </p:extLst>
          </p:nvPr>
        </p:nvGraphicFramePr>
        <p:xfrm>
          <a:off x="4967288" y="5116513"/>
          <a:ext cx="1308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07880" imgH="253800" progId="Equation.DSMT4">
                  <p:embed/>
                </p:oleObj>
              </mc:Choice>
              <mc:Fallback>
                <p:oleObj name="Equation" r:id="rId13" imgW="1307880" imgH="253800" progId="Equation.DSMT4">
                  <p:embed/>
                  <p:pic>
                    <p:nvPicPr>
                      <p:cNvPr id="93" name="Object 92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967288" y="5116513"/>
                        <a:ext cx="1308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787576"/>
              </p:ext>
            </p:extLst>
          </p:nvPr>
        </p:nvGraphicFramePr>
        <p:xfrm>
          <a:off x="3842647" y="4646008"/>
          <a:ext cx="3268662" cy="368364"/>
        </p:xfrm>
        <a:graphic>
          <a:graphicData uri="http://schemas.openxmlformats.org/drawingml/2006/table">
            <a:tbl>
              <a:tblPr/>
              <a:tblGrid>
                <a:gridCol w="326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Which formula can be used to represent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the sequence below?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9347045"/>
              </p:ext>
            </p:extLst>
          </p:nvPr>
        </p:nvGraphicFramePr>
        <p:xfrm>
          <a:off x="381000" y="7120984"/>
          <a:ext cx="3524250" cy="368364"/>
        </p:xfrm>
        <a:graphic>
          <a:graphicData uri="http://schemas.openxmlformats.org/drawingml/2006/table">
            <a:tbl>
              <a:tblPr/>
              <a:tblGrid>
                <a:gridCol w="352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7.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Find the sum of the first nine terms in the series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55739"/>
              </p:ext>
            </p:extLst>
          </p:nvPr>
        </p:nvGraphicFramePr>
        <p:xfrm>
          <a:off x="3850460" y="7120984"/>
          <a:ext cx="2582862" cy="183452"/>
        </p:xfrm>
        <a:graphic>
          <a:graphicData uri="http://schemas.openxmlformats.org/drawingml/2006/table">
            <a:tbl>
              <a:tblPr/>
              <a:tblGrid>
                <a:gridCol w="2582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8.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Expand and evaluate the series:</a:t>
                      </a:r>
                      <a:r>
                        <a:rPr lang="en-US" sz="115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1100" dirty="0">
                        <a:effectLst/>
                        <a:latin typeface="Century Gothic" panose="020B0502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12275"/>
              </p:ext>
            </p:extLst>
          </p:nvPr>
        </p:nvGraphicFramePr>
        <p:xfrm>
          <a:off x="1216642" y="7566025"/>
          <a:ext cx="182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828800" imgH="253800" progId="Equation.DSMT4">
                  <p:embed/>
                </p:oleObj>
              </mc:Choice>
              <mc:Fallback>
                <p:oleObj name="Equation" r:id="rId15" imgW="1828800" imgH="253800" progId="Equation.DSMT4">
                  <p:embed/>
                  <p:pic>
                    <p:nvPicPr>
                      <p:cNvPr id="97" name="Object 9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216642" y="7566025"/>
                        <a:ext cx="182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7483873"/>
              </p:ext>
            </p:extLst>
          </p:nvPr>
        </p:nvGraphicFramePr>
        <p:xfrm>
          <a:off x="5211122" y="7437438"/>
          <a:ext cx="914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14400" imgH="482400" progId="Equation.DSMT4">
                  <p:embed/>
                </p:oleObj>
              </mc:Choice>
              <mc:Fallback>
                <p:oleObj name="Equation" r:id="rId17" imgW="914400" imgH="482400" progId="Equation.DSMT4">
                  <p:embed/>
                  <p:pic>
                    <p:nvPicPr>
                      <p:cNvPr id="98" name="Object 97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11122" y="7437438"/>
                        <a:ext cx="914400" cy="48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Text Box 10"/>
          <p:cNvSpPr txBox="1">
            <a:spLocks noChangeArrowheads="1"/>
          </p:cNvSpPr>
          <p:nvPr/>
        </p:nvSpPr>
        <p:spPr bwMode="auto">
          <a:xfrm>
            <a:off x="2409815" y="9188712"/>
            <a:ext cx="13989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3" name="Text Box 10"/>
          <p:cNvSpPr txBox="1">
            <a:spLocks noChangeArrowheads="1"/>
          </p:cNvSpPr>
          <p:nvPr/>
        </p:nvSpPr>
        <p:spPr bwMode="auto">
          <a:xfrm>
            <a:off x="5838815" y="9172446"/>
            <a:ext cx="13989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4" name="Text Box 6"/>
          <p:cNvSpPr txBox="1">
            <a:spLocks noChangeArrowheads="1"/>
          </p:cNvSpPr>
          <p:nvPr/>
        </p:nvSpPr>
        <p:spPr bwMode="auto">
          <a:xfrm>
            <a:off x="6705600" y="6663784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5" name="Text Box 6"/>
          <p:cNvSpPr txBox="1">
            <a:spLocks noChangeArrowheads="1"/>
          </p:cNvSpPr>
          <p:nvPr/>
        </p:nvSpPr>
        <p:spPr bwMode="auto">
          <a:xfrm>
            <a:off x="3276600" y="6663784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C33A7F2-ABCA-525F-D2F2-7C9EB8F537C4}"/>
              </a:ext>
            </a:extLst>
          </p:cNvPr>
          <p:cNvGrpSpPr/>
          <p:nvPr/>
        </p:nvGrpSpPr>
        <p:grpSpPr>
          <a:xfrm>
            <a:off x="4057608" y="5722931"/>
            <a:ext cx="2469325" cy="1373705"/>
            <a:chOff x="4067547" y="5636694"/>
            <a:chExt cx="2469325" cy="1373705"/>
          </a:xfrm>
        </p:grpSpPr>
        <p:sp>
          <p:nvSpPr>
            <p:cNvPr id="69" name="Text Box 807"/>
            <p:cNvSpPr txBox="1">
              <a:spLocks noChangeArrowheads="1"/>
            </p:cNvSpPr>
            <p:nvPr/>
          </p:nvSpPr>
          <p:spPr bwMode="auto">
            <a:xfrm>
              <a:off x="4067547" y="5636694"/>
              <a:ext cx="2469325" cy="1373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8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 </a:t>
              </a:r>
              <a:b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                                   </a:t>
              </a:r>
              <a:r>
                <a:rPr lang="en-US" sz="11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 </a:t>
              </a:r>
              <a:r>
                <a:rPr lang="en-US" sz="1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≥ 2</a:t>
              </a:r>
              <a:r>
                <a:rPr lang="en-US" sz="11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  <a:br>
                <a:rPr lang="en-US" sz="11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                                    </a:t>
              </a:r>
              <a:r>
                <a:rPr lang="en-US" sz="11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 </a:t>
              </a:r>
              <a:r>
                <a:rPr lang="en-US" sz="1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≥ 2</a:t>
              </a:r>
              <a:r>
                <a:rPr lang="en-US" sz="11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</a:p>
          </p:txBody>
        </p:sp>
        <p:graphicFrame>
          <p:nvGraphicFramePr>
            <p:cNvPr id="70" name="Object 69"/>
            <p:cNvGraphicFramePr>
              <a:graphicFrameLocks noChangeAspect="1"/>
            </p:cNvGraphicFramePr>
            <p:nvPr/>
          </p:nvGraphicFramePr>
          <p:xfrm>
            <a:off x="4362827" y="5763903"/>
            <a:ext cx="6858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685800" imgH="215640" progId="Equation.DSMT4">
                    <p:embed/>
                  </p:oleObj>
                </mc:Choice>
                <mc:Fallback>
                  <p:oleObj name="Equation" r:id="rId19" imgW="685800" imgH="215640" progId="Equation.DSMT4">
                    <p:embed/>
                    <p:pic>
                      <p:nvPicPr>
                        <p:cNvPr id="110" name="Object 109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362827" y="5763903"/>
                          <a:ext cx="6858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" name="Object 70"/>
            <p:cNvGraphicFramePr>
              <a:graphicFrameLocks noChangeAspect="1"/>
            </p:cNvGraphicFramePr>
            <p:nvPr/>
          </p:nvGraphicFramePr>
          <p:xfrm>
            <a:off x="4361414" y="6047834"/>
            <a:ext cx="660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660240" imgH="215640" progId="Equation.DSMT4">
                    <p:embed/>
                  </p:oleObj>
                </mc:Choice>
                <mc:Fallback>
                  <p:oleObj name="Equation" r:id="rId21" imgW="660240" imgH="215640" progId="Equation.DSMT4">
                    <p:embed/>
                    <p:pic>
                      <p:nvPicPr>
                        <p:cNvPr id="111" name="Object 110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4361414" y="6047834"/>
                          <a:ext cx="6604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71"/>
            <p:cNvGraphicFramePr>
              <a:graphicFrameLocks noChangeAspect="1"/>
            </p:cNvGraphicFramePr>
            <p:nvPr/>
          </p:nvGraphicFramePr>
          <p:xfrm>
            <a:off x="4361414" y="6350191"/>
            <a:ext cx="13081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307880" imgH="215640" progId="Equation.DSMT4">
                    <p:embed/>
                  </p:oleObj>
                </mc:Choice>
                <mc:Fallback>
                  <p:oleObj name="Equation" r:id="rId23" imgW="1307880" imgH="215640" progId="Equation.DSMT4">
                    <p:embed/>
                    <p:pic>
                      <p:nvPicPr>
                        <p:cNvPr id="112" name="Object 111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361414" y="6350191"/>
                          <a:ext cx="13081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72"/>
            <p:cNvGraphicFramePr>
              <a:graphicFrameLocks noChangeAspect="1"/>
            </p:cNvGraphicFramePr>
            <p:nvPr/>
          </p:nvGraphicFramePr>
          <p:xfrm>
            <a:off x="4361414" y="6577645"/>
            <a:ext cx="1308100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307880" imgH="368280" progId="Equation.DSMT4">
                    <p:embed/>
                  </p:oleObj>
                </mc:Choice>
                <mc:Fallback>
                  <p:oleObj name="Equation" r:id="rId25" imgW="1307880" imgH="368280" progId="Equation.DSMT4">
                    <p:embed/>
                    <p:pic>
                      <p:nvPicPr>
                        <p:cNvPr id="113" name="Object 112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361414" y="6577645"/>
                          <a:ext cx="1308100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E4BE9EA-3386-35A6-86B9-8A18CFC8434D}"/>
              </a:ext>
            </a:extLst>
          </p:cNvPr>
          <p:cNvGrpSpPr/>
          <p:nvPr/>
        </p:nvGrpSpPr>
        <p:grpSpPr>
          <a:xfrm>
            <a:off x="544773" y="2151319"/>
            <a:ext cx="3205480" cy="585470"/>
            <a:chOff x="3962400" y="2091784"/>
            <a:chExt cx="3205480" cy="585470"/>
          </a:xfrm>
        </p:grpSpPr>
        <p:sp>
          <p:nvSpPr>
            <p:cNvPr id="75" name="object 4">
              <a:extLst>
                <a:ext uri="{FF2B5EF4-FFF2-40B4-BE49-F238E27FC236}">
                  <a16:creationId xmlns:a16="http://schemas.microsoft.com/office/drawing/2014/main" id="{EACC9930-C67C-5865-8B8C-2E864FCD6519}"/>
                </a:ext>
              </a:extLst>
            </p:cNvPr>
            <p:cNvSpPr/>
            <p:nvPr/>
          </p:nvSpPr>
          <p:spPr>
            <a:xfrm>
              <a:off x="3962400" y="2091784"/>
              <a:ext cx="3205480" cy="585470"/>
            </a:xfrm>
            <a:custGeom>
              <a:avLst/>
              <a:gdLst/>
              <a:ahLst/>
              <a:cxnLst/>
              <a:rect l="l" t="t" r="r" b="b"/>
              <a:pathLst>
                <a:path w="3205479" h="585469">
                  <a:moveTo>
                    <a:pt x="3204971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3204971" y="585215"/>
                  </a:lnTo>
                  <a:lnTo>
                    <a:pt x="3204971" y="580643"/>
                  </a:lnTo>
                  <a:lnTo>
                    <a:pt x="9143" y="580643"/>
                  </a:lnTo>
                  <a:lnTo>
                    <a:pt x="4571" y="576071"/>
                  </a:lnTo>
                  <a:lnTo>
                    <a:pt x="9143" y="576071"/>
                  </a:lnTo>
                  <a:lnTo>
                    <a:pt x="9143" y="9143"/>
                  </a:lnTo>
                  <a:lnTo>
                    <a:pt x="4571" y="9143"/>
                  </a:lnTo>
                  <a:lnTo>
                    <a:pt x="9143" y="4571"/>
                  </a:lnTo>
                  <a:lnTo>
                    <a:pt x="3204971" y="4571"/>
                  </a:lnTo>
                  <a:lnTo>
                    <a:pt x="3204971" y="0"/>
                  </a:lnTo>
                  <a:close/>
                </a:path>
                <a:path w="3205479" h="585469">
                  <a:moveTo>
                    <a:pt x="9143" y="576071"/>
                  </a:moveTo>
                  <a:lnTo>
                    <a:pt x="4571" y="576071"/>
                  </a:lnTo>
                  <a:lnTo>
                    <a:pt x="9143" y="580643"/>
                  </a:lnTo>
                  <a:lnTo>
                    <a:pt x="9143" y="576071"/>
                  </a:lnTo>
                  <a:close/>
                </a:path>
                <a:path w="3205479" h="585469">
                  <a:moveTo>
                    <a:pt x="3195827" y="576071"/>
                  </a:moveTo>
                  <a:lnTo>
                    <a:pt x="9143" y="576071"/>
                  </a:lnTo>
                  <a:lnTo>
                    <a:pt x="9143" y="580643"/>
                  </a:lnTo>
                  <a:lnTo>
                    <a:pt x="3195827" y="580643"/>
                  </a:lnTo>
                  <a:lnTo>
                    <a:pt x="3195827" y="576071"/>
                  </a:lnTo>
                  <a:close/>
                </a:path>
                <a:path w="3205479" h="585469">
                  <a:moveTo>
                    <a:pt x="3195827" y="4571"/>
                  </a:moveTo>
                  <a:lnTo>
                    <a:pt x="3195827" y="580643"/>
                  </a:lnTo>
                  <a:lnTo>
                    <a:pt x="3200399" y="576071"/>
                  </a:lnTo>
                  <a:lnTo>
                    <a:pt x="3204971" y="576071"/>
                  </a:lnTo>
                  <a:lnTo>
                    <a:pt x="3204971" y="9143"/>
                  </a:lnTo>
                  <a:lnTo>
                    <a:pt x="3200399" y="9143"/>
                  </a:lnTo>
                  <a:lnTo>
                    <a:pt x="3195827" y="4571"/>
                  </a:lnTo>
                  <a:close/>
                </a:path>
                <a:path w="3205479" h="585469">
                  <a:moveTo>
                    <a:pt x="3204971" y="576071"/>
                  </a:moveTo>
                  <a:lnTo>
                    <a:pt x="3200399" y="576071"/>
                  </a:lnTo>
                  <a:lnTo>
                    <a:pt x="3195827" y="580643"/>
                  </a:lnTo>
                  <a:lnTo>
                    <a:pt x="3204971" y="580643"/>
                  </a:lnTo>
                  <a:lnTo>
                    <a:pt x="3204971" y="576071"/>
                  </a:lnTo>
                  <a:close/>
                </a:path>
                <a:path w="3205479" h="585469">
                  <a:moveTo>
                    <a:pt x="9143" y="4571"/>
                  </a:moveTo>
                  <a:lnTo>
                    <a:pt x="4571" y="9143"/>
                  </a:lnTo>
                  <a:lnTo>
                    <a:pt x="9143" y="9143"/>
                  </a:lnTo>
                  <a:lnTo>
                    <a:pt x="9143" y="4571"/>
                  </a:lnTo>
                  <a:close/>
                </a:path>
                <a:path w="3205479" h="585469">
                  <a:moveTo>
                    <a:pt x="3195827" y="4571"/>
                  </a:moveTo>
                  <a:lnTo>
                    <a:pt x="9143" y="4571"/>
                  </a:lnTo>
                  <a:lnTo>
                    <a:pt x="9143" y="9143"/>
                  </a:lnTo>
                  <a:lnTo>
                    <a:pt x="3195827" y="9143"/>
                  </a:lnTo>
                  <a:lnTo>
                    <a:pt x="3195827" y="4571"/>
                  </a:lnTo>
                  <a:close/>
                </a:path>
                <a:path w="3205479" h="585469">
                  <a:moveTo>
                    <a:pt x="3204971" y="4571"/>
                  </a:moveTo>
                  <a:lnTo>
                    <a:pt x="3195827" y="4571"/>
                  </a:lnTo>
                  <a:lnTo>
                    <a:pt x="3200399" y="9143"/>
                  </a:lnTo>
                  <a:lnTo>
                    <a:pt x="3204971" y="9143"/>
                  </a:lnTo>
                  <a:lnTo>
                    <a:pt x="3204971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23">
              <a:extLst>
                <a:ext uri="{FF2B5EF4-FFF2-40B4-BE49-F238E27FC236}">
                  <a16:creationId xmlns:a16="http://schemas.microsoft.com/office/drawing/2014/main" id="{FD7AC6BC-06AA-C86C-5DAB-E252E57255BD}"/>
                </a:ext>
              </a:extLst>
            </p:cNvPr>
            <p:cNvSpPr/>
            <p:nvPr/>
          </p:nvSpPr>
          <p:spPr>
            <a:xfrm>
              <a:off x="399248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24">
              <a:extLst>
                <a:ext uri="{FF2B5EF4-FFF2-40B4-BE49-F238E27FC236}">
                  <a16:creationId xmlns:a16="http://schemas.microsoft.com/office/drawing/2014/main" id="{DBBEA8C8-364B-71DE-6A1B-003B5EB26341}"/>
                </a:ext>
              </a:extLst>
            </p:cNvPr>
            <p:cNvSpPr/>
            <p:nvPr/>
          </p:nvSpPr>
          <p:spPr>
            <a:xfrm>
              <a:off x="462514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25">
              <a:extLst>
                <a:ext uri="{FF2B5EF4-FFF2-40B4-BE49-F238E27FC236}">
                  <a16:creationId xmlns:a16="http://schemas.microsoft.com/office/drawing/2014/main" id="{F520A409-DA83-F234-6A50-306E9DFBA474}"/>
                </a:ext>
              </a:extLst>
            </p:cNvPr>
            <p:cNvSpPr/>
            <p:nvPr/>
          </p:nvSpPr>
          <p:spPr>
            <a:xfrm>
              <a:off x="525780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26">
              <a:extLst>
                <a:ext uri="{FF2B5EF4-FFF2-40B4-BE49-F238E27FC236}">
                  <a16:creationId xmlns:a16="http://schemas.microsoft.com/office/drawing/2014/main" id="{DD3ECF33-9444-E9CF-519D-C9997ED7290D}"/>
                </a:ext>
              </a:extLst>
            </p:cNvPr>
            <p:cNvSpPr/>
            <p:nvPr/>
          </p:nvSpPr>
          <p:spPr>
            <a:xfrm>
              <a:off x="5890459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27">
              <a:extLst>
                <a:ext uri="{FF2B5EF4-FFF2-40B4-BE49-F238E27FC236}">
                  <a16:creationId xmlns:a16="http://schemas.microsoft.com/office/drawing/2014/main" id="{AFB14EC6-57AB-51DB-08C6-18B2CFD0FDFF}"/>
                </a:ext>
              </a:extLst>
            </p:cNvPr>
            <p:cNvSpPr/>
            <p:nvPr/>
          </p:nvSpPr>
          <p:spPr>
            <a:xfrm>
              <a:off x="6523118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F1E3340E-01F0-04AD-3FC7-2AEF6FB52DD7}"/>
              </a:ext>
            </a:extLst>
          </p:cNvPr>
          <p:cNvGrpSpPr/>
          <p:nvPr/>
        </p:nvGrpSpPr>
        <p:grpSpPr>
          <a:xfrm>
            <a:off x="3996871" y="3928427"/>
            <a:ext cx="3205480" cy="585470"/>
            <a:chOff x="3962400" y="2091784"/>
            <a:chExt cx="3205480" cy="585470"/>
          </a:xfrm>
        </p:grpSpPr>
        <p:sp>
          <p:nvSpPr>
            <p:cNvPr id="102" name="object 4">
              <a:extLst>
                <a:ext uri="{FF2B5EF4-FFF2-40B4-BE49-F238E27FC236}">
                  <a16:creationId xmlns:a16="http://schemas.microsoft.com/office/drawing/2014/main" id="{C200799D-FA60-AA2B-BEBB-92161ABFFBB2}"/>
                </a:ext>
              </a:extLst>
            </p:cNvPr>
            <p:cNvSpPr/>
            <p:nvPr/>
          </p:nvSpPr>
          <p:spPr>
            <a:xfrm>
              <a:off x="3962400" y="2091784"/>
              <a:ext cx="3205480" cy="585470"/>
            </a:xfrm>
            <a:custGeom>
              <a:avLst/>
              <a:gdLst/>
              <a:ahLst/>
              <a:cxnLst/>
              <a:rect l="l" t="t" r="r" b="b"/>
              <a:pathLst>
                <a:path w="3205479" h="585469">
                  <a:moveTo>
                    <a:pt x="3204971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3204971" y="585215"/>
                  </a:lnTo>
                  <a:lnTo>
                    <a:pt x="3204971" y="580643"/>
                  </a:lnTo>
                  <a:lnTo>
                    <a:pt x="9143" y="580643"/>
                  </a:lnTo>
                  <a:lnTo>
                    <a:pt x="4571" y="576071"/>
                  </a:lnTo>
                  <a:lnTo>
                    <a:pt x="9143" y="576071"/>
                  </a:lnTo>
                  <a:lnTo>
                    <a:pt x="9143" y="9143"/>
                  </a:lnTo>
                  <a:lnTo>
                    <a:pt x="4571" y="9143"/>
                  </a:lnTo>
                  <a:lnTo>
                    <a:pt x="9143" y="4571"/>
                  </a:lnTo>
                  <a:lnTo>
                    <a:pt x="3204971" y="4571"/>
                  </a:lnTo>
                  <a:lnTo>
                    <a:pt x="3204971" y="0"/>
                  </a:lnTo>
                  <a:close/>
                </a:path>
                <a:path w="3205479" h="585469">
                  <a:moveTo>
                    <a:pt x="9143" y="576071"/>
                  </a:moveTo>
                  <a:lnTo>
                    <a:pt x="4571" y="576071"/>
                  </a:lnTo>
                  <a:lnTo>
                    <a:pt x="9143" y="580643"/>
                  </a:lnTo>
                  <a:lnTo>
                    <a:pt x="9143" y="576071"/>
                  </a:lnTo>
                  <a:close/>
                </a:path>
                <a:path w="3205479" h="585469">
                  <a:moveTo>
                    <a:pt x="3195827" y="576071"/>
                  </a:moveTo>
                  <a:lnTo>
                    <a:pt x="9143" y="576071"/>
                  </a:lnTo>
                  <a:lnTo>
                    <a:pt x="9143" y="580643"/>
                  </a:lnTo>
                  <a:lnTo>
                    <a:pt x="3195827" y="580643"/>
                  </a:lnTo>
                  <a:lnTo>
                    <a:pt x="3195827" y="576071"/>
                  </a:lnTo>
                  <a:close/>
                </a:path>
                <a:path w="3205479" h="585469">
                  <a:moveTo>
                    <a:pt x="3195827" y="4571"/>
                  </a:moveTo>
                  <a:lnTo>
                    <a:pt x="3195827" y="580643"/>
                  </a:lnTo>
                  <a:lnTo>
                    <a:pt x="3200399" y="576071"/>
                  </a:lnTo>
                  <a:lnTo>
                    <a:pt x="3204971" y="576071"/>
                  </a:lnTo>
                  <a:lnTo>
                    <a:pt x="3204971" y="9143"/>
                  </a:lnTo>
                  <a:lnTo>
                    <a:pt x="3200399" y="9143"/>
                  </a:lnTo>
                  <a:lnTo>
                    <a:pt x="3195827" y="4571"/>
                  </a:lnTo>
                  <a:close/>
                </a:path>
                <a:path w="3205479" h="585469">
                  <a:moveTo>
                    <a:pt x="3204971" y="576071"/>
                  </a:moveTo>
                  <a:lnTo>
                    <a:pt x="3200399" y="576071"/>
                  </a:lnTo>
                  <a:lnTo>
                    <a:pt x="3195827" y="580643"/>
                  </a:lnTo>
                  <a:lnTo>
                    <a:pt x="3204971" y="580643"/>
                  </a:lnTo>
                  <a:lnTo>
                    <a:pt x="3204971" y="576071"/>
                  </a:lnTo>
                  <a:close/>
                </a:path>
                <a:path w="3205479" h="585469">
                  <a:moveTo>
                    <a:pt x="9143" y="4571"/>
                  </a:moveTo>
                  <a:lnTo>
                    <a:pt x="4571" y="9143"/>
                  </a:lnTo>
                  <a:lnTo>
                    <a:pt x="9143" y="9143"/>
                  </a:lnTo>
                  <a:lnTo>
                    <a:pt x="9143" y="4571"/>
                  </a:lnTo>
                  <a:close/>
                </a:path>
                <a:path w="3205479" h="585469">
                  <a:moveTo>
                    <a:pt x="3195827" y="4571"/>
                  </a:moveTo>
                  <a:lnTo>
                    <a:pt x="9143" y="4571"/>
                  </a:lnTo>
                  <a:lnTo>
                    <a:pt x="9143" y="9143"/>
                  </a:lnTo>
                  <a:lnTo>
                    <a:pt x="3195827" y="9143"/>
                  </a:lnTo>
                  <a:lnTo>
                    <a:pt x="3195827" y="4571"/>
                  </a:lnTo>
                  <a:close/>
                </a:path>
                <a:path w="3205479" h="585469">
                  <a:moveTo>
                    <a:pt x="3204971" y="4571"/>
                  </a:moveTo>
                  <a:lnTo>
                    <a:pt x="3195827" y="4571"/>
                  </a:lnTo>
                  <a:lnTo>
                    <a:pt x="3200399" y="9143"/>
                  </a:lnTo>
                  <a:lnTo>
                    <a:pt x="3204971" y="9143"/>
                  </a:lnTo>
                  <a:lnTo>
                    <a:pt x="3204971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23">
              <a:extLst>
                <a:ext uri="{FF2B5EF4-FFF2-40B4-BE49-F238E27FC236}">
                  <a16:creationId xmlns:a16="http://schemas.microsoft.com/office/drawing/2014/main" id="{E93CF261-9552-0592-867D-A2D27442F08A}"/>
                </a:ext>
              </a:extLst>
            </p:cNvPr>
            <p:cNvSpPr/>
            <p:nvPr/>
          </p:nvSpPr>
          <p:spPr>
            <a:xfrm>
              <a:off x="399248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24">
              <a:extLst>
                <a:ext uri="{FF2B5EF4-FFF2-40B4-BE49-F238E27FC236}">
                  <a16:creationId xmlns:a16="http://schemas.microsoft.com/office/drawing/2014/main" id="{85E6665A-5D8E-E41C-636E-96C9BA9805D0}"/>
                </a:ext>
              </a:extLst>
            </p:cNvPr>
            <p:cNvSpPr/>
            <p:nvPr/>
          </p:nvSpPr>
          <p:spPr>
            <a:xfrm>
              <a:off x="462514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25">
              <a:extLst>
                <a:ext uri="{FF2B5EF4-FFF2-40B4-BE49-F238E27FC236}">
                  <a16:creationId xmlns:a16="http://schemas.microsoft.com/office/drawing/2014/main" id="{E0F4E664-9CED-4C11-E7EC-5AA3333BCC68}"/>
                </a:ext>
              </a:extLst>
            </p:cNvPr>
            <p:cNvSpPr/>
            <p:nvPr/>
          </p:nvSpPr>
          <p:spPr>
            <a:xfrm>
              <a:off x="525780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26">
              <a:extLst>
                <a:ext uri="{FF2B5EF4-FFF2-40B4-BE49-F238E27FC236}">
                  <a16:creationId xmlns:a16="http://schemas.microsoft.com/office/drawing/2014/main" id="{C49D3D72-229A-9C9E-F949-9172E48C3CA7}"/>
                </a:ext>
              </a:extLst>
            </p:cNvPr>
            <p:cNvSpPr/>
            <p:nvPr/>
          </p:nvSpPr>
          <p:spPr>
            <a:xfrm>
              <a:off x="5890459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27">
              <a:extLst>
                <a:ext uri="{FF2B5EF4-FFF2-40B4-BE49-F238E27FC236}">
                  <a16:creationId xmlns:a16="http://schemas.microsoft.com/office/drawing/2014/main" id="{033BFDD7-9F8B-BE6C-557F-ED0BF9DFD9C8}"/>
                </a:ext>
              </a:extLst>
            </p:cNvPr>
            <p:cNvSpPr/>
            <p:nvPr/>
          </p:nvSpPr>
          <p:spPr>
            <a:xfrm>
              <a:off x="6523118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BAD6C70-2E8C-6094-F3EC-0B9E8AA121EF}"/>
              </a:ext>
            </a:extLst>
          </p:cNvPr>
          <p:cNvGrpSpPr/>
          <p:nvPr/>
        </p:nvGrpSpPr>
        <p:grpSpPr>
          <a:xfrm>
            <a:off x="535543" y="3928427"/>
            <a:ext cx="3205480" cy="585470"/>
            <a:chOff x="3962400" y="2091784"/>
            <a:chExt cx="3205480" cy="585470"/>
          </a:xfrm>
        </p:grpSpPr>
        <p:sp>
          <p:nvSpPr>
            <p:cNvPr id="119" name="object 4">
              <a:extLst>
                <a:ext uri="{FF2B5EF4-FFF2-40B4-BE49-F238E27FC236}">
                  <a16:creationId xmlns:a16="http://schemas.microsoft.com/office/drawing/2014/main" id="{BF5AFCAB-9AA4-0E33-699E-6BE3CEB56809}"/>
                </a:ext>
              </a:extLst>
            </p:cNvPr>
            <p:cNvSpPr/>
            <p:nvPr/>
          </p:nvSpPr>
          <p:spPr>
            <a:xfrm>
              <a:off x="3962400" y="2091784"/>
              <a:ext cx="3205480" cy="585470"/>
            </a:xfrm>
            <a:custGeom>
              <a:avLst/>
              <a:gdLst/>
              <a:ahLst/>
              <a:cxnLst/>
              <a:rect l="l" t="t" r="r" b="b"/>
              <a:pathLst>
                <a:path w="3205479" h="585469">
                  <a:moveTo>
                    <a:pt x="3204971" y="0"/>
                  </a:moveTo>
                  <a:lnTo>
                    <a:pt x="0" y="0"/>
                  </a:lnTo>
                  <a:lnTo>
                    <a:pt x="0" y="585215"/>
                  </a:lnTo>
                  <a:lnTo>
                    <a:pt x="3204971" y="585215"/>
                  </a:lnTo>
                  <a:lnTo>
                    <a:pt x="3204971" y="580643"/>
                  </a:lnTo>
                  <a:lnTo>
                    <a:pt x="9143" y="580643"/>
                  </a:lnTo>
                  <a:lnTo>
                    <a:pt x="4571" y="576071"/>
                  </a:lnTo>
                  <a:lnTo>
                    <a:pt x="9143" y="576071"/>
                  </a:lnTo>
                  <a:lnTo>
                    <a:pt x="9143" y="9143"/>
                  </a:lnTo>
                  <a:lnTo>
                    <a:pt x="4571" y="9143"/>
                  </a:lnTo>
                  <a:lnTo>
                    <a:pt x="9143" y="4571"/>
                  </a:lnTo>
                  <a:lnTo>
                    <a:pt x="3204971" y="4571"/>
                  </a:lnTo>
                  <a:lnTo>
                    <a:pt x="3204971" y="0"/>
                  </a:lnTo>
                  <a:close/>
                </a:path>
                <a:path w="3205479" h="585469">
                  <a:moveTo>
                    <a:pt x="9143" y="576071"/>
                  </a:moveTo>
                  <a:lnTo>
                    <a:pt x="4571" y="576071"/>
                  </a:lnTo>
                  <a:lnTo>
                    <a:pt x="9143" y="580643"/>
                  </a:lnTo>
                  <a:lnTo>
                    <a:pt x="9143" y="576071"/>
                  </a:lnTo>
                  <a:close/>
                </a:path>
                <a:path w="3205479" h="585469">
                  <a:moveTo>
                    <a:pt x="3195827" y="576071"/>
                  </a:moveTo>
                  <a:lnTo>
                    <a:pt x="9143" y="576071"/>
                  </a:lnTo>
                  <a:lnTo>
                    <a:pt x="9143" y="580643"/>
                  </a:lnTo>
                  <a:lnTo>
                    <a:pt x="3195827" y="580643"/>
                  </a:lnTo>
                  <a:lnTo>
                    <a:pt x="3195827" y="576071"/>
                  </a:lnTo>
                  <a:close/>
                </a:path>
                <a:path w="3205479" h="585469">
                  <a:moveTo>
                    <a:pt x="3195827" y="4571"/>
                  </a:moveTo>
                  <a:lnTo>
                    <a:pt x="3195827" y="580643"/>
                  </a:lnTo>
                  <a:lnTo>
                    <a:pt x="3200399" y="576071"/>
                  </a:lnTo>
                  <a:lnTo>
                    <a:pt x="3204971" y="576071"/>
                  </a:lnTo>
                  <a:lnTo>
                    <a:pt x="3204971" y="9143"/>
                  </a:lnTo>
                  <a:lnTo>
                    <a:pt x="3200399" y="9143"/>
                  </a:lnTo>
                  <a:lnTo>
                    <a:pt x="3195827" y="4571"/>
                  </a:lnTo>
                  <a:close/>
                </a:path>
                <a:path w="3205479" h="585469">
                  <a:moveTo>
                    <a:pt x="3204971" y="576071"/>
                  </a:moveTo>
                  <a:lnTo>
                    <a:pt x="3200399" y="576071"/>
                  </a:lnTo>
                  <a:lnTo>
                    <a:pt x="3195827" y="580643"/>
                  </a:lnTo>
                  <a:lnTo>
                    <a:pt x="3204971" y="580643"/>
                  </a:lnTo>
                  <a:lnTo>
                    <a:pt x="3204971" y="576071"/>
                  </a:lnTo>
                  <a:close/>
                </a:path>
                <a:path w="3205479" h="585469">
                  <a:moveTo>
                    <a:pt x="9143" y="4571"/>
                  </a:moveTo>
                  <a:lnTo>
                    <a:pt x="4571" y="9143"/>
                  </a:lnTo>
                  <a:lnTo>
                    <a:pt x="9143" y="9143"/>
                  </a:lnTo>
                  <a:lnTo>
                    <a:pt x="9143" y="4571"/>
                  </a:lnTo>
                  <a:close/>
                </a:path>
                <a:path w="3205479" h="585469">
                  <a:moveTo>
                    <a:pt x="3195827" y="4571"/>
                  </a:moveTo>
                  <a:lnTo>
                    <a:pt x="9143" y="4571"/>
                  </a:lnTo>
                  <a:lnTo>
                    <a:pt x="9143" y="9143"/>
                  </a:lnTo>
                  <a:lnTo>
                    <a:pt x="3195827" y="9143"/>
                  </a:lnTo>
                  <a:lnTo>
                    <a:pt x="3195827" y="4571"/>
                  </a:lnTo>
                  <a:close/>
                </a:path>
                <a:path w="3205479" h="585469">
                  <a:moveTo>
                    <a:pt x="3204971" y="4571"/>
                  </a:moveTo>
                  <a:lnTo>
                    <a:pt x="3195827" y="4571"/>
                  </a:lnTo>
                  <a:lnTo>
                    <a:pt x="3200399" y="9143"/>
                  </a:lnTo>
                  <a:lnTo>
                    <a:pt x="3204971" y="9143"/>
                  </a:lnTo>
                  <a:lnTo>
                    <a:pt x="3204971" y="457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23">
              <a:extLst>
                <a:ext uri="{FF2B5EF4-FFF2-40B4-BE49-F238E27FC236}">
                  <a16:creationId xmlns:a16="http://schemas.microsoft.com/office/drawing/2014/main" id="{674138C6-1E27-8D25-E4DA-B3FE748E7D90}"/>
                </a:ext>
              </a:extLst>
            </p:cNvPr>
            <p:cNvSpPr/>
            <p:nvPr/>
          </p:nvSpPr>
          <p:spPr>
            <a:xfrm>
              <a:off x="399248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24">
              <a:extLst>
                <a:ext uri="{FF2B5EF4-FFF2-40B4-BE49-F238E27FC236}">
                  <a16:creationId xmlns:a16="http://schemas.microsoft.com/office/drawing/2014/main" id="{ADEBEF39-8427-C89E-2619-6C7200BE2876}"/>
                </a:ext>
              </a:extLst>
            </p:cNvPr>
            <p:cNvSpPr/>
            <p:nvPr/>
          </p:nvSpPr>
          <p:spPr>
            <a:xfrm>
              <a:off x="462514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25">
              <a:extLst>
                <a:ext uri="{FF2B5EF4-FFF2-40B4-BE49-F238E27FC236}">
                  <a16:creationId xmlns:a16="http://schemas.microsoft.com/office/drawing/2014/main" id="{3B218548-C473-3953-A044-C5884A875C8D}"/>
                </a:ext>
              </a:extLst>
            </p:cNvPr>
            <p:cNvSpPr/>
            <p:nvPr/>
          </p:nvSpPr>
          <p:spPr>
            <a:xfrm>
              <a:off x="5257800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26">
              <a:extLst>
                <a:ext uri="{FF2B5EF4-FFF2-40B4-BE49-F238E27FC236}">
                  <a16:creationId xmlns:a16="http://schemas.microsoft.com/office/drawing/2014/main" id="{87EB8615-6E78-4500-8348-5B77EA981986}"/>
                </a:ext>
              </a:extLst>
            </p:cNvPr>
            <p:cNvSpPr/>
            <p:nvPr/>
          </p:nvSpPr>
          <p:spPr>
            <a:xfrm>
              <a:off x="5890459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27">
              <a:extLst>
                <a:ext uri="{FF2B5EF4-FFF2-40B4-BE49-F238E27FC236}">
                  <a16:creationId xmlns:a16="http://schemas.microsoft.com/office/drawing/2014/main" id="{D8A03DA3-5FD5-220A-8590-5CDFB6B10A7F}"/>
                </a:ext>
              </a:extLst>
            </p:cNvPr>
            <p:cNvSpPr/>
            <p:nvPr/>
          </p:nvSpPr>
          <p:spPr>
            <a:xfrm>
              <a:off x="6523118" y="2548984"/>
              <a:ext cx="553720" cy="0"/>
            </a:xfrm>
            <a:custGeom>
              <a:avLst/>
              <a:gdLst/>
              <a:ahLst/>
              <a:cxnLst/>
              <a:rect l="l" t="t" r="r" b="b"/>
              <a:pathLst>
                <a:path w="553720">
                  <a:moveTo>
                    <a:pt x="0" y="0"/>
                  </a:moveTo>
                  <a:lnTo>
                    <a:pt x="553640" y="0"/>
                  </a:lnTo>
                </a:path>
              </a:pathLst>
            </a:custGeom>
            <a:ln w="795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C20E6668-214E-A0A4-CD86-85DCB2C2F8DA}"/>
              </a:ext>
            </a:extLst>
          </p:cNvPr>
          <p:cNvGrpSpPr/>
          <p:nvPr/>
        </p:nvGrpSpPr>
        <p:grpSpPr>
          <a:xfrm>
            <a:off x="602365" y="5700427"/>
            <a:ext cx="2469325" cy="1373705"/>
            <a:chOff x="4067547" y="5636694"/>
            <a:chExt cx="2469325" cy="1373705"/>
          </a:xfrm>
        </p:grpSpPr>
        <p:sp>
          <p:nvSpPr>
            <p:cNvPr id="126" name="Text Box 807">
              <a:extLst>
                <a:ext uri="{FF2B5EF4-FFF2-40B4-BE49-F238E27FC236}">
                  <a16:creationId xmlns:a16="http://schemas.microsoft.com/office/drawing/2014/main" id="{15F77BA8-4321-3906-B6E6-ECCA18950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67547" y="5636694"/>
              <a:ext cx="2469325" cy="1373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80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A.  </a:t>
              </a:r>
              <a:br>
                <a:rPr lang="en-US" sz="1100" b="1" dirty="0"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B.  </a:t>
              </a:r>
              <a:b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C.                                    </a:t>
              </a:r>
              <a:r>
                <a:rPr lang="en-US" sz="11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 </a:t>
              </a:r>
              <a:r>
                <a:rPr lang="en-US" sz="1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≥ 2</a:t>
              </a:r>
              <a:r>
                <a:rPr lang="en-US" sz="11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  <a:br>
                <a:rPr lang="en-US" sz="1100" b="1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en-US" sz="11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D.                                     </a:t>
              </a:r>
              <a:r>
                <a:rPr lang="en-US" sz="11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(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 </a:t>
              </a:r>
              <a:r>
                <a:rPr lang="en-US" sz="1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n</a:t>
              </a:r>
              <a:r>
                <a: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≥ 2</a:t>
              </a:r>
              <a:r>
                <a:rPr lang="en-US" sz="1100" dirty="0">
                  <a:effectLst/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)</a:t>
              </a:r>
            </a:p>
          </p:txBody>
        </p:sp>
        <p:graphicFrame>
          <p:nvGraphicFramePr>
            <p:cNvPr id="127" name="Object 126">
              <a:extLst>
                <a:ext uri="{FF2B5EF4-FFF2-40B4-BE49-F238E27FC236}">
                  <a16:creationId xmlns:a16="http://schemas.microsoft.com/office/drawing/2014/main" id="{54D9CBCC-5339-87E7-277E-9000483B399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470" y="5763980"/>
            <a:ext cx="6731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672840" imgH="215640" progId="Equation.DSMT4">
                    <p:embed/>
                  </p:oleObj>
                </mc:Choice>
                <mc:Fallback>
                  <p:oleObj name="Equation" r:id="rId27" imgW="672840" imgH="215640" progId="Equation.DSMT4">
                    <p:embed/>
                    <p:pic>
                      <p:nvPicPr>
                        <p:cNvPr id="101" name="Object 100">
                          <a:extLst>
                            <a:ext uri="{FF2B5EF4-FFF2-40B4-BE49-F238E27FC236}">
                              <a16:creationId xmlns:a16="http://schemas.microsoft.com/office/drawing/2014/main" id="{54D9CBCC-5339-87E7-277E-9000483B399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4368470" y="5763980"/>
                          <a:ext cx="6731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8" name="Object 127">
              <a:extLst>
                <a:ext uri="{FF2B5EF4-FFF2-40B4-BE49-F238E27FC236}">
                  <a16:creationId xmlns:a16="http://schemas.microsoft.com/office/drawing/2014/main" id="{82C72EEC-8764-5640-7DC1-2230256BA7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8470" y="6058999"/>
            <a:ext cx="6985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698400" imgH="215640" progId="Equation.DSMT4">
                    <p:embed/>
                  </p:oleObj>
                </mc:Choice>
                <mc:Fallback>
                  <p:oleObj name="Equation" r:id="rId29" imgW="698400" imgH="215640" progId="Equation.DSMT4">
                    <p:embed/>
                    <p:pic>
                      <p:nvPicPr>
                        <p:cNvPr id="114" name="Object 113">
                          <a:extLst>
                            <a:ext uri="{FF2B5EF4-FFF2-40B4-BE49-F238E27FC236}">
                              <a16:creationId xmlns:a16="http://schemas.microsoft.com/office/drawing/2014/main" id="{82C72EEC-8764-5640-7DC1-2230256BA767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4368470" y="6058999"/>
                          <a:ext cx="6985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9" name="Object 128">
              <a:extLst>
                <a:ext uri="{FF2B5EF4-FFF2-40B4-BE49-F238E27FC236}">
                  <a16:creationId xmlns:a16="http://schemas.microsoft.com/office/drawing/2014/main" id="{57045F80-2377-6341-DB0F-A8D2C56FB8C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61025" y="6336340"/>
            <a:ext cx="1320800" cy="241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1320480" imgH="241200" progId="Equation.DSMT4">
                    <p:embed/>
                  </p:oleObj>
                </mc:Choice>
                <mc:Fallback>
                  <p:oleObj name="Equation" r:id="rId31" imgW="1320480" imgH="241200" progId="Equation.DSMT4">
                    <p:embed/>
                    <p:pic>
                      <p:nvPicPr>
                        <p:cNvPr id="115" name="Object 114">
                          <a:extLst>
                            <a:ext uri="{FF2B5EF4-FFF2-40B4-BE49-F238E27FC236}">
                              <a16:creationId xmlns:a16="http://schemas.microsoft.com/office/drawing/2014/main" id="{57045F80-2377-6341-DB0F-A8D2C56FB8C0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4361025" y="6336340"/>
                          <a:ext cx="1320800" cy="241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0" name="Object 129">
              <a:extLst>
                <a:ext uri="{FF2B5EF4-FFF2-40B4-BE49-F238E27FC236}">
                  <a16:creationId xmlns:a16="http://schemas.microsoft.com/office/drawing/2014/main" id="{863A7916-3A7A-BCAF-F86E-9C917236CE0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1565" y="6670970"/>
            <a:ext cx="12319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1231560" imgH="215640" progId="Equation.DSMT4">
                    <p:embed/>
                  </p:oleObj>
                </mc:Choice>
                <mc:Fallback>
                  <p:oleObj name="Equation" r:id="rId33" imgW="1231560" imgH="215640" progId="Equation.DSMT4">
                    <p:embed/>
                    <p:pic>
                      <p:nvPicPr>
                        <p:cNvPr id="116" name="Object 115">
                          <a:extLst>
                            <a:ext uri="{FF2B5EF4-FFF2-40B4-BE49-F238E27FC236}">
                              <a16:creationId xmlns:a16="http://schemas.microsoft.com/office/drawing/2014/main" id="{863A7916-3A7A-BCAF-F86E-9C917236CE0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4"/>
                        <a:stretch>
                          <a:fillRect/>
                        </a:stretch>
                      </p:blipFill>
                      <p:spPr>
                        <a:xfrm>
                          <a:off x="4371565" y="6670970"/>
                          <a:ext cx="1231900" cy="2159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7034" y="382178"/>
            <a:ext cx="6477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For questions 9-12, describe the sequence as arithmetic, geometric, or neither. 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For arithmetic and geometric sequences, give the common difference or common ratio.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0564" y="796193"/>
            <a:ext cx="303288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9.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96514" y="1846653"/>
            <a:ext cx="3185160" cy="778509"/>
            <a:chOff x="0" y="0"/>
            <a:chExt cx="3185652" cy="779104"/>
          </a:xfrm>
        </p:grpSpPr>
        <p:sp>
          <p:nvSpPr>
            <p:cNvPr id="8" name="Text Box 14"/>
            <p:cNvSpPr txBox="1">
              <a:spLocks noChangeArrowheads="1"/>
            </p:cNvSpPr>
            <p:nvPr/>
          </p:nvSpPr>
          <p:spPr bwMode="auto">
            <a:xfrm>
              <a:off x="0" y="412955"/>
              <a:ext cx="1717941" cy="358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9" name="Text Box 21"/>
            <p:cNvSpPr txBox="1">
              <a:spLocks noChangeArrowheads="1"/>
            </p:cNvSpPr>
            <p:nvPr/>
          </p:nvSpPr>
          <p:spPr bwMode="auto">
            <a:xfrm>
              <a:off x="1881161" y="420329"/>
              <a:ext cx="1209367" cy="358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0" name="Text Box 22"/>
            <p:cNvSpPr txBox="1"/>
            <p:nvPr/>
          </p:nvSpPr>
          <p:spPr>
            <a:xfrm>
              <a:off x="194324" y="156277"/>
              <a:ext cx="1423220" cy="2802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of Sequence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 Box 24"/>
            <p:cNvSpPr txBox="1"/>
            <p:nvPr/>
          </p:nvSpPr>
          <p:spPr>
            <a:xfrm>
              <a:off x="1762432" y="0"/>
              <a:ext cx="1423220" cy="4129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Common</a:t>
              </a: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Difference/Ratio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4078811" y="1838412"/>
            <a:ext cx="3185160" cy="778509"/>
            <a:chOff x="0" y="0"/>
            <a:chExt cx="3185652" cy="779104"/>
          </a:xfrm>
        </p:grpSpPr>
        <p:sp>
          <p:nvSpPr>
            <p:cNvPr id="13" name="Text Box 14"/>
            <p:cNvSpPr txBox="1">
              <a:spLocks noChangeArrowheads="1"/>
            </p:cNvSpPr>
            <p:nvPr/>
          </p:nvSpPr>
          <p:spPr bwMode="auto">
            <a:xfrm>
              <a:off x="0" y="412955"/>
              <a:ext cx="1717941" cy="358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4" name="Text Box 21"/>
            <p:cNvSpPr txBox="1">
              <a:spLocks noChangeArrowheads="1"/>
            </p:cNvSpPr>
            <p:nvPr/>
          </p:nvSpPr>
          <p:spPr bwMode="auto">
            <a:xfrm>
              <a:off x="1881161" y="420329"/>
              <a:ext cx="1209367" cy="358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5" name="Text Box 22"/>
            <p:cNvSpPr txBox="1"/>
            <p:nvPr/>
          </p:nvSpPr>
          <p:spPr>
            <a:xfrm>
              <a:off x="194324" y="156277"/>
              <a:ext cx="1423220" cy="2802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of Sequence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24"/>
            <p:cNvSpPr txBox="1"/>
            <p:nvPr/>
          </p:nvSpPr>
          <p:spPr>
            <a:xfrm>
              <a:off x="1762432" y="0"/>
              <a:ext cx="1423220" cy="42032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Common</a:t>
              </a: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Difference/Ratio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624840" y="3788731"/>
            <a:ext cx="3185160" cy="778509"/>
            <a:chOff x="0" y="0"/>
            <a:chExt cx="3185652" cy="779104"/>
          </a:xfrm>
        </p:grpSpPr>
        <p:sp>
          <p:nvSpPr>
            <p:cNvPr id="18" name="Text Box 14"/>
            <p:cNvSpPr txBox="1">
              <a:spLocks noChangeArrowheads="1"/>
            </p:cNvSpPr>
            <p:nvPr/>
          </p:nvSpPr>
          <p:spPr bwMode="auto">
            <a:xfrm>
              <a:off x="0" y="412955"/>
              <a:ext cx="1717941" cy="358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19" name="Text Box 21"/>
            <p:cNvSpPr txBox="1">
              <a:spLocks noChangeArrowheads="1"/>
            </p:cNvSpPr>
            <p:nvPr/>
          </p:nvSpPr>
          <p:spPr bwMode="auto">
            <a:xfrm>
              <a:off x="1881161" y="420329"/>
              <a:ext cx="1209367" cy="358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20" name="Text Box 22"/>
            <p:cNvSpPr txBox="1"/>
            <p:nvPr/>
          </p:nvSpPr>
          <p:spPr>
            <a:xfrm>
              <a:off x="194324" y="156277"/>
              <a:ext cx="1423220" cy="2802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of Sequence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 Box 24"/>
            <p:cNvSpPr txBox="1"/>
            <p:nvPr/>
          </p:nvSpPr>
          <p:spPr>
            <a:xfrm>
              <a:off x="1762432" y="0"/>
              <a:ext cx="1423220" cy="42032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Common</a:t>
              </a: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Difference/Ratio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065270" y="3788731"/>
            <a:ext cx="3185160" cy="778509"/>
            <a:chOff x="0" y="0"/>
            <a:chExt cx="3185652" cy="779104"/>
          </a:xfrm>
        </p:grpSpPr>
        <p:sp>
          <p:nvSpPr>
            <p:cNvPr id="24" name="Text Box 14"/>
            <p:cNvSpPr txBox="1">
              <a:spLocks noChangeArrowheads="1"/>
            </p:cNvSpPr>
            <p:nvPr/>
          </p:nvSpPr>
          <p:spPr bwMode="auto">
            <a:xfrm>
              <a:off x="0" y="412955"/>
              <a:ext cx="1717941" cy="358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25" name="Text Box 21"/>
            <p:cNvSpPr txBox="1">
              <a:spLocks noChangeArrowheads="1"/>
            </p:cNvSpPr>
            <p:nvPr/>
          </p:nvSpPr>
          <p:spPr bwMode="auto">
            <a:xfrm>
              <a:off x="1881161" y="420329"/>
              <a:ext cx="1209367" cy="358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10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 </a:t>
              </a:r>
            </a:p>
          </p:txBody>
        </p:sp>
        <p:sp>
          <p:nvSpPr>
            <p:cNvPr id="65" name="Text Box 22"/>
            <p:cNvSpPr txBox="1"/>
            <p:nvPr/>
          </p:nvSpPr>
          <p:spPr>
            <a:xfrm>
              <a:off x="194324" y="156277"/>
              <a:ext cx="1423220" cy="28022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Type of Sequence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Box 24"/>
            <p:cNvSpPr txBox="1"/>
            <p:nvPr/>
          </p:nvSpPr>
          <p:spPr>
            <a:xfrm>
              <a:off x="1762432" y="0"/>
              <a:ext cx="1423220" cy="63418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ctr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Common</a:t>
              </a:r>
              <a:b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000" b="1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Difference/Ratio</a:t>
              </a:r>
              <a:endPara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6" name="Rectangle 85"/>
          <p:cNvSpPr/>
          <p:nvPr/>
        </p:nvSpPr>
        <p:spPr>
          <a:xfrm>
            <a:off x="3862883" y="85206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416370" y="2705536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11.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3867040" y="2719212"/>
            <a:ext cx="42191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12. 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89" name="Object 8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9104315"/>
              </p:ext>
            </p:extLst>
          </p:nvPr>
        </p:nvGraphicFramePr>
        <p:xfrm>
          <a:off x="671499" y="815839"/>
          <a:ext cx="151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241200" progId="Equation.DSMT4">
                  <p:embed/>
                </p:oleObj>
              </mc:Choice>
              <mc:Fallback>
                <p:oleObj name="Equation" r:id="rId3" imgW="1511280" imgH="241200" progId="Equation.DSMT4">
                  <p:embed/>
                  <p:pic>
                    <p:nvPicPr>
                      <p:cNvPr id="51" name="Object 5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1499" y="815839"/>
                        <a:ext cx="1511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" name="Object 8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0474248"/>
              </p:ext>
            </p:extLst>
          </p:nvPr>
        </p:nvGraphicFramePr>
        <p:xfrm>
          <a:off x="4200488" y="803420"/>
          <a:ext cx="1600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00200" imgH="419040" progId="Equation.DSMT4">
                  <p:embed/>
                </p:oleObj>
              </mc:Choice>
              <mc:Fallback>
                <p:oleObj name="Equation" r:id="rId5" imgW="1600200" imgH="419040" progId="Equation.DSMT4">
                  <p:embed/>
                  <p:pic>
                    <p:nvPicPr>
                      <p:cNvPr id="52" name="Object 5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00488" y="803420"/>
                        <a:ext cx="16002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" name="Object 9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5731259"/>
              </p:ext>
            </p:extLst>
          </p:nvPr>
        </p:nvGraphicFramePr>
        <p:xfrm>
          <a:off x="740441" y="2731708"/>
          <a:ext cx="1714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14320" imgH="241200" progId="Equation.DSMT4">
                  <p:embed/>
                </p:oleObj>
              </mc:Choice>
              <mc:Fallback>
                <p:oleObj name="Equation" r:id="rId7" imgW="1714320" imgH="241200" progId="Equation.DSMT4">
                  <p:embed/>
                  <p:pic>
                    <p:nvPicPr>
                      <p:cNvPr id="53" name="Object 5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40441" y="2731708"/>
                        <a:ext cx="1714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9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320452"/>
              </p:ext>
            </p:extLst>
          </p:nvPr>
        </p:nvGraphicFramePr>
        <p:xfrm>
          <a:off x="4194138" y="2752679"/>
          <a:ext cx="16129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800" imgH="241200" progId="Equation.DSMT4">
                  <p:embed/>
                </p:oleObj>
              </mc:Choice>
              <mc:Fallback>
                <p:oleObj name="Equation" r:id="rId9" imgW="1612800" imgH="241200" progId="Equation.DSMT4">
                  <p:embed/>
                  <p:pic>
                    <p:nvPicPr>
                      <p:cNvPr id="54" name="Object 53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94138" y="2752679"/>
                        <a:ext cx="16129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3" name="Table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0979823"/>
              </p:ext>
            </p:extLst>
          </p:nvPr>
        </p:nvGraphicFramePr>
        <p:xfrm>
          <a:off x="414027" y="4700705"/>
          <a:ext cx="3344862" cy="368364"/>
        </p:xfrm>
        <a:graphic>
          <a:graphicData uri="http://schemas.openxmlformats.org/drawingml/2006/table">
            <a:tbl>
              <a:tblPr/>
              <a:tblGrid>
                <a:gridCol w="3344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13.  </a:t>
                      </a: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Identify the formula for the sequence </a:t>
                      </a:r>
                      <a:b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</a:br>
                      <a:r>
                        <a:rPr lang="en-US" sz="1100" dirty="0">
                          <a:effectLst/>
                          <a:latin typeface="Century Gothic" panose="020B0502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      given below.</a:t>
                      </a:r>
                    </a:p>
                  </a:txBody>
                  <a:tcPr marL="114300" marR="11430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4" name="Text Box 807"/>
          <p:cNvSpPr txBox="1">
            <a:spLocks noChangeArrowheads="1"/>
          </p:cNvSpPr>
          <p:nvPr/>
        </p:nvSpPr>
        <p:spPr bwMode="auto">
          <a:xfrm>
            <a:off x="4259564" y="5688242"/>
            <a:ext cx="286829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5" name="Text Box 807"/>
          <p:cNvSpPr txBox="1">
            <a:spLocks noChangeArrowheads="1"/>
          </p:cNvSpPr>
          <p:nvPr/>
        </p:nvSpPr>
        <p:spPr bwMode="auto">
          <a:xfrm>
            <a:off x="722056" y="5700549"/>
            <a:ext cx="1528008" cy="150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6" name="Text Box 302"/>
          <p:cNvSpPr txBox="1">
            <a:spLocks noChangeArrowheads="1"/>
          </p:cNvSpPr>
          <p:nvPr/>
        </p:nvSpPr>
        <p:spPr bwMode="auto">
          <a:xfrm>
            <a:off x="6705600" y="674413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97" name="Text Box 302"/>
          <p:cNvSpPr txBox="1">
            <a:spLocks noChangeArrowheads="1"/>
          </p:cNvSpPr>
          <p:nvPr/>
        </p:nvSpPr>
        <p:spPr bwMode="auto">
          <a:xfrm>
            <a:off x="3276600" y="674413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98" name="Objec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9633535"/>
              </p:ext>
            </p:extLst>
          </p:nvPr>
        </p:nvGraphicFramePr>
        <p:xfrm>
          <a:off x="1038218" y="5848439"/>
          <a:ext cx="749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49160" imgH="215640" progId="Equation.DSMT4">
                  <p:embed/>
                </p:oleObj>
              </mc:Choice>
              <mc:Fallback>
                <p:oleObj name="Equation" r:id="rId11" imgW="749160" imgH="215640" progId="Equation.DSMT4">
                  <p:embed/>
                  <p:pic>
                    <p:nvPicPr>
                      <p:cNvPr id="60" name="Object 5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38218" y="5848439"/>
                        <a:ext cx="749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9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709416"/>
              </p:ext>
            </p:extLst>
          </p:nvPr>
        </p:nvGraphicFramePr>
        <p:xfrm>
          <a:off x="1044568" y="6191339"/>
          <a:ext cx="6858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85800" imgH="215640" progId="Equation.DSMT4">
                  <p:embed/>
                </p:oleObj>
              </mc:Choice>
              <mc:Fallback>
                <p:oleObj name="Equation" r:id="rId13" imgW="685800" imgH="215640" progId="Equation.DSMT4">
                  <p:embed/>
                  <p:pic>
                    <p:nvPicPr>
                      <p:cNvPr id="61" name="Object 6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44568" y="6191339"/>
                        <a:ext cx="6858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877084"/>
              </p:ext>
            </p:extLst>
          </p:nvPr>
        </p:nvGraphicFramePr>
        <p:xfrm>
          <a:off x="1050918" y="6491377"/>
          <a:ext cx="825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25480" imgH="241200" progId="Equation.DSMT4">
                  <p:embed/>
                </p:oleObj>
              </mc:Choice>
              <mc:Fallback>
                <p:oleObj name="Equation" r:id="rId15" imgW="825480" imgH="241200" progId="Equation.DSMT4">
                  <p:embed/>
                  <p:pic>
                    <p:nvPicPr>
                      <p:cNvPr id="62" name="Object 6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50918" y="6491377"/>
                        <a:ext cx="825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10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4700263"/>
              </p:ext>
            </p:extLst>
          </p:nvPr>
        </p:nvGraphicFramePr>
        <p:xfrm>
          <a:off x="1038218" y="6823378"/>
          <a:ext cx="901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01440" imgH="241200" progId="Equation.DSMT4">
                  <p:embed/>
                </p:oleObj>
              </mc:Choice>
              <mc:Fallback>
                <p:oleObj name="Equation" r:id="rId17" imgW="901440" imgH="24120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038218" y="6823378"/>
                        <a:ext cx="901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12725"/>
              </p:ext>
            </p:extLst>
          </p:nvPr>
        </p:nvGraphicFramePr>
        <p:xfrm>
          <a:off x="4545314" y="5764570"/>
          <a:ext cx="927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927000" imgH="368280" progId="Equation.DSMT4">
                  <p:embed/>
                </p:oleObj>
              </mc:Choice>
              <mc:Fallback>
                <p:oleObj name="Equation" r:id="rId19" imgW="927000" imgH="36828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45314" y="5764570"/>
                        <a:ext cx="927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436923"/>
              </p:ext>
            </p:extLst>
          </p:nvPr>
        </p:nvGraphicFramePr>
        <p:xfrm>
          <a:off x="4545314" y="6235880"/>
          <a:ext cx="9271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27000" imgH="368280" progId="Equation.DSMT4">
                  <p:embed/>
                </p:oleObj>
              </mc:Choice>
              <mc:Fallback>
                <p:oleObj name="Equation" r:id="rId21" imgW="927000" imgH="368280" progId="Equation.DSMT4">
                  <p:embed/>
                  <p:pic>
                    <p:nvPicPr>
                      <p:cNvPr id="66" name="Object 65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545314" y="6235880"/>
                        <a:ext cx="9271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10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1565879"/>
              </p:ext>
            </p:extLst>
          </p:nvPr>
        </p:nvGraphicFramePr>
        <p:xfrm>
          <a:off x="5893098" y="5711849"/>
          <a:ext cx="1028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28520" imgH="457200" progId="Equation.DSMT4">
                  <p:embed/>
                </p:oleObj>
              </mc:Choice>
              <mc:Fallback>
                <p:oleObj name="Equation" r:id="rId23" imgW="1028520" imgH="457200" progId="Equation.DSMT4">
                  <p:embed/>
                  <p:pic>
                    <p:nvPicPr>
                      <p:cNvPr id="67" name="Object 66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893098" y="5711849"/>
                        <a:ext cx="1028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10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294396"/>
              </p:ext>
            </p:extLst>
          </p:nvPr>
        </p:nvGraphicFramePr>
        <p:xfrm>
          <a:off x="5898010" y="6179164"/>
          <a:ext cx="1028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28520" imgH="457200" progId="Equation.DSMT4">
                  <p:embed/>
                </p:oleObj>
              </mc:Choice>
              <mc:Fallback>
                <p:oleObj name="Equation" r:id="rId25" imgW="1028520" imgH="457200" progId="Equation.DSMT4">
                  <p:embed/>
                  <p:pic>
                    <p:nvPicPr>
                      <p:cNvPr id="68" name="Object 67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898010" y="6179164"/>
                        <a:ext cx="10287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Objec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272417"/>
              </p:ext>
            </p:extLst>
          </p:nvPr>
        </p:nvGraphicFramePr>
        <p:xfrm>
          <a:off x="1524000" y="5150138"/>
          <a:ext cx="13843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384200" imgH="253800" progId="Equation.DSMT4">
                  <p:embed/>
                </p:oleObj>
              </mc:Choice>
              <mc:Fallback>
                <p:oleObj name="Equation" r:id="rId27" imgW="1384200" imgH="253800" progId="Equation.DSMT4">
                  <p:embed/>
                  <p:pic>
                    <p:nvPicPr>
                      <p:cNvPr id="69" name="Object 68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24000" y="5150138"/>
                        <a:ext cx="13843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c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6779473"/>
              </p:ext>
            </p:extLst>
          </p:nvPr>
        </p:nvGraphicFramePr>
        <p:xfrm>
          <a:off x="4857750" y="5173663"/>
          <a:ext cx="1587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587240" imgH="253800" progId="Equation.DSMT4">
                  <p:embed/>
                </p:oleObj>
              </mc:Choice>
              <mc:Fallback>
                <p:oleObj name="Equation" r:id="rId29" imgW="1587240" imgH="253800" progId="Equation.DSMT4">
                  <p:embed/>
                  <p:pic>
                    <p:nvPicPr>
                      <p:cNvPr id="70" name="Object 69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857750" y="5173663"/>
                        <a:ext cx="1587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8" name="Rectangle 107"/>
          <p:cNvSpPr/>
          <p:nvPr/>
        </p:nvSpPr>
        <p:spPr>
          <a:xfrm>
            <a:off x="416677" y="7151935"/>
            <a:ext cx="34290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15.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a formula for the sequence below,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 then</a:t>
            </a:r>
            <a:r>
              <a:rPr lang="en-US" sz="1100" dirty="0"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10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3865643" y="7142587"/>
            <a:ext cx="35052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16.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Write a formula for the sequence below,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then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45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grpSp>
        <p:nvGrpSpPr>
          <p:cNvPr id="110" name="Group 109"/>
          <p:cNvGrpSpPr/>
          <p:nvPr/>
        </p:nvGrpSpPr>
        <p:grpSpPr>
          <a:xfrm>
            <a:off x="609600" y="8877736"/>
            <a:ext cx="3171190" cy="678816"/>
            <a:chOff x="0" y="0"/>
            <a:chExt cx="3171216" cy="679405"/>
          </a:xfrm>
        </p:grpSpPr>
        <p:grpSp>
          <p:nvGrpSpPr>
            <p:cNvPr id="111" name="Group 110"/>
            <p:cNvGrpSpPr/>
            <p:nvPr/>
          </p:nvGrpSpPr>
          <p:grpSpPr>
            <a:xfrm>
              <a:off x="0" y="0"/>
              <a:ext cx="1717488" cy="679405"/>
              <a:chOff x="0" y="44548"/>
              <a:chExt cx="1717676" cy="679743"/>
            </a:xfrm>
          </p:grpSpPr>
          <p:sp>
            <p:nvSpPr>
              <p:cNvPr id="113" name="Text Box 304"/>
              <p:cNvSpPr txBox="1">
                <a:spLocks noChangeArrowheads="1"/>
              </p:cNvSpPr>
              <p:nvPr/>
            </p:nvSpPr>
            <p:spPr bwMode="auto">
              <a:xfrm>
                <a:off x="0" y="281354"/>
                <a:ext cx="1717676" cy="44293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4" name="Text Box 306"/>
              <p:cNvSpPr txBox="1"/>
              <p:nvPr/>
            </p:nvSpPr>
            <p:spPr>
              <a:xfrm>
                <a:off x="471268" y="44548"/>
                <a:ext cx="744820" cy="28000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Formula</a:t>
                </a:r>
                <a:endPara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2" name="Text Box 277"/>
            <p:cNvSpPr txBox="1">
              <a:spLocks noChangeArrowheads="1"/>
            </p:cNvSpPr>
            <p:nvPr/>
          </p:nvSpPr>
          <p:spPr bwMode="auto">
            <a:xfrm>
              <a:off x="1805939" y="239822"/>
              <a:ext cx="1365277" cy="4389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0" rIns="91440" bIns="0" anchor="ctr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br>
                <a:rPr lang="en-US" sz="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5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  <a:r>
                <a:rPr lang="en-US" sz="1300" baseline="-25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10</a:t>
              </a:r>
              <a:r>
                <a:rPr lang="en-US" sz="15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=</a:t>
              </a: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grpSp>
        <p:nvGrpSpPr>
          <p:cNvPr id="115" name="Group 114"/>
          <p:cNvGrpSpPr/>
          <p:nvPr/>
        </p:nvGrpSpPr>
        <p:grpSpPr>
          <a:xfrm>
            <a:off x="4038600" y="8863180"/>
            <a:ext cx="3163570" cy="702309"/>
            <a:chOff x="0" y="-1"/>
            <a:chExt cx="3163922" cy="702309"/>
          </a:xfrm>
        </p:grpSpPr>
        <p:grpSp>
          <p:nvGrpSpPr>
            <p:cNvPr id="116" name="Group 115"/>
            <p:cNvGrpSpPr/>
            <p:nvPr/>
          </p:nvGrpSpPr>
          <p:grpSpPr>
            <a:xfrm>
              <a:off x="0" y="-1"/>
              <a:ext cx="1717040" cy="702309"/>
              <a:chOff x="0" y="21102"/>
              <a:chExt cx="1717676" cy="703189"/>
            </a:xfrm>
          </p:grpSpPr>
          <p:sp>
            <p:nvSpPr>
              <p:cNvPr id="118" name="Text Box 310"/>
              <p:cNvSpPr txBox="1">
                <a:spLocks noChangeArrowheads="1"/>
              </p:cNvSpPr>
              <p:nvPr/>
            </p:nvSpPr>
            <p:spPr bwMode="auto">
              <a:xfrm>
                <a:off x="0" y="281354"/>
                <a:ext cx="1717676" cy="442937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10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  <p:sp>
            <p:nvSpPr>
              <p:cNvPr id="119" name="Text Box 312"/>
              <p:cNvSpPr txBox="1"/>
              <p:nvPr/>
            </p:nvSpPr>
            <p:spPr>
              <a:xfrm>
                <a:off x="471268" y="21102"/>
                <a:ext cx="744820" cy="28000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50" b="1" dirty="0">
                    <a:effectLst/>
                    <a:latin typeface="Century Gothic" panose="020B050202020202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Formula</a:t>
                </a:r>
                <a:endParaRPr lang="en-US" sz="11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7" name="Text Box 277"/>
            <p:cNvSpPr txBox="1">
              <a:spLocks noChangeArrowheads="1"/>
            </p:cNvSpPr>
            <p:nvPr/>
          </p:nvSpPr>
          <p:spPr bwMode="auto">
            <a:xfrm>
              <a:off x="1797186" y="260215"/>
              <a:ext cx="1366736" cy="438912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rot="0" vert="horz" wrap="square" lIns="91440" tIns="0" rIns="91440" bIns="0" anchor="ctr" anchorCtr="0" upright="1">
              <a:noAutofit/>
            </a:bodyPr>
            <a:lstStyle/>
            <a:p>
              <a:pPr marL="0" marR="0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br>
                <a:rPr lang="en-US" sz="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br>
                <a:rPr lang="en-US" sz="1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</a:br>
              <a:r>
                <a:rPr lang="en-US" sz="15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a</a:t>
              </a:r>
              <a:r>
                <a:rPr lang="en-US" sz="1300" baseline="-25000" dirty="0">
                  <a:effectLst/>
                  <a:latin typeface="Century Gothic" panose="020B050202020202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45</a:t>
              </a:r>
              <a:r>
                <a:rPr lang="en-US" sz="1500" i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sz="1100" dirty="0">
                  <a:effectLst/>
                  <a:latin typeface="Tahoma" panose="020B060403050404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=</a:t>
              </a:r>
              <a:r>
                <a:rPr lang="en-US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  <p:graphicFrame>
        <p:nvGraphicFramePr>
          <p:cNvPr id="120" name="Object 1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179048"/>
              </p:ext>
            </p:extLst>
          </p:nvPr>
        </p:nvGraphicFramePr>
        <p:xfrm>
          <a:off x="1319199" y="7658357"/>
          <a:ext cx="17272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726920" imgH="253800" progId="Equation.DSMT4">
                  <p:embed/>
                </p:oleObj>
              </mc:Choice>
              <mc:Fallback>
                <p:oleObj name="Equation" r:id="rId31" imgW="1726920" imgH="253800" progId="Equation.DSMT4">
                  <p:embed/>
                  <p:pic>
                    <p:nvPicPr>
                      <p:cNvPr id="84" name="Object 83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319199" y="7658357"/>
                        <a:ext cx="17272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1" name="Object 1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054688"/>
              </p:ext>
            </p:extLst>
          </p:nvPr>
        </p:nvGraphicFramePr>
        <p:xfrm>
          <a:off x="4850083" y="7637333"/>
          <a:ext cx="1778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777680" imgH="457200" progId="Equation.DSMT4">
                  <p:embed/>
                </p:oleObj>
              </mc:Choice>
              <mc:Fallback>
                <p:oleObj name="Equation" r:id="rId33" imgW="1777680" imgH="457200" progId="Equation.DSMT4">
                  <p:embed/>
                  <p:pic>
                    <p:nvPicPr>
                      <p:cNvPr id="85" name="Object 84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850083" y="7637333"/>
                        <a:ext cx="17780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" name="TextBox 121">
            <a:extLst>
              <a:ext uri="{FF2B5EF4-FFF2-40B4-BE49-F238E27FC236}">
                <a16:creationId xmlns:a16="http://schemas.microsoft.com/office/drawing/2014/main" id="{ED59B8DA-E899-01F3-1CFA-C41830989B25}"/>
              </a:ext>
            </a:extLst>
          </p:cNvPr>
          <p:cNvSpPr txBox="1"/>
          <p:nvPr/>
        </p:nvSpPr>
        <p:spPr>
          <a:xfrm>
            <a:off x="3814476" y="4659067"/>
            <a:ext cx="35354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72110" marR="367030" lvl="0" indent="-30734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Tahoma"/>
              </a:rPr>
              <a:t>14.  </a:t>
            </a:r>
            <a:r>
              <a:rPr kumimoji="0" lang="en-US" sz="11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cs typeface="Tahoma"/>
              </a:rPr>
              <a:t>Identify the formula for the sequence given  below.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26124" y="408152"/>
            <a:ext cx="35052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17.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If the information given below represents an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arithmetic sequence,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40172" y="396870"/>
            <a:ext cx="35052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18.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If the information given below represents an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arithmetic sequence,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27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Text Box 277"/>
          <p:cNvSpPr txBox="1">
            <a:spLocks noChangeArrowheads="1"/>
          </p:cNvSpPr>
          <p:nvPr/>
        </p:nvSpPr>
        <p:spPr bwMode="auto">
          <a:xfrm>
            <a:off x="2819400" y="2241030"/>
            <a:ext cx="9848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0" rIns="91440" bIns="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3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Text Box 277"/>
          <p:cNvSpPr txBox="1">
            <a:spLocks noChangeArrowheads="1"/>
          </p:cNvSpPr>
          <p:nvPr/>
        </p:nvSpPr>
        <p:spPr bwMode="auto">
          <a:xfrm>
            <a:off x="6248400" y="2241030"/>
            <a:ext cx="9848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0" rIns="91440" bIns="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3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</a:t>
            </a: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22651" y="2720146"/>
            <a:ext cx="34290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19.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If the information given below represents a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geometric sequence,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59222" y="2704406"/>
            <a:ext cx="3505200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20.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If the information given below represents a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 geometric sequence,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" name="Text Box 277"/>
          <p:cNvSpPr txBox="1">
            <a:spLocks noChangeArrowheads="1"/>
          </p:cNvSpPr>
          <p:nvPr/>
        </p:nvSpPr>
        <p:spPr bwMode="auto">
          <a:xfrm>
            <a:off x="2819400" y="4527030"/>
            <a:ext cx="9848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0" rIns="91440" bIns="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3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Text Box 277"/>
          <p:cNvSpPr txBox="1">
            <a:spLocks noChangeArrowheads="1"/>
          </p:cNvSpPr>
          <p:nvPr/>
        </p:nvSpPr>
        <p:spPr bwMode="auto">
          <a:xfrm>
            <a:off x="6248400" y="4527030"/>
            <a:ext cx="984885" cy="39560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0" rIns="91440" bIns="0" anchor="ctr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13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US" sz="15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effectLst/>
                <a:latin typeface="Tahoma" panose="020B060403050404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US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75514" y="3190168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and 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23718" y="3180142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and 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20531" y="903075"/>
            <a:ext cx="52129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and</a:t>
            </a:r>
            <a:r>
              <a:rPr lang="en-US" sz="1100" b="1" dirty="0">
                <a:effectLst/>
                <a:latin typeface="Tahoma" panose="020B0604030504040204" pitchFamily="34" charset="0"/>
                <a:ea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927604" y="925200"/>
            <a:ext cx="52290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and 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319351"/>
              </p:ext>
            </p:extLst>
          </p:nvPr>
        </p:nvGraphicFramePr>
        <p:xfrm>
          <a:off x="1422444" y="973599"/>
          <a:ext cx="558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58720" imgH="228600" progId="Equation.DSMT4">
                  <p:embed/>
                </p:oleObj>
              </mc:Choice>
              <mc:Fallback>
                <p:oleObj name="Equation" r:id="rId3" imgW="558720" imgH="228600" progId="Equation.DSMT4">
                  <p:embed/>
                  <p:pic>
                    <p:nvPicPr>
                      <p:cNvPr id="34" name="Object 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22444" y="973599"/>
                        <a:ext cx="558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402171"/>
              </p:ext>
            </p:extLst>
          </p:nvPr>
        </p:nvGraphicFramePr>
        <p:xfrm>
          <a:off x="2357095" y="871770"/>
          <a:ext cx="5334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33160" imgH="406080" progId="Equation.DSMT4">
                  <p:embed/>
                </p:oleObj>
              </mc:Choice>
              <mc:Fallback>
                <p:oleObj name="Equation" r:id="rId5" imgW="533160" imgH="406080" progId="Equation.DSMT4">
                  <p:embed/>
                  <p:pic>
                    <p:nvPicPr>
                      <p:cNvPr id="35" name="Object 3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57095" y="871770"/>
                        <a:ext cx="5334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359348"/>
              </p:ext>
            </p:extLst>
          </p:nvPr>
        </p:nvGraphicFramePr>
        <p:xfrm>
          <a:off x="4970208" y="950221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0560" imgH="228600" progId="Equation.DSMT4">
                  <p:embed/>
                </p:oleObj>
              </mc:Choice>
              <mc:Fallback>
                <p:oleObj name="Equation" r:id="rId7" imgW="520560" imgH="228600" progId="Equation.DSMT4">
                  <p:embed/>
                  <p:pic>
                    <p:nvPicPr>
                      <p:cNvPr id="36" name="Object 3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970208" y="950221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35265"/>
              </p:ext>
            </p:extLst>
          </p:nvPr>
        </p:nvGraphicFramePr>
        <p:xfrm>
          <a:off x="5852251" y="935853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20560" imgH="228600" progId="Equation.DSMT4">
                  <p:embed/>
                </p:oleObj>
              </mc:Choice>
              <mc:Fallback>
                <p:oleObj name="Equation" r:id="rId9" imgW="520560" imgH="228600" progId="Equation.DSMT4">
                  <p:embed/>
                  <p:pic>
                    <p:nvPicPr>
                      <p:cNvPr id="37" name="Object 3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852251" y="935853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959118"/>
              </p:ext>
            </p:extLst>
          </p:nvPr>
        </p:nvGraphicFramePr>
        <p:xfrm>
          <a:off x="1371601" y="3228541"/>
          <a:ext cx="711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11000" imgH="228600" progId="Equation.DSMT4">
                  <p:embed/>
                </p:oleObj>
              </mc:Choice>
              <mc:Fallback>
                <p:oleObj name="Equation" r:id="rId11" imgW="711000" imgH="228600" progId="Equation.DSMT4">
                  <p:embed/>
                  <p:pic>
                    <p:nvPicPr>
                      <p:cNvPr id="38" name="Object 3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71601" y="3228541"/>
                        <a:ext cx="711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7122034"/>
              </p:ext>
            </p:extLst>
          </p:nvPr>
        </p:nvGraphicFramePr>
        <p:xfrm>
          <a:off x="2442528" y="3231463"/>
          <a:ext cx="4699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69800" imgH="164880" progId="Equation.DSMT4">
                  <p:embed/>
                </p:oleObj>
              </mc:Choice>
              <mc:Fallback>
                <p:oleObj name="Equation" r:id="rId13" imgW="469800" imgH="164880" progId="Equation.DSMT4">
                  <p:embed/>
                  <p:pic>
                    <p:nvPicPr>
                      <p:cNvPr id="39" name="Object 38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442528" y="3231463"/>
                        <a:ext cx="469900" cy="165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6504372"/>
              </p:ext>
            </p:extLst>
          </p:nvPr>
        </p:nvGraphicFramePr>
        <p:xfrm>
          <a:off x="4856776" y="3237734"/>
          <a:ext cx="685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85800" imgH="228600" progId="Equation.DSMT4">
                  <p:embed/>
                </p:oleObj>
              </mc:Choice>
              <mc:Fallback>
                <p:oleObj name="Equation" r:id="rId15" imgW="685800" imgH="228600" progId="Equation.DSMT4">
                  <p:embed/>
                  <p:pic>
                    <p:nvPicPr>
                      <p:cNvPr id="40" name="Object 39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856776" y="3237734"/>
                        <a:ext cx="685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199500"/>
              </p:ext>
            </p:extLst>
          </p:nvPr>
        </p:nvGraphicFramePr>
        <p:xfrm>
          <a:off x="5896882" y="3227448"/>
          <a:ext cx="520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20560" imgH="228600" progId="Equation.DSMT4">
                  <p:embed/>
                </p:oleObj>
              </mc:Choice>
              <mc:Fallback>
                <p:oleObj name="Equation" r:id="rId17" imgW="520560" imgH="228600" progId="Equation.DSMT4">
                  <p:embed/>
                  <p:pic>
                    <p:nvPicPr>
                      <p:cNvPr id="41" name="Object 40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896882" y="3227448"/>
                        <a:ext cx="520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59"/>
          <p:cNvSpPr/>
          <p:nvPr/>
        </p:nvSpPr>
        <p:spPr>
          <a:xfrm>
            <a:off x="433407" y="5013826"/>
            <a:ext cx="29177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21.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Given the sequence below,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19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1" name="Text Box 807"/>
          <p:cNvSpPr txBox="1">
            <a:spLocks noChangeArrowheads="1"/>
          </p:cNvSpPr>
          <p:nvPr/>
        </p:nvSpPr>
        <p:spPr bwMode="auto">
          <a:xfrm>
            <a:off x="763749" y="6201758"/>
            <a:ext cx="885190" cy="105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-573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-592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-627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-649</a:t>
            </a:r>
          </a:p>
        </p:txBody>
      </p:sp>
      <p:graphicFrame>
        <p:nvGraphicFramePr>
          <p:cNvPr id="62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145822"/>
              </p:ext>
            </p:extLst>
          </p:nvPr>
        </p:nvGraphicFramePr>
        <p:xfrm>
          <a:off x="1375682" y="5355988"/>
          <a:ext cx="1397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396800" imgH="253800" progId="Equation.DSMT4">
                  <p:embed/>
                </p:oleObj>
              </mc:Choice>
              <mc:Fallback>
                <p:oleObj name="Equation" r:id="rId19" imgW="1396800" imgH="253800" progId="Equation.DSMT4">
                  <p:embed/>
                  <p:pic>
                    <p:nvPicPr>
                      <p:cNvPr id="44" name="Object 43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375682" y="5355988"/>
                        <a:ext cx="13970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62"/>
          <p:cNvSpPr/>
          <p:nvPr/>
        </p:nvSpPr>
        <p:spPr>
          <a:xfrm>
            <a:off x="3871439" y="5012294"/>
            <a:ext cx="29033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22.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Given the sequence below,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8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4" name="Text Box 807"/>
          <p:cNvSpPr txBox="1">
            <a:spLocks noChangeArrowheads="1"/>
          </p:cNvSpPr>
          <p:nvPr/>
        </p:nvSpPr>
        <p:spPr bwMode="auto">
          <a:xfrm>
            <a:off x="4200874" y="6149373"/>
            <a:ext cx="1047115" cy="105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65535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-65535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39321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-39321</a:t>
            </a:r>
          </a:p>
        </p:txBody>
      </p:sp>
      <p:sp>
        <p:nvSpPr>
          <p:cNvPr id="65" name="Text Box 19"/>
          <p:cNvSpPr txBox="1">
            <a:spLocks noChangeArrowheads="1"/>
          </p:cNvSpPr>
          <p:nvPr/>
        </p:nvSpPr>
        <p:spPr bwMode="auto">
          <a:xfrm>
            <a:off x="6705600" y="688923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6" name="Text Box 19"/>
          <p:cNvSpPr txBox="1">
            <a:spLocks noChangeArrowheads="1"/>
          </p:cNvSpPr>
          <p:nvPr/>
        </p:nvSpPr>
        <p:spPr bwMode="auto">
          <a:xfrm>
            <a:off x="3276600" y="688923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67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7655232"/>
              </p:ext>
            </p:extLst>
          </p:nvPr>
        </p:nvGraphicFramePr>
        <p:xfrm>
          <a:off x="4805588" y="5353050"/>
          <a:ext cx="1562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62040" imgH="253800" progId="Equation.DSMT4">
                  <p:embed/>
                </p:oleObj>
              </mc:Choice>
              <mc:Fallback>
                <p:oleObj name="Equation" r:id="rId21" imgW="1562040" imgH="253800" progId="Equation.DSMT4">
                  <p:embed/>
                  <p:pic>
                    <p:nvPicPr>
                      <p:cNvPr id="49" name="Object 48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05588" y="5353050"/>
                        <a:ext cx="1562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" name="Rectangle 67"/>
          <p:cNvSpPr/>
          <p:nvPr/>
        </p:nvSpPr>
        <p:spPr>
          <a:xfrm>
            <a:off x="423842" y="7333188"/>
            <a:ext cx="28648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23.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Given the sequence below,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7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3859222" y="7346298"/>
            <a:ext cx="291938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24.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Given the sequence below, find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1100" baseline="-250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25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70" name="Text Box 23"/>
          <p:cNvSpPr txBox="1">
            <a:spLocks noChangeArrowheads="1"/>
          </p:cNvSpPr>
          <p:nvPr/>
        </p:nvSpPr>
        <p:spPr bwMode="auto">
          <a:xfrm>
            <a:off x="6695326" y="921632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1" name="Text Box 23"/>
          <p:cNvSpPr txBox="1">
            <a:spLocks noChangeArrowheads="1"/>
          </p:cNvSpPr>
          <p:nvPr/>
        </p:nvSpPr>
        <p:spPr bwMode="auto">
          <a:xfrm>
            <a:off x="3276600" y="921632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2" name="Text Box 807"/>
          <p:cNvSpPr txBox="1">
            <a:spLocks noChangeArrowheads="1"/>
          </p:cNvSpPr>
          <p:nvPr/>
        </p:nvSpPr>
        <p:spPr bwMode="auto">
          <a:xfrm>
            <a:off x="685800" y="8464925"/>
            <a:ext cx="885190" cy="105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6558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6736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7014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7252</a:t>
            </a:r>
          </a:p>
        </p:txBody>
      </p:sp>
      <p:sp>
        <p:nvSpPr>
          <p:cNvPr id="73" name="Text Box 807"/>
          <p:cNvSpPr txBox="1">
            <a:spLocks noChangeArrowheads="1"/>
          </p:cNvSpPr>
          <p:nvPr/>
        </p:nvSpPr>
        <p:spPr bwMode="auto">
          <a:xfrm>
            <a:off x="4200874" y="8516556"/>
            <a:ext cx="885190" cy="105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208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225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240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272</a:t>
            </a:r>
          </a:p>
        </p:txBody>
      </p:sp>
      <p:graphicFrame>
        <p:nvGraphicFramePr>
          <p:cNvPr id="74" name="Object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279928"/>
              </p:ext>
            </p:extLst>
          </p:nvPr>
        </p:nvGraphicFramePr>
        <p:xfrm>
          <a:off x="1283374" y="7690370"/>
          <a:ext cx="17907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90640" imgH="253800" progId="Equation.DSMT4">
                  <p:embed/>
                </p:oleObj>
              </mc:Choice>
              <mc:Fallback>
                <p:oleObj name="Equation" r:id="rId23" imgW="1790640" imgH="253800" progId="Equation.DSMT4">
                  <p:embed/>
                  <p:pic>
                    <p:nvPicPr>
                      <p:cNvPr id="56" name="Object 55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283374" y="7690370"/>
                        <a:ext cx="17907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98219"/>
              </p:ext>
            </p:extLst>
          </p:nvPr>
        </p:nvGraphicFramePr>
        <p:xfrm>
          <a:off x="4983538" y="7721590"/>
          <a:ext cx="1333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333440" imgH="457200" progId="Equation.DSMT4">
                  <p:embed/>
                </p:oleObj>
              </mc:Choice>
              <mc:Fallback>
                <p:oleObj name="Equation" r:id="rId25" imgW="1333440" imgH="457200" progId="Equation.DSMT4">
                  <p:embed/>
                  <p:pic>
                    <p:nvPicPr>
                      <p:cNvPr id="57" name="Object 56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983538" y="7721590"/>
                        <a:ext cx="1333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11">
            <a:extLst>
              <a:ext uri="{FF2B5EF4-FFF2-40B4-BE49-F238E27FC236}">
                <a16:creationId xmlns:a16="http://schemas.microsoft.com/office/drawing/2014/main" id="{78E08543-79CA-C51B-4891-C68EAC82F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70" y="3231808"/>
            <a:ext cx="5742930" cy="140220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48055" y="493702"/>
            <a:ext cx="13981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25.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the sum: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83535" y="519405"/>
            <a:ext cx="13981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26.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the sum: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5" name="Text Box 807"/>
          <p:cNvSpPr txBox="1">
            <a:spLocks noChangeArrowheads="1"/>
          </p:cNvSpPr>
          <p:nvPr/>
        </p:nvSpPr>
        <p:spPr bwMode="auto">
          <a:xfrm>
            <a:off x="750498" y="1602602"/>
            <a:ext cx="885190" cy="105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3806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4074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4182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4468</a:t>
            </a:r>
          </a:p>
        </p:txBody>
      </p:sp>
      <p:sp>
        <p:nvSpPr>
          <p:cNvPr id="6" name="Text Box 807"/>
          <p:cNvSpPr txBox="1">
            <a:spLocks noChangeArrowheads="1"/>
          </p:cNvSpPr>
          <p:nvPr/>
        </p:nvSpPr>
        <p:spPr bwMode="auto">
          <a:xfrm>
            <a:off x="4151054" y="1595575"/>
            <a:ext cx="1191895" cy="105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6483.75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6499.75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16249.375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2593.5</a:t>
            </a:r>
          </a:p>
        </p:txBody>
      </p:sp>
      <p:sp>
        <p:nvSpPr>
          <p:cNvPr id="7" name="Text Box 195"/>
          <p:cNvSpPr txBox="1">
            <a:spLocks noChangeArrowheads="1"/>
          </p:cNvSpPr>
          <p:nvPr/>
        </p:nvSpPr>
        <p:spPr bwMode="auto">
          <a:xfrm>
            <a:off x="3276600" y="230739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8" name="Text Box 195"/>
          <p:cNvSpPr txBox="1">
            <a:spLocks noChangeArrowheads="1"/>
          </p:cNvSpPr>
          <p:nvPr/>
        </p:nvSpPr>
        <p:spPr bwMode="auto">
          <a:xfrm>
            <a:off x="6705600" y="2297116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172006"/>
              </p:ext>
            </p:extLst>
          </p:nvPr>
        </p:nvGraphicFramePr>
        <p:xfrm>
          <a:off x="1778000" y="431800"/>
          <a:ext cx="88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88840" imgH="406080" progId="Equation.DSMT4">
                  <p:embed/>
                </p:oleObj>
              </mc:Choice>
              <mc:Fallback>
                <p:oleObj name="Equation" r:id="rId4" imgW="888840" imgH="406080" progId="Equation.DSMT4">
                  <p:embed/>
                  <p:pic>
                    <p:nvPicPr>
                      <p:cNvPr id="63" name="Object 62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78000" y="431800"/>
                        <a:ext cx="8890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840517"/>
              </p:ext>
            </p:extLst>
          </p:nvPr>
        </p:nvGraphicFramePr>
        <p:xfrm>
          <a:off x="5198252" y="405625"/>
          <a:ext cx="87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876240" imgH="457200" progId="Equation.DSMT4">
                  <p:embed/>
                </p:oleObj>
              </mc:Choice>
              <mc:Fallback>
                <p:oleObj name="Equation" r:id="rId6" imgW="876240" imgH="457200" progId="Equation.DSMT4">
                  <p:embed/>
                  <p:pic>
                    <p:nvPicPr>
                      <p:cNvPr id="64" name="Object 63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98252" y="405625"/>
                        <a:ext cx="876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448055" y="2748684"/>
            <a:ext cx="421621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27.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Which series do not have a sum?  Check all that apply.</a:t>
            </a:r>
            <a:endParaRPr lang="en-US" dirty="0">
              <a:latin typeface="Century Gothic" panose="020B0502020202020204" pitchFamily="34" charset="0"/>
            </a:endParaRPr>
          </a:p>
        </p:txBody>
      </p:sp>
      <p:graphicFrame>
        <p:nvGraphicFramePr>
          <p:cNvPr id="37" name="Object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991912"/>
              </p:ext>
            </p:extLst>
          </p:nvPr>
        </p:nvGraphicFramePr>
        <p:xfrm>
          <a:off x="1433430" y="3528072"/>
          <a:ext cx="1435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34960" imgH="241200" progId="Equation.DSMT4">
                  <p:embed/>
                </p:oleObj>
              </mc:Choice>
              <mc:Fallback>
                <p:oleObj name="Equation" r:id="rId8" imgW="1434960" imgH="241200" progId="Equation.DSMT4">
                  <p:embed/>
                  <p:pic>
                    <p:nvPicPr>
                      <p:cNvPr id="92" name="Object 9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433430" y="3528072"/>
                        <a:ext cx="1435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565452"/>
              </p:ext>
            </p:extLst>
          </p:nvPr>
        </p:nvGraphicFramePr>
        <p:xfrm>
          <a:off x="3439274" y="3417542"/>
          <a:ext cx="1333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33440" imgH="419040" progId="Equation.DSMT4">
                  <p:embed/>
                </p:oleObj>
              </mc:Choice>
              <mc:Fallback>
                <p:oleObj name="Equation" r:id="rId10" imgW="1333440" imgH="419040" progId="Equation.DSMT4">
                  <p:embed/>
                  <p:pic>
                    <p:nvPicPr>
                      <p:cNvPr id="93" name="Object 92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439274" y="3417542"/>
                        <a:ext cx="1333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621430"/>
              </p:ext>
            </p:extLst>
          </p:nvPr>
        </p:nvGraphicFramePr>
        <p:xfrm>
          <a:off x="5481147" y="3396345"/>
          <a:ext cx="97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77760" imgH="457200" progId="Equation.DSMT4">
                  <p:embed/>
                </p:oleObj>
              </mc:Choice>
              <mc:Fallback>
                <p:oleObj name="Equation" r:id="rId12" imgW="977760" imgH="457200" progId="Equation.DSMT4">
                  <p:embed/>
                  <p:pic>
                    <p:nvPicPr>
                      <p:cNvPr id="94" name="Object 93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481147" y="3396345"/>
                        <a:ext cx="9779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3945699"/>
              </p:ext>
            </p:extLst>
          </p:nvPr>
        </p:nvGraphicFramePr>
        <p:xfrm>
          <a:off x="1402789" y="4072553"/>
          <a:ext cx="146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460160" imgH="419040" progId="Equation.DSMT4">
                  <p:embed/>
                </p:oleObj>
              </mc:Choice>
              <mc:Fallback>
                <p:oleObj name="Equation" r:id="rId14" imgW="1460160" imgH="419040" progId="Equation.DSMT4">
                  <p:embed/>
                  <p:pic>
                    <p:nvPicPr>
                      <p:cNvPr id="95" name="Object 94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402789" y="4072553"/>
                        <a:ext cx="14605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422657"/>
              </p:ext>
            </p:extLst>
          </p:nvPr>
        </p:nvGraphicFramePr>
        <p:xfrm>
          <a:off x="3439274" y="4068286"/>
          <a:ext cx="1320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20480" imgH="419040" progId="Equation.DSMT4">
                  <p:embed/>
                </p:oleObj>
              </mc:Choice>
              <mc:Fallback>
                <p:oleObj name="Equation" r:id="rId16" imgW="1320480" imgH="419040" progId="Equation.DSMT4">
                  <p:embed/>
                  <p:pic>
                    <p:nvPicPr>
                      <p:cNvPr id="96" name="Object 9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439274" y="4068286"/>
                        <a:ext cx="13208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782684"/>
              </p:ext>
            </p:extLst>
          </p:nvPr>
        </p:nvGraphicFramePr>
        <p:xfrm>
          <a:off x="5495643" y="4014325"/>
          <a:ext cx="100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002960" imgH="457200" progId="Equation.DSMT4">
                  <p:embed/>
                </p:oleObj>
              </mc:Choice>
              <mc:Fallback>
                <p:oleObj name="Equation" r:id="rId18" imgW="1002960" imgH="457200" progId="Equation.DSMT4">
                  <p:embed/>
                  <p:pic>
                    <p:nvPicPr>
                      <p:cNvPr id="97" name="Object 96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495643" y="4014325"/>
                        <a:ext cx="10033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Rectangle 42"/>
          <p:cNvSpPr/>
          <p:nvPr/>
        </p:nvSpPr>
        <p:spPr>
          <a:xfrm>
            <a:off x="456504" y="5123559"/>
            <a:ext cx="139493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28.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Find the sum: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4" name="Text Box 807"/>
          <p:cNvSpPr txBox="1">
            <a:spLocks noChangeArrowheads="1"/>
          </p:cNvSpPr>
          <p:nvPr/>
        </p:nvSpPr>
        <p:spPr bwMode="auto">
          <a:xfrm>
            <a:off x="750498" y="6215325"/>
            <a:ext cx="885190" cy="1058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10.8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48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D. 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88894" y="5124096"/>
            <a:ext cx="1398140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29. 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Find the sum:</a:t>
            </a: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6" name="Text Box 356"/>
          <p:cNvSpPr txBox="1">
            <a:spLocks noChangeArrowheads="1"/>
          </p:cNvSpPr>
          <p:nvPr/>
        </p:nvSpPr>
        <p:spPr bwMode="auto">
          <a:xfrm>
            <a:off x="6705600" y="690422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7" name="Text Box 356"/>
          <p:cNvSpPr txBox="1">
            <a:spLocks noChangeArrowheads="1"/>
          </p:cNvSpPr>
          <p:nvPr/>
        </p:nvSpPr>
        <p:spPr bwMode="auto">
          <a:xfrm>
            <a:off x="3276600" y="6904220"/>
            <a:ext cx="522605" cy="358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8" name="Text Box 807"/>
          <p:cNvSpPr txBox="1">
            <a:spLocks noChangeArrowheads="1"/>
          </p:cNvSpPr>
          <p:nvPr/>
        </p:nvSpPr>
        <p:spPr bwMode="auto">
          <a:xfrm>
            <a:off x="4114800" y="6376908"/>
            <a:ext cx="2136140" cy="92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A.                          C.  </a:t>
            </a:r>
            <a:b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                          D.  </a:t>
            </a:r>
            <a:endParaRPr lang="en-US" sz="1100" dirty="0"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49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212135"/>
              </p:ext>
            </p:extLst>
          </p:nvPr>
        </p:nvGraphicFramePr>
        <p:xfrm>
          <a:off x="1762724" y="5069341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34960" imgH="419040" progId="Equation.DSMT4">
                  <p:embed/>
                </p:oleObj>
              </mc:Choice>
              <mc:Fallback>
                <p:oleObj name="Equation" r:id="rId20" imgW="1434960" imgH="419040" progId="Equation.DSMT4">
                  <p:embed/>
                  <p:pic>
                    <p:nvPicPr>
                      <p:cNvPr id="104" name="Object 103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762724" y="5069341"/>
                        <a:ext cx="1435100" cy="41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855765"/>
              </p:ext>
            </p:extLst>
          </p:nvPr>
        </p:nvGraphicFramePr>
        <p:xfrm>
          <a:off x="5189538" y="5021263"/>
          <a:ext cx="952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952200" imgH="457200" progId="Equation.DSMT4">
                  <p:embed/>
                </p:oleObj>
              </mc:Choice>
              <mc:Fallback>
                <p:oleObj name="Equation" r:id="rId22" imgW="952200" imgH="457200" progId="Equation.DSMT4">
                  <p:embed/>
                  <p:pic>
                    <p:nvPicPr>
                      <p:cNvPr id="105" name="Object 104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189538" y="5021263"/>
                        <a:ext cx="95250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562067"/>
              </p:ext>
            </p:extLst>
          </p:nvPr>
        </p:nvGraphicFramePr>
        <p:xfrm>
          <a:off x="4470400" y="6387568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79360" imgH="368280" progId="Equation.DSMT4">
                  <p:embed/>
                </p:oleObj>
              </mc:Choice>
              <mc:Fallback>
                <p:oleObj name="Equation" r:id="rId24" imgW="279360" imgH="368280" progId="Equation.DSMT4">
                  <p:embed/>
                  <p:pic>
                    <p:nvPicPr>
                      <p:cNvPr id="106" name="Object 105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470400" y="6387568"/>
                        <a:ext cx="279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3401537"/>
              </p:ext>
            </p:extLst>
          </p:nvPr>
        </p:nvGraphicFramePr>
        <p:xfrm>
          <a:off x="4419600" y="6849561"/>
          <a:ext cx="381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80880" imgH="368280" progId="Equation.DSMT4">
                  <p:embed/>
                </p:oleObj>
              </mc:Choice>
              <mc:Fallback>
                <p:oleObj name="Equation" r:id="rId26" imgW="380880" imgH="368280" progId="Equation.DSMT4">
                  <p:embed/>
                  <p:pic>
                    <p:nvPicPr>
                      <p:cNvPr id="107" name="Object 106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4419600" y="6849561"/>
                        <a:ext cx="381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9181098"/>
              </p:ext>
            </p:extLst>
          </p:nvPr>
        </p:nvGraphicFramePr>
        <p:xfrm>
          <a:off x="5636402" y="6392451"/>
          <a:ext cx="2794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79360" imgH="368280" progId="Equation.DSMT4">
                  <p:embed/>
                </p:oleObj>
              </mc:Choice>
              <mc:Fallback>
                <p:oleObj name="Equation" r:id="rId28" imgW="279360" imgH="368280" progId="Equation.DSMT4">
                  <p:embed/>
                  <p:pic>
                    <p:nvPicPr>
                      <p:cNvPr id="108" name="Object 107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636402" y="6392451"/>
                        <a:ext cx="2794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001485"/>
              </p:ext>
            </p:extLst>
          </p:nvPr>
        </p:nvGraphicFramePr>
        <p:xfrm>
          <a:off x="5582556" y="6829546"/>
          <a:ext cx="381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80880" imgH="368280" progId="Equation.DSMT4">
                  <p:embed/>
                </p:oleObj>
              </mc:Choice>
              <mc:Fallback>
                <p:oleObj name="Equation" r:id="rId30" imgW="380880" imgH="368280" progId="Equation.DSMT4">
                  <p:embed/>
                  <p:pic>
                    <p:nvPicPr>
                      <p:cNvPr id="109" name="Object 108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582556" y="6829546"/>
                        <a:ext cx="381000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Rectangle 55"/>
          <p:cNvSpPr/>
          <p:nvPr/>
        </p:nvSpPr>
        <p:spPr>
          <a:xfrm>
            <a:off x="410089" y="7356939"/>
            <a:ext cx="70104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30.</a:t>
            </a: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Mark got a new job with a starting salary of $32,000.  If he gets a yearly raise of 2%, find Mark’s </a:t>
            </a:r>
            <a:b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sz="1100" dirty="0">
                <a:effectLst/>
                <a:latin typeface="Century Gothic" panose="020B0502020202020204" pitchFamily="34" charset="0"/>
                <a:ea typeface="Calibri" panose="020F0502020204030204" pitchFamily="34" charset="0"/>
              </a:rPr>
              <a:t>      salary after 25 years.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91" name="Text Box 319"/>
          <p:cNvSpPr txBox="1">
            <a:spLocks noChangeArrowheads="1"/>
          </p:cNvSpPr>
          <p:nvPr/>
        </p:nvSpPr>
        <p:spPr bwMode="auto">
          <a:xfrm>
            <a:off x="5562600" y="9190220"/>
            <a:ext cx="1645285" cy="3930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 txBox="1"/>
          <p:nvPr/>
        </p:nvSpPr>
        <p:spPr>
          <a:xfrm>
            <a:off x="489536" y="491593"/>
            <a:ext cx="6149340" cy="330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9405" marR="5080" indent="-307340">
              <a:lnSpc>
                <a:spcPct val="100899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31. </a:t>
            </a:r>
            <a:r>
              <a:rPr lang="en-US" sz="1100" b="1" spc="-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An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auditorium has 21 rows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seats.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The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first row has 18 seats,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and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each succeeding row has  two more seats than the previous row.  How many seats are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</a:t>
            </a:r>
            <a:r>
              <a:rPr sz="1100" spc="10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auditorium?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1" name="object 4"/>
          <p:cNvSpPr txBox="1"/>
          <p:nvPr/>
        </p:nvSpPr>
        <p:spPr>
          <a:xfrm>
            <a:off x="476161" y="2791703"/>
            <a:ext cx="6581775" cy="6723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20675" marR="5080" indent="-308610">
              <a:lnSpc>
                <a:spcPct val="100899"/>
              </a:lnSpc>
            </a:pPr>
            <a:r>
              <a:rPr sz="1100" b="1" spc="-5" dirty="0">
                <a:latin typeface="Century Gothic" panose="020B0502020202020204" pitchFamily="34" charset="0"/>
                <a:cs typeface="Tahoma"/>
              </a:rPr>
              <a:t>32.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Jalen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is in 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24 hour dance-a-thon as part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a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fundraiser. He raised $50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first hour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 competition, then another $60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second hour, then another $72 </a:t>
            </a:r>
            <a:r>
              <a:rPr sz="1100" spc="-10" dirty="0">
                <a:latin typeface="Century Gothic" panose="020B0502020202020204" pitchFamily="34" charset="0"/>
                <a:cs typeface="Tahoma"/>
              </a:rPr>
              <a:t>in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third hour. If this pattern  continues, what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is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the total amount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of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money he will raise </a:t>
            </a:r>
            <a:r>
              <a:rPr sz="1100" dirty="0">
                <a:latin typeface="Century Gothic" panose="020B0502020202020204" pitchFamily="34" charset="0"/>
                <a:cs typeface="Tahoma"/>
              </a:rPr>
              <a:t>if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he stays for the entire</a:t>
            </a:r>
            <a:r>
              <a:rPr sz="1100" spc="155" dirty="0">
                <a:latin typeface="Century Gothic" panose="020B0502020202020204" pitchFamily="34" charset="0"/>
                <a:cs typeface="Tahoma"/>
              </a:rPr>
              <a:t> </a:t>
            </a:r>
            <a:r>
              <a:rPr sz="1100" spc="-5" dirty="0">
                <a:latin typeface="Century Gothic" panose="020B0502020202020204" pitchFamily="34" charset="0"/>
                <a:cs typeface="Tahoma"/>
              </a:rPr>
              <a:t>competition?</a:t>
            </a:r>
            <a:endParaRPr sz="1100" dirty="0">
              <a:latin typeface="Century Gothic" panose="020B0502020202020204" pitchFamily="34" charset="0"/>
              <a:cs typeface="Tahoma"/>
            </a:endParaRPr>
          </a:p>
        </p:txBody>
      </p:sp>
      <p:sp>
        <p:nvSpPr>
          <p:cNvPr id="12" name="Text Box 319"/>
          <p:cNvSpPr txBox="1">
            <a:spLocks noChangeArrowheads="1"/>
          </p:cNvSpPr>
          <p:nvPr/>
        </p:nvSpPr>
        <p:spPr bwMode="auto">
          <a:xfrm>
            <a:off x="5562600" y="4572000"/>
            <a:ext cx="1645285" cy="3930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5" name="Text Box 319"/>
          <p:cNvSpPr txBox="1">
            <a:spLocks noChangeArrowheads="1"/>
          </p:cNvSpPr>
          <p:nvPr/>
        </p:nvSpPr>
        <p:spPr bwMode="auto">
          <a:xfrm>
            <a:off x="5562600" y="2286000"/>
            <a:ext cx="1645285" cy="39306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792</Words>
  <Application>Microsoft Office PowerPoint</Application>
  <PresentationFormat>Custom</PresentationFormat>
  <Paragraphs>94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SimSun</vt:lpstr>
      <vt:lpstr>Calibri</vt:lpstr>
      <vt:lpstr>Century Gothic</vt:lpstr>
      <vt:lpstr>Tahoma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- 16 - Unit 10 Test</dc:title>
  <dc:creator>allth</dc:creator>
  <cp:lastModifiedBy>Gina Wilson</cp:lastModifiedBy>
  <cp:revision>45</cp:revision>
  <dcterms:created xsi:type="dcterms:W3CDTF">2017-12-14T16:23:02Z</dcterms:created>
  <dcterms:modified xsi:type="dcterms:W3CDTF">2024-10-02T13:06:35Z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2016-01-10T00:00:00Z</vt:filetime>
  </property>
  <property fmtid="{D5CDD505-2E9C-101B-9397-08002B2CF9AE}" pid="3" name="Creator">
    <vt:lpwstr>PrimoPDF http://www.primopdf.com</vt:lpwstr>
  </property>
  <property fmtid="{D5CDD505-2E9C-101B-9397-08002B2CF9AE}" pid="4" name="LastSaved">
    <vt:filetime>2017-12-14T00:00:00Z</vt:filetime>
  </property>
</Properties>
</file>