
<file path=[Content_Types].xml><?xml version="1.0" encoding="utf-8"?>
<Types xmlns="http://schemas.openxmlformats.org/package/2006/content-types">
  <Default Extension="bin" ContentType="application/vnd.openxmlformats-officedocument.oleObject"/>
  <Default Extension="JP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7772400" cy="10058400"/>
  <p:notesSz cx="7772400" cy="10058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59" d="100"/>
          <a:sy n="59" d="100"/>
        </p:scale>
        <p:origin x="1191" y="26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82930" y="3118104"/>
            <a:ext cx="6606540" cy="21122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65860" y="5632704"/>
            <a:ext cx="5440680" cy="251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770"/>
              </a:lnSpc>
            </a:pPr>
            <a:r>
              <a:rPr spc="5" dirty="0"/>
              <a:t>©</a:t>
            </a:r>
            <a:r>
              <a:rPr spc="-15" dirty="0"/>
              <a:t> </a:t>
            </a:r>
            <a:r>
              <a:rPr dirty="0"/>
              <a:t>Gina</a:t>
            </a:r>
            <a:r>
              <a:rPr spc="-5" dirty="0"/>
              <a:t> </a:t>
            </a:r>
            <a:r>
              <a:rPr dirty="0"/>
              <a:t>Wilson</a:t>
            </a:r>
            <a:r>
              <a:rPr spc="-10" dirty="0"/>
              <a:t> </a:t>
            </a:r>
            <a:r>
              <a:rPr dirty="0"/>
              <a:t>(All</a:t>
            </a:r>
            <a:r>
              <a:rPr spc="-10" dirty="0"/>
              <a:t> </a:t>
            </a:r>
            <a:r>
              <a:rPr spc="-5" dirty="0"/>
              <a:t>Things</a:t>
            </a:r>
            <a:r>
              <a:rPr spc="-15" dirty="0"/>
              <a:t> </a:t>
            </a:r>
            <a:r>
              <a:rPr dirty="0"/>
              <a:t>Algebra),</a:t>
            </a:r>
            <a:r>
              <a:rPr spc="-5" dirty="0"/>
              <a:t> </a:t>
            </a:r>
            <a:r>
              <a:rPr spc="5" dirty="0"/>
              <a:t>201</a:t>
            </a:r>
            <a:r>
              <a:rPr spc="-345" dirty="0">
                <a:latin typeface="SimSun"/>
                <a:cs typeface="SimSun"/>
              </a:rPr>
              <a:t>ヶ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770"/>
              </a:lnSpc>
            </a:pPr>
            <a:r>
              <a:rPr spc="5" dirty="0"/>
              <a:t>©</a:t>
            </a:r>
            <a:r>
              <a:rPr spc="-15" dirty="0"/>
              <a:t> </a:t>
            </a:r>
            <a:r>
              <a:rPr dirty="0"/>
              <a:t>Gina</a:t>
            </a:r>
            <a:r>
              <a:rPr spc="-5" dirty="0"/>
              <a:t> </a:t>
            </a:r>
            <a:r>
              <a:rPr dirty="0"/>
              <a:t>Wilson</a:t>
            </a:r>
            <a:r>
              <a:rPr spc="-10" dirty="0"/>
              <a:t> </a:t>
            </a:r>
            <a:r>
              <a:rPr dirty="0"/>
              <a:t>(All</a:t>
            </a:r>
            <a:r>
              <a:rPr spc="-10" dirty="0"/>
              <a:t> </a:t>
            </a:r>
            <a:r>
              <a:rPr spc="-5" dirty="0"/>
              <a:t>Things</a:t>
            </a:r>
            <a:r>
              <a:rPr spc="-15" dirty="0"/>
              <a:t> </a:t>
            </a:r>
            <a:r>
              <a:rPr dirty="0"/>
              <a:t>Algebra),</a:t>
            </a:r>
            <a:r>
              <a:rPr spc="-5" dirty="0"/>
              <a:t> </a:t>
            </a:r>
            <a:r>
              <a:rPr spc="5" dirty="0"/>
              <a:t>201</a:t>
            </a:r>
            <a:r>
              <a:rPr spc="-345" dirty="0">
                <a:latin typeface="SimSun"/>
                <a:cs typeface="SimSun"/>
              </a:rPr>
              <a:t>ヶ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88620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002786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770"/>
              </a:lnSpc>
            </a:pPr>
            <a:r>
              <a:rPr spc="5" dirty="0"/>
              <a:t>©</a:t>
            </a:r>
            <a:r>
              <a:rPr spc="-15" dirty="0"/>
              <a:t> </a:t>
            </a:r>
            <a:r>
              <a:rPr dirty="0"/>
              <a:t>Gina</a:t>
            </a:r>
            <a:r>
              <a:rPr spc="-5" dirty="0"/>
              <a:t> </a:t>
            </a:r>
            <a:r>
              <a:rPr dirty="0"/>
              <a:t>Wilson</a:t>
            </a:r>
            <a:r>
              <a:rPr spc="-10" dirty="0"/>
              <a:t> </a:t>
            </a:r>
            <a:r>
              <a:rPr dirty="0"/>
              <a:t>(All</a:t>
            </a:r>
            <a:r>
              <a:rPr spc="-10" dirty="0"/>
              <a:t> </a:t>
            </a:r>
            <a:r>
              <a:rPr spc="-5" dirty="0"/>
              <a:t>Things</a:t>
            </a:r>
            <a:r>
              <a:rPr spc="-15" dirty="0"/>
              <a:t> </a:t>
            </a:r>
            <a:r>
              <a:rPr dirty="0"/>
              <a:t>Algebra),</a:t>
            </a:r>
            <a:r>
              <a:rPr spc="-5" dirty="0"/>
              <a:t> </a:t>
            </a:r>
            <a:r>
              <a:rPr spc="5" dirty="0"/>
              <a:t>201</a:t>
            </a:r>
            <a:r>
              <a:rPr spc="-345" dirty="0">
                <a:latin typeface="SimSun"/>
                <a:cs typeface="SimSun"/>
              </a:rPr>
              <a:t>ヶ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770"/>
              </a:lnSpc>
            </a:pPr>
            <a:r>
              <a:rPr spc="5" dirty="0"/>
              <a:t>©</a:t>
            </a:r>
            <a:r>
              <a:rPr spc="-15" dirty="0"/>
              <a:t> </a:t>
            </a:r>
            <a:r>
              <a:rPr dirty="0"/>
              <a:t>Gina</a:t>
            </a:r>
            <a:r>
              <a:rPr spc="-5" dirty="0"/>
              <a:t> </a:t>
            </a:r>
            <a:r>
              <a:rPr dirty="0"/>
              <a:t>Wilson</a:t>
            </a:r>
            <a:r>
              <a:rPr spc="-10" dirty="0"/>
              <a:t> </a:t>
            </a:r>
            <a:r>
              <a:rPr dirty="0"/>
              <a:t>(All</a:t>
            </a:r>
            <a:r>
              <a:rPr spc="-10" dirty="0"/>
              <a:t> </a:t>
            </a:r>
            <a:r>
              <a:rPr spc="-5" dirty="0"/>
              <a:t>Things</a:t>
            </a:r>
            <a:r>
              <a:rPr spc="-15" dirty="0"/>
              <a:t> </a:t>
            </a:r>
            <a:r>
              <a:rPr dirty="0"/>
              <a:t>Algebra),</a:t>
            </a:r>
            <a:r>
              <a:rPr spc="-5" dirty="0"/>
              <a:t> </a:t>
            </a:r>
            <a:r>
              <a:rPr spc="5" dirty="0"/>
              <a:t>201</a:t>
            </a:r>
            <a:r>
              <a:rPr spc="-345" dirty="0">
                <a:latin typeface="SimSun"/>
                <a:cs typeface="SimSun"/>
              </a:rPr>
              <a:t>ヶ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770"/>
              </a:lnSpc>
            </a:pPr>
            <a:r>
              <a:rPr spc="5" dirty="0"/>
              <a:t>©</a:t>
            </a:r>
            <a:r>
              <a:rPr spc="-15" dirty="0"/>
              <a:t> </a:t>
            </a:r>
            <a:r>
              <a:rPr dirty="0"/>
              <a:t>Gina</a:t>
            </a:r>
            <a:r>
              <a:rPr spc="-5" dirty="0"/>
              <a:t> </a:t>
            </a:r>
            <a:r>
              <a:rPr dirty="0"/>
              <a:t>Wilson</a:t>
            </a:r>
            <a:r>
              <a:rPr spc="-10" dirty="0"/>
              <a:t> </a:t>
            </a:r>
            <a:r>
              <a:rPr dirty="0"/>
              <a:t>(All</a:t>
            </a:r>
            <a:r>
              <a:rPr spc="-10" dirty="0"/>
              <a:t> </a:t>
            </a:r>
            <a:r>
              <a:rPr spc="-5" dirty="0"/>
              <a:t>Things</a:t>
            </a:r>
            <a:r>
              <a:rPr spc="-15" dirty="0"/>
              <a:t> </a:t>
            </a:r>
            <a:r>
              <a:rPr dirty="0"/>
              <a:t>Algebra),</a:t>
            </a:r>
            <a:r>
              <a:rPr spc="-5" dirty="0"/>
              <a:t> </a:t>
            </a:r>
            <a:r>
              <a:rPr spc="5" dirty="0"/>
              <a:t>201</a:t>
            </a:r>
            <a:r>
              <a:rPr spc="-345" dirty="0">
                <a:latin typeface="SimSun"/>
                <a:cs typeface="SimSun"/>
              </a:rPr>
              <a:t>ヶ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8620" y="402336"/>
            <a:ext cx="6995160" cy="16093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8620" y="2313432"/>
            <a:ext cx="6995160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682043" y="9725812"/>
            <a:ext cx="1510665" cy="1155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770"/>
              </a:lnSpc>
            </a:pPr>
            <a:r>
              <a:rPr spc="5" dirty="0"/>
              <a:t>©</a:t>
            </a:r>
            <a:r>
              <a:rPr spc="-15" dirty="0"/>
              <a:t> </a:t>
            </a:r>
            <a:r>
              <a:rPr dirty="0"/>
              <a:t>Gina</a:t>
            </a:r>
            <a:r>
              <a:rPr spc="-5" dirty="0"/>
              <a:t> </a:t>
            </a:r>
            <a:r>
              <a:rPr dirty="0"/>
              <a:t>Wilson</a:t>
            </a:r>
            <a:r>
              <a:rPr spc="-10" dirty="0"/>
              <a:t> </a:t>
            </a:r>
            <a:r>
              <a:rPr dirty="0"/>
              <a:t>(All</a:t>
            </a:r>
            <a:r>
              <a:rPr spc="-10" dirty="0"/>
              <a:t> </a:t>
            </a:r>
            <a:r>
              <a:rPr spc="-5" dirty="0"/>
              <a:t>Things</a:t>
            </a:r>
            <a:r>
              <a:rPr spc="-15" dirty="0"/>
              <a:t> </a:t>
            </a:r>
            <a:r>
              <a:rPr dirty="0"/>
              <a:t>Algebra),</a:t>
            </a:r>
            <a:r>
              <a:rPr spc="-5" dirty="0"/>
              <a:t> </a:t>
            </a:r>
            <a:r>
              <a:rPr spc="5" dirty="0"/>
              <a:t>201</a:t>
            </a:r>
            <a:r>
              <a:rPr spc="-345" dirty="0">
                <a:latin typeface="SimSun"/>
                <a:cs typeface="SimSun"/>
              </a:rPr>
              <a:t>ヶ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88620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596128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13" Type="http://schemas.openxmlformats.org/officeDocument/2006/relationships/oleObject" Target="../embeddings/oleObject6.bin"/><Relationship Id="rId18" Type="http://schemas.openxmlformats.org/officeDocument/2006/relationships/image" Target="../media/image9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6.wmf"/><Relationship Id="rId17" Type="http://schemas.openxmlformats.org/officeDocument/2006/relationships/oleObject" Target="../embeddings/oleObject8.bin"/><Relationship Id="rId2" Type="http://schemas.openxmlformats.org/officeDocument/2006/relationships/image" Target="../media/image1.JPG"/><Relationship Id="rId16" Type="http://schemas.openxmlformats.org/officeDocument/2006/relationships/image" Target="../media/image8.wmf"/><Relationship Id="rId20" Type="http://schemas.openxmlformats.org/officeDocument/2006/relationships/image" Target="../media/image10.wmf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5" Type="http://schemas.openxmlformats.org/officeDocument/2006/relationships/oleObject" Target="../embeddings/oleObject7.bin"/><Relationship Id="rId10" Type="http://schemas.openxmlformats.org/officeDocument/2006/relationships/image" Target="../media/image5.wmf"/><Relationship Id="rId19" Type="http://schemas.openxmlformats.org/officeDocument/2006/relationships/oleObject" Target="../embeddings/oleObject9.bin"/><Relationship Id="rId4" Type="http://schemas.openxmlformats.org/officeDocument/2006/relationships/image" Target="../media/image2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7.wmf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wmf"/><Relationship Id="rId13" Type="http://schemas.openxmlformats.org/officeDocument/2006/relationships/oleObject" Target="../embeddings/oleObject15.bin"/><Relationship Id="rId18" Type="http://schemas.openxmlformats.org/officeDocument/2006/relationships/image" Target="../media/image19.wmf"/><Relationship Id="rId3" Type="http://schemas.openxmlformats.org/officeDocument/2006/relationships/oleObject" Target="../embeddings/oleObject10.bin"/><Relationship Id="rId21" Type="http://schemas.openxmlformats.org/officeDocument/2006/relationships/oleObject" Target="../embeddings/oleObject19.bin"/><Relationship Id="rId7" Type="http://schemas.openxmlformats.org/officeDocument/2006/relationships/oleObject" Target="../embeddings/oleObject12.bin"/><Relationship Id="rId12" Type="http://schemas.openxmlformats.org/officeDocument/2006/relationships/image" Target="../media/image16.wmf"/><Relationship Id="rId17" Type="http://schemas.openxmlformats.org/officeDocument/2006/relationships/oleObject" Target="../embeddings/oleObject17.bin"/><Relationship Id="rId2" Type="http://schemas.openxmlformats.org/officeDocument/2006/relationships/image" Target="../media/image11.JPG"/><Relationship Id="rId16" Type="http://schemas.openxmlformats.org/officeDocument/2006/relationships/image" Target="../media/image18.wmf"/><Relationship Id="rId20" Type="http://schemas.openxmlformats.org/officeDocument/2006/relationships/image" Target="../media/image20.wmf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3.wmf"/><Relationship Id="rId11" Type="http://schemas.openxmlformats.org/officeDocument/2006/relationships/oleObject" Target="../embeddings/oleObject14.bin"/><Relationship Id="rId5" Type="http://schemas.openxmlformats.org/officeDocument/2006/relationships/oleObject" Target="../embeddings/oleObject11.bin"/><Relationship Id="rId15" Type="http://schemas.openxmlformats.org/officeDocument/2006/relationships/oleObject" Target="../embeddings/oleObject16.bin"/><Relationship Id="rId10" Type="http://schemas.openxmlformats.org/officeDocument/2006/relationships/image" Target="../media/image15.wmf"/><Relationship Id="rId19" Type="http://schemas.openxmlformats.org/officeDocument/2006/relationships/oleObject" Target="../embeddings/oleObject18.bin"/><Relationship Id="rId4" Type="http://schemas.openxmlformats.org/officeDocument/2006/relationships/image" Target="../media/image12.wmf"/><Relationship Id="rId9" Type="http://schemas.openxmlformats.org/officeDocument/2006/relationships/oleObject" Target="../embeddings/oleObject13.bin"/><Relationship Id="rId14" Type="http://schemas.openxmlformats.org/officeDocument/2006/relationships/image" Target="../media/image17.wmf"/><Relationship Id="rId22" Type="http://schemas.openxmlformats.org/officeDocument/2006/relationships/image" Target="../media/image21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 2"/>
          <p:cNvSpPr txBox="1"/>
          <p:nvPr/>
        </p:nvSpPr>
        <p:spPr>
          <a:xfrm>
            <a:off x="604519" y="2064512"/>
            <a:ext cx="164465" cy="1692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00" b="1" spc="-5" dirty="0">
                <a:latin typeface="Century Gothic" panose="020B0502020202020204" pitchFamily="34" charset="0"/>
                <a:cs typeface="Tahoma"/>
              </a:rPr>
              <a:t>1.</a:t>
            </a:r>
            <a:endParaRPr sz="1100" dirty="0">
              <a:latin typeface="Century Gothic" panose="020B0502020202020204" pitchFamily="34" charset="0"/>
              <a:cs typeface="Tahoma"/>
            </a:endParaRPr>
          </a:p>
        </p:txBody>
      </p:sp>
      <p:sp>
        <p:nvSpPr>
          <p:cNvPr id="19" name="object 3"/>
          <p:cNvSpPr txBox="1"/>
          <p:nvPr/>
        </p:nvSpPr>
        <p:spPr>
          <a:xfrm>
            <a:off x="2019934" y="2043983"/>
            <a:ext cx="914400" cy="1692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00" spc="15" dirty="0">
                <a:latin typeface="Tahoma"/>
                <a:cs typeface="Tahoma"/>
              </a:rPr>
              <a:t>  </a:t>
            </a:r>
            <a:r>
              <a:rPr sz="1100" spc="-5" dirty="0">
                <a:latin typeface="Tahoma"/>
                <a:cs typeface="Tahoma"/>
              </a:rPr>
              <a:t>(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for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i="1" spc="5" dirty="0">
                <a:latin typeface="Times New Roman"/>
                <a:cs typeface="Times New Roman"/>
              </a:rPr>
              <a:t>n </a:t>
            </a:r>
            <a:r>
              <a:rPr sz="1100" spc="5" dirty="0">
                <a:latin typeface="Symbol"/>
                <a:cs typeface="Symbol"/>
              </a:rPr>
              <a:t>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spc="5" dirty="0">
                <a:latin typeface="Century Gothic" panose="020B0502020202020204" pitchFamily="34" charset="0"/>
                <a:cs typeface="Tahoma"/>
              </a:rPr>
              <a:t>2</a:t>
            </a:r>
            <a:r>
              <a:rPr sz="1100" spc="-9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)</a:t>
            </a:r>
          </a:p>
        </p:txBody>
      </p:sp>
      <p:sp>
        <p:nvSpPr>
          <p:cNvPr id="22" name="object 4"/>
          <p:cNvSpPr txBox="1"/>
          <p:nvPr/>
        </p:nvSpPr>
        <p:spPr>
          <a:xfrm>
            <a:off x="2597672" y="2426371"/>
            <a:ext cx="838200" cy="1692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00" spc="-22" baseline="-27777" dirty="0">
                <a:latin typeface="Tahoma"/>
                <a:cs typeface="Tahoma"/>
              </a:rPr>
              <a:t>   </a:t>
            </a:r>
            <a:r>
              <a:rPr sz="1100" spc="-5" dirty="0">
                <a:latin typeface="Tahoma"/>
                <a:cs typeface="Tahoma"/>
              </a:rPr>
              <a:t>(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for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i="1" spc="5" dirty="0">
                <a:latin typeface="Times New Roman"/>
                <a:cs typeface="Times New Roman"/>
              </a:rPr>
              <a:t>n </a:t>
            </a:r>
            <a:r>
              <a:rPr sz="1100" spc="5" dirty="0">
                <a:latin typeface="Symbol"/>
                <a:cs typeface="Symbol"/>
              </a:rPr>
              <a:t>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spc="5" dirty="0">
                <a:latin typeface="Century Gothic" panose="020B0502020202020204" pitchFamily="34" charset="0"/>
                <a:cs typeface="Tahoma"/>
              </a:rPr>
              <a:t>3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lang="en-US" sz="1100" dirty="0">
                <a:latin typeface="Tahoma"/>
                <a:cs typeface="Tahoma"/>
              </a:rPr>
              <a:t>  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23" name="object 21"/>
          <p:cNvSpPr txBox="1"/>
          <p:nvPr/>
        </p:nvSpPr>
        <p:spPr>
          <a:xfrm>
            <a:off x="604502" y="8293861"/>
            <a:ext cx="2971800" cy="1692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00" b="1" dirty="0">
                <a:latin typeface="Century Gothic" panose="020B0502020202020204" pitchFamily="34" charset="0"/>
                <a:cs typeface="Tahoma"/>
              </a:rPr>
              <a:t>Expand </a:t>
            </a:r>
            <a:r>
              <a:rPr sz="1100" b="1" spc="-10" dirty="0">
                <a:latin typeface="Century Gothic" panose="020B0502020202020204" pitchFamily="34" charset="0"/>
                <a:cs typeface="Tahoma"/>
              </a:rPr>
              <a:t>and </a:t>
            </a:r>
            <a:r>
              <a:rPr sz="1100" b="1" spc="-5" dirty="0">
                <a:latin typeface="Century Gothic" panose="020B0502020202020204" pitchFamily="34" charset="0"/>
                <a:cs typeface="Tahoma"/>
              </a:rPr>
              <a:t>evaluate the</a:t>
            </a:r>
            <a:r>
              <a:rPr sz="1100" b="1" spc="25" dirty="0">
                <a:latin typeface="Century Gothic" panose="020B0502020202020204" pitchFamily="34" charset="0"/>
                <a:cs typeface="Tahoma"/>
              </a:rPr>
              <a:t> </a:t>
            </a:r>
            <a:r>
              <a:rPr sz="1100" b="1" spc="-5" dirty="0">
                <a:latin typeface="Century Gothic" panose="020B0502020202020204" pitchFamily="34" charset="0"/>
                <a:cs typeface="Tahoma"/>
              </a:rPr>
              <a:t>series.</a:t>
            </a:r>
            <a:endParaRPr sz="1100" b="1" dirty="0">
              <a:latin typeface="Century Gothic" panose="020B0502020202020204" pitchFamily="34" charset="0"/>
              <a:cs typeface="Tahoma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533400" y="1469316"/>
            <a:ext cx="248337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Part I: 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Intro to Sequences &amp; Series</a:t>
            </a: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 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518410" y="1779234"/>
            <a:ext cx="3102131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Give the first five terms of each sequence. </a:t>
            </a:r>
            <a:endParaRPr lang="en-US" sz="1100" b="1" dirty="0">
              <a:latin typeface="Century Gothic" panose="020B0502020202020204" pitchFamily="34" charset="0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533400" y="2379319"/>
            <a:ext cx="351378" cy="26930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2. 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530964" y="2794153"/>
            <a:ext cx="30328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3.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533400" y="3201294"/>
            <a:ext cx="30328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4.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graphicFrame>
        <p:nvGraphicFramePr>
          <p:cNvPr id="30" name="Object 29"/>
          <p:cNvGraphicFramePr>
            <a:graphicFrameLocks noChangeAspect="1"/>
          </p:cNvGraphicFramePr>
          <p:nvPr/>
        </p:nvGraphicFramePr>
        <p:xfrm>
          <a:off x="787009" y="2038186"/>
          <a:ext cx="12319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231560" imgH="215640" progId="Equation.DSMT4">
                  <p:embed/>
                </p:oleObj>
              </mc:Choice>
              <mc:Fallback>
                <p:oleObj name="Equation" r:id="rId3" imgW="1231560" imgH="215640" progId="Equation.DSMT4">
                  <p:embed/>
                  <p:pic>
                    <p:nvPicPr>
                      <p:cNvPr id="38" name="Object 3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87009" y="2038186"/>
                        <a:ext cx="12319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Object 30"/>
          <p:cNvGraphicFramePr>
            <a:graphicFrameLocks noChangeAspect="1"/>
          </p:cNvGraphicFramePr>
          <p:nvPr/>
        </p:nvGraphicFramePr>
        <p:xfrm>
          <a:off x="806449" y="2407177"/>
          <a:ext cx="17780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777680" imgH="215640" progId="Equation.DSMT4">
                  <p:embed/>
                </p:oleObj>
              </mc:Choice>
              <mc:Fallback>
                <p:oleObj name="Equation" r:id="rId5" imgW="1777680" imgH="215640" progId="Equation.DSMT4">
                  <p:embed/>
                  <p:pic>
                    <p:nvPicPr>
                      <p:cNvPr id="48" name="Object 47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806449" y="2407177"/>
                        <a:ext cx="17780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Object 39"/>
          <p:cNvGraphicFramePr>
            <a:graphicFrameLocks noChangeAspect="1"/>
          </p:cNvGraphicFramePr>
          <p:nvPr/>
        </p:nvGraphicFramePr>
        <p:xfrm>
          <a:off x="825500" y="2836216"/>
          <a:ext cx="749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749160" imgH="215640" progId="Equation.DSMT4">
                  <p:embed/>
                </p:oleObj>
              </mc:Choice>
              <mc:Fallback>
                <p:oleObj name="Equation" r:id="rId7" imgW="749160" imgH="215640" progId="Equation.DSMT4">
                  <p:embed/>
                  <p:pic>
                    <p:nvPicPr>
                      <p:cNvPr id="49" name="Object 48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825500" y="2836216"/>
                        <a:ext cx="7493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" name="Object 42"/>
          <p:cNvGraphicFramePr>
            <a:graphicFrameLocks noChangeAspect="1"/>
          </p:cNvGraphicFramePr>
          <p:nvPr/>
        </p:nvGraphicFramePr>
        <p:xfrm>
          <a:off x="825500" y="3221604"/>
          <a:ext cx="7493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749160" imgH="241200" progId="Equation.DSMT4">
                  <p:embed/>
                </p:oleObj>
              </mc:Choice>
              <mc:Fallback>
                <p:oleObj name="Equation" r:id="rId9" imgW="749160" imgH="241200" progId="Equation.DSMT4">
                  <p:embed/>
                  <p:pic>
                    <p:nvPicPr>
                      <p:cNvPr id="50" name="Object 49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825500" y="3221604"/>
                        <a:ext cx="7493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" name="Rectangle 44"/>
          <p:cNvSpPr/>
          <p:nvPr/>
        </p:nvSpPr>
        <p:spPr>
          <a:xfrm>
            <a:off x="525905" y="3802505"/>
            <a:ext cx="3810000" cy="4462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latin typeface="Century Gothic" panose="020B0502020202020204" pitchFamily="34" charset="0"/>
                <a:ea typeface="Calibri" panose="020F0502020204030204" pitchFamily="34" charset="0"/>
              </a:rPr>
              <a:t>5.  </a:t>
            </a:r>
            <a:r>
              <a:rPr lang="en-US" sz="1100" dirty="0">
                <a:latin typeface="Century Gothic" panose="020B0502020202020204" pitchFamily="34" charset="0"/>
                <a:ea typeface="Calibri" panose="020F0502020204030204" pitchFamily="34" charset="0"/>
              </a:rPr>
              <a:t>Write a recursive formula to represent the </a:t>
            </a:r>
            <a:br>
              <a:rPr lang="en-US" sz="1100" dirty="0">
                <a:latin typeface="Century Gothic" panose="020B0502020202020204" pitchFamily="34" charset="0"/>
                <a:ea typeface="Calibri" panose="020F0502020204030204" pitchFamily="34" charset="0"/>
              </a:rPr>
            </a:br>
            <a:r>
              <a:rPr lang="en-US" sz="1100" dirty="0">
                <a:latin typeface="Century Gothic" panose="020B0502020202020204" pitchFamily="34" charset="0"/>
                <a:ea typeface="Calibri" panose="020F0502020204030204" pitchFamily="34" charset="0"/>
              </a:rPr>
              <a:t>      sequence, then find </a:t>
            </a:r>
            <a:r>
              <a:rPr lang="en-US" sz="1200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en-US" sz="1100" baseline="-25000" dirty="0">
                <a:latin typeface="Century Gothic" panose="020B0502020202020204" pitchFamily="34" charset="0"/>
                <a:ea typeface="Calibri" panose="020F0502020204030204" pitchFamily="34" charset="0"/>
              </a:rPr>
              <a:t>7</a:t>
            </a:r>
            <a:r>
              <a:rPr lang="en-US" sz="1100" dirty="0">
                <a:latin typeface="Century Gothic" panose="020B0502020202020204" pitchFamily="34" charset="0"/>
                <a:ea typeface="Calibri" panose="020F0502020204030204" pitchFamily="34" charset="0"/>
              </a:rPr>
              <a:t>.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graphicFrame>
        <p:nvGraphicFramePr>
          <p:cNvPr id="54" name="Object 53"/>
          <p:cNvGraphicFramePr>
            <a:graphicFrameLocks noChangeAspect="1"/>
          </p:cNvGraphicFramePr>
          <p:nvPr/>
        </p:nvGraphicFramePr>
        <p:xfrm>
          <a:off x="836964" y="4300090"/>
          <a:ext cx="13716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371600" imgH="241200" progId="Equation.DSMT4">
                  <p:embed/>
                </p:oleObj>
              </mc:Choice>
              <mc:Fallback>
                <p:oleObj name="Equation" r:id="rId11" imgW="1371600" imgH="241200" progId="Equation.DSMT4">
                  <p:embed/>
                  <p:pic>
                    <p:nvPicPr>
                      <p:cNvPr id="41" name="Object 40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836964" y="4300090"/>
                        <a:ext cx="13716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" name="Rectangle 56"/>
          <p:cNvSpPr/>
          <p:nvPr/>
        </p:nvSpPr>
        <p:spPr>
          <a:xfrm>
            <a:off x="525905" y="4915525"/>
            <a:ext cx="3886200" cy="44627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100" b="1" dirty="0">
                <a:latin typeface="Century Gothic" panose="020B0502020202020204" pitchFamily="34" charset="0"/>
                <a:ea typeface="Calibri" panose="020F0502020204030204" pitchFamily="34" charset="0"/>
              </a:rPr>
              <a:t>6.  </a:t>
            </a:r>
            <a:r>
              <a:rPr lang="en-US" sz="1100" dirty="0">
                <a:latin typeface="Century Gothic" panose="020B0502020202020204" pitchFamily="34" charset="0"/>
                <a:ea typeface="Calibri" panose="020F0502020204030204" pitchFamily="34" charset="0"/>
              </a:rPr>
              <a:t>Write an explicit formula to represent the sequence,</a:t>
            </a:r>
            <a:br>
              <a:rPr lang="en-US" sz="1100" dirty="0">
                <a:latin typeface="Century Gothic" panose="020B0502020202020204" pitchFamily="34" charset="0"/>
                <a:ea typeface="Calibri" panose="020F0502020204030204" pitchFamily="34" charset="0"/>
              </a:rPr>
            </a:br>
            <a:r>
              <a:rPr lang="en-US" sz="1100" dirty="0">
                <a:latin typeface="Century Gothic" panose="020B0502020202020204" pitchFamily="34" charset="0"/>
                <a:ea typeface="Calibri" panose="020F0502020204030204" pitchFamily="34" charset="0"/>
              </a:rPr>
              <a:t>     then find </a:t>
            </a:r>
            <a:r>
              <a:rPr lang="en-US" sz="1200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en-US" sz="1100" baseline="-25000" dirty="0">
                <a:latin typeface="Century Gothic" panose="020B0502020202020204" pitchFamily="34" charset="0"/>
                <a:ea typeface="Calibri" panose="020F0502020204030204" pitchFamily="34" charset="0"/>
              </a:rPr>
              <a:t>12</a:t>
            </a:r>
            <a:r>
              <a:rPr lang="en-US" sz="1100" dirty="0">
                <a:latin typeface="Century Gothic" panose="020B0502020202020204" pitchFamily="34" charset="0"/>
                <a:ea typeface="Calibri" panose="020F0502020204030204" pitchFamily="34" charset="0"/>
              </a:rPr>
              <a:t>.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graphicFrame>
        <p:nvGraphicFramePr>
          <p:cNvPr id="58" name="Object 57"/>
          <p:cNvGraphicFramePr>
            <a:graphicFrameLocks noChangeAspect="1"/>
          </p:cNvGraphicFramePr>
          <p:nvPr/>
        </p:nvGraphicFramePr>
        <p:xfrm>
          <a:off x="800725" y="5440242"/>
          <a:ext cx="13081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307880" imgH="241200" progId="Equation.DSMT4">
                  <p:embed/>
                </p:oleObj>
              </mc:Choice>
              <mc:Fallback>
                <p:oleObj name="Equation" r:id="rId13" imgW="1307880" imgH="241200" progId="Equation.DSMT4">
                  <p:embed/>
                  <p:pic>
                    <p:nvPicPr>
                      <p:cNvPr id="44" name="Object 43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800725" y="5440242"/>
                        <a:ext cx="13081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9" name="Rectangle 58"/>
          <p:cNvSpPr/>
          <p:nvPr/>
        </p:nvSpPr>
        <p:spPr>
          <a:xfrm>
            <a:off x="518410" y="6057275"/>
            <a:ext cx="2901756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latin typeface="Century Gothic" panose="020B0502020202020204" pitchFamily="34" charset="0"/>
                <a:ea typeface="Calibri" panose="020F0502020204030204" pitchFamily="34" charset="0"/>
              </a:rPr>
              <a:t>Find the partial sum for each sequence.</a:t>
            </a:r>
            <a:endParaRPr lang="en-US" sz="1100" b="1" dirty="0">
              <a:latin typeface="Century Gothic" panose="020B0502020202020204" pitchFamily="34" charset="0"/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525905" y="6339590"/>
            <a:ext cx="393056" cy="26930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7.  </a:t>
            </a:r>
            <a:endParaRPr lang="en-US" sz="1100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61" name="Object 60"/>
          <p:cNvGraphicFramePr>
            <a:graphicFrameLocks noChangeAspect="1"/>
          </p:cNvGraphicFramePr>
          <p:nvPr/>
        </p:nvGraphicFramePr>
        <p:xfrm>
          <a:off x="812175" y="6367391"/>
          <a:ext cx="12573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257120" imgH="241200" progId="Equation.DSMT4">
                  <p:embed/>
                </p:oleObj>
              </mc:Choice>
              <mc:Fallback>
                <p:oleObj name="Equation" r:id="rId15" imgW="1257120" imgH="241200" progId="Equation.DSMT4">
                  <p:embed/>
                  <p:pic>
                    <p:nvPicPr>
                      <p:cNvPr id="51" name="Object 50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812175" y="6367391"/>
                        <a:ext cx="12573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" name="Rectangle 61"/>
          <p:cNvSpPr/>
          <p:nvPr/>
        </p:nvSpPr>
        <p:spPr>
          <a:xfrm>
            <a:off x="525905" y="7300210"/>
            <a:ext cx="309700" cy="26930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latin typeface="Century Gothic" panose="020B0502020202020204" pitchFamily="34" charset="0"/>
                <a:ea typeface="Calibri" panose="020F0502020204030204" pitchFamily="34" charset="0"/>
              </a:rPr>
              <a:t>8.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graphicFrame>
        <p:nvGraphicFramePr>
          <p:cNvPr id="63" name="Object 62"/>
          <p:cNvGraphicFramePr>
            <a:graphicFrameLocks noChangeAspect="1"/>
          </p:cNvGraphicFramePr>
          <p:nvPr/>
        </p:nvGraphicFramePr>
        <p:xfrm>
          <a:off x="768984" y="7328214"/>
          <a:ext cx="16891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1688760" imgH="241200" progId="Equation.DSMT4">
                  <p:embed/>
                </p:oleObj>
              </mc:Choice>
              <mc:Fallback>
                <p:oleObj name="Equation" r:id="rId17" imgW="1688760" imgH="241200" progId="Equation.DSMT4">
                  <p:embed/>
                  <p:pic>
                    <p:nvPicPr>
                      <p:cNvPr id="53" name="Object 52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768984" y="7328214"/>
                        <a:ext cx="16891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" name="Rectangle 63"/>
          <p:cNvSpPr/>
          <p:nvPr/>
        </p:nvSpPr>
        <p:spPr>
          <a:xfrm>
            <a:off x="533400" y="8610600"/>
            <a:ext cx="351378" cy="26930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latin typeface="Century Gothic" panose="020B0502020202020204" pitchFamily="34" charset="0"/>
                <a:ea typeface="Calibri" panose="020F0502020204030204" pitchFamily="34" charset="0"/>
              </a:rPr>
              <a:t>9. 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graphicFrame>
        <p:nvGraphicFramePr>
          <p:cNvPr id="65" name="Object 64"/>
          <p:cNvGraphicFramePr>
            <a:graphicFrameLocks noChangeAspect="1"/>
          </p:cNvGraphicFramePr>
          <p:nvPr/>
        </p:nvGraphicFramePr>
        <p:xfrm>
          <a:off x="812800" y="8534400"/>
          <a:ext cx="6985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698400" imgH="393480" progId="Equation.DSMT4">
                  <p:embed/>
                </p:oleObj>
              </mc:Choice>
              <mc:Fallback>
                <p:oleObj name="Equation" r:id="rId19" imgW="698400" imgH="393480" progId="Equation.DSMT4">
                  <p:embed/>
                  <p:pic>
                    <p:nvPicPr>
                      <p:cNvPr id="56" name="Object 55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812800" y="8534400"/>
                        <a:ext cx="698500" cy="393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16"/>
          <p:cNvSpPr txBox="1"/>
          <p:nvPr/>
        </p:nvSpPr>
        <p:spPr>
          <a:xfrm>
            <a:off x="604502" y="2395410"/>
            <a:ext cx="4830445" cy="1692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00" b="1" spc="-5" dirty="0">
                <a:latin typeface="Century Gothic" panose="020B0502020202020204" pitchFamily="34" charset="0"/>
                <a:cs typeface="Tahoma"/>
              </a:rPr>
              <a:t>Write a rule for each sequence, then </a:t>
            </a:r>
            <a:r>
              <a:rPr sz="1100" b="1" dirty="0">
                <a:latin typeface="Century Gothic" panose="020B0502020202020204" pitchFamily="34" charset="0"/>
                <a:cs typeface="Tahoma"/>
              </a:rPr>
              <a:t>find </a:t>
            </a:r>
            <a:r>
              <a:rPr sz="1100" b="1" spc="-5" dirty="0">
                <a:latin typeface="Century Gothic" panose="020B0502020202020204" pitchFamily="34" charset="0"/>
                <a:cs typeface="Tahoma"/>
              </a:rPr>
              <a:t>the indicated</a:t>
            </a:r>
            <a:r>
              <a:rPr sz="1100" b="1" spc="155" dirty="0">
                <a:latin typeface="Century Gothic" panose="020B0502020202020204" pitchFamily="34" charset="0"/>
                <a:cs typeface="Tahoma"/>
              </a:rPr>
              <a:t> </a:t>
            </a:r>
            <a:r>
              <a:rPr sz="1100" b="1" spc="-5" dirty="0">
                <a:latin typeface="Century Gothic" panose="020B0502020202020204" pitchFamily="34" charset="0"/>
                <a:cs typeface="Tahoma"/>
              </a:rPr>
              <a:t>term.</a:t>
            </a:r>
            <a:endParaRPr sz="1100" b="1" dirty="0">
              <a:latin typeface="Century Gothic" panose="020B0502020202020204" pitchFamily="34" charset="0"/>
              <a:cs typeface="Tahoma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33400" y="513080"/>
            <a:ext cx="274466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latin typeface="Century Gothic" panose="020B0502020202020204" pitchFamily="34" charset="0"/>
                <a:ea typeface="Calibri" panose="020F0502020204030204" pitchFamily="34" charset="0"/>
              </a:rPr>
              <a:t>Part II: </a:t>
            </a:r>
            <a:r>
              <a:rPr lang="en-US" sz="1100" dirty="0">
                <a:latin typeface="Century Gothic" panose="020B0502020202020204" pitchFamily="34" charset="0"/>
                <a:ea typeface="Calibri" panose="020F0502020204030204" pitchFamily="34" charset="0"/>
              </a:rPr>
              <a:t>Arithmetic Sequences &amp; Series</a:t>
            </a:r>
            <a:r>
              <a:rPr lang="en-US" sz="1100" b="1" dirty="0">
                <a:latin typeface="Century Gothic" panose="020B0502020202020204" pitchFamily="34" charset="0"/>
                <a:ea typeface="Calibri" panose="020F0502020204030204" pitchFamily="34" charset="0"/>
              </a:rPr>
              <a:t> 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33400" y="761776"/>
            <a:ext cx="6972300" cy="2693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latin typeface="Century Gothic" panose="020B0502020202020204" pitchFamily="34" charset="0"/>
                <a:ea typeface="Calibri" panose="020F0502020204030204" pitchFamily="34" charset="0"/>
              </a:rPr>
              <a:t>Determine whether the sequence is arithmetic.  If yes, identify the common difference.</a:t>
            </a:r>
            <a:endParaRPr lang="en-US" sz="1100" b="1" dirty="0">
              <a:latin typeface="Century Gothic" panose="020B0502020202020204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17488" y="1066800"/>
            <a:ext cx="434734" cy="26930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latin typeface="Century Gothic" panose="020B0502020202020204" pitchFamily="34" charset="0"/>
                <a:ea typeface="Calibri" panose="020F0502020204030204" pitchFamily="34" charset="0"/>
              </a:rPr>
              <a:t>10. 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17488" y="1505138"/>
            <a:ext cx="434734" cy="26930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latin typeface="Century Gothic" panose="020B0502020202020204" pitchFamily="34" charset="0"/>
                <a:ea typeface="Calibri" panose="020F0502020204030204" pitchFamily="34" charset="0"/>
              </a:rPr>
              <a:t>11. 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graphicFrame>
        <p:nvGraphicFramePr>
          <p:cNvPr id="12" name="Object 11"/>
          <p:cNvGraphicFramePr>
            <a:graphicFrameLocks noChangeAspect="1"/>
          </p:cNvGraphicFramePr>
          <p:nvPr/>
        </p:nvGraphicFramePr>
        <p:xfrm>
          <a:off x="914230" y="1089461"/>
          <a:ext cx="8763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876240" imgH="241200" progId="Equation.DSMT4">
                  <p:embed/>
                </p:oleObj>
              </mc:Choice>
              <mc:Fallback>
                <p:oleObj name="Equation" r:id="rId3" imgW="876240" imgH="241200" progId="Equation.DSMT4">
                  <p:embed/>
                  <p:pic>
                    <p:nvPicPr>
                      <p:cNvPr id="44" name="Object 4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14230" y="1089461"/>
                        <a:ext cx="8763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2"/>
          <p:cNvGraphicFramePr>
            <a:graphicFrameLocks noChangeAspect="1"/>
          </p:cNvGraphicFramePr>
          <p:nvPr/>
        </p:nvGraphicFramePr>
        <p:xfrm>
          <a:off x="919094" y="1511269"/>
          <a:ext cx="12573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257120" imgH="241200" progId="Equation.DSMT4">
                  <p:embed/>
                </p:oleObj>
              </mc:Choice>
              <mc:Fallback>
                <p:oleObj name="Equation" r:id="rId5" imgW="1257120" imgH="241200" progId="Equation.DSMT4">
                  <p:embed/>
                  <p:pic>
                    <p:nvPicPr>
                      <p:cNvPr id="45" name="Object 4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19094" y="1511269"/>
                        <a:ext cx="12573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3"/>
          <p:cNvGraphicFramePr>
            <a:graphicFrameLocks noChangeAspect="1"/>
          </p:cNvGraphicFramePr>
          <p:nvPr/>
        </p:nvGraphicFramePr>
        <p:xfrm>
          <a:off x="906394" y="1866193"/>
          <a:ext cx="12700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269720" imgH="419040" progId="Equation.DSMT4">
                  <p:embed/>
                </p:oleObj>
              </mc:Choice>
              <mc:Fallback>
                <p:oleObj name="Equation" r:id="rId7" imgW="1269720" imgH="419040" progId="Equation.DSMT4">
                  <p:embed/>
                  <p:pic>
                    <p:nvPicPr>
                      <p:cNvPr id="46" name="Object 45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906394" y="1866193"/>
                        <a:ext cx="1270000" cy="419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Rectangle 16"/>
          <p:cNvSpPr/>
          <p:nvPr/>
        </p:nvSpPr>
        <p:spPr>
          <a:xfrm>
            <a:off x="523352" y="2610896"/>
            <a:ext cx="393056" cy="26930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latin typeface="Century Gothic" panose="020B0502020202020204" pitchFamily="34" charset="0"/>
                <a:ea typeface="Calibri" panose="020F0502020204030204" pitchFamily="34" charset="0"/>
              </a:rPr>
              <a:t>13.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533400" y="3657600"/>
            <a:ext cx="393056" cy="26930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latin typeface="Century Gothic" panose="020B0502020202020204" pitchFamily="34" charset="0"/>
                <a:ea typeface="Calibri" panose="020F0502020204030204" pitchFamily="34" charset="0"/>
              </a:rPr>
              <a:t>14.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graphicFrame>
        <p:nvGraphicFramePr>
          <p:cNvPr id="23" name="Object 22"/>
          <p:cNvGraphicFramePr>
            <a:graphicFrameLocks noChangeAspect="1"/>
          </p:cNvGraphicFramePr>
          <p:nvPr/>
        </p:nvGraphicFramePr>
        <p:xfrm>
          <a:off x="861438" y="2627756"/>
          <a:ext cx="13335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333440" imgH="241200" progId="Equation.DSMT4">
                  <p:embed/>
                </p:oleObj>
              </mc:Choice>
              <mc:Fallback>
                <p:oleObj name="Equation" r:id="rId9" imgW="1333440" imgH="241200" progId="Equation.DSMT4">
                  <p:embed/>
                  <p:pic>
                    <p:nvPicPr>
                      <p:cNvPr id="51" name="Object 50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861438" y="2627756"/>
                        <a:ext cx="13335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25"/>
          <p:cNvGraphicFramePr>
            <a:graphicFrameLocks noChangeAspect="1"/>
          </p:cNvGraphicFramePr>
          <p:nvPr/>
        </p:nvGraphicFramePr>
        <p:xfrm>
          <a:off x="861438" y="3675043"/>
          <a:ext cx="14732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473120" imgH="241200" progId="Equation.DSMT4">
                  <p:embed/>
                </p:oleObj>
              </mc:Choice>
              <mc:Fallback>
                <p:oleObj name="Equation" r:id="rId11" imgW="1473120" imgH="241200" progId="Equation.DSMT4">
                  <p:embed/>
                  <p:pic>
                    <p:nvPicPr>
                      <p:cNvPr id="52" name="Object 51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861438" y="3675043"/>
                        <a:ext cx="14732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Rectangle 27"/>
          <p:cNvSpPr/>
          <p:nvPr/>
        </p:nvSpPr>
        <p:spPr>
          <a:xfrm>
            <a:off x="533400" y="4688392"/>
            <a:ext cx="4046198" cy="4462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latin typeface="Century Gothic" panose="020B0502020202020204" pitchFamily="34" charset="0"/>
                <a:ea typeface="Calibri" panose="020F0502020204030204" pitchFamily="34" charset="0"/>
              </a:rPr>
              <a:t>15. </a:t>
            </a:r>
            <a:r>
              <a:rPr lang="en-US" sz="1100" dirty="0">
                <a:latin typeface="Century Gothic" panose="020B0502020202020204" pitchFamily="34" charset="0"/>
                <a:ea typeface="Calibri" panose="020F0502020204030204" pitchFamily="34" charset="0"/>
              </a:rPr>
              <a:t>The terms below are part of an arithmetic sequence.  </a:t>
            </a:r>
            <a:br>
              <a:rPr lang="en-US" sz="1100" dirty="0">
                <a:latin typeface="Century Gothic" panose="020B0502020202020204" pitchFamily="34" charset="0"/>
                <a:ea typeface="Calibri" panose="020F0502020204030204" pitchFamily="34" charset="0"/>
              </a:rPr>
            </a:br>
            <a:r>
              <a:rPr lang="en-US" sz="1100" dirty="0">
                <a:latin typeface="Century Gothic" panose="020B0502020202020204" pitchFamily="34" charset="0"/>
                <a:ea typeface="Calibri" panose="020F0502020204030204" pitchFamily="34" charset="0"/>
              </a:rPr>
              <a:t>       Write the rule, then find </a:t>
            </a:r>
            <a:r>
              <a:rPr lang="en-US" sz="1200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en-US" sz="1100" baseline="-25000" dirty="0">
                <a:latin typeface="Century Gothic" panose="020B0502020202020204" pitchFamily="34" charset="0"/>
                <a:ea typeface="Calibri" panose="020F0502020204030204" pitchFamily="34" charset="0"/>
              </a:rPr>
              <a:t>9</a:t>
            </a:r>
            <a:r>
              <a:rPr lang="en-US" sz="1100" dirty="0">
                <a:latin typeface="Century Gothic" panose="020B0502020202020204" pitchFamily="34" charset="0"/>
                <a:ea typeface="Calibri" panose="020F0502020204030204" pitchFamily="34" charset="0"/>
              </a:rPr>
              <a:t>.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1356207" y="5172656"/>
            <a:ext cx="46358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dirty="0">
                <a:latin typeface="Century Gothic" panose="020B0502020202020204" pitchFamily="34" charset="0"/>
                <a:ea typeface="Calibri" panose="020F0502020204030204" pitchFamily="34" charset="0"/>
              </a:rPr>
              <a:t>and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graphicFrame>
        <p:nvGraphicFramePr>
          <p:cNvPr id="30" name="Object 29"/>
          <p:cNvGraphicFramePr>
            <a:graphicFrameLocks noChangeAspect="1"/>
          </p:cNvGraphicFramePr>
          <p:nvPr/>
        </p:nvGraphicFramePr>
        <p:xfrm>
          <a:off x="878388" y="5211821"/>
          <a:ext cx="5334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533160" imgH="215640" progId="Equation.DSMT4">
                  <p:embed/>
                </p:oleObj>
              </mc:Choice>
              <mc:Fallback>
                <p:oleObj name="Equation" r:id="rId13" imgW="533160" imgH="215640" progId="Equation.DSMT4">
                  <p:embed/>
                  <p:pic>
                    <p:nvPicPr>
                      <p:cNvPr id="56" name="Object 55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878388" y="5211821"/>
                        <a:ext cx="5334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Object 30"/>
          <p:cNvGraphicFramePr>
            <a:graphicFrameLocks noChangeAspect="1"/>
          </p:cNvGraphicFramePr>
          <p:nvPr/>
        </p:nvGraphicFramePr>
        <p:xfrm>
          <a:off x="1774643" y="5218366"/>
          <a:ext cx="495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495000" imgH="215640" progId="Equation.DSMT4">
                  <p:embed/>
                </p:oleObj>
              </mc:Choice>
              <mc:Fallback>
                <p:oleObj name="Equation" r:id="rId15" imgW="495000" imgH="215640" progId="Equation.DSMT4">
                  <p:embed/>
                  <p:pic>
                    <p:nvPicPr>
                      <p:cNvPr id="57" name="Object 56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774643" y="5218366"/>
                        <a:ext cx="4953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Rectangle 32"/>
          <p:cNvSpPr/>
          <p:nvPr/>
        </p:nvSpPr>
        <p:spPr>
          <a:xfrm>
            <a:off x="533400" y="6629400"/>
            <a:ext cx="5257800" cy="2693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latin typeface="Century Gothic" panose="020B0502020202020204" pitchFamily="34" charset="0"/>
                <a:ea typeface="Calibri" panose="020F0502020204030204" pitchFamily="34" charset="0"/>
              </a:rPr>
              <a:t>Find the indicated sum for each arithmetic series.</a:t>
            </a:r>
            <a:endParaRPr lang="en-US" sz="1100" b="1" dirty="0">
              <a:latin typeface="Century Gothic" panose="020B0502020202020204" pitchFamily="34" charset="0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533400" y="6914104"/>
            <a:ext cx="434734" cy="26930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latin typeface="Century Gothic" panose="020B0502020202020204" pitchFamily="34" charset="0"/>
                <a:ea typeface="Calibri" panose="020F0502020204030204" pitchFamily="34" charset="0"/>
              </a:rPr>
              <a:t>16. 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graphicFrame>
        <p:nvGraphicFramePr>
          <p:cNvPr id="35" name="Object 34"/>
          <p:cNvGraphicFramePr>
            <a:graphicFrameLocks noChangeAspect="1"/>
          </p:cNvGraphicFramePr>
          <p:nvPr/>
        </p:nvGraphicFramePr>
        <p:xfrm>
          <a:off x="929641" y="6928106"/>
          <a:ext cx="22733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2273040" imgH="241200" progId="Equation.DSMT4">
                  <p:embed/>
                </p:oleObj>
              </mc:Choice>
              <mc:Fallback>
                <p:oleObj name="Equation" r:id="rId17" imgW="2273040" imgH="241200" progId="Equation.DSMT4">
                  <p:embed/>
                  <p:pic>
                    <p:nvPicPr>
                      <p:cNvPr id="60" name="Object 59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929641" y="6928106"/>
                        <a:ext cx="22733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Rectangle 35"/>
          <p:cNvSpPr/>
          <p:nvPr/>
        </p:nvSpPr>
        <p:spPr>
          <a:xfrm>
            <a:off x="533400" y="7946693"/>
            <a:ext cx="393056" cy="26930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latin typeface="Century Gothic" panose="020B0502020202020204" pitchFamily="34" charset="0"/>
                <a:ea typeface="Calibri" panose="020F0502020204030204" pitchFamily="34" charset="0"/>
              </a:rPr>
              <a:t>17.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533400" y="8979282"/>
            <a:ext cx="393056" cy="26930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latin typeface="Century Gothic" panose="020B0502020202020204" pitchFamily="34" charset="0"/>
                <a:ea typeface="Calibri" panose="020F0502020204030204" pitchFamily="34" charset="0"/>
              </a:rPr>
              <a:t>18.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graphicFrame>
        <p:nvGraphicFramePr>
          <p:cNvPr id="39" name="Object 38"/>
          <p:cNvGraphicFramePr>
            <a:graphicFrameLocks noChangeAspect="1"/>
          </p:cNvGraphicFramePr>
          <p:nvPr/>
        </p:nvGraphicFramePr>
        <p:xfrm>
          <a:off x="940376" y="7884495"/>
          <a:ext cx="7366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736560" imgH="393480" progId="Equation.DSMT4">
                  <p:embed/>
                </p:oleObj>
              </mc:Choice>
              <mc:Fallback>
                <p:oleObj name="Equation" r:id="rId19" imgW="736560" imgH="393480" progId="Equation.DSMT4">
                  <p:embed/>
                  <p:pic>
                    <p:nvPicPr>
                      <p:cNvPr id="63" name="Object 62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940376" y="7884495"/>
                        <a:ext cx="736600" cy="393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" name="Object 46"/>
          <p:cNvGraphicFramePr>
            <a:graphicFrameLocks noChangeAspect="1"/>
          </p:cNvGraphicFramePr>
          <p:nvPr/>
        </p:nvGraphicFramePr>
        <p:xfrm>
          <a:off x="940376" y="8929402"/>
          <a:ext cx="6731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672840" imgH="393480" progId="Equation.DSMT4">
                  <p:embed/>
                </p:oleObj>
              </mc:Choice>
              <mc:Fallback>
                <p:oleObj name="Equation" r:id="rId21" imgW="672840" imgH="393480" progId="Equation.DSMT4">
                  <p:embed/>
                  <p:pic>
                    <p:nvPicPr>
                      <p:cNvPr id="64" name="Object 63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940376" y="8929402"/>
                        <a:ext cx="673100" cy="393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" name="Rectangle 47">
            <a:extLst>
              <a:ext uri="{FF2B5EF4-FFF2-40B4-BE49-F238E27FC236}">
                <a16:creationId xmlns:a16="http://schemas.microsoft.com/office/drawing/2014/main" id="{2F987203-BD61-AC21-DE8B-FC9E5C65C84E}"/>
              </a:ext>
            </a:extLst>
          </p:cNvPr>
          <p:cNvSpPr/>
          <p:nvPr/>
        </p:nvSpPr>
        <p:spPr>
          <a:xfrm>
            <a:off x="517488" y="1943475"/>
            <a:ext cx="434734" cy="26930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latin typeface="Century Gothic" panose="020B0502020202020204" pitchFamily="34" charset="0"/>
                <a:ea typeface="Calibri" panose="020F0502020204030204" pitchFamily="34" charset="0"/>
              </a:rPr>
              <a:t>12. </a:t>
            </a:r>
            <a:endParaRPr lang="en-US" sz="1100" dirty="0">
              <a:latin typeface="Century Gothic" panose="020B0502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79</TotalTime>
  <Words>176</Words>
  <Application>Microsoft Office PowerPoint</Application>
  <PresentationFormat>Custom</PresentationFormat>
  <Paragraphs>29</Paragraphs>
  <Slides>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10" baseType="lpstr">
      <vt:lpstr>SimSun</vt:lpstr>
      <vt:lpstr>Calibri</vt:lpstr>
      <vt:lpstr>Century Gothic</vt:lpstr>
      <vt:lpstr>Symbol</vt:lpstr>
      <vt:lpstr>Tahoma</vt:lpstr>
      <vt:lpstr>Times New Roman</vt:lpstr>
      <vt:lpstr>Office Theme</vt:lpstr>
      <vt:lpstr>Equation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Word - 6 - Quiz 10-1</dc:title>
  <dc:creator>Gina</dc:creator>
  <cp:lastModifiedBy>Gina Wilson</cp:lastModifiedBy>
  <cp:revision>19</cp:revision>
  <dcterms:created xsi:type="dcterms:W3CDTF">2017-12-14T16:22:51Z</dcterms:created>
  <dcterms:modified xsi:type="dcterms:W3CDTF">2024-10-02T13:00:42Z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2016-01-07T00:00:00Z</vt:filetime>
  </property>
  <property fmtid="{D5CDD505-2E9C-101B-9397-08002B2CF9AE}" pid="3" name="Creator">
    <vt:lpwstr>PrimoPDF http://www.primopdf.com</vt:lpwstr>
  </property>
  <property fmtid="{D5CDD505-2E9C-101B-9397-08002B2CF9AE}" pid="4" name="LastSaved">
    <vt:filetime>2017-12-14T00:00:00Z</vt:filetime>
  </property>
</Properties>
</file>