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7772400" cy="10058400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62" autoAdjust="0"/>
    <p:restoredTop sz="94660"/>
  </p:normalViewPr>
  <p:slideViewPr>
    <p:cSldViewPr>
      <p:cViewPr>
        <p:scale>
          <a:sx n="65" d="100"/>
          <a:sy n="65" d="100"/>
        </p:scale>
        <p:origin x="920" y="3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13" Type="http://schemas.openxmlformats.org/officeDocument/2006/relationships/image" Target="../media/image13.wmf"/><Relationship Id="rId18" Type="http://schemas.openxmlformats.org/officeDocument/2006/relationships/image" Target="../media/image18.wmf"/><Relationship Id="rId3" Type="http://schemas.openxmlformats.org/officeDocument/2006/relationships/image" Target="../media/image3.wmf"/><Relationship Id="rId21" Type="http://schemas.openxmlformats.org/officeDocument/2006/relationships/image" Target="../media/image21.wmf"/><Relationship Id="rId7" Type="http://schemas.openxmlformats.org/officeDocument/2006/relationships/image" Target="../media/image7.wmf"/><Relationship Id="rId12" Type="http://schemas.openxmlformats.org/officeDocument/2006/relationships/image" Target="../media/image12.wmf"/><Relationship Id="rId17" Type="http://schemas.openxmlformats.org/officeDocument/2006/relationships/image" Target="../media/image17.wmf"/><Relationship Id="rId2" Type="http://schemas.openxmlformats.org/officeDocument/2006/relationships/image" Target="../media/image2.wmf"/><Relationship Id="rId16" Type="http://schemas.openxmlformats.org/officeDocument/2006/relationships/image" Target="../media/image16.wmf"/><Relationship Id="rId20" Type="http://schemas.openxmlformats.org/officeDocument/2006/relationships/image" Target="../media/image20.wmf"/><Relationship Id="rId1" Type="http://schemas.openxmlformats.org/officeDocument/2006/relationships/image" Target="../media/image1.wmf"/><Relationship Id="rId6" Type="http://schemas.openxmlformats.org/officeDocument/2006/relationships/image" Target="../media/image6.wmf"/><Relationship Id="rId11" Type="http://schemas.openxmlformats.org/officeDocument/2006/relationships/image" Target="../media/image11.wmf"/><Relationship Id="rId24" Type="http://schemas.openxmlformats.org/officeDocument/2006/relationships/image" Target="../media/image24.wmf"/><Relationship Id="rId5" Type="http://schemas.openxmlformats.org/officeDocument/2006/relationships/image" Target="../media/image5.wmf"/><Relationship Id="rId15" Type="http://schemas.openxmlformats.org/officeDocument/2006/relationships/image" Target="../media/image15.wmf"/><Relationship Id="rId23" Type="http://schemas.openxmlformats.org/officeDocument/2006/relationships/image" Target="../media/image23.wmf"/><Relationship Id="rId10" Type="http://schemas.openxmlformats.org/officeDocument/2006/relationships/image" Target="../media/image10.wmf"/><Relationship Id="rId19" Type="http://schemas.openxmlformats.org/officeDocument/2006/relationships/image" Target="../media/image19.wmf"/><Relationship Id="rId4" Type="http://schemas.openxmlformats.org/officeDocument/2006/relationships/image" Target="../media/image4.wmf"/><Relationship Id="rId9" Type="http://schemas.openxmlformats.org/officeDocument/2006/relationships/image" Target="../media/image9.wmf"/><Relationship Id="rId14" Type="http://schemas.openxmlformats.org/officeDocument/2006/relationships/image" Target="../media/image14.wmf"/><Relationship Id="rId22" Type="http://schemas.openxmlformats.org/officeDocument/2006/relationships/image" Target="../media/image22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33.wmf"/><Relationship Id="rId13" Type="http://schemas.openxmlformats.org/officeDocument/2006/relationships/image" Target="../media/image38.wmf"/><Relationship Id="rId18" Type="http://schemas.openxmlformats.org/officeDocument/2006/relationships/image" Target="../media/image43.wmf"/><Relationship Id="rId3" Type="http://schemas.openxmlformats.org/officeDocument/2006/relationships/image" Target="../media/image28.wmf"/><Relationship Id="rId21" Type="http://schemas.openxmlformats.org/officeDocument/2006/relationships/image" Target="../media/image46.wmf"/><Relationship Id="rId7" Type="http://schemas.openxmlformats.org/officeDocument/2006/relationships/image" Target="../media/image32.wmf"/><Relationship Id="rId12" Type="http://schemas.openxmlformats.org/officeDocument/2006/relationships/image" Target="../media/image37.wmf"/><Relationship Id="rId17" Type="http://schemas.openxmlformats.org/officeDocument/2006/relationships/image" Target="../media/image42.wmf"/><Relationship Id="rId2" Type="http://schemas.openxmlformats.org/officeDocument/2006/relationships/image" Target="../media/image27.wmf"/><Relationship Id="rId16" Type="http://schemas.openxmlformats.org/officeDocument/2006/relationships/image" Target="../media/image41.wmf"/><Relationship Id="rId20" Type="http://schemas.openxmlformats.org/officeDocument/2006/relationships/image" Target="../media/image45.wmf"/><Relationship Id="rId1" Type="http://schemas.openxmlformats.org/officeDocument/2006/relationships/image" Target="../media/image26.wmf"/><Relationship Id="rId6" Type="http://schemas.openxmlformats.org/officeDocument/2006/relationships/image" Target="../media/image31.wmf"/><Relationship Id="rId11" Type="http://schemas.openxmlformats.org/officeDocument/2006/relationships/image" Target="../media/image36.wmf"/><Relationship Id="rId24" Type="http://schemas.openxmlformats.org/officeDocument/2006/relationships/image" Target="../media/image49.wmf"/><Relationship Id="rId5" Type="http://schemas.openxmlformats.org/officeDocument/2006/relationships/image" Target="../media/image30.wmf"/><Relationship Id="rId15" Type="http://schemas.openxmlformats.org/officeDocument/2006/relationships/image" Target="../media/image40.wmf"/><Relationship Id="rId23" Type="http://schemas.openxmlformats.org/officeDocument/2006/relationships/image" Target="../media/image48.wmf"/><Relationship Id="rId10" Type="http://schemas.openxmlformats.org/officeDocument/2006/relationships/image" Target="../media/image35.wmf"/><Relationship Id="rId19" Type="http://schemas.openxmlformats.org/officeDocument/2006/relationships/image" Target="../media/image44.wmf"/><Relationship Id="rId4" Type="http://schemas.openxmlformats.org/officeDocument/2006/relationships/image" Target="../media/image29.wmf"/><Relationship Id="rId9" Type="http://schemas.openxmlformats.org/officeDocument/2006/relationships/image" Target="../media/image34.wmf"/><Relationship Id="rId14" Type="http://schemas.openxmlformats.org/officeDocument/2006/relationships/image" Target="../media/image39.wmf"/><Relationship Id="rId22" Type="http://schemas.openxmlformats.org/officeDocument/2006/relationships/image" Target="../media/image47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58.wmf"/><Relationship Id="rId13" Type="http://schemas.openxmlformats.org/officeDocument/2006/relationships/image" Target="../media/image63.wmf"/><Relationship Id="rId18" Type="http://schemas.openxmlformats.org/officeDocument/2006/relationships/image" Target="../media/image68.wmf"/><Relationship Id="rId26" Type="http://schemas.openxmlformats.org/officeDocument/2006/relationships/image" Target="../media/image76.wmf"/><Relationship Id="rId3" Type="http://schemas.openxmlformats.org/officeDocument/2006/relationships/image" Target="../media/image53.wmf"/><Relationship Id="rId21" Type="http://schemas.openxmlformats.org/officeDocument/2006/relationships/image" Target="../media/image71.wmf"/><Relationship Id="rId7" Type="http://schemas.openxmlformats.org/officeDocument/2006/relationships/image" Target="../media/image57.wmf"/><Relationship Id="rId12" Type="http://schemas.openxmlformats.org/officeDocument/2006/relationships/image" Target="../media/image62.wmf"/><Relationship Id="rId17" Type="http://schemas.openxmlformats.org/officeDocument/2006/relationships/image" Target="../media/image67.wmf"/><Relationship Id="rId25" Type="http://schemas.openxmlformats.org/officeDocument/2006/relationships/image" Target="../media/image75.wmf"/><Relationship Id="rId2" Type="http://schemas.openxmlformats.org/officeDocument/2006/relationships/image" Target="../media/image52.wmf"/><Relationship Id="rId16" Type="http://schemas.openxmlformats.org/officeDocument/2006/relationships/image" Target="../media/image66.wmf"/><Relationship Id="rId20" Type="http://schemas.openxmlformats.org/officeDocument/2006/relationships/image" Target="../media/image70.wmf"/><Relationship Id="rId29" Type="http://schemas.openxmlformats.org/officeDocument/2006/relationships/image" Target="../media/image79.wmf"/><Relationship Id="rId1" Type="http://schemas.openxmlformats.org/officeDocument/2006/relationships/image" Target="../media/image51.wmf"/><Relationship Id="rId6" Type="http://schemas.openxmlformats.org/officeDocument/2006/relationships/image" Target="../media/image56.wmf"/><Relationship Id="rId11" Type="http://schemas.openxmlformats.org/officeDocument/2006/relationships/image" Target="../media/image61.wmf"/><Relationship Id="rId24" Type="http://schemas.openxmlformats.org/officeDocument/2006/relationships/image" Target="../media/image74.wmf"/><Relationship Id="rId5" Type="http://schemas.openxmlformats.org/officeDocument/2006/relationships/image" Target="../media/image55.wmf"/><Relationship Id="rId15" Type="http://schemas.openxmlformats.org/officeDocument/2006/relationships/image" Target="../media/image65.wmf"/><Relationship Id="rId23" Type="http://schemas.openxmlformats.org/officeDocument/2006/relationships/image" Target="../media/image73.wmf"/><Relationship Id="rId28" Type="http://schemas.openxmlformats.org/officeDocument/2006/relationships/image" Target="../media/image78.wmf"/><Relationship Id="rId10" Type="http://schemas.openxmlformats.org/officeDocument/2006/relationships/image" Target="../media/image60.wmf"/><Relationship Id="rId19" Type="http://schemas.openxmlformats.org/officeDocument/2006/relationships/image" Target="../media/image69.wmf"/><Relationship Id="rId4" Type="http://schemas.openxmlformats.org/officeDocument/2006/relationships/image" Target="../media/image54.wmf"/><Relationship Id="rId9" Type="http://schemas.openxmlformats.org/officeDocument/2006/relationships/image" Target="../media/image59.wmf"/><Relationship Id="rId14" Type="http://schemas.openxmlformats.org/officeDocument/2006/relationships/image" Target="../media/image64.wmf"/><Relationship Id="rId22" Type="http://schemas.openxmlformats.org/officeDocument/2006/relationships/image" Target="../media/image72.wmf"/><Relationship Id="rId27" Type="http://schemas.openxmlformats.org/officeDocument/2006/relationships/image" Target="../media/image77.wmf"/><Relationship Id="rId30" Type="http://schemas.openxmlformats.org/officeDocument/2006/relationships/image" Target="../media/image80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15"/>
              </a:lnSpc>
            </a:pPr>
            <a:r>
              <a:rPr dirty="0"/>
              <a:t>© </a:t>
            </a:r>
            <a:r>
              <a:rPr spc="-5" dirty="0"/>
              <a:t>Gina Wilson (All Things Algebra),</a:t>
            </a:r>
            <a:r>
              <a:rPr spc="-15" dirty="0"/>
              <a:t> </a:t>
            </a:r>
            <a:r>
              <a:rPr spc="-5" dirty="0"/>
              <a:t>2016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2/1/2018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15"/>
              </a:lnSpc>
            </a:pPr>
            <a:r>
              <a:rPr dirty="0"/>
              <a:t>© </a:t>
            </a:r>
            <a:r>
              <a:rPr spc="-5" dirty="0"/>
              <a:t>Gina Wilson (All Things Algebra),</a:t>
            </a:r>
            <a:r>
              <a:rPr spc="-15" dirty="0"/>
              <a:t> </a:t>
            </a:r>
            <a:r>
              <a:rPr spc="-5" dirty="0"/>
              <a:t>2016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2/1/2018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15"/>
              </a:lnSpc>
            </a:pPr>
            <a:r>
              <a:rPr dirty="0"/>
              <a:t>© </a:t>
            </a:r>
            <a:r>
              <a:rPr spc="-5" dirty="0"/>
              <a:t>Gina Wilson (All Things Algebra),</a:t>
            </a:r>
            <a:r>
              <a:rPr spc="-15" dirty="0"/>
              <a:t> </a:t>
            </a:r>
            <a:r>
              <a:rPr spc="-5" dirty="0"/>
              <a:t>2016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2/1/2018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15"/>
              </a:lnSpc>
            </a:pPr>
            <a:r>
              <a:rPr dirty="0"/>
              <a:t>© </a:t>
            </a:r>
            <a:r>
              <a:rPr spc="-5" dirty="0"/>
              <a:t>Gina Wilson (All Things Algebra),</a:t>
            </a:r>
            <a:r>
              <a:rPr spc="-15" dirty="0"/>
              <a:t> </a:t>
            </a:r>
            <a:r>
              <a:rPr spc="-5" dirty="0"/>
              <a:t>2016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2/1/2018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15"/>
              </a:lnSpc>
            </a:pPr>
            <a:r>
              <a:rPr dirty="0"/>
              <a:t>© </a:t>
            </a:r>
            <a:r>
              <a:rPr spc="-5" dirty="0"/>
              <a:t>Gina Wilson (All Things Algebra),</a:t>
            </a:r>
            <a:r>
              <a:rPr spc="-15" dirty="0"/>
              <a:t> </a:t>
            </a:r>
            <a:r>
              <a:rPr spc="-5" dirty="0"/>
              <a:t>2016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2/1/2018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620" y="402336"/>
            <a:ext cx="6995160" cy="16093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693304" y="9757162"/>
            <a:ext cx="1597659" cy="121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15"/>
              </a:lnSpc>
            </a:pPr>
            <a:r>
              <a:rPr dirty="0"/>
              <a:t>© </a:t>
            </a:r>
            <a:r>
              <a:rPr spc="-5" dirty="0"/>
              <a:t>Gina Wilson (All Things Algebra),</a:t>
            </a:r>
            <a:r>
              <a:rPr spc="-15" dirty="0"/>
              <a:t> </a:t>
            </a:r>
            <a:r>
              <a:rPr spc="-5" dirty="0"/>
              <a:t>2016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2/1/2018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.wmf"/><Relationship Id="rId18" Type="http://schemas.openxmlformats.org/officeDocument/2006/relationships/oleObject" Target="../embeddings/oleObject8.bin"/><Relationship Id="rId26" Type="http://schemas.openxmlformats.org/officeDocument/2006/relationships/oleObject" Target="../embeddings/oleObject12.bin"/><Relationship Id="rId39" Type="http://schemas.openxmlformats.org/officeDocument/2006/relationships/image" Target="../media/image18.wmf"/><Relationship Id="rId3" Type="http://schemas.openxmlformats.org/officeDocument/2006/relationships/image" Target="../media/image25.PNG"/><Relationship Id="rId21" Type="http://schemas.openxmlformats.org/officeDocument/2006/relationships/image" Target="../media/image9.wmf"/><Relationship Id="rId34" Type="http://schemas.openxmlformats.org/officeDocument/2006/relationships/oleObject" Target="../embeddings/oleObject16.bin"/><Relationship Id="rId42" Type="http://schemas.openxmlformats.org/officeDocument/2006/relationships/oleObject" Target="../embeddings/oleObject20.bin"/><Relationship Id="rId47" Type="http://schemas.openxmlformats.org/officeDocument/2006/relationships/image" Target="../media/image22.wmf"/><Relationship Id="rId50" Type="http://schemas.openxmlformats.org/officeDocument/2006/relationships/oleObject" Target="../embeddings/oleObject24.bin"/><Relationship Id="rId7" Type="http://schemas.openxmlformats.org/officeDocument/2006/relationships/image" Target="../media/image2.wmf"/><Relationship Id="rId12" Type="http://schemas.openxmlformats.org/officeDocument/2006/relationships/oleObject" Target="../embeddings/oleObject5.bin"/><Relationship Id="rId17" Type="http://schemas.openxmlformats.org/officeDocument/2006/relationships/image" Target="../media/image7.wmf"/><Relationship Id="rId25" Type="http://schemas.openxmlformats.org/officeDocument/2006/relationships/image" Target="../media/image11.wmf"/><Relationship Id="rId33" Type="http://schemas.openxmlformats.org/officeDocument/2006/relationships/image" Target="../media/image15.wmf"/><Relationship Id="rId38" Type="http://schemas.openxmlformats.org/officeDocument/2006/relationships/oleObject" Target="../embeddings/oleObject18.bin"/><Relationship Id="rId46" Type="http://schemas.openxmlformats.org/officeDocument/2006/relationships/oleObject" Target="../embeddings/oleObject22.bin"/><Relationship Id="rId2" Type="http://schemas.openxmlformats.org/officeDocument/2006/relationships/slideLayout" Target="../slideLayouts/slideLayout5.xml"/><Relationship Id="rId16" Type="http://schemas.openxmlformats.org/officeDocument/2006/relationships/oleObject" Target="../embeddings/oleObject7.bin"/><Relationship Id="rId20" Type="http://schemas.openxmlformats.org/officeDocument/2006/relationships/oleObject" Target="../embeddings/oleObject9.bin"/><Relationship Id="rId29" Type="http://schemas.openxmlformats.org/officeDocument/2006/relationships/image" Target="../media/image13.wmf"/><Relationship Id="rId41" Type="http://schemas.openxmlformats.org/officeDocument/2006/relationships/image" Target="../media/image19.wmf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4.wmf"/><Relationship Id="rId24" Type="http://schemas.openxmlformats.org/officeDocument/2006/relationships/oleObject" Target="../embeddings/oleObject11.bin"/><Relationship Id="rId32" Type="http://schemas.openxmlformats.org/officeDocument/2006/relationships/oleObject" Target="../embeddings/oleObject15.bin"/><Relationship Id="rId37" Type="http://schemas.openxmlformats.org/officeDocument/2006/relationships/image" Target="../media/image17.wmf"/><Relationship Id="rId40" Type="http://schemas.openxmlformats.org/officeDocument/2006/relationships/oleObject" Target="../embeddings/oleObject19.bin"/><Relationship Id="rId45" Type="http://schemas.openxmlformats.org/officeDocument/2006/relationships/image" Target="../media/image21.wmf"/><Relationship Id="rId5" Type="http://schemas.openxmlformats.org/officeDocument/2006/relationships/image" Target="../media/image1.wmf"/><Relationship Id="rId15" Type="http://schemas.openxmlformats.org/officeDocument/2006/relationships/image" Target="../media/image6.wmf"/><Relationship Id="rId23" Type="http://schemas.openxmlformats.org/officeDocument/2006/relationships/image" Target="../media/image10.wmf"/><Relationship Id="rId28" Type="http://schemas.openxmlformats.org/officeDocument/2006/relationships/oleObject" Target="../embeddings/oleObject13.bin"/><Relationship Id="rId36" Type="http://schemas.openxmlformats.org/officeDocument/2006/relationships/oleObject" Target="../embeddings/oleObject17.bin"/><Relationship Id="rId49" Type="http://schemas.openxmlformats.org/officeDocument/2006/relationships/image" Target="../media/image23.wmf"/><Relationship Id="rId10" Type="http://schemas.openxmlformats.org/officeDocument/2006/relationships/oleObject" Target="../embeddings/oleObject4.bin"/><Relationship Id="rId19" Type="http://schemas.openxmlformats.org/officeDocument/2006/relationships/image" Target="../media/image8.wmf"/><Relationship Id="rId31" Type="http://schemas.openxmlformats.org/officeDocument/2006/relationships/image" Target="../media/image14.wmf"/><Relationship Id="rId44" Type="http://schemas.openxmlformats.org/officeDocument/2006/relationships/oleObject" Target="../embeddings/oleObject21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3.wmf"/><Relationship Id="rId14" Type="http://schemas.openxmlformats.org/officeDocument/2006/relationships/oleObject" Target="../embeddings/oleObject6.bin"/><Relationship Id="rId22" Type="http://schemas.openxmlformats.org/officeDocument/2006/relationships/oleObject" Target="../embeddings/oleObject10.bin"/><Relationship Id="rId27" Type="http://schemas.openxmlformats.org/officeDocument/2006/relationships/image" Target="../media/image12.wmf"/><Relationship Id="rId30" Type="http://schemas.openxmlformats.org/officeDocument/2006/relationships/oleObject" Target="../embeddings/oleObject14.bin"/><Relationship Id="rId35" Type="http://schemas.openxmlformats.org/officeDocument/2006/relationships/image" Target="../media/image16.wmf"/><Relationship Id="rId43" Type="http://schemas.openxmlformats.org/officeDocument/2006/relationships/image" Target="../media/image20.wmf"/><Relationship Id="rId48" Type="http://schemas.openxmlformats.org/officeDocument/2006/relationships/oleObject" Target="../embeddings/oleObject23.bin"/><Relationship Id="rId8" Type="http://schemas.openxmlformats.org/officeDocument/2006/relationships/oleObject" Target="../embeddings/oleObject3.bin"/><Relationship Id="rId51" Type="http://schemas.openxmlformats.org/officeDocument/2006/relationships/image" Target="../media/image24.wmf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0.wmf"/><Relationship Id="rId18" Type="http://schemas.openxmlformats.org/officeDocument/2006/relationships/oleObject" Target="../embeddings/oleObject32.bin"/><Relationship Id="rId26" Type="http://schemas.openxmlformats.org/officeDocument/2006/relationships/oleObject" Target="../embeddings/oleObject36.bin"/><Relationship Id="rId39" Type="http://schemas.openxmlformats.org/officeDocument/2006/relationships/image" Target="../media/image43.wmf"/><Relationship Id="rId3" Type="http://schemas.openxmlformats.org/officeDocument/2006/relationships/image" Target="../media/image50.PNG"/><Relationship Id="rId21" Type="http://schemas.openxmlformats.org/officeDocument/2006/relationships/image" Target="../media/image34.wmf"/><Relationship Id="rId34" Type="http://schemas.openxmlformats.org/officeDocument/2006/relationships/oleObject" Target="../embeddings/oleObject40.bin"/><Relationship Id="rId42" Type="http://schemas.openxmlformats.org/officeDocument/2006/relationships/oleObject" Target="../embeddings/oleObject44.bin"/><Relationship Id="rId47" Type="http://schemas.openxmlformats.org/officeDocument/2006/relationships/image" Target="../media/image47.wmf"/><Relationship Id="rId50" Type="http://schemas.openxmlformats.org/officeDocument/2006/relationships/oleObject" Target="../embeddings/oleObject48.bin"/><Relationship Id="rId7" Type="http://schemas.openxmlformats.org/officeDocument/2006/relationships/image" Target="../media/image27.wmf"/><Relationship Id="rId12" Type="http://schemas.openxmlformats.org/officeDocument/2006/relationships/oleObject" Target="../embeddings/oleObject29.bin"/><Relationship Id="rId17" Type="http://schemas.openxmlformats.org/officeDocument/2006/relationships/image" Target="../media/image32.wmf"/><Relationship Id="rId25" Type="http://schemas.openxmlformats.org/officeDocument/2006/relationships/image" Target="../media/image36.wmf"/><Relationship Id="rId33" Type="http://schemas.openxmlformats.org/officeDocument/2006/relationships/image" Target="../media/image40.wmf"/><Relationship Id="rId38" Type="http://schemas.openxmlformats.org/officeDocument/2006/relationships/oleObject" Target="../embeddings/oleObject42.bin"/><Relationship Id="rId46" Type="http://schemas.openxmlformats.org/officeDocument/2006/relationships/oleObject" Target="../embeddings/oleObject46.bin"/><Relationship Id="rId2" Type="http://schemas.openxmlformats.org/officeDocument/2006/relationships/slideLayout" Target="../slideLayouts/slideLayout5.xml"/><Relationship Id="rId16" Type="http://schemas.openxmlformats.org/officeDocument/2006/relationships/oleObject" Target="../embeddings/oleObject31.bin"/><Relationship Id="rId20" Type="http://schemas.openxmlformats.org/officeDocument/2006/relationships/oleObject" Target="../embeddings/oleObject33.bin"/><Relationship Id="rId29" Type="http://schemas.openxmlformats.org/officeDocument/2006/relationships/image" Target="../media/image38.wmf"/><Relationship Id="rId41" Type="http://schemas.openxmlformats.org/officeDocument/2006/relationships/image" Target="../media/image44.wmf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26.bin"/><Relationship Id="rId11" Type="http://schemas.openxmlformats.org/officeDocument/2006/relationships/image" Target="../media/image29.wmf"/><Relationship Id="rId24" Type="http://schemas.openxmlformats.org/officeDocument/2006/relationships/oleObject" Target="../embeddings/oleObject35.bin"/><Relationship Id="rId32" Type="http://schemas.openxmlformats.org/officeDocument/2006/relationships/oleObject" Target="../embeddings/oleObject39.bin"/><Relationship Id="rId37" Type="http://schemas.openxmlformats.org/officeDocument/2006/relationships/image" Target="../media/image42.wmf"/><Relationship Id="rId40" Type="http://schemas.openxmlformats.org/officeDocument/2006/relationships/oleObject" Target="../embeddings/oleObject43.bin"/><Relationship Id="rId45" Type="http://schemas.openxmlformats.org/officeDocument/2006/relationships/image" Target="../media/image46.wmf"/><Relationship Id="rId5" Type="http://schemas.openxmlformats.org/officeDocument/2006/relationships/image" Target="../media/image26.wmf"/><Relationship Id="rId15" Type="http://schemas.openxmlformats.org/officeDocument/2006/relationships/image" Target="../media/image31.wmf"/><Relationship Id="rId23" Type="http://schemas.openxmlformats.org/officeDocument/2006/relationships/image" Target="../media/image35.wmf"/><Relationship Id="rId28" Type="http://schemas.openxmlformats.org/officeDocument/2006/relationships/oleObject" Target="../embeddings/oleObject37.bin"/><Relationship Id="rId36" Type="http://schemas.openxmlformats.org/officeDocument/2006/relationships/oleObject" Target="../embeddings/oleObject41.bin"/><Relationship Id="rId49" Type="http://schemas.openxmlformats.org/officeDocument/2006/relationships/image" Target="../media/image48.wmf"/><Relationship Id="rId10" Type="http://schemas.openxmlformats.org/officeDocument/2006/relationships/oleObject" Target="../embeddings/oleObject28.bin"/><Relationship Id="rId19" Type="http://schemas.openxmlformats.org/officeDocument/2006/relationships/image" Target="../media/image33.wmf"/><Relationship Id="rId31" Type="http://schemas.openxmlformats.org/officeDocument/2006/relationships/image" Target="../media/image39.wmf"/><Relationship Id="rId44" Type="http://schemas.openxmlformats.org/officeDocument/2006/relationships/oleObject" Target="../embeddings/oleObject45.bin"/><Relationship Id="rId4" Type="http://schemas.openxmlformats.org/officeDocument/2006/relationships/oleObject" Target="../embeddings/oleObject25.bin"/><Relationship Id="rId9" Type="http://schemas.openxmlformats.org/officeDocument/2006/relationships/image" Target="../media/image28.wmf"/><Relationship Id="rId14" Type="http://schemas.openxmlformats.org/officeDocument/2006/relationships/oleObject" Target="../embeddings/oleObject30.bin"/><Relationship Id="rId22" Type="http://schemas.openxmlformats.org/officeDocument/2006/relationships/oleObject" Target="../embeddings/oleObject34.bin"/><Relationship Id="rId27" Type="http://schemas.openxmlformats.org/officeDocument/2006/relationships/image" Target="../media/image37.wmf"/><Relationship Id="rId30" Type="http://schemas.openxmlformats.org/officeDocument/2006/relationships/oleObject" Target="../embeddings/oleObject38.bin"/><Relationship Id="rId35" Type="http://schemas.openxmlformats.org/officeDocument/2006/relationships/image" Target="../media/image41.wmf"/><Relationship Id="rId43" Type="http://schemas.openxmlformats.org/officeDocument/2006/relationships/image" Target="../media/image45.wmf"/><Relationship Id="rId48" Type="http://schemas.openxmlformats.org/officeDocument/2006/relationships/oleObject" Target="../embeddings/oleObject47.bin"/><Relationship Id="rId8" Type="http://schemas.openxmlformats.org/officeDocument/2006/relationships/oleObject" Target="../embeddings/oleObject27.bin"/><Relationship Id="rId51" Type="http://schemas.openxmlformats.org/officeDocument/2006/relationships/image" Target="../media/image49.wmf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53.bin"/><Relationship Id="rId18" Type="http://schemas.openxmlformats.org/officeDocument/2006/relationships/image" Target="../media/image57.wmf"/><Relationship Id="rId26" Type="http://schemas.openxmlformats.org/officeDocument/2006/relationships/image" Target="../media/image61.wmf"/><Relationship Id="rId39" Type="http://schemas.openxmlformats.org/officeDocument/2006/relationships/oleObject" Target="../embeddings/oleObject66.bin"/><Relationship Id="rId21" Type="http://schemas.openxmlformats.org/officeDocument/2006/relationships/oleObject" Target="../embeddings/oleObject57.bin"/><Relationship Id="rId34" Type="http://schemas.openxmlformats.org/officeDocument/2006/relationships/image" Target="../media/image65.wmf"/><Relationship Id="rId42" Type="http://schemas.openxmlformats.org/officeDocument/2006/relationships/image" Target="../media/image69.wmf"/><Relationship Id="rId47" Type="http://schemas.openxmlformats.org/officeDocument/2006/relationships/oleObject" Target="../embeddings/oleObject70.bin"/><Relationship Id="rId50" Type="http://schemas.openxmlformats.org/officeDocument/2006/relationships/image" Target="../media/image73.wmf"/><Relationship Id="rId55" Type="http://schemas.openxmlformats.org/officeDocument/2006/relationships/oleObject" Target="../embeddings/oleObject74.bin"/><Relationship Id="rId63" Type="http://schemas.openxmlformats.org/officeDocument/2006/relationships/oleObject" Target="../embeddings/oleObject78.bin"/><Relationship Id="rId7" Type="http://schemas.openxmlformats.org/officeDocument/2006/relationships/oleObject" Target="../embeddings/oleObject50.bin"/><Relationship Id="rId2" Type="http://schemas.openxmlformats.org/officeDocument/2006/relationships/slideLayout" Target="../slideLayouts/slideLayout5.xml"/><Relationship Id="rId16" Type="http://schemas.openxmlformats.org/officeDocument/2006/relationships/image" Target="../media/image56.wmf"/><Relationship Id="rId20" Type="http://schemas.openxmlformats.org/officeDocument/2006/relationships/image" Target="../media/image58.wmf"/><Relationship Id="rId29" Type="http://schemas.openxmlformats.org/officeDocument/2006/relationships/oleObject" Target="../embeddings/oleObject61.bin"/><Relationship Id="rId41" Type="http://schemas.openxmlformats.org/officeDocument/2006/relationships/oleObject" Target="../embeddings/oleObject67.bin"/><Relationship Id="rId54" Type="http://schemas.openxmlformats.org/officeDocument/2006/relationships/image" Target="../media/image75.wmf"/><Relationship Id="rId62" Type="http://schemas.openxmlformats.org/officeDocument/2006/relationships/image" Target="../media/image79.wmf"/><Relationship Id="rId1" Type="http://schemas.openxmlformats.org/officeDocument/2006/relationships/vmlDrawing" Target="../drawings/vmlDrawing3.vml"/><Relationship Id="rId6" Type="http://schemas.openxmlformats.org/officeDocument/2006/relationships/image" Target="../media/image51.wmf"/><Relationship Id="rId11" Type="http://schemas.openxmlformats.org/officeDocument/2006/relationships/oleObject" Target="../embeddings/oleObject52.bin"/><Relationship Id="rId24" Type="http://schemas.openxmlformats.org/officeDocument/2006/relationships/image" Target="../media/image60.wmf"/><Relationship Id="rId32" Type="http://schemas.openxmlformats.org/officeDocument/2006/relationships/image" Target="../media/image64.wmf"/><Relationship Id="rId37" Type="http://schemas.openxmlformats.org/officeDocument/2006/relationships/oleObject" Target="../embeddings/oleObject65.bin"/><Relationship Id="rId40" Type="http://schemas.openxmlformats.org/officeDocument/2006/relationships/image" Target="../media/image68.wmf"/><Relationship Id="rId45" Type="http://schemas.openxmlformats.org/officeDocument/2006/relationships/oleObject" Target="../embeddings/oleObject69.bin"/><Relationship Id="rId53" Type="http://schemas.openxmlformats.org/officeDocument/2006/relationships/oleObject" Target="../embeddings/oleObject73.bin"/><Relationship Id="rId58" Type="http://schemas.openxmlformats.org/officeDocument/2006/relationships/image" Target="../media/image77.wmf"/><Relationship Id="rId5" Type="http://schemas.openxmlformats.org/officeDocument/2006/relationships/oleObject" Target="../embeddings/oleObject49.bin"/><Relationship Id="rId15" Type="http://schemas.openxmlformats.org/officeDocument/2006/relationships/oleObject" Target="../embeddings/oleObject54.bin"/><Relationship Id="rId23" Type="http://schemas.openxmlformats.org/officeDocument/2006/relationships/oleObject" Target="../embeddings/oleObject58.bin"/><Relationship Id="rId28" Type="http://schemas.openxmlformats.org/officeDocument/2006/relationships/image" Target="../media/image62.wmf"/><Relationship Id="rId36" Type="http://schemas.openxmlformats.org/officeDocument/2006/relationships/image" Target="../media/image66.wmf"/><Relationship Id="rId49" Type="http://schemas.openxmlformats.org/officeDocument/2006/relationships/oleObject" Target="../embeddings/oleObject71.bin"/><Relationship Id="rId57" Type="http://schemas.openxmlformats.org/officeDocument/2006/relationships/oleObject" Target="../embeddings/oleObject75.bin"/><Relationship Id="rId61" Type="http://schemas.openxmlformats.org/officeDocument/2006/relationships/oleObject" Target="../embeddings/oleObject77.bin"/><Relationship Id="rId10" Type="http://schemas.openxmlformats.org/officeDocument/2006/relationships/image" Target="../media/image53.wmf"/><Relationship Id="rId19" Type="http://schemas.openxmlformats.org/officeDocument/2006/relationships/oleObject" Target="../embeddings/oleObject56.bin"/><Relationship Id="rId31" Type="http://schemas.openxmlformats.org/officeDocument/2006/relationships/oleObject" Target="../embeddings/oleObject62.bin"/><Relationship Id="rId44" Type="http://schemas.openxmlformats.org/officeDocument/2006/relationships/image" Target="../media/image70.wmf"/><Relationship Id="rId52" Type="http://schemas.openxmlformats.org/officeDocument/2006/relationships/image" Target="../media/image74.wmf"/><Relationship Id="rId60" Type="http://schemas.openxmlformats.org/officeDocument/2006/relationships/image" Target="../media/image78.wmf"/><Relationship Id="rId4" Type="http://schemas.openxmlformats.org/officeDocument/2006/relationships/image" Target="../media/image82.png"/><Relationship Id="rId9" Type="http://schemas.openxmlformats.org/officeDocument/2006/relationships/oleObject" Target="../embeddings/oleObject51.bin"/><Relationship Id="rId14" Type="http://schemas.openxmlformats.org/officeDocument/2006/relationships/image" Target="../media/image55.wmf"/><Relationship Id="rId22" Type="http://schemas.openxmlformats.org/officeDocument/2006/relationships/image" Target="../media/image59.wmf"/><Relationship Id="rId27" Type="http://schemas.openxmlformats.org/officeDocument/2006/relationships/oleObject" Target="../embeddings/oleObject60.bin"/><Relationship Id="rId30" Type="http://schemas.openxmlformats.org/officeDocument/2006/relationships/image" Target="../media/image63.wmf"/><Relationship Id="rId35" Type="http://schemas.openxmlformats.org/officeDocument/2006/relationships/oleObject" Target="../embeddings/oleObject64.bin"/><Relationship Id="rId43" Type="http://schemas.openxmlformats.org/officeDocument/2006/relationships/oleObject" Target="../embeddings/oleObject68.bin"/><Relationship Id="rId48" Type="http://schemas.openxmlformats.org/officeDocument/2006/relationships/image" Target="../media/image72.wmf"/><Relationship Id="rId56" Type="http://schemas.openxmlformats.org/officeDocument/2006/relationships/image" Target="../media/image76.wmf"/><Relationship Id="rId64" Type="http://schemas.openxmlformats.org/officeDocument/2006/relationships/image" Target="../media/image80.wmf"/><Relationship Id="rId8" Type="http://schemas.openxmlformats.org/officeDocument/2006/relationships/image" Target="../media/image52.wmf"/><Relationship Id="rId51" Type="http://schemas.openxmlformats.org/officeDocument/2006/relationships/oleObject" Target="../embeddings/oleObject72.bin"/><Relationship Id="rId3" Type="http://schemas.openxmlformats.org/officeDocument/2006/relationships/image" Target="../media/image81.PNG"/><Relationship Id="rId12" Type="http://schemas.openxmlformats.org/officeDocument/2006/relationships/image" Target="../media/image54.wmf"/><Relationship Id="rId17" Type="http://schemas.openxmlformats.org/officeDocument/2006/relationships/oleObject" Target="../embeddings/oleObject55.bin"/><Relationship Id="rId25" Type="http://schemas.openxmlformats.org/officeDocument/2006/relationships/oleObject" Target="../embeddings/oleObject59.bin"/><Relationship Id="rId33" Type="http://schemas.openxmlformats.org/officeDocument/2006/relationships/oleObject" Target="../embeddings/oleObject63.bin"/><Relationship Id="rId38" Type="http://schemas.openxmlformats.org/officeDocument/2006/relationships/image" Target="../media/image67.wmf"/><Relationship Id="rId46" Type="http://schemas.openxmlformats.org/officeDocument/2006/relationships/image" Target="../media/image71.wmf"/><Relationship Id="rId59" Type="http://schemas.openxmlformats.org/officeDocument/2006/relationships/oleObject" Target="../embeddings/oleObject76.bin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grayscl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tangle 84">
            <a:extLst>
              <a:ext uri="{FF2B5EF4-FFF2-40B4-BE49-F238E27FC236}">
                <a16:creationId xmlns:a16="http://schemas.microsoft.com/office/drawing/2014/main" id="{0B28A915-F2FA-47C1-B769-AB12631873C8}"/>
              </a:ext>
            </a:extLst>
          </p:cNvPr>
          <p:cNvSpPr/>
          <p:nvPr/>
        </p:nvSpPr>
        <p:spPr>
          <a:xfrm>
            <a:off x="518894" y="1144250"/>
            <a:ext cx="3352800" cy="4462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5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For questions 1-2, use the diagram below </a:t>
            </a:r>
            <a:br>
              <a:rPr lang="en-US" sz="115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</a:br>
            <a:r>
              <a:rPr lang="en-US" sz="115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    to give the exact trigonometric ratios.</a:t>
            </a:r>
            <a:endParaRPr lang="en-US" dirty="0"/>
          </a:p>
        </p:txBody>
      </p:sp>
      <p:sp>
        <p:nvSpPr>
          <p:cNvPr id="160" name="Right Triangle 159">
            <a:extLst>
              <a:ext uri="{FF2B5EF4-FFF2-40B4-BE49-F238E27FC236}">
                <a16:creationId xmlns:a16="http://schemas.microsoft.com/office/drawing/2014/main" id="{AB9BDDB8-2C5D-4F9E-83A0-1C3A96CC233B}"/>
              </a:ext>
            </a:extLst>
          </p:cNvPr>
          <p:cNvSpPr/>
          <p:nvPr/>
        </p:nvSpPr>
        <p:spPr>
          <a:xfrm>
            <a:off x="1506310" y="1982450"/>
            <a:ext cx="1504610" cy="587798"/>
          </a:xfrm>
          <a:prstGeom prst="rtTriangle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874BBC12-37A5-409B-8980-F4D41EC6249D}"/>
              </a:ext>
            </a:extLst>
          </p:cNvPr>
          <p:cNvSpPr/>
          <p:nvPr/>
        </p:nvSpPr>
        <p:spPr>
          <a:xfrm>
            <a:off x="1506310" y="2436495"/>
            <a:ext cx="131978" cy="131911"/>
          </a:xfrm>
          <a:prstGeom prst="rect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1" name="Text Box 4">
            <a:extLst>
              <a:ext uri="{FF2B5EF4-FFF2-40B4-BE49-F238E27FC236}">
                <a16:creationId xmlns:a16="http://schemas.microsoft.com/office/drawing/2014/main" id="{AC14A4F5-5F73-4D6D-A4F1-E0130E092FA9}"/>
              </a:ext>
            </a:extLst>
          </p:cNvPr>
          <p:cNvSpPr txBox="1"/>
          <p:nvPr/>
        </p:nvSpPr>
        <p:spPr>
          <a:xfrm>
            <a:off x="1310390" y="2183710"/>
            <a:ext cx="199830" cy="188785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7</a:t>
            </a:r>
          </a:p>
        </p:txBody>
      </p:sp>
      <p:sp>
        <p:nvSpPr>
          <p:cNvPr id="93" name="Text Box 5">
            <a:extLst>
              <a:ext uri="{FF2B5EF4-FFF2-40B4-BE49-F238E27FC236}">
                <a16:creationId xmlns:a16="http://schemas.microsoft.com/office/drawing/2014/main" id="{F20E56FD-BB1D-4D16-9A8A-83D29E77F178}"/>
              </a:ext>
            </a:extLst>
          </p:cNvPr>
          <p:cNvSpPr txBox="1"/>
          <p:nvPr/>
        </p:nvSpPr>
        <p:spPr>
          <a:xfrm>
            <a:off x="2148491" y="2575351"/>
            <a:ext cx="199830" cy="188785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24</a:t>
            </a:r>
          </a:p>
        </p:txBody>
      </p:sp>
      <p:graphicFrame>
        <p:nvGraphicFramePr>
          <p:cNvPr id="162" name="Object 161">
            <a:extLst>
              <a:ext uri="{FF2B5EF4-FFF2-40B4-BE49-F238E27FC236}">
                <a16:creationId xmlns:a16="http://schemas.microsoft.com/office/drawing/2014/main" id="{1C63C4FE-61F8-46AB-9BFC-8D08ADDB8E4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2730737"/>
              </p:ext>
            </p:extLst>
          </p:nvPr>
        </p:nvGraphicFramePr>
        <p:xfrm>
          <a:off x="1538990" y="2058650"/>
          <a:ext cx="127000" cy="16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89" name="Equation" r:id="rId4" imgW="126720" imgH="164880" progId="Equation.DSMT4">
                  <p:embed/>
                </p:oleObj>
              </mc:Choice>
              <mc:Fallback>
                <p:oleObj name="Equation" r:id="rId4" imgW="126720" imgH="164880" progId="Equation.DSMT4">
                  <p:embed/>
                  <p:pic>
                    <p:nvPicPr>
                      <p:cNvPr id="99" name="Object 98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38990" y="2058650"/>
                        <a:ext cx="127000" cy="165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3" name="Rectangle 172">
            <a:extLst>
              <a:ext uri="{FF2B5EF4-FFF2-40B4-BE49-F238E27FC236}">
                <a16:creationId xmlns:a16="http://schemas.microsoft.com/office/drawing/2014/main" id="{8E070B93-5297-4496-977A-5142C0FF1891}"/>
              </a:ext>
            </a:extLst>
          </p:cNvPr>
          <p:cNvSpPr/>
          <p:nvPr/>
        </p:nvSpPr>
        <p:spPr>
          <a:xfrm>
            <a:off x="3861862" y="1104922"/>
            <a:ext cx="325730" cy="2693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5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1.</a:t>
            </a:r>
            <a:endParaRPr lang="en-US" dirty="0"/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2399B53C-B97F-421E-B640-B2A59B3F1682}"/>
              </a:ext>
            </a:extLst>
          </p:cNvPr>
          <p:cNvSpPr/>
          <p:nvPr/>
        </p:nvSpPr>
        <p:spPr>
          <a:xfrm>
            <a:off x="3864318" y="1992282"/>
            <a:ext cx="325730" cy="2693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5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2.</a:t>
            </a:r>
            <a:endParaRPr lang="en-US" dirty="0"/>
          </a:p>
        </p:txBody>
      </p:sp>
      <p:sp>
        <p:nvSpPr>
          <p:cNvPr id="175" name="Text Box 25">
            <a:extLst>
              <a:ext uri="{FF2B5EF4-FFF2-40B4-BE49-F238E27FC236}">
                <a16:creationId xmlns:a16="http://schemas.microsoft.com/office/drawing/2014/main" id="{3F5303DE-9828-445F-9FB3-099F87ECD3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0254" y="2469146"/>
            <a:ext cx="522605" cy="358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176" name="Text Box 25">
            <a:extLst>
              <a:ext uri="{FF2B5EF4-FFF2-40B4-BE49-F238E27FC236}">
                <a16:creationId xmlns:a16="http://schemas.microsoft.com/office/drawing/2014/main" id="{40C8EDA6-2528-48F5-AC3D-869F97555B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0254" y="1591618"/>
            <a:ext cx="522605" cy="358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graphicFrame>
        <p:nvGraphicFramePr>
          <p:cNvPr id="177" name="Object 176">
            <a:extLst>
              <a:ext uri="{FF2B5EF4-FFF2-40B4-BE49-F238E27FC236}">
                <a16:creationId xmlns:a16="http://schemas.microsoft.com/office/drawing/2014/main" id="{A1787E51-D7B1-48DA-AC4A-066F1C2F1D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2658584"/>
              </p:ext>
            </p:extLst>
          </p:nvPr>
        </p:nvGraphicFramePr>
        <p:xfrm>
          <a:off x="4096453" y="1136747"/>
          <a:ext cx="384175" cy="1997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90" name="Equation" r:id="rId6" imgW="317160" imgH="164880" progId="Equation.DSMT4">
                  <p:embed/>
                </p:oleObj>
              </mc:Choice>
              <mc:Fallback>
                <p:oleObj name="Equation" r:id="rId6" imgW="317160" imgH="164880" progId="Equation.DSMT4">
                  <p:embed/>
                  <p:pic>
                    <p:nvPicPr>
                      <p:cNvPr id="104" name="Object 103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096453" y="1136747"/>
                        <a:ext cx="384175" cy="1997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8" name="Object 177">
            <a:extLst>
              <a:ext uri="{FF2B5EF4-FFF2-40B4-BE49-F238E27FC236}">
                <a16:creationId xmlns:a16="http://schemas.microsoft.com/office/drawing/2014/main" id="{F8038FE0-FA5F-4194-A425-A97AF650A5B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5374715"/>
              </p:ext>
            </p:extLst>
          </p:nvPr>
        </p:nvGraphicFramePr>
        <p:xfrm>
          <a:off x="4116117" y="2024107"/>
          <a:ext cx="384175" cy="1997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91" name="Equation" r:id="rId8" imgW="317160" imgH="164880" progId="Equation.DSMT4">
                  <p:embed/>
                </p:oleObj>
              </mc:Choice>
              <mc:Fallback>
                <p:oleObj name="Equation" r:id="rId8" imgW="317160" imgH="164880" progId="Equation.DSMT4">
                  <p:embed/>
                  <p:pic>
                    <p:nvPicPr>
                      <p:cNvPr id="105" name="Object 104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116117" y="2024107"/>
                        <a:ext cx="384175" cy="1997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9" name="Text Box 807">
            <a:extLst>
              <a:ext uri="{FF2B5EF4-FFF2-40B4-BE49-F238E27FC236}">
                <a16:creationId xmlns:a16="http://schemas.microsoft.com/office/drawing/2014/main" id="{B620A10B-F3D7-49CB-A0F2-7BB0635CFE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53590" y="2363450"/>
            <a:ext cx="2661285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4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         B.         C.         D.  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0" name="Text Box 807">
            <a:extLst>
              <a:ext uri="{FF2B5EF4-FFF2-40B4-BE49-F238E27FC236}">
                <a16:creationId xmlns:a16="http://schemas.microsoft.com/office/drawing/2014/main" id="{CD24AA31-1EF2-4B87-8AE8-35F02ED684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53590" y="1449050"/>
            <a:ext cx="2661285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4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        B.         C.         D.  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181" name="Object 180">
            <a:extLst>
              <a:ext uri="{FF2B5EF4-FFF2-40B4-BE49-F238E27FC236}">
                <a16:creationId xmlns:a16="http://schemas.microsoft.com/office/drawing/2014/main" id="{80B4887A-4A7E-4072-B180-CB9592B5292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4708589"/>
              </p:ext>
            </p:extLst>
          </p:nvPr>
        </p:nvGraphicFramePr>
        <p:xfrm>
          <a:off x="4358390" y="1449050"/>
          <a:ext cx="2286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92" name="Equation" r:id="rId10" imgW="228600" imgH="368280" progId="Equation.DSMT4">
                  <p:embed/>
                </p:oleObj>
              </mc:Choice>
              <mc:Fallback>
                <p:oleObj name="Equation" r:id="rId10" imgW="228600" imgH="368280" progId="Equation.DSMT4">
                  <p:embed/>
                  <p:pic>
                    <p:nvPicPr>
                      <p:cNvPr id="108" name="Object 107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358390" y="1449050"/>
                        <a:ext cx="2286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2" name="Object 181">
            <a:extLst>
              <a:ext uri="{FF2B5EF4-FFF2-40B4-BE49-F238E27FC236}">
                <a16:creationId xmlns:a16="http://schemas.microsoft.com/office/drawing/2014/main" id="{82061616-A529-4E9D-877D-472505FD868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2012825"/>
              </p:ext>
            </p:extLst>
          </p:nvPr>
        </p:nvGraphicFramePr>
        <p:xfrm>
          <a:off x="4891790" y="1449050"/>
          <a:ext cx="2286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93" name="Equation" r:id="rId12" imgW="228600" imgH="368280" progId="Equation.DSMT4">
                  <p:embed/>
                </p:oleObj>
              </mc:Choice>
              <mc:Fallback>
                <p:oleObj name="Equation" r:id="rId12" imgW="228600" imgH="368280" progId="Equation.DSMT4">
                  <p:embed/>
                  <p:pic>
                    <p:nvPicPr>
                      <p:cNvPr id="109" name="Object 108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4891790" y="1449050"/>
                        <a:ext cx="2286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3" name="Object 182">
            <a:extLst>
              <a:ext uri="{FF2B5EF4-FFF2-40B4-BE49-F238E27FC236}">
                <a16:creationId xmlns:a16="http://schemas.microsoft.com/office/drawing/2014/main" id="{5F531F3E-3D60-4968-BDFB-0C546A6B396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775068"/>
              </p:ext>
            </p:extLst>
          </p:nvPr>
        </p:nvGraphicFramePr>
        <p:xfrm>
          <a:off x="5425190" y="1449050"/>
          <a:ext cx="2159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94" name="Equation" r:id="rId14" imgW="215640" imgH="368280" progId="Equation.DSMT4">
                  <p:embed/>
                </p:oleObj>
              </mc:Choice>
              <mc:Fallback>
                <p:oleObj name="Equation" r:id="rId14" imgW="215640" imgH="368280" progId="Equation.DSMT4">
                  <p:embed/>
                  <p:pic>
                    <p:nvPicPr>
                      <p:cNvPr id="110" name="Object 109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5425190" y="1449050"/>
                        <a:ext cx="2159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" name="Object 183">
            <a:extLst>
              <a:ext uri="{FF2B5EF4-FFF2-40B4-BE49-F238E27FC236}">
                <a16:creationId xmlns:a16="http://schemas.microsoft.com/office/drawing/2014/main" id="{E0DB032B-D4D3-4C02-B05F-B443CD795A9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4085294"/>
              </p:ext>
            </p:extLst>
          </p:nvPr>
        </p:nvGraphicFramePr>
        <p:xfrm>
          <a:off x="5958590" y="1449050"/>
          <a:ext cx="2159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95" name="Equation" r:id="rId16" imgW="215640" imgH="368280" progId="Equation.DSMT4">
                  <p:embed/>
                </p:oleObj>
              </mc:Choice>
              <mc:Fallback>
                <p:oleObj name="Equation" r:id="rId16" imgW="215640" imgH="368280" progId="Equation.DSMT4">
                  <p:embed/>
                  <p:pic>
                    <p:nvPicPr>
                      <p:cNvPr id="111" name="Object 110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5958590" y="1449050"/>
                        <a:ext cx="2159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" name="Object 184">
            <a:extLst>
              <a:ext uri="{FF2B5EF4-FFF2-40B4-BE49-F238E27FC236}">
                <a16:creationId xmlns:a16="http://schemas.microsoft.com/office/drawing/2014/main" id="{3352CE39-C45E-4E18-BFD2-56760257431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5063341"/>
              </p:ext>
            </p:extLst>
          </p:nvPr>
        </p:nvGraphicFramePr>
        <p:xfrm>
          <a:off x="4358390" y="2363450"/>
          <a:ext cx="2159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96" name="Equation" r:id="rId18" imgW="215640" imgH="368280" progId="Equation.DSMT4">
                  <p:embed/>
                </p:oleObj>
              </mc:Choice>
              <mc:Fallback>
                <p:oleObj name="Equation" r:id="rId18" imgW="215640" imgH="368280" progId="Equation.DSMT4">
                  <p:embed/>
                  <p:pic>
                    <p:nvPicPr>
                      <p:cNvPr id="112" name="Object 111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4358390" y="2363450"/>
                        <a:ext cx="2159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6" name="Object 185">
            <a:extLst>
              <a:ext uri="{FF2B5EF4-FFF2-40B4-BE49-F238E27FC236}">
                <a16:creationId xmlns:a16="http://schemas.microsoft.com/office/drawing/2014/main" id="{4B91B8F1-A2CA-420B-B75A-D4D15045B7C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8219941"/>
              </p:ext>
            </p:extLst>
          </p:nvPr>
        </p:nvGraphicFramePr>
        <p:xfrm>
          <a:off x="4967990" y="2363450"/>
          <a:ext cx="2159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97" name="Equation" r:id="rId20" imgW="215640" imgH="368280" progId="Equation.DSMT4">
                  <p:embed/>
                </p:oleObj>
              </mc:Choice>
              <mc:Fallback>
                <p:oleObj name="Equation" r:id="rId20" imgW="215640" imgH="368280" progId="Equation.DSMT4">
                  <p:embed/>
                  <p:pic>
                    <p:nvPicPr>
                      <p:cNvPr id="113" name="Object 112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4967990" y="2363450"/>
                        <a:ext cx="2159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7" name="Object 186">
            <a:extLst>
              <a:ext uri="{FF2B5EF4-FFF2-40B4-BE49-F238E27FC236}">
                <a16:creationId xmlns:a16="http://schemas.microsoft.com/office/drawing/2014/main" id="{CA008CD2-A953-484D-BBDC-A1DA4D78E58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3885551"/>
              </p:ext>
            </p:extLst>
          </p:nvPr>
        </p:nvGraphicFramePr>
        <p:xfrm>
          <a:off x="5425190" y="2363450"/>
          <a:ext cx="2286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98" name="Equation" r:id="rId22" imgW="228600" imgH="368280" progId="Equation.DSMT4">
                  <p:embed/>
                </p:oleObj>
              </mc:Choice>
              <mc:Fallback>
                <p:oleObj name="Equation" r:id="rId22" imgW="228600" imgH="368280" progId="Equation.DSMT4">
                  <p:embed/>
                  <p:pic>
                    <p:nvPicPr>
                      <p:cNvPr id="114" name="Object 113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5425190" y="2363450"/>
                        <a:ext cx="2286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8" name="Object 187">
            <a:extLst>
              <a:ext uri="{FF2B5EF4-FFF2-40B4-BE49-F238E27FC236}">
                <a16:creationId xmlns:a16="http://schemas.microsoft.com/office/drawing/2014/main" id="{7DEDA999-694F-4B4C-B761-A8EFB674D08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9431551"/>
              </p:ext>
            </p:extLst>
          </p:nvPr>
        </p:nvGraphicFramePr>
        <p:xfrm>
          <a:off x="5958590" y="2363450"/>
          <a:ext cx="2286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99" name="Equation" r:id="rId24" imgW="228600" imgH="368280" progId="Equation.DSMT4">
                  <p:embed/>
                </p:oleObj>
              </mc:Choice>
              <mc:Fallback>
                <p:oleObj name="Equation" r:id="rId24" imgW="228600" imgH="368280" progId="Equation.DSMT4">
                  <p:embed/>
                  <p:pic>
                    <p:nvPicPr>
                      <p:cNvPr id="115" name="Object 114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5958590" y="2363450"/>
                        <a:ext cx="2286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9" name="Rectangle 188">
            <a:extLst>
              <a:ext uri="{FF2B5EF4-FFF2-40B4-BE49-F238E27FC236}">
                <a16:creationId xmlns:a16="http://schemas.microsoft.com/office/drawing/2014/main" id="{44F3B242-C74A-4ECE-A9C5-B4CC4DB74C53}"/>
              </a:ext>
            </a:extLst>
          </p:cNvPr>
          <p:cNvSpPr/>
          <p:nvPr/>
        </p:nvSpPr>
        <p:spPr>
          <a:xfrm>
            <a:off x="415654" y="2953386"/>
            <a:ext cx="1980029" cy="2693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5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3.  </a:t>
            </a:r>
            <a:r>
              <a:rPr lang="en-US" sz="1150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If               </a:t>
            </a:r>
            <a:r>
              <a:rPr lang="en-US" sz="115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, </a:t>
            </a:r>
            <a:r>
              <a:rPr lang="en-US" sz="1150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find</a:t>
            </a:r>
            <a:r>
              <a:rPr lang="en-US" sz="115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         .</a:t>
            </a:r>
            <a:endParaRPr lang="en-US" dirty="0"/>
          </a:p>
        </p:txBody>
      </p:sp>
      <p:graphicFrame>
        <p:nvGraphicFramePr>
          <p:cNvPr id="190" name="Object 189">
            <a:extLst>
              <a:ext uri="{FF2B5EF4-FFF2-40B4-BE49-F238E27FC236}">
                <a16:creationId xmlns:a16="http://schemas.microsoft.com/office/drawing/2014/main" id="{A8DB9FB3-EB9A-4A30-8F3A-64D08D461D9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2567988"/>
              </p:ext>
            </p:extLst>
          </p:nvPr>
        </p:nvGraphicFramePr>
        <p:xfrm>
          <a:off x="872050" y="2858179"/>
          <a:ext cx="660781" cy="4456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0" name="Equation" r:id="rId26" imgW="545760" imgH="368280" progId="Equation.DSMT4">
                  <p:embed/>
                </p:oleObj>
              </mc:Choice>
              <mc:Fallback>
                <p:oleObj name="Equation" r:id="rId26" imgW="545760" imgH="368280" progId="Equation.DSMT4">
                  <p:embed/>
                  <p:pic>
                    <p:nvPicPr>
                      <p:cNvPr id="117" name="Object 116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872050" y="2858179"/>
                        <a:ext cx="660781" cy="44564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1" name="Object 190">
            <a:extLst>
              <a:ext uri="{FF2B5EF4-FFF2-40B4-BE49-F238E27FC236}">
                <a16:creationId xmlns:a16="http://schemas.microsoft.com/office/drawing/2014/main" id="{0509D6B1-C551-4A26-BBC7-A119FD1D368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7437134"/>
              </p:ext>
            </p:extLst>
          </p:nvPr>
        </p:nvGraphicFramePr>
        <p:xfrm>
          <a:off x="1849781" y="2992587"/>
          <a:ext cx="384175" cy="1997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1" name="Equation" r:id="rId28" imgW="317160" imgH="164880" progId="Equation.DSMT4">
                  <p:embed/>
                </p:oleObj>
              </mc:Choice>
              <mc:Fallback>
                <p:oleObj name="Equation" r:id="rId28" imgW="317160" imgH="164880" progId="Equation.DSMT4">
                  <p:embed/>
                  <p:pic>
                    <p:nvPicPr>
                      <p:cNvPr id="118" name="Object 117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1849781" y="2992587"/>
                        <a:ext cx="384175" cy="1997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2" name="Text Box 12">
            <a:extLst>
              <a:ext uri="{FF2B5EF4-FFF2-40B4-BE49-F238E27FC236}">
                <a16:creationId xmlns:a16="http://schemas.microsoft.com/office/drawing/2014/main" id="{30D781C8-9333-4E9E-A5BC-5C69BD4203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91590" y="4715818"/>
            <a:ext cx="522605" cy="358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193" name="Text Box 12">
            <a:extLst>
              <a:ext uri="{FF2B5EF4-FFF2-40B4-BE49-F238E27FC236}">
                <a16:creationId xmlns:a16="http://schemas.microsoft.com/office/drawing/2014/main" id="{9F79862D-A032-4107-B124-006AB22DC9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0422" y="4725650"/>
            <a:ext cx="522605" cy="358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194" name="Text Box 807">
            <a:extLst>
              <a:ext uri="{FF2B5EF4-FFF2-40B4-BE49-F238E27FC236}">
                <a16:creationId xmlns:a16="http://schemas.microsoft.com/office/drawing/2014/main" id="{855BAC4E-CD8D-4F8F-A68B-6E7320CA83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29790" y="4039850"/>
            <a:ext cx="2571750" cy="96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4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                          C.     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                          D. 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95" name="Text Box 807">
            <a:extLst>
              <a:ext uri="{FF2B5EF4-FFF2-40B4-BE49-F238E27FC236}">
                <a16:creationId xmlns:a16="http://schemas.microsoft.com/office/drawing/2014/main" id="{33306957-5F94-47A9-8B29-39B8E17746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0790" y="4039850"/>
            <a:ext cx="2571750" cy="96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4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                         C.     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                         D. 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196" name="Object 195">
            <a:extLst>
              <a:ext uri="{FF2B5EF4-FFF2-40B4-BE49-F238E27FC236}">
                <a16:creationId xmlns:a16="http://schemas.microsoft.com/office/drawing/2014/main" id="{ED55602D-D78E-44B9-B561-789BDB3B81C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1465956"/>
              </p:ext>
            </p:extLst>
          </p:nvPr>
        </p:nvGraphicFramePr>
        <p:xfrm>
          <a:off x="1005590" y="4020186"/>
          <a:ext cx="393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2" name="Equation" r:id="rId30" imgW="393480" imgH="393480" progId="Equation.DSMT4">
                  <p:embed/>
                </p:oleObj>
              </mc:Choice>
              <mc:Fallback>
                <p:oleObj name="Equation" r:id="rId30" imgW="393480" imgH="393480" progId="Equation.DSMT4">
                  <p:embed/>
                  <p:pic>
                    <p:nvPicPr>
                      <p:cNvPr id="123" name="Object 122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1005590" y="4020186"/>
                        <a:ext cx="3937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7" name="Object 196">
            <a:extLst>
              <a:ext uri="{FF2B5EF4-FFF2-40B4-BE49-F238E27FC236}">
                <a16:creationId xmlns:a16="http://schemas.microsoft.com/office/drawing/2014/main" id="{E5ECFB10-B222-49E9-B7DF-01F6D97152E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5463082"/>
              </p:ext>
            </p:extLst>
          </p:nvPr>
        </p:nvGraphicFramePr>
        <p:xfrm>
          <a:off x="2291158" y="4010354"/>
          <a:ext cx="393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3" name="Equation" r:id="rId32" imgW="393480" imgH="393480" progId="Equation.DSMT4">
                  <p:embed/>
                </p:oleObj>
              </mc:Choice>
              <mc:Fallback>
                <p:oleObj name="Equation" r:id="rId32" imgW="393480" imgH="393480" progId="Equation.DSMT4">
                  <p:embed/>
                  <p:pic>
                    <p:nvPicPr>
                      <p:cNvPr id="124" name="Object 123"/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2291158" y="4010354"/>
                        <a:ext cx="3937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8" name="Object 197">
            <a:extLst>
              <a:ext uri="{FF2B5EF4-FFF2-40B4-BE49-F238E27FC236}">
                <a16:creationId xmlns:a16="http://schemas.microsoft.com/office/drawing/2014/main" id="{DFD0E9D8-CE83-4B32-8037-35898B333C0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7705801"/>
              </p:ext>
            </p:extLst>
          </p:nvPr>
        </p:nvGraphicFramePr>
        <p:xfrm>
          <a:off x="1005590" y="4487218"/>
          <a:ext cx="3175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4" name="Equation" r:id="rId34" imgW="317160" imgH="393480" progId="Equation.DSMT4">
                  <p:embed/>
                </p:oleObj>
              </mc:Choice>
              <mc:Fallback>
                <p:oleObj name="Equation" r:id="rId34" imgW="317160" imgH="393480" progId="Equation.DSMT4">
                  <p:embed/>
                  <p:pic>
                    <p:nvPicPr>
                      <p:cNvPr id="125" name="Object 124"/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1005590" y="4487218"/>
                        <a:ext cx="3175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9" name="Object 198">
            <a:extLst>
              <a:ext uri="{FF2B5EF4-FFF2-40B4-BE49-F238E27FC236}">
                <a16:creationId xmlns:a16="http://schemas.microsoft.com/office/drawing/2014/main" id="{9ABB291D-B1A6-4188-AB9F-68F8A7AA92C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8164381"/>
              </p:ext>
            </p:extLst>
          </p:nvPr>
        </p:nvGraphicFramePr>
        <p:xfrm>
          <a:off x="2300990" y="4487218"/>
          <a:ext cx="3175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5" name="Equation" r:id="rId36" imgW="317160" imgH="393480" progId="Equation.DSMT4">
                  <p:embed/>
                </p:oleObj>
              </mc:Choice>
              <mc:Fallback>
                <p:oleObj name="Equation" r:id="rId36" imgW="317160" imgH="393480" progId="Equation.DSMT4">
                  <p:embed/>
                  <p:pic>
                    <p:nvPicPr>
                      <p:cNvPr id="126" name="Object 125"/>
                      <p:cNvPicPr/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2300990" y="4487218"/>
                        <a:ext cx="3175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0" name="Object 199">
            <a:extLst>
              <a:ext uri="{FF2B5EF4-FFF2-40B4-BE49-F238E27FC236}">
                <a16:creationId xmlns:a16="http://schemas.microsoft.com/office/drawing/2014/main" id="{55E08D4E-30CF-437F-96E1-F0AE5145D0D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5030941"/>
              </p:ext>
            </p:extLst>
          </p:nvPr>
        </p:nvGraphicFramePr>
        <p:xfrm>
          <a:off x="4461937" y="4020186"/>
          <a:ext cx="4064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6" name="Equation" r:id="rId38" imgW="406080" imgH="393480" progId="Equation.DSMT4">
                  <p:embed/>
                </p:oleObj>
              </mc:Choice>
              <mc:Fallback>
                <p:oleObj name="Equation" r:id="rId38" imgW="406080" imgH="393480" progId="Equation.DSMT4">
                  <p:embed/>
                  <p:pic>
                    <p:nvPicPr>
                      <p:cNvPr id="127" name="Object 126"/>
                      <p:cNvPicPr/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4461937" y="4020186"/>
                        <a:ext cx="4064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1" name="Object 200">
            <a:extLst>
              <a:ext uri="{FF2B5EF4-FFF2-40B4-BE49-F238E27FC236}">
                <a16:creationId xmlns:a16="http://schemas.microsoft.com/office/drawing/2014/main" id="{6C92D58D-5E61-421B-B4AF-77859266D3F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7095041"/>
              </p:ext>
            </p:extLst>
          </p:nvPr>
        </p:nvGraphicFramePr>
        <p:xfrm>
          <a:off x="4501265" y="4497050"/>
          <a:ext cx="3175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7" name="Equation" r:id="rId40" imgW="317160" imgH="393480" progId="Equation.DSMT4">
                  <p:embed/>
                </p:oleObj>
              </mc:Choice>
              <mc:Fallback>
                <p:oleObj name="Equation" r:id="rId40" imgW="317160" imgH="393480" progId="Equation.DSMT4">
                  <p:embed/>
                  <p:pic>
                    <p:nvPicPr>
                      <p:cNvPr id="128" name="Object 127"/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4501265" y="4497050"/>
                        <a:ext cx="3175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2" name="Object 201">
            <a:extLst>
              <a:ext uri="{FF2B5EF4-FFF2-40B4-BE49-F238E27FC236}">
                <a16:creationId xmlns:a16="http://schemas.microsoft.com/office/drawing/2014/main" id="{4F889128-7CFA-4CEA-8DF3-2BCFA4131F7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9945144"/>
              </p:ext>
            </p:extLst>
          </p:nvPr>
        </p:nvGraphicFramePr>
        <p:xfrm>
          <a:off x="5767169" y="4020186"/>
          <a:ext cx="3175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8" name="Equation" r:id="rId42" imgW="317160" imgH="393480" progId="Equation.DSMT4">
                  <p:embed/>
                </p:oleObj>
              </mc:Choice>
              <mc:Fallback>
                <p:oleObj name="Equation" r:id="rId42" imgW="317160" imgH="393480" progId="Equation.DSMT4">
                  <p:embed/>
                  <p:pic>
                    <p:nvPicPr>
                      <p:cNvPr id="129" name="Object 128"/>
                      <p:cNvPicPr/>
                      <p:nvPr/>
                    </p:nvPicPr>
                    <p:blipFill>
                      <a:blip r:embed="rId43"/>
                      <a:stretch>
                        <a:fillRect/>
                      </a:stretch>
                    </p:blipFill>
                    <p:spPr>
                      <a:xfrm>
                        <a:off x="5767169" y="4020186"/>
                        <a:ext cx="3175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3" name="Object 202">
            <a:extLst>
              <a:ext uri="{FF2B5EF4-FFF2-40B4-BE49-F238E27FC236}">
                <a16:creationId xmlns:a16="http://schemas.microsoft.com/office/drawing/2014/main" id="{C396D9AE-90A7-404B-BAE9-E262726BC82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5287986"/>
              </p:ext>
            </p:extLst>
          </p:nvPr>
        </p:nvGraphicFramePr>
        <p:xfrm>
          <a:off x="5730297" y="4497050"/>
          <a:ext cx="3302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9" name="Equation" r:id="rId44" imgW="330120" imgH="393480" progId="Equation.DSMT4">
                  <p:embed/>
                </p:oleObj>
              </mc:Choice>
              <mc:Fallback>
                <p:oleObj name="Equation" r:id="rId44" imgW="330120" imgH="393480" progId="Equation.DSMT4">
                  <p:embed/>
                  <p:pic>
                    <p:nvPicPr>
                      <p:cNvPr id="130" name="Object 129"/>
                      <p:cNvPicPr/>
                      <p:nvPr/>
                    </p:nvPicPr>
                    <p:blipFill>
                      <a:blip r:embed="rId45"/>
                      <a:stretch>
                        <a:fillRect/>
                      </a:stretch>
                    </p:blipFill>
                    <p:spPr>
                      <a:xfrm>
                        <a:off x="5730297" y="4497050"/>
                        <a:ext cx="3302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" name="Rectangle 203">
            <a:extLst>
              <a:ext uri="{FF2B5EF4-FFF2-40B4-BE49-F238E27FC236}">
                <a16:creationId xmlns:a16="http://schemas.microsoft.com/office/drawing/2014/main" id="{AB426792-5AC5-4892-9640-82D5BC829458}"/>
              </a:ext>
            </a:extLst>
          </p:cNvPr>
          <p:cNvSpPr/>
          <p:nvPr/>
        </p:nvSpPr>
        <p:spPr>
          <a:xfrm>
            <a:off x="3844654" y="2990258"/>
            <a:ext cx="2153154" cy="2693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5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4.  </a:t>
            </a:r>
            <a:r>
              <a:rPr lang="en-US" sz="1150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If                  </a:t>
            </a:r>
            <a:r>
              <a:rPr lang="en-US" sz="115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, </a:t>
            </a:r>
            <a:r>
              <a:rPr lang="en-US" sz="1150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find</a:t>
            </a:r>
            <a:r>
              <a:rPr lang="en-US" sz="115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          </a:t>
            </a:r>
            <a:r>
              <a:rPr lang="en-US" sz="1150" i="1" dirty="0">
                <a:solidFill>
                  <a:srgbClr val="222222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  <a:endParaRPr lang="en-US" dirty="0"/>
          </a:p>
        </p:txBody>
      </p:sp>
      <p:graphicFrame>
        <p:nvGraphicFramePr>
          <p:cNvPr id="205" name="Object 204">
            <a:extLst>
              <a:ext uri="{FF2B5EF4-FFF2-40B4-BE49-F238E27FC236}">
                <a16:creationId xmlns:a16="http://schemas.microsoft.com/office/drawing/2014/main" id="{6D81DC91-6E94-4258-819A-FA447ABEB44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4368890"/>
              </p:ext>
            </p:extLst>
          </p:nvPr>
        </p:nvGraphicFramePr>
        <p:xfrm>
          <a:off x="4272358" y="2867354"/>
          <a:ext cx="799084" cy="4763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0" name="Equation" r:id="rId46" imgW="660240" imgH="393480" progId="Equation.DSMT4">
                  <p:embed/>
                </p:oleObj>
              </mc:Choice>
              <mc:Fallback>
                <p:oleObj name="Equation" r:id="rId46" imgW="660240" imgH="393480" progId="Equation.DSMT4">
                  <p:embed/>
                  <p:pic>
                    <p:nvPicPr>
                      <p:cNvPr id="132" name="Object 131"/>
                      <p:cNvPicPr/>
                      <p:nvPr/>
                    </p:nvPicPr>
                    <p:blipFill>
                      <a:blip r:embed="rId47"/>
                      <a:stretch>
                        <a:fillRect/>
                      </a:stretch>
                    </p:blipFill>
                    <p:spPr>
                      <a:xfrm>
                        <a:off x="4272358" y="2867354"/>
                        <a:ext cx="799084" cy="47637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6" name="Object 205">
            <a:extLst>
              <a:ext uri="{FF2B5EF4-FFF2-40B4-BE49-F238E27FC236}">
                <a16:creationId xmlns:a16="http://schemas.microsoft.com/office/drawing/2014/main" id="{1ED67E2E-7A68-4E3D-821A-573DB83E901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053768"/>
              </p:ext>
            </p:extLst>
          </p:nvPr>
        </p:nvGraphicFramePr>
        <p:xfrm>
          <a:off x="5435022" y="3019754"/>
          <a:ext cx="384175" cy="1997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1" name="Equation" r:id="rId48" imgW="317160" imgH="164880" progId="Equation.DSMT4">
                  <p:embed/>
                </p:oleObj>
              </mc:Choice>
              <mc:Fallback>
                <p:oleObj name="Equation" r:id="rId48" imgW="317160" imgH="164880" progId="Equation.DSMT4">
                  <p:embed/>
                  <p:pic>
                    <p:nvPicPr>
                      <p:cNvPr id="133" name="Object 132"/>
                      <p:cNvPicPr/>
                      <p:nvPr/>
                    </p:nvPicPr>
                    <p:blipFill>
                      <a:blip r:embed="rId49"/>
                      <a:stretch>
                        <a:fillRect/>
                      </a:stretch>
                    </p:blipFill>
                    <p:spPr>
                      <a:xfrm>
                        <a:off x="5435022" y="3019754"/>
                        <a:ext cx="384175" cy="1997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7" name="Rectangle 206">
            <a:extLst>
              <a:ext uri="{FF2B5EF4-FFF2-40B4-BE49-F238E27FC236}">
                <a16:creationId xmlns:a16="http://schemas.microsoft.com/office/drawing/2014/main" id="{AD6B7FE2-2F86-4FB4-91DD-984AD55997E7}"/>
              </a:ext>
            </a:extLst>
          </p:cNvPr>
          <p:cNvSpPr/>
          <p:nvPr/>
        </p:nvSpPr>
        <p:spPr>
          <a:xfrm>
            <a:off x="415654" y="5106650"/>
            <a:ext cx="2149948" cy="28469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5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5. </a:t>
            </a:r>
            <a:r>
              <a:rPr lang="en-US" sz="1150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Find </a:t>
            </a:r>
            <a:r>
              <a:rPr lang="en-US" sz="125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x</a:t>
            </a:r>
            <a:r>
              <a:rPr lang="en-US" sz="1150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 to the nearest tenth.</a:t>
            </a:r>
            <a:endParaRPr lang="en-US" dirty="0"/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F8EC5095-7E03-4D0B-B522-5138D6BE4906}"/>
              </a:ext>
            </a:extLst>
          </p:cNvPr>
          <p:cNvSpPr/>
          <p:nvPr/>
        </p:nvSpPr>
        <p:spPr>
          <a:xfrm>
            <a:off x="3844654" y="5106650"/>
            <a:ext cx="2149948" cy="28469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5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6. </a:t>
            </a:r>
            <a:r>
              <a:rPr lang="en-US" sz="1150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Find </a:t>
            </a:r>
            <a:r>
              <a:rPr lang="en-US" sz="125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x</a:t>
            </a:r>
            <a:r>
              <a:rPr lang="en-US" sz="1150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 to the nearest tenth.</a:t>
            </a:r>
            <a:endParaRPr lang="en-US" dirty="0"/>
          </a:p>
        </p:txBody>
      </p:sp>
      <p:sp>
        <p:nvSpPr>
          <p:cNvPr id="209" name="Text Box 16">
            <a:extLst>
              <a:ext uri="{FF2B5EF4-FFF2-40B4-BE49-F238E27FC236}">
                <a16:creationId xmlns:a16="http://schemas.microsoft.com/office/drawing/2014/main" id="{EC85C70F-D76E-4788-BD66-7642DF0BD4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6686" y="6964946"/>
            <a:ext cx="1038225" cy="358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0" tIns="0" rIns="0" bIns="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br>
              <a:rPr lang="en-US" sz="100" i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i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i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00" i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</a:t>
            </a:r>
            <a:r>
              <a:rPr lang="en-US" sz="1500" i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10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</a:t>
            </a: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10" name="Text Box 16">
            <a:extLst>
              <a:ext uri="{FF2B5EF4-FFF2-40B4-BE49-F238E27FC236}">
                <a16:creationId xmlns:a16="http://schemas.microsoft.com/office/drawing/2014/main" id="{E04FD628-13D7-4F3F-8AE0-304B218336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022" y="6972322"/>
            <a:ext cx="1038225" cy="358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0" tIns="0" rIns="0" bIns="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br>
              <a:rPr lang="en-US" sz="1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</a:t>
            </a:r>
            <a:r>
              <a:rPr lang="en-US" sz="15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</a:t>
            </a:r>
            <a:r>
              <a: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17" name="Right Triangle 216">
            <a:extLst>
              <a:ext uri="{FF2B5EF4-FFF2-40B4-BE49-F238E27FC236}">
                <a16:creationId xmlns:a16="http://schemas.microsoft.com/office/drawing/2014/main" id="{138139C9-4B1B-4D72-A8A9-9C25B750E019}"/>
              </a:ext>
            </a:extLst>
          </p:cNvPr>
          <p:cNvSpPr/>
          <p:nvPr/>
        </p:nvSpPr>
        <p:spPr>
          <a:xfrm rot="5400000">
            <a:off x="650135" y="5902924"/>
            <a:ext cx="937260" cy="563913"/>
          </a:xfrm>
          <a:prstGeom prst="rtTriangle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8" name="Rectangle 217">
            <a:extLst>
              <a:ext uri="{FF2B5EF4-FFF2-40B4-BE49-F238E27FC236}">
                <a16:creationId xmlns:a16="http://schemas.microsoft.com/office/drawing/2014/main" id="{9F8E5354-02C2-4474-AEE6-42967367201F}"/>
              </a:ext>
            </a:extLst>
          </p:cNvPr>
          <p:cNvSpPr/>
          <p:nvPr/>
        </p:nvSpPr>
        <p:spPr>
          <a:xfrm rot="16200000">
            <a:off x="835265" y="5717413"/>
            <a:ext cx="85699" cy="85507"/>
          </a:xfrm>
          <a:prstGeom prst="rect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5" name="Text Box 328">
            <a:extLst>
              <a:ext uri="{FF2B5EF4-FFF2-40B4-BE49-F238E27FC236}">
                <a16:creationId xmlns:a16="http://schemas.microsoft.com/office/drawing/2014/main" id="{F141B0E3-DC00-463D-B0F4-E193F91EDF3D}"/>
              </a:ext>
            </a:extLst>
          </p:cNvPr>
          <p:cNvSpPr txBox="1"/>
          <p:nvPr/>
        </p:nvSpPr>
        <p:spPr>
          <a:xfrm>
            <a:off x="1168747" y="6136352"/>
            <a:ext cx="258399" cy="211073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16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16" name="Text Box 329">
            <a:extLst>
              <a:ext uri="{FF2B5EF4-FFF2-40B4-BE49-F238E27FC236}">
                <a16:creationId xmlns:a16="http://schemas.microsoft.com/office/drawing/2014/main" id="{28EB6878-3991-4942-B68D-4608C439C7A1}"/>
              </a:ext>
            </a:extLst>
          </p:cNvPr>
          <p:cNvSpPr txBox="1"/>
          <p:nvPr/>
        </p:nvSpPr>
        <p:spPr>
          <a:xfrm>
            <a:off x="627046" y="6048955"/>
            <a:ext cx="258399" cy="211073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13" name="Text Box 346">
            <a:extLst>
              <a:ext uri="{FF2B5EF4-FFF2-40B4-BE49-F238E27FC236}">
                <a16:creationId xmlns:a16="http://schemas.microsoft.com/office/drawing/2014/main" id="{1B055422-B20C-4D98-90C2-17183D4EEC0C}"/>
              </a:ext>
            </a:extLst>
          </p:cNvPr>
          <p:cNvSpPr txBox="1"/>
          <p:nvPr/>
        </p:nvSpPr>
        <p:spPr>
          <a:xfrm>
            <a:off x="865987" y="6219997"/>
            <a:ext cx="204722" cy="164185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33</a:t>
            </a:r>
            <a:r>
              <a:rPr kumimoji="0" lang="en-US" sz="900" b="0" i="0" u="none" strike="noStrike" kern="0" cap="none" spc="0" normalizeH="0" baseline="30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°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220" name="Group 219">
            <a:extLst>
              <a:ext uri="{FF2B5EF4-FFF2-40B4-BE49-F238E27FC236}">
                <a16:creationId xmlns:a16="http://schemas.microsoft.com/office/drawing/2014/main" id="{A96A569D-6297-4073-9719-2452BDBEF3B3}"/>
              </a:ext>
            </a:extLst>
          </p:cNvPr>
          <p:cNvGrpSpPr/>
          <p:nvPr/>
        </p:nvGrpSpPr>
        <p:grpSpPr>
          <a:xfrm>
            <a:off x="4205990" y="5944850"/>
            <a:ext cx="1268413" cy="489249"/>
            <a:chOff x="0" y="0"/>
            <a:chExt cx="849520" cy="489509"/>
          </a:xfrm>
        </p:grpSpPr>
        <p:sp>
          <p:nvSpPr>
            <p:cNvPr id="224" name="Right Triangle 223">
              <a:extLst>
                <a:ext uri="{FF2B5EF4-FFF2-40B4-BE49-F238E27FC236}">
                  <a16:creationId xmlns:a16="http://schemas.microsoft.com/office/drawing/2014/main" id="{DF734AE3-78DB-493E-B400-FE7CC1421BC8}"/>
                </a:ext>
              </a:extLst>
            </p:cNvPr>
            <p:cNvSpPr/>
            <p:nvPr/>
          </p:nvSpPr>
          <p:spPr>
            <a:xfrm rot="1723" flipH="1">
              <a:off x="0" y="0"/>
              <a:ext cx="849520" cy="489509"/>
            </a:xfrm>
            <a:prstGeom prst="rtTriangle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5" name="Rectangle 224">
              <a:extLst>
                <a:ext uri="{FF2B5EF4-FFF2-40B4-BE49-F238E27FC236}">
                  <a16:creationId xmlns:a16="http://schemas.microsoft.com/office/drawing/2014/main" id="{A82A493D-D278-4291-9B10-47B5E40BDE35}"/>
                </a:ext>
              </a:extLst>
            </p:cNvPr>
            <p:cNvSpPr/>
            <p:nvPr/>
          </p:nvSpPr>
          <p:spPr>
            <a:xfrm rot="1723" flipH="1">
              <a:off x="787020" y="396939"/>
              <a:ext cx="61232" cy="90805"/>
            </a:xfrm>
            <a:prstGeom prst="rect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21" name="Text Box 19">
            <a:extLst>
              <a:ext uri="{FF2B5EF4-FFF2-40B4-BE49-F238E27FC236}">
                <a16:creationId xmlns:a16="http://schemas.microsoft.com/office/drawing/2014/main" id="{AA6962A6-C61F-4867-BC27-B1FA6F6EAE61}"/>
              </a:ext>
            </a:extLst>
          </p:cNvPr>
          <p:cNvSpPr txBox="1"/>
          <p:nvPr/>
        </p:nvSpPr>
        <p:spPr>
          <a:xfrm>
            <a:off x="5266752" y="6038584"/>
            <a:ext cx="204688" cy="164098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76</a:t>
            </a:r>
            <a:r>
              <a:rPr kumimoji="0" lang="en-US" sz="900" b="0" i="0" u="none" strike="noStrike" kern="0" cap="none" spc="0" normalizeH="0" baseline="30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°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22" name="Text Box 20">
            <a:extLst>
              <a:ext uri="{FF2B5EF4-FFF2-40B4-BE49-F238E27FC236}">
                <a16:creationId xmlns:a16="http://schemas.microsoft.com/office/drawing/2014/main" id="{69E3E1E8-4AA9-43B0-AD5D-40F2BCB4E3AD}"/>
              </a:ext>
            </a:extLst>
          </p:cNvPr>
          <p:cNvSpPr txBox="1"/>
          <p:nvPr/>
        </p:nvSpPr>
        <p:spPr>
          <a:xfrm>
            <a:off x="5436709" y="6114744"/>
            <a:ext cx="258356" cy="210961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23" name="Text Box 21">
            <a:extLst>
              <a:ext uri="{FF2B5EF4-FFF2-40B4-BE49-F238E27FC236}">
                <a16:creationId xmlns:a16="http://schemas.microsoft.com/office/drawing/2014/main" id="{9DBB948A-5EC4-4417-9FFD-BFEE02A2319E}"/>
              </a:ext>
            </a:extLst>
          </p:cNvPr>
          <p:cNvSpPr txBox="1"/>
          <p:nvPr/>
        </p:nvSpPr>
        <p:spPr>
          <a:xfrm>
            <a:off x="4774465" y="6483824"/>
            <a:ext cx="258356" cy="210961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21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26" name="Rectangle 225">
            <a:extLst>
              <a:ext uri="{FF2B5EF4-FFF2-40B4-BE49-F238E27FC236}">
                <a16:creationId xmlns:a16="http://schemas.microsoft.com/office/drawing/2014/main" id="{A9B768F8-EED0-4C40-8729-6E794FD9D0F5}"/>
              </a:ext>
            </a:extLst>
          </p:cNvPr>
          <p:cNvSpPr/>
          <p:nvPr/>
        </p:nvSpPr>
        <p:spPr>
          <a:xfrm>
            <a:off x="415654" y="7372986"/>
            <a:ext cx="3199915" cy="28469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5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7. </a:t>
            </a:r>
            <a:r>
              <a:rPr lang="en-US" sz="1150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Find the measure of</a:t>
            </a:r>
            <a:r>
              <a:rPr lang="en-US" sz="1100" i="1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250" i="1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θ</a:t>
            </a:r>
            <a:r>
              <a:rPr lang="en-US" sz="1100" i="1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 </a:t>
            </a:r>
            <a:r>
              <a:rPr lang="en-US" sz="1150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to the nearest tenth.</a:t>
            </a:r>
            <a:endParaRPr lang="en-US" dirty="0"/>
          </a:p>
        </p:txBody>
      </p:sp>
      <p:sp>
        <p:nvSpPr>
          <p:cNvPr id="227" name="Rectangle 226">
            <a:extLst>
              <a:ext uri="{FF2B5EF4-FFF2-40B4-BE49-F238E27FC236}">
                <a16:creationId xmlns:a16="http://schemas.microsoft.com/office/drawing/2014/main" id="{AB82C94C-24AA-4990-B600-0CC127838836}"/>
              </a:ext>
            </a:extLst>
          </p:cNvPr>
          <p:cNvSpPr/>
          <p:nvPr/>
        </p:nvSpPr>
        <p:spPr>
          <a:xfrm>
            <a:off x="3861862" y="7363154"/>
            <a:ext cx="3203121" cy="28469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5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8.</a:t>
            </a:r>
            <a:r>
              <a:rPr lang="en-US" sz="1150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 Find the measure of</a:t>
            </a:r>
            <a:r>
              <a:rPr lang="en-US" sz="1100" i="1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250" i="1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θ</a:t>
            </a:r>
            <a:r>
              <a:rPr lang="en-US" sz="1100" i="1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 </a:t>
            </a:r>
            <a:r>
              <a:rPr lang="en-US" sz="1150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to the nearest tenth.</a:t>
            </a:r>
            <a:endParaRPr lang="en-US" dirty="0"/>
          </a:p>
        </p:txBody>
      </p:sp>
      <p:sp>
        <p:nvSpPr>
          <p:cNvPr id="228" name="Text Box 27">
            <a:extLst>
              <a:ext uri="{FF2B5EF4-FFF2-40B4-BE49-F238E27FC236}">
                <a16:creationId xmlns:a16="http://schemas.microsoft.com/office/drawing/2014/main" id="{2168C9F4-F18B-4A82-B933-CB5BE51B5910}"/>
              </a:ext>
            </a:extLst>
          </p:cNvPr>
          <p:cNvSpPr txBox="1"/>
          <p:nvPr/>
        </p:nvSpPr>
        <p:spPr>
          <a:xfrm>
            <a:off x="1615190" y="8078450"/>
            <a:ext cx="257810" cy="210820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32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229" name="Object 228">
            <a:extLst>
              <a:ext uri="{FF2B5EF4-FFF2-40B4-BE49-F238E27FC236}">
                <a16:creationId xmlns:a16="http://schemas.microsoft.com/office/drawing/2014/main" id="{8F5DCA55-6D21-4A22-969A-8B93958EAF9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2599274"/>
              </p:ext>
            </p:extLst>
          </p:nvPr>
        </p:nvGraphicFramePr>
        <p:xfrm>
          <a:off x="2264118" y="8144818"/>
          <a:ext cx="127000" cy="16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2" name="Equation" r:id="rId50" imgW="126720" imgH="164880" progId="Equation.DSMT4">
                  <p:embed/>
                </p:oleObj>
              </mc:Choice>
              <mc:Fallback>
                <p:oleObj name="Equation" r:id="rId50" imgW="126720" imgH="164880" progId="Equation.DSMT4">
                  <p:embed/>
                  <p:pic>
                    <p:nvPicPr>
                      <p:cNvPr id="165" name="Object 164"/>
                      <p:cNvPicPr/>
                      <p:nvPr/>
                    </p:nvPicPr>
                    <p:blipFill>
                      <a:blip r:embed="rId51"/>
                      <a:stretch>
                        <a:fillRect/>
                      </a:stretch>
                    </p:blipFill>
                    <p:spPr>
                      <a:xfrm>
                        <a:off x="2264118" y="8144818"/>
                        <a:ext cx="127000" cy="165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0" name="Text Box 29">
            <a:extLst>
              <a:ext uri="{FF2B5EF4-FFF2-40B4-BE49-F238E27FC236}">
                <a16:creationId xmlns:a16="http://schemas.microsoft.com/office/drawing/2014/main" id="{7956BDC7-2231-43A9-8D46-E422DE5B11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6686" y="9221450"/>
            <a:ext cx="1038225" cy="358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0" tIns="0" rIns="0" bIns="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br>
              <a:rPr lang="en-US" sz="1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</a:t>
            </a:r>
            <a:r>
              <a:rPr lang="en-US" sz="15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θ </a:t>
            </a: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31" name="Text Box 29">
            <a:extLst>
              <a:ext uri="{FF2B5EF4-FFF2-40B4-BE49-F238E27FC236}">
                <a16:creationId xmlns:a16="http://schemas.microsoft.com/office/drawing/2014/main" id="{434E29AC-049A-4961-AD95-7EBED5668E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7854" y="9221450"/>
            <a:ext cx="1038225" cy="358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0" tIns="0" rIns="0" bIns="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br>
              <a:rPr lang="en-US" sz="1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</a:t>
            </a:r>
            <a:r>
              <a:rPr lang="en-US" sz="15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θ </a:t>
            </a: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33" name="Right Triangle 232">
            <a:extLst>
              <a:ext uri="{FF2B5EF4-FFF2-40B4-BE49-F238E27FC236}">
                <a16:creationId xmlns:a16="http://schemas.microsoft.com/office/drawing/2014/main" id="{7121897A-2674-4D57-B132-17710C9D3915}"/>
              </a:ext>
            </a:extLst>
          </p:cNvPr>
          <p:cNvSpPr/>
          <p:nvPr/>
        </p:nvSpPr>
        <p:spPr>
          <a:xfrm rot="1474109" flipH="1">
            <a:off x="1337467" y="7879060"/>
            <a:ext cx="1035685" cy="723900"/>
          </a:xfrm>
          <a:prstGeom prst="rtTriangle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4" name="Rectangle 233">
            <a:extLst>
              <a:ext uri="{FF2B5EF4-FFF2-40B4-BE49-F238E27FC236}">
                <a16:creationId xmlns:a16="http://schemas.microsoft.com/office/drawing/2014/main" id="{227B0A68-CF75-4109-9E7A-B35E18AAC19D}"/>
              </a:ext>
            </a:extLst>
          </p:cNvPr>
          <p:cNvSpPr/>
          <p:nvPr/>
        </p:nvSpPr>
        <p:spPr>
          <a:xfrm rot="1474109" flipH="1">
            <a:off x="2095917" y="8649583"/>
            <a:ext cx="111194" cy="114740"/>
          </a:xfrm>
          <a:prstGeom prst="rect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5" name="Text Box 28">
            <a:extLst>
              <a:ext uri="{FF2B5EF4-FFF2-40B4-BE49-F238E27FC236}">
                <a16:creationId xmlns:a16="http://schemas.microsoft.com/office/drawing/2014/main" id="{19453C39-915F-4803-8F1C-10E205D443A0}"/>
              </a:ext>
            </a:extLst>
          </p:cNvPr>
          <p:cNvSpPr txBox="1"/>
          <p:nvPr/>
        </p:nvSpPr>
        <p:spPr>
          <a:xfrm>
            <a:off x="1538990" y="8611850"/>
            <a:ext cx="257810" cy="210820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26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37" name="Right Triangle 236">
            <a:extLst>
              <a:ext uri="{FF2B5EF4-FFF2-40B4-BE49-F238E27FC236}">
                <a16:creationId xmlns:a16="http://schemas.microsoft.com/office/drawing/2014/main" id="{58C4AB23-06FF-4033-9571-B22D9CE98771}"/>
              </a:ext>
            </a:extLst>
          </p:cNvPr>
          <p:cNvSpPr/>
          <p:nvPr/>
        </p:nvSpPr>
        <p:spPr>
          <a:xfrm>
            <a:off x="4606920" y="7926050"/>
            <a:ext cx="444166" cy="1047750"/>
          </a:xfrm>
          <a:prstGeom prst="rtTriangle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8" name="Rectangle 237">
            <a:extLst>
              <a:ext uri="{FF2B5EF4-FFF2-40B4-BE49-F238E27FC236}">
                <a16:creationId xmlns:a16="http://schemas.microsoft.com/office/drawing/2014/main" id="{6A7F3523-B727-4819-92B4-E54F32022EC8}"/>
              </a:ext>
            </a:extLst>
          </p:cNvPr>
          <p:cNvSpPr/>
          <p:nvPr/>
        </p:nvSpPr>
        <p:spPr>
          <a:xfrm>
            <a:off x="4606920" y="8880074"/>
            <a:ext cx="90737" cy="90805"/>
          </a:xfrm>
          <a:prstGeom prst="rect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9" name="Text Box 96">
            <a:extLst>
              <a:ext uri="{FF2B5EF4-FFF2-40B4-BE49-F238E27FC236}">
                <a16:creationId xmlns:a16="http://schemas.microsoft.com/office/drawing/2014/main" id="{304C66CF-F336-46B5-AE88-324B6E548D8A}"/>
              </a:ext>
            </a:extLst>
          </p:cNvPr>
          <p:cNvSpPr txBox="1"/>
          <p:nvPr/>
        </p:nvSpPr>
        <p:spPr>
          <a:xfrm>
            <a:off x="4694636" y="7947996"/>
            <a:ext cx="204790" cy="164343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θ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40" name="Freeform 169">
            <a:extLst>
              <a:ext uri="{FF2B5EF4-FFF2-40B4-BE49-F238E27FC236}">
                <a16:creationId xmlns:a16="http://schemas.microsoft.com/office/drawing/2014/main" id="{D643F5BA-6E55-4BF9-BC31-2265611D6F5C}"/>
              </a:ext>
            </a:extLst>
          </p:cNvPr>
          <p:cNvSpPr/>
          <p:nvPr/>
        </p:nvSpPr>
        <p:spPr>
          <a:xfrm>
            <a:off x="4636159" y="8101615"/>
            <a:ext cx="124315" cy="124462"/>
          </a:xfrm>
          <a:custGeom>
            <a:avLst/>
            <a:gdLst>
              <a:gd name="connsiteX0" fmla="*/ 124408 w 124408"/>
              <a:gd name="connsiteY0" fmla="*/ 12441 h 124462"/>
              <a:gd name="connsiteX1" fmla="*/ 43543 w 124408"/>
              <a:gd name="connsiteY1" fmla="*/ 124408 h 124462"/>
              <a:gd name="connsiteX2" fmla="*/ 0 w 124408"/>
              <a:gd name="connsiteY2" fmla="*/ 0 h 124462"/>
              <a:gd name="connsiteX3" fmla="*/ 0 w 124408"/>
              <a:gd name="connsiteY3" fmla="*/ 0 h 124462"/>
              <a:gd name="connsiteX4" fmla="*/ 0 w 124408"/>
              <a:gd name="connsiteY4" fmla="*/ 0 h 124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408" h="124462">
                <a:moveTo>
                  <a:pt x="124408" y="12441"/>
                </a:moveTo>
                <a:cubicBezTo>
                  <a:pt x="94343" y="69461"/>
                  <a:pt x="64278" y="126481"/>
                  <a:pt x="43543" y="124408"/>
                </a:cubicBezTo>
                <a:cubicBezTo>
                  <a:pt x="22808" y="122335"/>
                  <a:pt x="0" y="0"/>
                  <a:pt x="0" y="0"/>
                </a:cubicBezTo>
                <a:lnTo>
                  <a:pt x="0" y="0"/>
                </a:lnTo>
                <a:lnTo>
                  <a:pt x="0" y="0"/>
                </a:lnTo>
              </a:path>
            </a:pathLst>
          </a:custGeom>
          <a:noFill/>
          <a:ln w="9525" cap="flat" cmpd="sng" algn="ctr">
            <a:solidFill>
              <a:sysClr val="windowText" lastClr="000000"/>
            </a:solidFill>
            <a:prstDash val="solid"/>
            <a:tailEnd type="stealth" w="sm" len="sm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1" name="Text Box 31">
            <a:extLst>
              <a:ext uri="{FF2B5EF4-FFF2-40B4-BE49-F238E27FC236}">
                <a16:creationId xmlns:a16="http://schemas.microsoft.com/office/drawing/2014/main" id="{70467E1D-54AD-4A6F-B092-DF01373EEFF2}"/>
              </a:ext>
            </a:extLst>
          </p:cNvPr>
          <p:cNvSpPr txBox="1"/>
          <p:nvPr/>
        </p:nvSpPr>
        <p:spPr>
          <a:xfrm>
            <a:off x="4358390" y="8460060"/>
            <a:ext cx="258205" cy="211073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11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42" name="Text Box 288">
            <a:extLst>
              <a:ext uri="{FF2B5EF4-FFF2-40B4-BE49-F238E27FC236}">
                <a16:creationId xmlns:a16="http://schemas.microsoft.com/office/drawing/2014/main" id="{52EFD017-EA01-4CEE-B906-C8EBB5598AE6}"/>
              </a:ext>
            </a:extLst>
          </p:cNvPr>
          <p:cNvSpPr txBox="1"/>
          <p:nvPr/>
        </p:nvSpPr>
        <p:spPr>
          <a:xfrm>
            <a:off x="4877379" y="8430799"/>
            <a:ext cx="257616" cy="210820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11.8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grayscl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62">
            <a:extLst>
              <a:ext uri="{FF2B5EF4-FFF2-40B4-BE49-F238E27FC236}">
                <a16:creationId xmlns:a16="http://schemas.microsoft.com/office/drawing/2014/main" id="{94676CD4-C7AA-4FB7-9087-B8DE5F15BEFE}"/>
              </a:ext>
            </a:extLst>
          </p:cNvPr>
          <p:cNvSpPr/>
          <p:nvPr/>
        </p:nvSpPr>
        <p:spPr>
          <a:xfrm>
            <a:off x="415654" y="347596"/>
            <a:ext cx="1853392" cy="2693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5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9.</a:t>
            </a:r>
            <a:r>
              <a:rPr lang="en-US" sz="1150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 Convert 63</a:t>
            </a:r>
            <a:r>
              <a:rPr lang="en-US" sz="1150" baseline="30000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°</a:t>
            </a:r>
            <a:r>
              <a:rPr lang="en-US" sz="1150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 to radians.</a:t>
            </a:r>
            <a:endParaRPr lang="en-US" dirty="0"/>
          </a:p>
        </p:txBody>
      </p:sp>
      <p:sp>
        <p:nvSpPr>
          <p:cNvPr id="94" name="Text Box 291">
            <a:extLst>
              <a:ext uri="{FF2B5EF4-FFF2-40B4-BE49-F238E27FC236}">
                <a16:creationId xmlns:a16="http://schemas.microsoft.com/office/drawing/2014/main" id="{90CC7878-3227-4FAA-8935-2B10D867BF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0590" y="595860"/>
            <a:ext cx="522605" cy="69596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95" name="Text Box 291">
            <a:extLst>
              <a:ext uri="{FF2B5EF4-FFF2-40B4-BE49-F238E27FC236}">
                <a16:creationId xmlns:a16="http://schemas.microsoft.com/office/drawing/2014/main" id="{0F6B76F8-5708-4ADE-A742-211319D376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91590" y="595860"/>
            <a:ext cx="522605" cy="69596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D40526B9-10CA-48F4-998A-B6E16424A9DA}"/>
              </a:ext>
            </a:extLst>
          </p:cNvPr>
          <p:cNvSpPr/>
          <p:nvPr/>
        </p:nvSpPr>
        <p:spPr>
          <a:xfrm>
            <a:off x="3844654" y="347596"/>
            <a:ext cx="2081019" cy="2693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5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10.</a:t>
            </a:r>
            <a:r>
              <a:rPr lang="en-US" sz="1150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 Convert -280</a:t>
            </a:r>
            <a:r>
              <a:rPr lang="en-US" sz="1150" baseline="30000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°</a:t>
            </a:r>
            <a:r>
              <a:rPr lang="en-US" sz="1150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 to radians.</a:t>
            </a:r>
            <a:endParaRPr lang="en-US" dirty="0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C218CBE6-06E5-4285-B4F3-759EB6651F37}"/>
              </a:ext>
            </a:extLst>
          </p:cNvPr>
          <p:cNvSpPr/>
          <p:nvPr/>
        </p:nvSpPr>
        <p:spPr>
          <a:xfrm>
            <a:off x="395990" y="1443892"/>
            <a:ext cx="2122697" cy="2693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5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11.</a:t>
            </a:r>
            <a:r>
              <a:rPr lang="en-US" sz="1150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 Convert        to degrees.</a:t>
            </a:r>
            <a:endParaRPr lang="en-US" dirty="0"/>
          </a:p>
        </p:txBody>
      </p:sp>
      <p:graphicFrame>
        <p:nvGraphicFramePr>
          <p:cNvPr id="116" name="Object 115">
            <a:extLst>
              <a:ext uri="{FF2B5EF4-FFF2-40B4-BE49-F238E27FC236}">
                <a16:creationId xmlns:a16="http://schemas.microsoft.com/office/drawing/2014/main" id="{4678D602-1E39-49B9-86E0-3506CFEBE95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1339364"/>
              </p:ext>
            </p:extLst>
          </p:nvPr>
        </p:nvGraphicFramePr>
        <p:xfrm>
          <a:off x="1310390" y="1367692"/>
          <a:ext cx="2921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27" name="Equation" r:id="rId4" imgW="291960" imgH="368280" progId="Equation.DSMT4">
                  <p:embed/>
                </p:oleObj>
              </mc:Choice>
              <mc:Fallback>
                <p:oleObj name="Equation" r:id="rId4" imgW="291960" imgH="368280" progId="Equation.DSMT4">
                  <p:embed/>
                  <p:pic>
                    <p:nvPicPr>
                      <p:cNvPr id="58" name="Object 57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310390" y="1367692"/>
                        <a:ext cx="2921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7" name="Text Box 295">
            <a:extLst>
              <a:ext uri="{FF2B5EF4-FFF2-40B4-BE49-F238E27FC236}">
                <a16:creationId xmlns:a16="http://schemas.microsoft.com/office/drawing/2014/main" id="{4C5D6B6E-C8A9-414C-8E93-D7004DC06F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01822" y="1967460"/>
            <a:ext cx="736600" cy="358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118" name="Text Box 295">
            <a:extLst>
              <a:ext uri="{FF2B5EF4-FFF2-40B4-BE49-F238E27FC236}">
                <a16:creationId xmlns:a16="http://schemas.microsoft.com/office/drawing/2014/main" id="{70701FE6-6A32-48BC-A946-B1BE0A0BAC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9862" y="1977292"/>
            <a:ext cx="736600" cy="358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11D294E6-F7BC-4193-AAB6-EBA745F0AB29}"/>
              </a:ext>
            </a:extLst>
          </p:cNvPr>
          <p:cNvSpPr/>
          <p:nvPr/>
        </p:nvSpPr>
        <p:spPr>
          <a:xfrm>
            <a:off x="3824990" y="1451268"/>
            <a:ext cx="2122697" cy="2693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5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12.</a:t>
            </a:r>
            <a:r>
              <a:rPr lang="en-US" sz="1150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 Convert        to degrees.</a:t>
            </a:r>
            <a:endParaRPr lang="en-US" dirty="0"/>
          </a:p>
        </p:txBody>
      </p:sp>
      <p:graphicFrame>
        <p:nvGraphicFramePr>
          <p:cNvPr id="120" name="Object 119">
            <a:extLst>
              <a:ext uri="{FF2B5EF4-FFF2-40B4-BE49-F238E27FC236}">
                <a16:creationId xmlns:a16="http://schemas.microsoft.com/office/drawing/2014/main" id="{4A008458-02F8-416F-B979-5D1A219F15C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6258132"/>
              </p:ext>
            </p:extLst>
          </p:nvPr>
        </p:nvGraphicFramePr>
        <p:xfrm>
          <a:off x="4739390" y="1394732"/>
          <a:ext cx="3048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28" name="Equation" r:id="rId6" imgW="304560" imgH="368280" progId="Equation.DSMT4">
                  <p:embed/>
                </p:oleObj>
              </mc:Choice>
              <mc:Fallback>
                <p:oleObj name="Equation" r:id="rId6" imgW="304560" imgH="368280" progId="Equation.DSMT4">
                  <p:embed/>
                  <p:pic>
                    <p:nvPicPr>
                      <p:cNvPr id="62" name="Object 6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739390" y="1394732"/>
                        <a:ext cx="3048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1" name="Rectangle 120">
            <a:extLst>
              <a:ext uri="{FF2B5EF4-FFF2-40B4-BE49-F238E27FC236}">
                <a16:creationId xmlns:a16="http://schemas.microsoft.com/office/drawing/2014/main" id="{466DC9DC-AF4A-45E6-B7ED-E76C3C4B4014}"/>
              </a:ext>
            </a:extLst>
          </p:cNvPr>
          <p:cNvSpPr/>
          <p:nvPr/>
        </p:nvSpPr>
        <p:spPr>
          <a:xfrm>
            <a:off x="395990" y="2404996"/>
            <a:ext cx="3429000" cy="4462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5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13.  </a:t>
            </a:r>
            <a:r>
              <a:rPr lang="en-US" sz="1150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The terminal side of an angle measuring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          </a:t>
            </a:r>
            <a:r>
              <a:rPr lang="en-US" sz="1150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radians lies in which quadrant?</a:t>
            </a:r>
            <a:endParaRPr lang="en-US" dirty="0"/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53BB33BF-C4C8-474B-9D01-5D674385ED41}"/>
              </a:ext>
            </a:extLst>
          </p:cNvPr>
          <p:cNvSpPr/>
          <p:nvPr/>
        </p:nvSpPr>
        <p:spPr>
          <a:xfrm>
            <a:off x="3834822" y="2404996"/>
            <a:ext cx="3419168" cy="4462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5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14.  </a:t>
            </a:r>
            <a:r>
              <a:rPr lang="en-US" sz="1150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The terminal side of an angle measuring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          </a:t>
            </a:r>
            <a:r>
              <a:rPr lang="en-US" sz="1150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radians lies in which quadrant?</a:t>
            </a:r>
            <a:endParaRPr lang="en-US" dirty="0"/>
          </a:p>
        </p:txBody>
      </p:sp>
      <p:sp>
        <p:nvSpPr>
          <p:cNvPr id="123" name="Text Box 297">
            <a:extLst>
              <a:ext uri="{FF2B5EF4-FFF2-40B4-BE49-F238E27FC236}">
                <a16:creationId xmlns:a16="http://schemas.microsoft.com/office/drawing/2014/main" id="{1F95B193-50A3-4E31-AAEA-448EDAC8A2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0590" y="3643860"/>
            <a:ext cx="522605" cy="358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124" name="Text Box 297">
            <a:extLst>
              <a:ext uri="{FF2B5EF4-FFF2-40B4-BE49-F238E27FC236}">
                <a16:creationId xmlns:a16="http://schemas.microsoft.com/office/drawing/2014/main" id="{F90C354D-15A9-42D4-A1E7-FA49535F07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91590" y="3643860"/>
            <a:ext cx="522605" cy="358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125" name="Text Box 807">
            <a:extLst>
              <a:ext uri="{FF2B5EF4-FFF2-40B4-BE49-F238E27FC236}">
                <a16:creationId xmlns:a16="http://schemas.microsoft.com/office/drawing/2014/main" id="{33913ABE-2397-4F9B-B036-9665A388A8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990" y="2958060"/>
            <a:ext cx="815340" cy="970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4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 </a:t>
            </a: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 </a:t>
            </a: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II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  </a:t>
            </a: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III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   </a:t>
            </a: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IV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6" name="Text Box 807">
            <a:extLst>
              <a:ext uri="{FF2B5EF4-FFF2-40B4-BE49-F238E27FC236}">
                <a16:creationId xmlns:a16="http://schemas.microsoft.com/office/drawing/2014/main" id="{9E80E964-2555-4A13-88EE-5540418C72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5990" y="2958060"/>
            <a:ext cx="815340" cy="970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4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 </a:t>
            </a:r>
            <a:r>
              <a:rPr lang="en-US" sz="110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br>
              <a:rPr lang="en-US" sz="1100" b="1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 </a:t>
            </a:r>
            <a:r>
              <a:rPr lang="en-US" sz="110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II</a:t>
            </a:r>
            <a:br>
              <a:rPr lang="en-US" sz="110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  </a:t>
            </a:r>
            <a:r>
              <a:rPr lang="en-US" sz="110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III</a:t>
            </a:r>
            <a:br>
              <a:rPr lang="en-US" sz="1100" b="1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   </a:t>
            </a:r>
            <a:r>
              <a:rPr lang="en-US" sz="110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IV</a:t>
            </a:r>
            <a:endParaRPr lang="en-US" sz="1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127" name="Object 126">
            <a:extLst>
              <a:ext uri="{FF2B5EF4-FFF2-40B4-BE49-F238E27FC236}">
                <a16:creationId xmlns:a16="http://schemas.microsoft.com/office/drawing/2014/main" id="{472B1118-5020-451E-A6E0-77621B5711B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3564919"/>
              </p:ext>
            </p:extLst>
          </p:nvPr>
        </p:nvGraphicFramePr>
        <p:xfrm>
          <a:off x="3443990" y="2377956"/>
          <a:ext cx="2921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29" name="Equation" r:id="rId8" imgW="291960" imgH="368280" progId="Equation.DSMT4">
                  <p:embed/>
                </p:oleObj>
              </mc:Choice>
              <mc:Fallback>
                <p:oleObj name="Equation" r:id="rId8" imgW="291960" imgH="368280" progId="Equation.DSMT4">
                  <p:embed/>
                  <p:pic>
                    <p:nvPicPr>
                      <p:cNvPr id="70" name="Object 69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443990" y="2377956"/>
                        <a:ext cx="2921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8" name="Object 127">
            <a:extLst>
              <a:ext uri="{FF2B5EF4-FFF2-40B4-BE49-F238E27FC236}">
                <a16:creationId xmlns:a16="http://schemas.microsoft.com/office/drawing/2014/main" id="{5322EEDA-CCAA-44AD-AE39-E0A0DC9F68D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6006571"/>
              </p:ext>
            </p:extLst>
          </p:nvPr>
        </p:nvGraphicFramePr>
        <p:xfrm>
          <a:off x="6872990" y="2368124"/>
          <a:ext cx="3302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30" name="Equation" r:id="rId10" imgW="330120" imgH="368280" progId="Equation.DSMT4">
                  <p:embed/>
                </p:oleObj>
              </mc:Choice>
              <mc:Fallback>
                <p:oleObj name="Equation" r:id="rId10" imgW="330120" imgH="368280" progId="Equation.DSMT4">
                  <p:embed/>
                  <p:pic>
                    <p:nvPicPr>
                      <p:cNvPr id="71" name="Object 70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6872990" y="2368124"/>
                        <a:ext cx="3302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9" name="Rectangle 128">
            <a:extLst>
              <a:ext uri="{FF2B5EF4-FFF2-40B4-BE49-F238E27FC236}">
                <a16:creationId xmlns:a16="http://schemas.microsoft.com/office/drawing/2014/main" id="{46B3F7E5-00D7-4025-BD83-8E03C08001AE}"/>
              </a:ext>
            </a:extLst>
          </p:cNvPr>
          <p:cNvSpPr/>
          <p:nvPr/>
        </p:nvSpPr>
        <p:spPr>
          <a:xfrm>
            <a:off x="405822" y="4024860"/>
            <a:ext cx="2738250" cy="2693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5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15.  </a:t>
            </a:r>
            <a:r>
              <a:rPr lang="en-US" sz="1150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Which angle is coterminal to 128</a:t>
            </a:r>
            <a:r>
              <a:rPr lang="en-US" sz="1150" baseline="30000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°</a:t>
            </a:r>
            <a:r>
              <a:rPr lang="en-US" sz="1150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?</a:t>
            </a:r>
            <a:endParaRPr lang="en-US" dirty="0"/>
          </a:p>
        </p:txBody>
      </p:sp>
      <p:sp>
        <p:nvSpPr>
          <p:cNvPr id="130" name="Text Box 807">
            <a:extLst>
              <a:ext uri="{FF2B5EF4-FFF2-40B4-BE49-F238E27FC236}">
                <a16:creationId xmlns:a16="http://schemas.microsoft.com/office/drawing/2014/main" id="{B8219114-A96A-4A8C-B7A0-AA2625220B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9278" y="4368988"/>
            <a:ext cx="815340" cy="10058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4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 </a:t>
            </a: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-52</a:t>
            </a:r>
            <a:r>
              <a:rPr lang="en-US" sz="1150" baseline="300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°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 </a:t>
            </a: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308</a:t>
            </a:r>
            <a:r>
              <a:rPr lang="en-US" sz="1150" baseline="300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°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  </a:t>
            </a: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232</a:t>
            </a:r>
            <a:r>
              <a:rPr lang="en-US" sz="1150" baseline="300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°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   </a:t>
            </a: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488</a:t>
            </a:r>
            <a:r>
              <a:rPr lang="en-US" sz="1150" baseline="300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°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1" name="Text Box 303">
            <a:extLst>
              <a:ext uri="{FF2B5EF4-FFF2-40B4-BE49-F238E27FC236}">
                <a16:creationId xmlns:a16="http://schemas.microsoft.com/office/drawing/2014/main" id="{3F520498-1231-49C6-9100-D0539A2CC0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91590" y="5091660"/>
            <a:ext cx="522605" cy="358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132" name="Text Box 303">
            <a:extLst>
              <a:ext uri="{FF2B5EF4-FFF2-40B4-BE49-F238E27FC236}">
                <a16:creationId xmlns:a16="http://schemas.microsoft.com/office/drawing/2014/main" id="{F98F77CD-49B2-48A4-BB4E-6C3457D750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50086" y="5091660"/>
            <a:ext cx="522605" cy="358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8454354B-9F06-4C12-8D1A-13F90B376EE0}"/>
              </a:ext>
            </a:extLst>
          </p:cNvPr>
          <p:cNvSpPr/>
          <p:nvPr/>
        </p:nvSpPr>
        <p:spPr>
          <a:xfrm>
            <a:off x="3844654" y="4091228"/>
            <a:ext cx="3200400" cy="2693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5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16.  </a:t>
            </a:r>
            <a:r>
              <a:rPr lang="en-US" sz="1150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Which angle is coterminal to      ?</a:t>
            </a:r>
            <a:endParaRPr lang="en-US" dirty="0"/>
          </a:p>
        </p:txBody>
      </p:sp>
      <p:graphicFrame>
        <p:nvGraphicFramePr>
          <p:cNvPr id="134" name="Object 133">
            <a:extLst>
              <a:ext uri="{FF2B5EF4-FFF2-40B4-BE49-F238E27FC236}">
                <a16:creationId xmlns:a16="http://schemas.microsoft.com/office/drawing/2014/main" id="{2B356F7E-5AC7-478C-A17F-093FF3FAA86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1442627"/>
              </p:ext>
            </p:extLst>
          </p:nvPr>
        </p:nvGraphicFramePr>
        <p:xfrm>
          <a:off x="6110990" y="4024860"/>
          <a:ext cx="228600" cy="3760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31" name="Equation" r:id="rId12" imgW="228600" imgH="368280" progId="Equation.DSMT4">
                  <p:embed/>
                </p:oleObj>
              </mc:Choice>
              <mc:Fallback>
                <p:oleObj name="Equation" r:id="rId12" imgW="228600" imgH="368280" progId="Equation.DSMT4">
                  <p:embed/>
                  <p:pic>
                    <p:nvPicPr>
                      <p:cNvPr id="77" name="Object 76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6110990" y="4024860"/>
                        <a:ext cx="228600" cy="3760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5" name="Text Box 807">
            <a:extLst>
              <a:ext uri="{FF2B5EF4-FFF2-40B4-BE49-F238E27FC236}">
                <a16:creationId xmlns:a16="http://schemas.microsoft.com/office/drawing/2014/main" id="{57A08FED-9F49-4055-8100-087C66876B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5990" y="4558260"/>
            <a:ext cx="2138680" cy="96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                        C.    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                        D. 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136" name="Object 135">
            <a:extLst>
              <a:ext uri="{FF2B5EF4-FFF2-40B4-BE49-F238E27FC236}">
                <a16:creationId xmlns:a16="http://schemas.microsoft.com/office/drawing/2014/main" id="{9EDBF23C-DD6D-4AD5-86E7-6A44042E2C0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0735409"/>
              </p:ext>
            </p:extLst>
          </p:nvPr>
        </p:nvGraphicFramePr>
        <p:xfrm>
          <a:off x="4586990" y="4558260"/>
          <a:ext cx="3302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32" name="Equation" r:id="rId14" imgW="330120" imgH="368280" progId="Equation.DSMT4">
                  <p:embed/>
                </p:oleObj>
              </mc:Choice>
              <mc:Fallback>
                <p:oleObj name="Equation" r:id="rId14" imgW="330120" imgH="368280" progId="Equation.DSMT4">
                  <p:embed/>
                  <p:pic>
                    <p:nvPicPr>
                      <p:cNvPr id="79" name="Object 78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4586990" y="4558260"/>
                        <a:ext cx="3302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7" name="Object 136">
            <a:extLst>
              <a:ext uri="{FF2B5EF4-FFF2-40B4-BE49-F238E27FC236}">
                <a16:creationId xmlns:a16="http://schemas.microsoft.com/office/drawing/2014/main" id="{7E545B26-81D3-4AE6-BD36-9EB2E593E57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5143083"/>
              </p:ext>
            </p:extLst>
          </p:nvPr>
        </p:nvGraphicFramePr>
        <p:xfrm>
          <a:off x="4586990" y="5015460"/>
          <a:ext cx="2413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33" name="Equation" r:id="rId16" imgW="241200" imgH="368280" progId="Equation.DSMT4">
                  <p:embed/>
                </p:oleObj>
              </mc:Choice>
              <mc:Fallback>
                <p:oleObj name="Equation" r:id="rId16" imgW="241200" imgH="368280" progId="Equation.DSMT4">
                  <p:embed/>
                  <p:pic>
                    <p:nvPicPr>
                      <p:cNvPr id="80" name="Object 79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4586990" y="5015460"/>
                        <a:ext cx="2413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" name="Object 137">
            <a:extLst>
              <a:ext uri="{FF2B5EF4-FFF2-40B4-BE49-F238E27FC236}">
                <a16:creationId xmlns:a16="http://schemas.microsoft.com/office/drawing/2014/main" id="{16B4FA6C-4135-4BFA-AF3E-96795C116C6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9371993"/>
              </p:ext>
            </p:extLst>
          </p:nvPr>
        </p:nvGraphicFramePr>
        <p:xfrm>
          <a:off x="5729990" y="4558260"/>
          <a:ext cx="3302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34" name="Equation" r:id="rId18" imgW="330120" imgH="368280" progId="Equation.DSMT4">
                  <p:embed/>
                </p:oleObj>
              </mc:Choice>
              <mc:Fallback>
                <p:oleObj name="Equation" r:id="rId18" imgW="330120" imgH="368280" progId="Equation.DSMT4">
                  <p:embed/>
                  <p:pic>
                    <p:nvPicPr>
                      <p:cNvPr id="81" name="Object 80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5729990" y="4558260"/>
                        <a:ext cx="3302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9" name="Object 138">
            <a:extLst>
              <a:ext uri="{FF2B5EF4-FFF2-40B4-BE49-F238E27FC236}">
                <a16:creationId xmlns:a16="http://schemas.microsoft.com/office/drawing/2014/main" id="{F8556005-F049-463D-B2FB-3CCD92B6083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8123942"/>
              </p:ext>
            </p:extLst>
          </p:nvPr>
        </p:nvGraphicFramePr>
        <p:xfrm>
          <a:off x="5806190" y="5015460"/>
          <a:ext cx="2413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35" name="Equation" r:id="rId20" imgW="241200" imgH="368280" progId="Equation.DSMT4">
                  <p:embed/>
                </p:oleObj>
              </mc:Choice>
              <mc:Fallback>
                <p:oleObj name="Equation" r:id="rId20" imgW="241200" imgH="368280" progId="Equation.DSMT4">
                  <p:embed/>
                  <p:pic>
                    <p:nvPicPr>
                      <p:cNvPr id="82" name="Object 81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5806190" y="5015460"/>
                        <a:ext cx="2413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0" name="Rectangle 139">
            <a:extLst>
              <a:ext uri="{FF2B5EF4-FFF2-40B4-BE49-F238E27FC236}">
                <a16:creationId xmlns:a16="http://schemas.microsoft.com/office/drawing/2014/main" id="{0480472F-7587-4C3E-8CE4-BC3825C967C4}"/>
              </a:ext>
            </a:extLst>
          </p:cNvPr>
          <p:cNvSpPr/>
          <p:nvPr/>
        </p:nvSpPr>
        <p:spPr>
          <a:xfrm>
            <a:off x="405822" y="5499700"/>
            <a:ext cx="2735044" cy="2693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5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17. </a:t>
            </a:r>
            <a:r>
              <a:rPr lang="en-US" sz="1150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 Name the reference angle to 205</a:t>
            </a:r>
            <a:r>
              <a:rPr lang="en-US" sz="1150" baseline="30000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°</a:t>
            </a:r>
            <a:r>
              <a:rPr lang="en-US" sz="1150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.</a:t>
            </a:r>
            <a:endParaRPr lang="en-US" dirty="0"/>
          </a:p>
        </p:txBody>
      </p:sp>
      <p:sp>
        <p:nvSpPr>
          <p:cNvPr id="141" name="Text Box 807">
            <a:extLst>
              <a:ext uri="{FF2B5EF4-FFF2-40B4-BE49-F238E27FC236}">
                <a16:creationId xmlns:a16="http://schemas.microsoft.com/office/drawing/2014/main" id="{EFE268BC-C160-40A5-B6DF-76B902F5F3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990" y="5777460"/>
            <a:ext cx="815340" cy="10058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4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 </a:t>
            </a:r>
            <a:r>
              <a:rPr lang="en-US" sz="110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15</a:t>
            </a:r>
            <a:r>
              <a:rPr lang="en-US" sz="1150" baseline="3000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°</a:t>
            </a:r>
            <a:br>
              <a:rPr lang="en-US" sz="1100" b="1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 </a:t>
            </a:r>
            <a:r>
              <a:rPr lang="en-US" sz="110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25</a:t>
            </a:r>
            <a:r>
              <a:rPr lang="en-US" sz="1150" baseline="3000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°</a:t>
            </a:r>
            <a:br>
              <a:rPr lang="en-US" sz="110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  </a:t>
            </a:r>
            <a:r>
              <a:rPr lang="en-US" sz="110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65</a:t>
            </a:r>
            <a:r>
              <a:rPr lang="en-US" sz="1150" baseline="3000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°</a:t>
            </a:r>
            <a:br>
              <a:rPr lang="en-US" sz="1100" b="1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   </a:t>
            </a:r>
            <a:r>
              <a:rPr lang="en-US" sz="110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75</a:t>
            </a:r>
            <a:r>
              <a:rPr lang="en-US" sz="1150" baseline="3000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°</a:t>
            </a:r>
            <a:endParaRPr lang="en-US" sz="1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2" name="Text Box 308">
            <a:extLst>
              <a:ext uri="{FF2B5EF4-FFF2-40B4-BE49-F238E27FC236}">
                <a16:creationId xmlns:a16="http://schemas.microsoft.com/office/drawing/2014/main" id="{A75EFE36-179F-4F3F-AB8E-5B15C52973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0590" y="6539460"/>
            <a:ext cx="522605" cy="358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143" name="Text Box 308">
            <a:extLst>
              <a:ext uri="{FF2B5EF4-FFF2-40B4-BE49-F238E27FC236}">
                <a16:creationId xmlns:a16="http://schemas.microsoft.com/office/drawing/2014/main" id="{16939139-7A75-4563-A363-501612101C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91590" y="6539460"/>
            <a:ext cx="522605" cy="358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6579BB9C-F49E-4A27-8648-989F15442DB5}"/>
              </a:ext>
            </a:extLst>
          </p:cNvPr>
          <p:cNvSpPr/>
          <p:nvPr/>
        </p:nvSpPr>
        <p:spPr>
          <a:xfrm>
            <a:off x="3824990" y="5548860"/>
            <a:ext cx="3276600" cy="2693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5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18. </a:t>
            </a:r>
            <a:r>
              <a:rPr lang="en-US" sz="1150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 Name the reference angle to      .</a:t>
            </a:r>
            <a:endParaRPr lang="en-US" dirty="0"/>
          </a:p>
        </p:txBody>
      </p:sp>
      <p:graphicFrame>
        <p:nvGraphicFramePr>
          <p:cNvPr id="145" name="Object 144">
            <a:extLst>
              <a:ext uri="{FF2B5EF4-FFF2-40B4-BE49-F238E27FC236}">
                <a16:creationId xmlns:a16="http://schemas.microsoft.com/office/drawing/2014/main" id="{7B5BF8B8-D408-43C7-AA30-0E96FE2500C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7053471"/>
              </p:ext>
            </p:extLst>
          </p:nvPr>
        </p:nvGraphicFramePr>
        <p:xfrm>
          <a:off x="6091326" y="5492324"/>
          <a:ext cx="2413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36" name="Equation" r:id="rId22" imgW="241200" imgH="368280" progId="Equation.DSMT4">
                  <p:embed/>
                </p:oleObj>
              </mc:Choice>
              <mc:Fallback>
                <p:oleObj name="Equation" r:id="rId22" imgW="241200" imgH="368280" progId="Equation.DSMT4">
                  <p:embed/>
                  <p:pic>
                    <p:nvPicPr>
                      <p:cNvPr id="88" name="Object 87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6091326" y="5492324"/>
                        <a:ext cx="2413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6" name="Text Box 807">
            <a:extLst>
              <a:ext uri="{FF2B5EF4-FFF2-40B4-BE49-F238E27FC236}">
                <a16:creationId xmlns:a16="http://schemas.microsoft.com/office/drawing/2014/main" id="{9BBD57C9-AFD6-4111-832F-1A9391945F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5990" y="6006060"/>
            <a:ext cx="1859915" cy="96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                        C.     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                        D. 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147" name="Object 146">
            <a:extLst>
              <a:ext uri="{FF2B5EF4-FFF2-40B4-BE49-F238E27FC236}">
                <a16:creationId xmlns:a16="http://schemas.microsoft.com/office/drawing/2014/main" id="{6CC88A4D-7D1A-403A-B47A-5B70C416277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629431"/>
              </p:ext>
            </p:extLst>
          </p:nvPr>
        </p:nvGraphicFramePr>
        <p:xfrm>
          <a:off x="4510790" y="6006060"/>
          <a:ext cx="1651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37" name="Equation" r:id="rId24" imgW="164880" imgH="368280" progId="Equation.DSMT4">
                  <p:embed/>
                </p:oleObj>
              </mc:Choice>
              <mc:Fallback>
                <p:oleObj name="Equation" r:id="rId24" imgW="164880" imgH="368280" progId="Equation.DSMT4">
                  <p:embed/>
                  <p:pic>
                    <p:nvPicPr>
                      <p:cNvPr id="90" name="Object 89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4510790" y="6006060"/>
                        <a:ext cx="1651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8" name="Object 147">
            <a:extLst>
              <a:ext uri="{FF2B5EF4-FFF2-40B4-BE49-F238E27FC236}">
                <a16:creationId xmlns:a16="http://schemas.microsoft.com/office/drawing/2014/main" id="{B6AEEE36-ED78-4C35-A24E-00FDC36D9AE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6486415"/>
              </p:ext>
            </p:extLst>
          </p:nvPr>
        </p:nvGraphicFramePr>
        <p:xfrm>
          <a:off x="4510790" y="6463260"/>
          <a:ext cx="2286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38" name="Equation" r:id="rId26" imgW="228600" imgH="368280" progId="Equation.DSMT4">
                  <p:embed/>
                </p:oleObj>
              </mc:Choice>
              <mc:Fallback>
                <p:oleObj name="Equation" r:id="rId26" imgW="228600" imgH="368280" progId="Equation.DSMT4">
                  <p:embed/>
                  <p:pic>
                    <p:nvPicPr>
                      <p:cNvPr id="91" name="Object 90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4510790" y="6463260"/>
                        <a:ext cx="2286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9" name="Object 148">
            <a:extLst>
              <a:ext uri="{FF2B5EF4-FFF2-40B4-BE49-F238E27FC236}">
                <a16:creationId xmlns:a16="http://schemas.microsoft.com/office/drawing/2014/main" id="{68971E80-E5D5-4402-8008-53E8DEB6E6D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8370251"/>
              </p:ext>
            </p:extLst>
          </p:nvPr>
        </p:nvGraphicFramePr>
        <p:xfrm>
          <a:off x="5729990" y="6006060"/>
          <a:ext cx="2413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39" name="Equation" r:id="rId28" imgW="241200" imgH="368280" progId="Equation.DSMT4">
                  <p:embed/>
                </p:oleObj>
              </mc:Choice>
              <mc:Fallback>
                <p:oleObj name="Equation" r:id="rId28" imgW="241200" imgH="368280" progId="Equation.DSMT4">
                  <p:embed/>
                  <p:pic>
                    <p:nvPicPr>
                      <p:cNvPr id="92" name="Object 91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5729990" y="6006060"/>
                        <a:ext cx="2413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0" name="Object 149">
            <a:extLst>
              <a:ext uri="{FF2B5EF4-FFF2-40B4-BE49-F238E27FC236}">
                <a16:creationId xmlns:a16="http://schemas.microsoft.com/office/drawing/2014/main" id="{81B8E693-0A40-4210-9F91-10DBB765AEE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7077039"/>
              </p:ext>
            </p:extLst>
          </p:nvPr>
        </p:nvGraphicFramePr>
        <p:xfrm>
          <a:off x="5729990" y="6463260"/>
          <a:ext cx="2286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40" name="Equation" r:id="rId30" imgW="228600" imgH="368280" progId="Equation.DSMT4">
                  <p:embed/>
                </p:oleObj>
              </mc:Choice>
              <mc:Fallback>
                <p:oleObj name="Equation" r:id="rId30" imgW="228600" imgH="368280" progId="Equation.DSMT4">
                  <p:embed/>
                  <p:pic>
                    <p:nvPicPr>
                      <p:cNvPr id="93" name="Object 92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5729990" y="6463260"/>
                        <a:ext cx="2286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1" name="Table 150">
            <a:extLst>
              <a:ext uri="{FF2B5EF4-FFF2-40B4-BE49-F238E27FC236}">
                <a16:creationId xmlns:a16="http://schemas.microsoft.com/office/drawing/2014/main" id="{A429F98C-D603-41F1-8DFF-84B419F482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665891"/>
              </p:ext>
            </p:extLst>
          </p:nvPr>
        </p:nvGraphicFramePr>
        <p:xfrm>
          <a:off x="654086" y="7072860"/>
          <a:ext cx="2895599" cy="201549"/>
        </p:xfrm>
        <a:graphic>
          <a:graphicData uri="http://schemas.openxmlformats.org/drawingml/2006/table">
            <a:tbl>
              <a:tblPr/>
              <a:tblGrid>
                <a:gridCol w="2895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50" b="1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Use for questions 19-20: </a:t>
                      </a:r>
                      <a:r>
                        <a:rPr lang="en-US" sz="115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2" name="Rectangle 151">
            <a:extLst>
              <a:ext uri="{FF2B5EF4-FFF2-40B4-BE49-F238E27FC236}">
                <a16:creationId xmlns:a16="http://schemas.microsoft.com/office/drawing/2014/main" id="{B1C0BEC6-4EDD-4DB0-A931-EE1C1752AF08}"/>
              </a:ext>
            </a:extLst>
          </p:cNvPr>
          <p:cNvSpPr/>
          <p:nvPr/>
        </p:nvSpPr>
        <p:spPr>
          <a:xfrm>
            <a:off x="654086" y="7225260"/>
            <a:ext cx="3048000" cy="6386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50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The terminal side of </a:t>
            </a:r>
            <a:r>
              <a:rPr lang="en-US" sz="1250" i="1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θ</a:t>
            </a:r>
            <a:r>
              <a:rPr lang="en-US" sz="1150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 in standard position contains the point (-4, -2).  Find the exact </a:t>
            </a:r>
            <a:br>
              <a:rPr lang="en-US" sz="1150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</a:br>
            <a:r>
              <a:rPr lang="en-US" sz="1150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   value for each trigonometric function.</a:t>
            </a:r>
            <a:endParaRPr lang="en-US" dirty="0"/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8788FDBF-4D43-4298-B2AE-BACE39E1234B}"/>
              </a:ext>
            </a:extLst>
          </p:cNvPr>
          <p:cNvSpPr/>
          <p:nvPr/>
        </p:nvSpPr>
        <p:spPr>
          <a:xfrm>
            <a:off x="3824990" y="6996660"/>
            <a:ext cx="420308" cy="2693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5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19.</a:t>
            </a:r>
            <a:endParaRPr lang="en-US" dirty="0"/>
          </a:p>
        </p:txBody>
      </p:sp>
      <p:sp>
        <p:nvSpPr>
          <p:cNvPr id="154" name="Text Box 319">
            <a:extLst>
              <a:ext uri="{FF2B5EF4-FFF2-40B4-BE49-F238E27FC236}">
                <a16:creationId xmlns:a16="http://schemas.microsoft.com/office/drawing/2014/main" id="{15533051-9CC5-4919-8888-102475B79E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0590" y="7901228"/>
            <a:ext cx="522605" cy="358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graphicFrame>
        <p:nvGraphicFramePr>
          <p:cNvPr id="155" name="Object 154">
            <a:extLst>
              <a:ext uri="{FF2B5EF4-FFF2-40B4-BE49-F238E27FC236}">
                <a16:creationId xmlns:a16="http://schemas.microsoft.com/office/drawing/2014/main" id="{6F20EA8B-6D02-4517-9C2F-C28D4EE9C89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2071691"/>
              </p:ext>
            </p:extLst>
          </p:nvPr>
        </p:nvGraphicFramePr>
        <p:xfrm>
          <a:off x="4196158" y="7023700"/>
          <a:ext cx="368808" cy="1997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41" name="Equation" r:id="rId32" imgW="304560" imgH="164880" progId="Equation.DSMT4">
                  <p:embed/>
                </p:oleObj>
              </mc:Choice>
              <mc:Fallback>
                <p:oleObj name="Equation" r:id="rId32" imgW="304560" imgH="164880" progId="Equation.DSMT4">
                  <p:embed/>
                  <p:pic>
                    <p:nvPicPr>
                      <p:cNvPr id="102" name="Object 101"/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4196158" y="7023700"/>
                        <a:ext cx="368808" cy="1997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6" name="Object 155">
            <a:extLst>
              <a:ext uri="{FF2B5EF4-FFF2-40B4-BE49-F238E27FC236}">
                <a16:creationId xmlns:a16="http://schemas.microsoft.com/office/drawing/2014/main" id="{BA7B9980-257B-4C40-B4EE-BE7D8757D85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5265866"/>
              </p:ext>
            </p:extLst>
          </p:nvPr>
        </p:nvGraphicFramePr>
        <p:xfrm>
          <a:off x="4196158" y="8338764"/>
          <a:ext cx="384175" cy="1997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42" name="Equation" r:id="rId34" imgW="317160" imgH="164880" progId="Equation.DSMT4">
                  <p:embed/>
                </p:oleObj>
              </mc:Choice>
              <mc:Fallback>
                <p:oleObj name="Equation" r:id="rId34" imgW="317160" imgH="164880" progId="Equation.DSMT4">
                  <p:embed/>
                  <p:pic>
                    <p:nvPicPr>
                      <p:cNvPr id="103" name="Object 102"/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4196158" y="8338764"/>
                        <a:ext cx="384175" cy="1997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7" name="Text Box 807">
            <a:extLst>
              <a:ext uri="{FF2B5EF4-FFF2-40B4-BE49-F238E27FC236}">
                <a16:creationId xmlns:a16="http://schemas.microsoft.com/office/drawing/2014/main" id="{D9230EF1-B788-4220-8B26-889B01EDCC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7390" y="7530060"/>
            <a:ext cx="25908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4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           B.              C.          D. 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158" name="Object 157">
            <a:extLst>
              <a:ext uri="{FF2B5EF4-FFF2-40B4-BE49-F238E27FC236}">
                <a16:creationId xmlns:a16="http://schemas.microsoft.com/office/drawing/2014/main" id="{E345AF12-BB9D-4818-AE6C-0324FE2C72F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5828488"/>
              </p:ext>
            </p:extLst>
          </p:nvPr>
        </p:nvGraphicFramePr>
        <p:xfrm>
          <a:off x="4264982" y="7512852"/>
          <a:ext cx="3175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43" name="Equation" r:id="rId36" imgW="317160" imgH="393480" progId="Equation.DSMT4">
                  <p:embed/>
                </p:oleObj>
              </mc:Choice>
              <mc:Fallback>
                <p:oleObj name="Equation" r:id="rId36" imgW="317160" imgH="393480" progId="Equation.DSMT4">
                  <p:embed/>
                  <p:pic>
                    <p:nvPicPr>
                      <p:cNvPr id="106" name="Object 105"/>
                      <p:cNvPicPr/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4264982" y="7512852"/>
                        <a:ext cx="3175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9" name="Object 158">
            <a:extLst>
              <a:ext uri="{FF2B5EF4-FFF2-40B4-BE49-F238E27FC236}">
                <a16:creationId xmlns:a16="http://schemas.microsoft.com/office/drawing/2014/main" id="{CFFBD9DB-9C74-46B7-A430-7765C0A06AE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273239"/>
              </p:ext>
            </p:extLst>
          </p:nvPr>
        </p:nvGraphicFramePr>
        <p:xfrm>
          <a:off x="4921286" y="7493188"/>
          <a:ext cx="419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44" name="Equation" r:id="rId38" imgW="419040" imgH="393480" progId="Equation.DSMT4">
                  <p:embed/>
                </p:oleObj>
              </mc:Choice>
              <mc:Fallback>
                <p:oleObj name="Equation" r:id="rId38" imgW="419040" imgH="393480" progId="Equation.DSMT4">
                  <p:embed/>
                  <p:pic>
                    <p:nvPicPr>
                      <p:cNvPr id="107" name="Object 106"/>
                      <p:cNvPicPr/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4921286" y="7493188"/>
                        <a:ext cx="4191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0" name="Object 159">
            <a:extLst>
              <a:ext uri="{FF2B5EF4-FFF2-40B4-BE49-F238E27FC236}">
                <a16:creationId xmlns:a16="http://schemas.microsoft.com/office/drawing/2014/main" id="{B8EB04B2-5DAA-4CE7-902B-6F7AE360332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7025327"/>
              </p:ext>
            </p:extLst>
          </p:nvPr>
        </p:nvGraphicFramePr>
        <p:xfrm>
          <a:off x="5653790" y="7483356"/>
          <a:ext cx="2413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45" name="Equation" r:id="rId40" imgW="241200" imgH="393480" progId="Equation.DSMT4">
                  <p:embed/>
                </p:oleObj>
              </mc:Choice>
              <mc:Fallback>
                <p:oleObj name="Equation" r:id="rId40" imgW="241200" imgH="393480" progId="Equation.DSMT4">
                  <p:embed/>
                  <p:pic>
                    <p:nvPicPr>
                      <p:cNvPr id="108" name="Object 107"/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5653790" y="7483356"/>
                        <a:ext cx="2413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1" name="Object 160">
            <a:extLst>
              <a:ext uri="{FF2B5EF4-FFF2-40B4-BE49-F238E27FC236}">
                <a16:creationId xmlns:a16="http://schemas.microsoft.com/office/drawing/2014/main" id="{504C8429-1D90-4C7D-9F2F-88880154252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9309338"/>
              </p:ext>
            </p:extLst>
          </p:nvPr>
        </p:nvGraphicFramePr>
        <p:xfrm>
          <a:off x="6197022" y="7490732"/>
          <a:ext cx="3429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46" name="Equation" r:id="rId42" imgW="342720" imgH="393480" progId="Equation.DSMT4">
                  <p:embed/>
                </p:oleObj>
              </mc:Choice>
              <mc:Fallback>
                <p:oleObj name="Equation" r:id="rId42" imgW="342720" imgH="393480" progId="Equation.DSMT4">
                  <p:embed/>
                  <p:pic>
                    <p:nvPicPr>
                      <p:cNvPr id="109" name="Object 108"/>
                      <p:cNvPicPr/>
                      <p:nvPr/>
                    </p:nvPicPr>
                    <p:blipFill>
                      <a:blip r:embed="rId43"/>
                      <a:stretch>
                        <a:fillRect/>
                      </a:stretch>
                    </p:blipFill>
                    <p:spPr>
                      <a:xfrm>
                        <a:off x="6197022" y="7490732"/>
                        <a:ext cx="3429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2" name="Rectangle 161">
            <a:extLst>
              <a:ext uri="{FF2B5EF4-FFF2-40B4-BE49-F238E27FC236}">
                <a16:creationId xmlns:a16="http://schemas.microsoft.com/office/drawing/2014/main" id="{C9A6B71F-237A-4EC9-8DED-387F3DB30933}"/>
              </a:ext>
            </a:extLst>
          </p:cNvPr>
          <p:cNvSpPr/>
          <p:nvPr/>
        </p:nvSpPr>
        <p:spPr>
          <a:xfrm>
            <a:off x="3834822" y="8311724"/>
            <a:ext cx="420308" cy="2693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5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20.</a:t>
            </a:r>
            <a:endParaRPr lang="en-US" dirty="0"/>
          </a:p>
        </p:txBody>
      </p:sp>
      <p:sp>
        <p:nvSpPr>
          <p:cNvPr id="163" name="Text Box 319">
            <a:extLst>
              <a:ext uri="{FF2B5EF4-FFF2-40B4-BE49-F238E27FC236}">
                <a16:creationId xmlns:a16="http://schemas.microsoft.com/office/drawing/2014/main" id="{9DDECD2C-8D11-4565-BD62-90EA18C5AB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0590" y="9206460"/>
            <a:ext cx="522605" cy="358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164" name="Text Box 807">
            <a:extLst>
              <a:ext uri="{FF2B5EF4-FFF2-40B4-BE49-F238E27FC236}">
                <a16:creationId xmlns:a16="http://schemas.microsoft.com/office/drawing/2014/main" id="{C43F6383-8CA1-4F9C-BB64-26BBA34A91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1638" y="8901660"/>
            <a:ext cx="25908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4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         B.           C.           D. 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165" name="Object 164">
            <a:extLst>
              <a:ext uri="{FF2B5EF4-FFF2-40B4-BE49-F238E27FC236}">
                <a16:creationId xmlns:a16="http://schemas.microsoft.com/office/drawing/2014/main" id="{1FCE8EBE-DCFE-4319-8A1B-76F8A6E80F1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4509196"/>
              </p:ext>
            </p:extLst>
          </p:nvPr>
        </p:nvGraphicFramePr>
        <p:xfrm>
          <a:off x="4348558" y="8881996"/>
          <a:ext cx="1397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47" name="Equation" r:id="rId44" imgW="139680" imgH="368280" progId="Equation.DSMT4">
                  <p:embed/>
                </p:oleObj>
              </mc:Choice>
              <mc:Fallback>
                <p:oleObj name="Equation" r:id="rId44" imgW="139680" imgH="368280" progId="Equation.DSMT4">
                  <p:embed/>
                  <p:pic>
                    <p:nvPicPr>
                      <p:cNvPr id="110" name="Object 109"/>
                      <p:cNvPicPr/>
                      <p:nvPr/>
                    </p:nvPicPr>
                    <p:blipFill>
                      <a:blip r:embed="rId45"/>
                      <a:stretch>
                        <a:fillRect/>
                      </a:stretch>
                    </p:blipFill>
                    <p:spPr>
                      <a:xfrm>
                        <a:off x="4348558" y="8881996"/>
                        <a:ext cx="1397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6" name="Object 165">
            <a:extLst>
              <a:ext uri="{FF2B5EF4-FFF2-40B4-BE49-F238E27FC236}">
                <a16:creationId xmlns:a16="http://schemas.microsoft.com/office/drawing/2014/main" id="{ED34558C-341F-42AB-A931-F9CA95BCCE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4520821"/>
              </p:ext>
            </p:extLst>
          </p:nvPr>
        </p:nvGraphicFramePr>
        <p:xfrm>
          <a:off x="4891790" y="8874620"/>
          <a:ext cx="2413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48" name="Equation" r:id="rId46" imgW="241200" imgH="368280" progId="Equation.DSMT4">
                  <p:embed/>
                </p:oleObj>
              </mc:Choice>
              <mc:Fallback>
                <p:oleObj name="Equation" r:id="rId46" imgW="241200" imgH="368280" progId="Equation.DSMT4">
                  <p:embed/>
                  <p:pic>
                    <p:nvPicPr>
                      <p:cNvPr id="111" name="Object 110"/>
                      <p:cNvPicPr/>
                      <p:nvPr/>
                    </p:nvPicPr>
                    <p:blipFill>
                      <a:blip r:embed="rId47"/>
                      <a:stretch>
                        <a:fillRect/>
                      </a:stretch>
                    </p:blipFill>
                    <p:spPr>
                      <a:xfrm>
                        <a:off x="4891790" y="8874620"/>
                        <a:ext cx="2413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7" name="Object 166">
            <a:extLst>
              <a:ext uri="{FF2B5EF4-FFF2-40B4-BE49-F238E27FC236}">
                <a16:creationId xmlns:a16="http://schemas.microsoft.com/office/drawing/2014/main" id="{47A6B10A-60C9-478F-82C2-5E10D548E0A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2480521"/>
              </p:ext>
            </p:extLst>
          </p:nvPr>
        </p:nvGraphicFramePr>
        <p:xfrm>
          <a:off x="5501390" y="8987692"/>
          <a:ext cx="114300" cy="16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49" name="Equation" r:id="rId48" imgW="114120" imgH="164880" progId="Equation.DSMT4">
                  <p:embed/>
                </p:oleObj>
              </mc:Choice>
              <mc:Fallback>
                <p:oleObj name="Equation" r:id="rId48" imgW="114120" imgH="164880" progId="Equation.DSMT4">
                  <p:embed/>
                  <p:pic>
                    <p:nvPicPr>
                      <p:cNvPr id="112" name="Object 111"/>
                      <p:cNvPicPr/>
                      <p:nvPr/>
                    </p:nvPicPr>
                    <p:blipFill>
                      <a:blip r:embed="rId49"/>
                      <a:stretch>
                        <a:fillRect/>
                      </a:stretch>
                    </p:blipFill>
                    <p:spPr>
                      <a:xfrm>
                        <a:off x="5501390" y="8987692"/>
                        <a:ext cx="114300" cy="165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8" name="Object 167">
            <a:extLst>
              <a:ext uri="{FF2B5EF4-FFF2-40B4-BE49-F238E27FC236}">
                <a16:creationId xmlns:a16="http://schemas.microsoft.com/office/drawing/2014/main" id="{519D1071-0061-44FE-8305-4DD4781D454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2531348"/>
              </p:ext>
            </p:extLst>
          </p:nvPr>
        </p:nvGraphicFramePr>
        <p:xfrm>
          <a:off x="6110990" y="8977860"/>
          <a:ext cx="203200" cy="16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50" name="Equation" r:id="rId50" imgW="203040" imgH="164880" progId="Equation.DSMT4">
                  <p:embed/>
                </p:oleObj>
              </mc:Choice>
              <mc:Fallback>
                <p:oleObj name="Equation" r:id="rId50" imgW="203040" imgH="164880" progId="Equation.DSMT4">
                  <p:embed/>
                  <p:pic>
                    <p:nvPicPr>
                      <p:cNvPr id="113" name="Object 112"/>
                      <p:cNvPicPr/>
                      <p:nvPr/>
                    </p:nvPicPr>
                    <p:blipFill>
                      <a:blip r:embed="rId51"/>
                      <a:stretch>
                        <a:fillRect/>
                      </a:stretch>
                    </p:blipFill>
                    <p:spPr>
                      <a:xfrm>
                        <a:off x="6110990" y="8977860"/>
                        <a:ext cx="203200" cy="165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grayscl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CE20E57-E255-4EC4-9C32-F60A6FAB5B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6835" y="8050548"/>
            <a:ext cx="4938188" cy="1316850"/>
          </a:xfrm>
          <a:prstGeom prst="rect">
            <a:avLst/>
          </a:prstGeom>
        </p:spPr>
      </p:pic>
      <p:sp>
        <p:nvSpPr>
          <p:cNvPr id="94" name="Rectangle 93">
            <a:extLst>
              <a:ext uri="{FF2B5EF4-FFF2-40B4-BE49-F238E27FC236}">
                <a16:creationId xmlns:a16="http://schemas.microsoft.com/office/drawing/2014/main" id="{DF3FF1EB-CBF6-4862-8F27-265A00C3C421}"/>
              </a:ext>
            </a:extLst>
          </p:cNvPr>
          <p:cNvSpPr/>
          <p:nvPr/>
        </p:nvSpPr>
        <p:spPr>
          <a:xfrm>
            <a:off x="428188" y="327932"/>
            <a:ext cx="3411792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5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21. </a:t>
            </a:r>
            <a:r>
              <a:rPr lang="en-US" sz="1150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If cot </a:t>
            </a:r>
            <a:r>
              <a:rPr lang="en-US" sz="1250" i="1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θ</a:t>
            </a:r>
            <a:r>
              <a:rPr lang="en-US" sz="1150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 &lt; 0, in which quadrant(s) could the </a:t>
            </a:r>
            <a:br>
              <a:rPr lang="en-US" sz="1150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</a:br>
            <a:r>
              <a:rPr lang="en-US" sz="1150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      terminal side of angle </a:t>
            </a:r>
            <a:r>
              <a:rPr lang="en-US" sz="1250" i="1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θ</a:t>
            </a:r>
            <a:r>
              <a:rPr lang="en-US" sz="1150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 lie?</a:t>
            </a:r>
            <a:endParaRPr lang="en-US" dirty="0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571F3C04-1CEE-44CF-ADD2-68D767E097EA}"/>
              </a:ext>
            </a:extLst>
          </p:cNvPr>
          <p:cNvSpPr/>
          <p:nvPr/>
        </p:nvSpPr>
        <p:spPr>
          <a:xfrm>
            <a:off x="3859644" y="327932"/>
            <a:ext cx="3485536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5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22. </a:t>
            </a:r>
            <a:r>
              <a:rPr lang="en-US" sz="1150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If sin </a:t>
            </a:r>
            <a:r>
              <a:rPr lang="en-US" sz="1250" i="1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θ</a:t>
            </a:r>
            <a:r>
              <a:rPr lang="en-US" sz="1150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 = cos </a:t>
            </a:r>
            <a:r>
              <a:rPr lang="en-US" sz="1250" i="1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θ</a:t>
            </a:r>
            <a:r>
              <a:rPr lang="en-US" sz="1150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, in which quadrant(s) could </a:t>
            </a:r>
            <a:br>
              <a:rPr lang="en-US" sz="1150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</a:br>
            <a:r>
              <a:rPr lang="en-US" sz="1150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      the terminal side of angle </a:t>
            </a:r>
            <a:r>
              <a:rPr lang="en-US" sz="1250" i="1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θ</a:t>
            </a:r>
            <a:r>
              <a:rPr lang="en-US" sz="1150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 lie?</a:t>
            </a:r>
            <a:endParaRPr lang="en-US" dirty="0"/>
          </a:p>
        </p:txBody>
      </p:sp>
      <p:sp>
        <p:nvSpPr>
          <p:cNvPr id="96" name="Text Box 807">
            <a:extLst>
              <a:ext uri="{FF2B5EF4-FFF2-40B4-BE49-F238E27FC236}">
                <a16:creationId xmlns:a16="http://schemas.microsoft.com/office/drawing/2014/main" id="{D56662C7-D9FA-4ADC-9910-2B82F16FFB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5780" y="824460"/>
            <a:ext cx="1111885" cy="970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4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 </a:t>
            </a: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II and IV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 </a:t>
            </a: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II and III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  </a:t>
            </a: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III only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   </a:t>
            </a: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IV only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7" name="Text Box 807">
            <a:extLst>
              <a:ext uri="{FF2B5EF4-FFF2-40B4-BE49-F238E27FC236}">
                <a16:creationId xmlns:a16="http://schemas.microsoft.com/office/drawing/2014/main" id="{F029BDA7-5A15-415E-9937-DD1FC3FA0B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4780" y="824460"/>
            <a:ext cx="1111885" cy="970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4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 </a:t>
            </a: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 only</a:t>
            </a: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 </a:t>
            </a: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III only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  </a:t>
            </a: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 and III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   </a:t>
            </a: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II and IV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8" name="Text Box 331">
            <a:extLst>
              <a:ext uri="{FF2B5EF4-FFF2-40B4-BE49-F238E27FC236}">
                <a16:creationId xmlns:a16="http://schemas.microsoft.com/office/drawing/2014/main" id="{060B8FBF-2F1F-4DB5-8272-D3AC0257AC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5580" y="1510260"/>
            <a:ext cx="522605" cy="358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99" name="Text Box 331">
            <a:extLst>
              <a:ext uri="{FF2B5EF4-FFF2-40B4-BE49-F238E27FC236}">
                <a16:creationId xmlns:a16="http://schemas.microsoft.com/office/drawing/2014/main" id="{E15F89E2-981F-4938-854F-97C1D1D4E3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6580" y="1510260"/>
            <a:ext cx="522605" cy="358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7272A789-2D4E-4B9D-ABAF-BAC2A98FF517}"/>
              </a:ext>
            </a:extLst>
          </p:cNvPr>
          <p:cNvSpPr/>
          <p:nvPr/>
        </p:nvSpPr>
        <p:spPr>
          <a:xfrm>
            <a:off x="447852" y="1901092"/>
            <a:ext cx="6515100" cy="2693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5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For questions 23-26, give the exact value for each trigonometric function.</a:t>
            </a:r>
            <a:endParaRPr lang="en-US" dirty="0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8DB0C4AE-9766-4F20-924C-CD5279E5891A}"/>
              </a:ext>
            </a:extLst>
          </p:cNvPr>
          <p:cNvSpPr/>
          <p:nvPr/>
        </p:nvSpPr>
        <p:spPr>
          <a:xfrm>
            <a:off x="430644" y="2137068"/>
            <a:ext cx="995785" cy="2693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5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23. </a:t>
            </a:r>
            <a:r>
              <a:rPr lang="en-US" sz="1150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sin 120</a:t>
            </a:r>
            <a:r>
              <a:rPr lang="en-US" sz="1150" baseline="30000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° </a:t>
            </a:r>
            <a:endParaRPr lang="en-US" dirty="0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9684210F-F6EC-41D9-9084-12B449588270}"/>
              </a:ext>
            </a:extLst>
          </p:cNvPr>
          <p:cNvSpPr/>
          <p:nvPr/>
        </p:nvSpPr>
        <p:spPr>
          <a:xfrm>
            <a:off x="3859644" y="2137068"/>
            <a:ext cx="1064715" cy="2693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5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24.</a:t>
            </a:r>
            <a:r>
              <a:rPr lang="en-US" sz="1150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  csc 225</a:t>
            </a:r>
            <a:r>
              <a:rPr lang="en-US" sz="1150" baseline="30000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° </a:t>
            </a:r>
            <a:endParaRPr lang="en-US" dirty="0"/>
          </a:p>
        </p:txBody>
      </p:sp>
      <p:sp>
        <p:nvSpPr>
          <p:cNvPr id="103" name="Text Box 335">
            <a:extLst>
              <a:ext uri="{FF2B5EF4-FFF2-40B4-BE49-F238E27FC236}">
                <a16:creationId xmlns:a16="http://schemas.microsoft.com/office/drawing/2014/main" id="{B59ED788-0CDE-4469-AE87-9348AC5A9A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6580" y="5472660"/>
            <a:ext cx="522605" cy="358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104" name="Text Box 335">
            <a:extLst>
              <a:ext uri="{FF2B5EF4-FFF2-40B4-BE49-F238E27FC236}">
                <a16:creationId xmlns:a16="http://schemas.microsoft.com/office/drawing/2014/main" id="{CB5C9487-DE10-474F-9136-1722B5E259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5580" y="5472660"/>
            <a:ext cx="522605" cy="358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105" name="Text Box 335">
            <a:extLst>
              <a:ext uri="{FF2B5EF4-FFF2-40B4-BE49-F238E27FC236}">
                <a16:creationId xmlns:a16="http://schemas.microsoft.com/office/drawing/2014/main" id="{64C8289E-DEEE-47F6-9A1D-5B2C9A4688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6580" y="3606988"/>
            <a:ext cx="522605" cy="358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106" name="Text Box 335">
            <a:extLst>
              <a:ext uri="{FF2B5EF4-FFF2-40B4-BE49-F238E27FC236}">
                <a16:creationId xmlns:a16="http://schemas.microsoft.com/office/drawing/2014/main" id="{4D7DFF91-F9A7-4D69-93AF-C6AFA77590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55244" y="3594700"/>
            <a:ext cx="522605" cy="358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107" name="Text Box 807">
            <a:extLst>
              <a:ext uri="{FF2B5EF4-FFF2-40B4-BE49-F238E27FC236}">
                <a16:creationId xmlns:a16="http://schemas.microsoft.com/office/drawing/2014/main" id="{788B18E1-0440-496B-AD89-0218DCB690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0980" y="4558260"/>
            <a:ext cx="1859915" cy="1185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7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</a:t>
            </a:r>
            <a:r>
              <a:rPr lang="en-US" sz="110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0</a:t>
            </a:r>
            <a:r>
              <a:rPr lang="en-US" sz="1100" b="1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</a:t>
            </a:r>
            <a:br>
              <a:rPr lang="en-US" sz="110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</a:t>
            </a:r>
            <a:r>
              <a:rPr lang="en-US" sz="110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US" sz="1100" b="1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br>
              <a:rPr lang="en-US" sz="1100" b="1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</a:t>
            </a:r>
            <a:r>
              <a:rPr lang="en-US" sz="110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-1     </a:t>
            </a:r>
            <a:r>
              <a:rPr lang="en-US" sz="1100" b="1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</a:t>
            </a:r>
            <a:br>
              <a:rPr lang="en-US" sz="1100" b="1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  </a:t>
            </a:r>
            <a:r>
              <a:rPr lang="en-US" sz="110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undefined</a:t>
            </a:r>
            <a:br>
              <a:rPr lang="en-US" sz="1100" b="1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1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ACC3A6DF-E4D5-465B-A688-16DDC56C0757}"/>
              </a:ext>
            </a:extLst>
          </p:cNvPr>
          <p:cNvSpPr/>
          <p:nvPr/>
        </p:nvSpPr>
        <p:spPr>
          <a:xfrm>
            <a:off x="428188" y="4083852"/>
            <a:ext cx="420308" cy="2693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5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25.</a:t>
            </a:r>
            <a:endParaRPr lang="en-US" dirty="0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0A6CDD3F-5AB3-4EC0-8112-ABD714E1480B}"/>
              </a:ext>
            </a:extLst>
          </p:cNvPr>
          <p:cNvSpPr/>
          <p:nvPr/>
        </p:nvSpPr>
        <p:spPr>
          <a:xfrm>
            <a:off x="3867020" y="4064188"/>
            <a:ext cx="463588" cy="2693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5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26. </a:t>
            </a:r>
            <a:endParaRPr lang="en-US" dirty="0"/>
          </a:p>
        </p:txBody>
      </p:sp>
      <p:graphicFrame>
        <p:nvGraphicFramePr>
          <p:cNvPr id="110" name="Object 109">
            <a:extLst>
              <a:ext uri="{FF2B5EF4-FFF2-40B4-BE49-F238E27FC236}">
                <a16:creationId xmlns:a16="http://schemas.microsoft.com/office/drawing/2014/main" id="{CA2F3151-F234-461E-9B21-41900696E36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6054120"/>
              </p:ext>
            </p:extLst>
          </p:nvPr>
        </p:nvGraphicFramePr>
        <p:xfrm>
          <a:off x="767215" y="4006445"/>
          <a:ext cx="544830" cy="4051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31" name="Equation" r:id="rId5" imgW="495000" imgH="368280" progId="Equation.DSMT4">
                  <p:embed/>
                </p:oleObj>
              </mc:Choice>
              <mc:Fallback>
                <p:oleObj name="Equation" r:id="rId5" imgW="495000" imgH="368280" progId="Equation.DSMT4">
                  <p:embed/>
                  <p:pic>
                    <p:nvPicPr>
                      <p:cNvPr id="130" name="Object 12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67215" y="4006445"/>
                        <a:ext cx="544830" cy="4051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" name="Object 110">
            <a:extLst>
              <a:ext uri="{FF2B5EF4-FFF2-40B4-BE49-F238E27FC236}">
                <a16:creationId xmlns:a16="http://schemas.microsoft.com/office/drawing/2014/main" id="{06B5E77E-0A6C-450D-9340-D0482B3574A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2485649"/>
              </p:ext>
            </p:extLst>
          </p:nvPr>
        </p:nvGraphicFramePr>
        <p:xfrm>
          <a:off x="4211254" y="3965276"/>
          <a:ext cx="430276" cy="4456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32" name="Equation" r:id="rId7" imgW="355320" imgH="368280" progId="Equation.DSMT4">
                  <p:embed/>
                </p:oleObj>
              </mc:Choice>
              <mc:Fallback>
                <p:oleObj name="Equation" r:id="rId7" imgW="355320" imgH="368280" progId="Equation.DSMT4">
                  <p:embed/>
                  <p:pic>
                    <p:nvPicPr>
                      <p:cNvPr id="131" name="Object 13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211254" y="3965276"/>
                        <a:ext cx="430276" cy="44564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" name="Text Box 807">
            <a:extLst>
              <a:ext uri="{FF2B5EF4-FFF2-40B4-BE49-F238E27FC236}">
                <a16:creationId xmlns:a16="http://schemas.microsoft.com/office/drawing/2014/main" id="{B12E0A93-952D-4222-B0B6-F231F642CC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5780" y="4786860"/>
            <a:ext cx="2135505" cy="96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                      C.    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                      D. 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2" name="Text Box 807">
            <a:extLst>
              <a:ext uri="{FF2B5EF4-FFF2-40B4-BE49-F238E27FC236}">
                <a16:creationId xmlns:a16="http://schemas.microsoft.com/office/drawing/2014/main" id="{9BF7C57B-9CC3-4BF5-97B2-2225CE1F56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4780" y="2958060"/>
            <a:ext cx="2135505" cy="96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                      C.    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                      D. 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3" name="Text Box 807">
            <a:extLst>
              <a:ext uri="{FF2B5EF4-FFF2-40B4-BE49-F238E27FC236}">
                <a16:creationId xmlns:a16="http://schemas.microsoft.com/office/drawing/2014/main" id="{29EA4EF4-E5EF-4584-B80D-7D2E642B94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5780" y="2881860"/>
            <a:ext cx="2135505" cy="96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                      C.    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                      D. 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175" name="Object 174">
            <a:extLst>
              <a:ext uri="{FF2B5EF4-FFF2-40B4-BE49-F238E27FC236}">
                <a16:creationId xmlns:a16="http://schemas.microsoft.com/office/drawing/2014/main" id="{4DEF79D4-7620-40FD-8DD6-DB2D9BF26FF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9217516"/>
              </p:ext>
            </p:extLst>
          </p:nvPr>
        </p:nvGraphicFramePr>
        <p:xfrm>
          <a:off x="1096780" y="2881860"/>
          <a:ext cx="3429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33" name="Equation" r:id="rId9" imgW="342720" imgH="393480" progId="Equation.DSMT4">
                  <p:embed/>
                </p:oleObj>
              </mc:Choice>
              <mc:Fallback>
                <p:oleObj name="Equation" r:id="rId9" imgW="342720" imgH="393480" progId="Equation.DSMT4">
                  <p:embed/>
                  <p:pic>
                    <p:nvPicPr>
                      <p:cNvPr id="135" name="Object 134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096780" y="2881860"/>
                        <a:ext cx="3429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9" name="Object 198">
            <a:extLst>
              <a:ext uri="{FF2B5EF4-FFF2-40B4-BE49-F238E27FC236}">
                <a16:creationId xmlns:a16="http://schemas.microsoft.com/office/drawing/2014/main" id="{C2B9D509-6FC3-4C0D-88BE-E6B0211005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4964033"/>
              </p:ext>
            </p:extLst>
          </p:nvPr>
        </p:nvGraphicFramePr>
        <p:xfrm>
          <a:off x="1096780" y="3339060"/>
          <a:ext cx="2413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34" name="Equation" r:id="rId11" imgW="241200" imgH="368280" progId="Equation.DSMT4">
                  <p:embed/>
                </p:oleObj>
              </mc:Choice>
              <mc:Fallback>
                <p:oleObj name="Equation" r:id="rId11" imgW="241200" imgH="368280" progId="Equation.DSMT4">
                  <p:embed/>
                  <p:pic>
                    <p:nvPicPr>
                      <p:cNvPr id="136" name="Object 135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096780" y="3339060"/>
                        <a:ext cx="2413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0" name="Object 199">
            <a:extLst>
              <a:ext uri="{FF2B5EF4-FFF2-40B4-BE49-F238E27FC236}">
                <a16:creationId xmlns:a16="http://schemas.microsoft.com/office/drawing/2014/main" id="{44A45472-E7B6-4B0F-82DD-4043D46A269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2975205"/>
              </p:ext>
            </p:extLst>
          </p:nvPr>
        </p:nvGraphicFramePr>
        <p:xfrm>
          <a:off x="2163580" y="2881860"/>
          <a:ext cx="2413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35" name="Equation" r:id="rId13" imgW="241200" imgH="393480" progId="Equation.DSMT4">
                  <p:embed/>
                </p:oleObj>
              </mc:Choice>
              <mc:Fallback>
                <p:oleObj name="Equation" r:id="rId13" imgW="241200" imgH="393480" progId="Equation.DSMT4">
                  <p:embed/>
                  <p:pic>
                    <p:nvPicPr>
                      <p:cNvPr id="137" name="Object 136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163580" y="2881860"/>
                        <a:ext cx="2413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1" name="Object 200">
            <a:extLst>
              <a:ext uri="{FF2B5EF4-FFF2-40B4-BE49-F238E27FC236}">
                <a16:creationId xmlns:a16="http://schemas.microsoft.com/office/drawing/2014/main" id="{1E8E347B-6CB2-47EF-9082-4CBE3A42260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0487143"/>
              </p:ext>
            </p:extLst>
          </p:nvPr>
        </p:nvGraphicFramePr>
        <p:xfrm>
          <a:off x="2229948" y="3348892"/>
          <a:ext cx="1397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36" name="Equation" r:id="rId15" imgW="139680" imgH="368280" progId="Equation.DSMT4">
                  <p:embed/>
                </p:oleObj>
              </mc:Choice>
              <mc:Fallback>
                <p:oleObj name="Equation" r:id="rId15" imgW="139680" imgH="368280" progId="Equation.DSMT4">
                  <p:embed/>
                  <p:pic>
                    <p:nvPicPr>
                      <p:cNvPr id="138" name="Object 137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229948" y="3348892"/>
                        <a:ext cx="1397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2" name="Object 201">
            <a:extLst>
              <a:ext uri="{FF2B5EF4-FFF2-40B4-BE49-F238E27FC236}">
                <a16:creationId xmlns:a16="http://schemas.microsoft.com/office/drawing/2014/main" id="{AF6986C9-66AB-4B71-A405-1044B2107D0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7611551"/>
              </p:ext>
            </p:extLst>
          </p:nvPr>
        </p:nvGraphicFramePr>
        <p:xfrm>
          <a:off x="4449580" y="2958060"/>
          <a:ext cx="3429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37" name="Equation" r:id="rId17" imgW="342720" imgH="393480" progId="Equation.DSMT4">
                  <p:embed/>
                </p:oleObj>
              </mc:Choice>
              <mc:Fallback>
                <p:oleObj name="Equation" r:id="rId17" imgW="342720" imgH="393480" progId="Equation.DSMT4">
                  <p:embed/>
                  <p:pic>
                    <p:nvPicPr>
                      <p:cNvPr id="139" name="Object 138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449580" y="2958060"/>
                        <a:ext cx="3429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3" name="Object 202">
            <a:extLst>
              <a:ext uri="{FF2B5EF4-FFF2-40B4-BE49-F238E27FC236}">
                <a16:creationId xmlns:a16="http://schemas.microsoft.com/office/drawing/2014/main" id="{4B8D88E7-6BA0-4109-99E8-822890FE9F4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5602686"/>
              </p:ext>
            </p:extLst>
          </p:nvPr>
        </p:nvGraphicFramePr>
        <p:xfrm>
          <a:off x="4449580" y="3491460"/>
          <a:ext cx="3048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38" name="Equation" r:id="rId19" imgW="304560" imgH="203040" progId="Equation.DSMT4">
                  <p:embed/>
                </p:oleObj>
              </mc:Choice>
              <mc:Fallback>
                <p:oleObj name="Equation" r:id="rId19" imgW="304560" imgH="203040" progId="Equation.DSMT4">
                  <p:embed/>
                  <p:pic>
                    <p:nvPicPr>
                      <p:cNvPr id="140" name="Object 139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449580" y="3491460"/>
                        <a:ext cx="3048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" name="Object 203">
            <a:extLst>
              <a:ext uri="{FF2B5EF4-FFF2-40B4-BE49-F238E27FC236}">
                <a16:creationId xmlns:a16="http://schemas.microsoft.com/office/drawing/2014/main" id="{EA65028F-CA04-46D7-ABAD-5580674D43B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2801366"/>
              </p:ext>
            </p:extLst>
          </p:nvPr>
        </p:nvGraphicFramePr>
        <p:xfrm>
          <a:off x="5592580" y="2948228"/>
          <a:ext cx="254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39" name="Equation" r:id="rId21" imgW="253800" imgH="393480" progId="Equation.DSMT4">
                  <p:embed/>
                </p:oleObj>
              </mc:Choice>
              <mc:Fallback>
                <p:oleObj name="Equation" r:id="rId21" imgW="253800" imgH="393480" progId="Equation.DSMT4">
                  <p:embed/>
                  <p:pic>
                    <p:nvPicPr>
                      <p:cNvPr id="141" name="Object 140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5592580" y="2948228"/>
                        <a:ext cx="2540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" name="Object 204">
            <a:extLst>
              <a:ext uri="{FF2B5EF4-FFF2-40B4-BE49-F238E27FC236}">
                <a16:creationId xmlns:a16="http://schemas.microsoft.com/office/drawing/2014/main" id="{CFF13B38-AC51-4F89-81DB-D10E449AD0A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3532124"/>
              </p:ext>
            </p:extLst>
          </p:nvPr>
        </p:nvGraphicFramePr>
        <p:xfrm>
          <a:off x="5592580" y="3491460"/>
          <a:ext cx="2286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40" name="Equation" r:id="rId23" imgW="228600" imgH="203040" progId="Equation.DSMT4">
                  <p:embed/>
                </p:oleObj>
              </mc:Choice>
              <mc:Fallback>
                <p:oleObj name="Equation" r:id="rId23" imgW="228600" imgH="203040" progId="Equation.DSMT4">
                  <p:embed/>
                  <p:pic>
                    <p:nvPicPr>
                      <p:cNvPr id="142" name="Object 141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5592580" y="3491460"/>
                        <a:ext cx="2286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6" name="Object 205">
            <a:extLst>
              <a:ext uri="{FF2B5EF4-FFF2-40B4-BE49-F238E27FC236}">
                <a16:creationId xmlns:a16="http://schemas.microsoft.com/office/drawing/2014/main" id="{BFC26DBE-75E0-438A-A5E4-1B52427C928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9040372"/>
              </p:ext>
            </p:extLst>
          </p:nvPr>
        </p:nvGraphicFramePr>
        <p:xfrm>
          <a:off x="1020580" y="4786860"/>
          <a:ext cx="2413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41" name="Equation" r:id="rId25" imgW="241200" imgH="393480" progId="Equation.DSMT4">
                  <p:embed/>
                </p:oleObj>
              </mc:Choice>
              <mc:Fallback>
                <p:oleObj name="Equation" r:id="rId25" imgW="241200" imgH="393480" progId="Equation.DSMT4">
                  <p:embed/>
                  <p:pic>
                    <p:nvPicPr>
                      <p:cNvPr id="143" name="Object 142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020580" y="4786860"/>
                        <a:ext cx="2413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7" name="Object 206">
            <a:extLst>
              <a:ext uri="{FF2B5EF4-FFF2-40B4-BE49-F238E27FC236}">
                <a16:creationId xmlns:a16="http://schemas.microsoft.com/office/drawing/2014/main" id="{BE6B6F10-2565-44E3-9D96-FCAD921FBEB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2604270"/>
              </p:ext>
            </p:extLst>
          </p:nvPr>
        </p:nvGraphicFramePr>
        <p:xfrm>
          <a:off x="1020580" y="5244060"/>
          <a:ext cx="3429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42" name="Equation" r:id="rId27" imgW="342720" imgH="393480" progId="Equation.DSMT4">
                  <p:embed/>
                </p:oleObj>
              </mc:Choice>
              <mc:Fallback>
                <p:oleObj name="Equation" r:id="rId27" imgW="342720" imgH="393480" progId="Equation.DSMT4">
                  <p:embed/>
                  <p:pic>
                    <p:nvPicPr>
                      <p:cNvPr id="144" name="Object 143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020580" y="5244060"/>
                        <a:ext cx="3429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8" name="Object 207">
            <a:extLst>
              <a:ext uri="{FF2B5EF4-FFF2-40B4-BE49-F238E27FC236}">
                <a16:creationId xmlns:a16="http://schemas.microsoft.com/office/drawing/2014/main" id="{A04979FD-56B3-408C-B357-B9D15830D79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724879"/>
              </p:ext>
            </p:extLst>
          </p:nvPr>
        </p:nvGraphicFramePr>
        <p:xfrm>
          <a:off x="2163580" y="4853228"/>
          <a:ext cx="2286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43" name="Equation" r:id="rId29" imgW="228600" imgH="215640" progId="Equation.DSMT4">
                  <p:embed/>
                </p:oleObj>
              </mc:Choice>
              <mc:Fallback>
                <p:oleObj name="Equation" r:id="rId29" imgW="228600" imgH="215640" progId="Equation.DSMT4">
                  <p:embed/>
                  <p:pic>
                    <p:nvPicPr>
                      <p:cNvPr id="145" name="Object 144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2163580" y="4853228"/>
                        <a:ext cx="2286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9" name="Object 208">
            <a:extLst>
              <a:ext uri="{FF2B5EF4-FFF2-40B4-BE49-F238E27FC236}">
                <a16:creationId xmlns:a16="http://schemas.microsoft.com/office/drawing/2014/main" id="{62B090AB-F114-4292-9F85-F78016EA93D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1012810"/>
              </p:ext>
            </p:extLst>
          </p:nvPr>
        </p:nvGraphicFramePr>
        <p:xfrm>
          <a:off x="2163580" y="5320260"/>
          <a:ext cx="3048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44" name="Equation" r:id="rId31" imgW="304560" imgH="215640" progId="Equation.DSMT4">
                  <p:embed/>
                </p:oleObj>
              </mc:Choice>
              <mc:Fallback>
                <p:oleObj name="Equation" r:id="rId31" imgW="304560" imgH="215640" progId="Equation.DSMT4">
                  <p:embed/>
                  <p:pic>
                    <p:nvPicPr>
                      <p:cNvPr id="146" name="Object 145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2163580" y="5320260"/>
                        <a:ext cx="3048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0" name="Table 209">
            <a:extLst>
              <a:ext uri="{FF2B5EF4-FFF2-40B4-BE49-F238E27FC236}">
                <a16:creationId xmlns:a16="http://schemas.microsoft.com/office/drawing/2014/main" id="{BA5EEDA5-24B3-41D6-A528-0360CB7589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375603"/>
              </p:ext>
            </p:extLst>
          </p:nvPr>
        </p:nvGraphicFramePr>
        <p:xfrm>
          <a:off x="401148" y="5890532"/>
          <a:ext cx="2887662" cy="186690"/>
        </p:xfrm>
        <a:graphic>
          <a:graphicData uri="http://schemas.openxmlformats.org/drawingml/2006/table">
            <a:tbl>
              <a:tblPr/>
              <a:tblGrid>
                <a:gridCol w="28876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50" b="1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27. </a:t>
                      </a:r>
                      <a:r>
                        <a:rPr lang="en-US" sz="115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What function has a value of</a:t>
                      </a:r>
                      <a:r>
                        <a:rPr lang="en-US" sz="11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?  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11" name="Table 210">
            <a:extLst>
              <a:ext uri="{FF2B5EF4-FFF2-40B4-BE49-F238E27FC236}">
                <a16:creationId xmlns:a16="http://schemas.microsoft.com/office/drawing/2014/main" id="{05555763-2BEC-44F6-857C-E83CA37597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528951"/>
              </p:ext>
            </p:extLst>
          </p:nvPr>
        </p:nvGraphicFramePr>
        <p:xfrm>
          <a:off x="3830148" y="5890532"/>
          <a:ext cx="2887662" cy="186690"/>
        </p:xfrm>
        <a:graphic>
          <a:graphicData uri="http://schemas.openxmlformats.org/drawingml/2006/table">
            <a:tbl>
              <a:tblPr/>
              <a:tblGrid>
                <a:gridCol w="28876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50" b="1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28. </a:t>
                      </a:r>
                      <a:r>
                        <a:rPr lang="en-US" sz="115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What function has a value of 2?</a:t>
                      </a:r>
                      <a:r>
                        <a:rPr lang="en-US" sz="11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12" name="Text Box 345">
            <a:extLst>
              <a:ext uri="{FF2B5EF4-FFF2-40B4-BE49-F238E27FC236}">
                <a16:creationId xmlns:a16="http://schemas.microsoft.com/office/drawing/2014/main" id="{26565286-B1A3-429D-B0B1-806145079C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55244" y="7311292"/>
            <a:ext cx="522605" cy="358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213" name="Text Box 345">
            <a:extLst>
              <a:ext uri="{FF2B5EF4-FFF2-40B4-BE49-F238E27FC236}">
                <a16:creationId xmlns:a16="http://schemas.microsoft.com/office/drawing/2014/main" id="{03CB324B-BE74-4F31-B547-78C947777D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6580" y="7301460"/>
            <a:ext cx="522605" cy="358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214" name="Text Box 807">
            <a:extLst>
              <a:ext uri="{FF2B5EF4-FFF2-40B4-BE49-F238E27FC236}">
                <a16:creationId xmlns:a16="http://schemas.microsoft.com/office/drawing/2014/main" id="{6BFC15AF-425E-4418-97B7-AB499DBAE7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4780" y="6691860"/>
            <a:ext cx="2057400" cy="96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                        C.               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                        D.             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15" name="Text Box 807">
            <a:extLst>
              <a:ext uri="{FF2B5EF4-FFF2-40B4-BE49-F238E27FC236}">
                <a16:creationId xmlns:a16="http://schemas.microsoft.com/office/drawing/2014/main" id="{3E7A6C3C-585F-47EF-8BE3-22DEEAD257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1980" y="6691860"/>
            <a:ext cx="2133600" cy="96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                        C.               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                        D.             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216" name="Object 215">
            <a:extLst>
              <a:ext uri="{FF2B5EF4-FFF2-40B4-BE49-F238E27FC236}">
                <a16:creationId xmlns:a16="http://schemas.microsoft.com/office/drawing/2014/main" id="{5E3432AE-AE48-4789-AAA5-1A7E54F5625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7397921"/>
              </p:ext>
            </p:extLst>
          </p:nvPr>
        </p:nvGraphicFramePr>
        <p:xfrm>
          <a:off x="1079000" y="6683277"/>
          <a:ext cx="391160" cy="4051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45" name="Equation" r:id="rId33" imgW="355320" imgH="368280" progId="Equation.DSMT4">
                  <p:embed/>
                </p:oleObj>
              </mc:Choice>
              <mc:Fallback>
                <p:oleObj name="Equation" r:id="rId33" imgW="355320" imgH="368280" progId="Equation.DSMT4">
                  <p:embed/>
                  <p:pic>
                    <p:nvPicPr>
                      <p:cNvPr id="153" name="Object 152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1079000" y="6683277"/>
                        <a:ext cx="391160" cy="4051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7" name="Object 216">
            <a:extLst>
              <a:ext uri="{FF2B5EF4-FFF2-40B4-BE49-F238E27FC236}">
                <a16:creationId xmlns:a16="http://schemas.microsoft.com/office/drawing/2014/main" id="{880D06FF-3E2E-43E5-8C41-14E83FD6675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7863091"/>
              </p:ext>
            </p:extLst>
          </p:nvPr>
        </p:nvGraphicFramePr>
        <p:xfrm>
          <a:off x="1075825" y="7160141"/>
          <a:ext cx="461010" cy="4051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46" name="Equation" r:id="rId35" imgW="419040" imgH="368280" progId="Equation.DSMT4">
                  <p:embed/>
                </p:oleObj>
              </mc:Choice>
              <mc:Fallback>
                <p:oleObj name="Equation" r:id="rId35" imgW="419040" imgH="368280" progId="Equation.DSMT4">
                  <p:embed/>
                  <p:pic>
                    <p:nvPicPr>
                      <p:cNvPr id="154" name="Object 153"/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1075825" y="7160141"/>
                        <a:ext cx="461010" cy="4051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8" name="Object 217">
            <a:extLst>
              <a:ext uri="{FF2B5EF4-FFF2-40B4-BE49-F238E27FC236}">
                <a16:creationId xmlns:a16="http://schemas.microsoft.com/office/drawing/2014/main" id="{94B59246-06FC-4893-9503-CDC77896F23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0191963"/>
              </p:ext>
            </p:extLst>
          </p:nvPr>
        </p:nvGraphicFramePr>
        <p:xfrm>
          <a:off x="2264894" y="6670989"/>
          <a:ext cx="474980" cy="4051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47" name="Equation" r:id="rId37" imgW="431640" imgH="368280" progId="Equation.DSMT4">
                  <p:embed/>
                </p:oleObj>
              </mc:Choice>
              <mc:Fallback>
                <p:oleObj name="Equation" r:id="rId37" imgW="431640" imgH="368280" progId="Equation.DSMT4">
                  <p:embed/>
                  <p:pic>
                    <p:nvPicPr>
                      <p:cNvPr id="155" name="Object 154"/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2264894" y="6670989"/>
                        <a:ext cx="474980" cy="4051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9" name="Object 218">
            <a:extLst>
              <a:ext uri="{FF2B5EF4-FFF2-40B4-BE49-F238E27FC236}">
                <a16:creationId xmlns:a16="http://schemas.microsoft.com/office/drawing/2014/main" id="{E84124C2-A7EC-4BE7-89DF-AB70ECC33B6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9835911"/>
              </p:ext>
            </p:extLst>
          </p:nvPr>
        </p:nvGraphicFramePr>
        <p:xfrm>
          <a:off x="2294390" y="7160141"/>
          <a:ext cx="474980" cy="4051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48" name="Equation" r:id="rId39" imgW="431640" imgH="368280" progId="Equation.DSMT4">
                  <p:embed/>
                </p:oleObj>
              </mc:Choice>
              <mc:Fallback>
                <p:oleObj name="Equation" r:id="rId39" imgW="431640" imgH="368280" progId="Equation.DSMT4">
                  <p:embed/>
                  <p:pic>
                    <p:nvPicPr>
                      <p:cNvPr id="156" name="Object 155"/>
                      <p:cNvPicPr/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2294390" y="7160141"/>
                        <a:ext cx="474980" cy="4051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0" name="Object 219">
            <a:extLst>
              <a:ext uri="{FF2B5EF4-FFF2-40B4-BE49-F238E27FC236}">
                <a16:creationId xmlns:a16="http://schemas.microsoft.com/office/drawing/2014/main" id="{A26085E8-921B-44C3-A46F-3CC2107A343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7355826"/>
              </p:ext>
            </p:extLst>
          </p:nvPr>
        </p:nvGraphicFramePr>
        <p:xfrm>
          <a:off x="4449580" y="6691860"/>
          <a:ext cx="4826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49" name="Equation" r:id="rId41" imgW="482400" imgH="368280" progId="Equation.DSMT4">
                  <p:embed/>
                </p:oleObj>
              </mc:Choice>
              <mc:Fallback>
                <p:oleObj name="Equation" r:id="rId41" imgW="482400" imgH="368280" progId="Equation.DSMT4">
                  <p:embed/>
                  <p:pic>
                    <p:nvPicPr>
                      <p:cNvPr id="157" name="Object 156"/>
                      <p:cNvPicPr/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4449580" y="6691860"/>
                        <a:ext cx="4826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1" name="Object 220">
            <a:extLst>
              <a:ext uri="{FF2B5EF4-FFF2-40B4-BE49-F238E27FC236}">
                <a16:creationId xmlns:a16="http://schemas.microsoft.com/office/drawing/2014/main" id="{774974CC-1B9E-4B5D-9DD6-B6C3FE2545C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2876848"/>
              </p:ext>
            </p:extLst>
          </p:nvPr>
        </p:nvGraphicFramePr>
        <p:xfrm>
          <a:off x="4449580" y="7149060"/>
          <a:ext cx="4318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50" name="Equation" r:id="rId43" imgW="431640" imgH="368280" progId="Equation.DSMT4">
                  <p:embed/>
                </p:oleObj>
              </mc:Choice>
              <mc:Fallback>
                <p:oleObj name="Equation" r:id="rId43" imgW="431640" imgH="368280" progId="Equation.DSMT4">
                  <p:embed/>
                  <p:pic>
                    <p:nvPicPr>
                      <p:cNvPr id="158" name="Object 157"/>
                      <p:cNvPicPr/>
                      <p:nvPr/>
                    </p:nvPicPr>
                    <p:blipFill>
                      <a:blip r:embed="rId44"/>
                      <a:stretch>
                        <a:fillRect/>
                      </a:stretch>
                    </p:blipFill>
                    <p:spPr>
                      <a:xfrm>
                        <a:off x="4449580" y="7149060"/>
                        <a:ext cx="4318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2" name="Object 221">
            <a:extLst>
              <a:ext uri="{FF2B5EF4-FFF2-40B4-BE49-F238E27FC236}">
                <a16:creationId xmlns:a16="http://schemas.microsoft.com/office/drawing/2014/main" id="{030BAEE1-953D-4FC7-9FE0-D0FDDDE329B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1723362"/>
              </p:ext>
            </p:extLst>
          </p:nvPr>
        </p:nvGraphicFramePr>
        <p:xfrm>
          <a:off x="5668780" y="6691860"/>
          <a:ext cx="4191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51" name="Equation" r:id="rId45" imgW="419040" imgH="368280" progId="Equation.DSMT4">
                  <p:embed/>
                </p:oleObj>
              </mc:Choice>
              <mc:Fallback>
                <p:oleObj name="Equation" r:id="rId45" imgW="419040" imgH="368280" progId="Equation.DSMT4">
                  <p:embed/>
                  <p:pic>
                    <p:nvPicPr>
                      <p:cNvPr id="159" name="Object 158"/>
                      <p:cNvPicPr/>
                      <p:nvPr/>
                    </p:nvPicPr>
                    <p:blipFill>
                      <a:blip r:embed="rId46"/>
                      <a:stretch>
                        <a:fillRect/>
                      </a:stretch>
                    </p:blipFill>
                    <p:spPr>
                      <a:xfrm>
                        <a:off x="5668780" y="6691860"/>
                        <a:ext cx="4191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3" name="Object 222">
            <a:extLst>
              <a:ext uri="{FF2B5EF4-FFF2-40B4-BE49-F238E27FC236}">
                <a16:creationId xmlns:a16="http://schemas.microsoft.com/office/drawing/2014/main" id="{A0B3C63F-126C-4253-A6F4-D0C73975707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0103511"/>
              </p:ext>
            </p:extLst>
          </p:nvPr>
        </p:nvGraphicFramePr>
        <p:xfrm>
          <a:off x="5668780" y="7149060"/>
          <a:ext cx="4318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52" name="Equation" r:id="rId47" imgW="431640" imgH="368280" progId="Equation.DSMT4">
                  <p:embed/>
                </p:oleObj>
              </mc:Choice>
              <mc:Fallback>
                <p:oleObj name="Equation" r:id="rId47" imgW="431640" imgH="368280" progId="Equation.DSMT4">
                  <p:embed/>
                  <p:pic>
                    <p:nvPicPr>
                      <p:cNvPr id="160" name="Object 159"/>
                      <p:cNvPicPr/>
                      <p:nvPr/>
                    </p:nvPicPr>
                    <p:blipFill>
                      <a:blip r:embed="rId48"/>
                      <a:stretch>
                        <a:fillRect/>
                      </a:stretch>
                    </p:blipFill>
                    <p:spPr>
                      <a:xfrm>
                        <a:off x="5668780" y="7149060"/>
                        <a:ext cx="4318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4" name="Rectangle 223">
            <a:extLst>
              <a:ext uri="{FF2B5EF4-FFF2-40B4-BE49-F238E27FC236}">
                <a16:creationId xmlns:a16="http://schemas.microsoft.com/office/drawing/2014/main" id="{340C21E2-BA1E-4E92-84CD-D40F34B89860}"/>
              </a:ext>
            </a:extLst>
          </p:cNvPr>
          <p:cNvSpPr/>
          <p:nvPr/>
        </p:nvSpPr>
        <p:spPr>
          <a:xfrm>
            <a:off x="410980" y="7719332"/>
            <a:ext cx="5181600" cy="2693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5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29. </a:t>
            </a:r>
            <a:r>
              <a:rPr lang="en-US" sz="1150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Which functions have a value of -1?  Check all that apply.</a:t>
            </a:r>
            <a:endParaRPr lang="en-US" dirty="0"/>
          </a:p>
        </p:txBody>
      </p:sp>
      <p:graphicFrame>
        <p:nvGraphicFramePr>
          <p:cNvPr id="259" name="Object 258">
            <a:extLst>
              <a:ext uri="{FF2B5EF4-FFF2-40B4-BE49-F238E27FC236}">
                <a16:creationId xmlns:a16="http://schemas.microsoft.com/office/drawing/2014/main" id="{8890AB9E-AE1B-4FBE-AD59-6C625A0E82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1378256"/>
              </p:ext>
            </p:extLst>
          </p:nvPr>
        </p:nvGraphicFramePr>
        <p:xfrm>
          <a:off x="2030630" y="8345140"/>
          <a:ext cx="456400" cy="1859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53" name="Equation" r:id="rId49" imgW="342720" imgH="139680" progId="Equation.DSMT4">
                  <p:embed/>
                </p:oleObj>
              </mc:Choice>
              <mc:Fallback>
                <p:oleObj name="Equation" r:id="rId49" imgW="342720" imgH="139680" progId="Equation.DSMT4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50"/>
                      <a:stretch>
                        <a:fillRect/>
                      </a:stretch>
                    </p:blipFill>
                    <p:spPr>
                      <a:xfrm>
                        <a:off x="2030630" y="8345140"/>
                        <a:ext cx="456400" cy="18594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0" name="Object 259">
            <a:extLst>
              <a:ext uri="{FF2B5EF4-FFF2-40B4-BE49-F238E27FC236}">
                <a16:creationId xmlns:a16="http://schemas.microsoft.com/office/drawing/2014/main" id="{8B11EE0B-46F7-4E45-97C3-B45ABA3DF1F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8893504"/>
              </p:ext>
            </p:extLst>
          </p:nvPr>
        </p:nvGraphicFramePr>
        <p:xfrm>
          <a:off x="1967175" y="8786789"/>
          <a:ext cx="507111" cy="4456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54" name="Equation" r:id="rId51" imgW="419040" imgH="368280" progId="Equation.DSMT4">
                  <p:embed/>
                </p:oleObj>
              </mc:Choice>
              <mc:Fallback>
                <p:oleObj name="Equation" r:id="rId51" imgW="419040" imgH="368280" progId="Equation.DSMT4">
                  <p:embed/>
                  <p:pic>
                    <p:nvPicPr>
                      <p:cNvPr id="3" name="Object 2"/>
                      <p:cNvPicPr/>
                      <p:nvPr/>
                    </p:nvPicPr>
                    <p:blipFill>
                      <a:blip r:embed="rId52"/>
                      <a:stretch>
                        <a:fillRect/>
                      </a:stretch>
                    </p:blipFill>
                    <p:spPr>
                      <a:xfrm>
                        <a:off x="1967175" y="8786789"/>
                        <a:ext cx="507111" cy="44564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1" name="Object 260">
            <a:extLst>
              <a:ext uri="{FF2B5EF4-FFF2-40B4-BE49-F238E27FC236}">
                <a16:creationId xmlns:a16="http://schemas.microsoft.com/office/drawing/2014/main" id="{4C49ECB5-2C66-416E-A74C-CAB4E5D18D6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2798043"/>
              </p:ext>
            </p:extLst>
          </p:nvPr>
        </p:nvGraphicFramePr>
        <p:xfrm>
          <a:off x="3150751" y="8200049"/>
          <a:ext cx="522478" cy="4456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55" name="Equation" r:id="rId53" imgW="431640" imgH="368280" progId="Equation.DSMT4">
                  <p:embed/>
                </p:oleObj>
              </mc:Choice>
              <mc:Fallback>
                <p:oleObj name="Equation" r:id="rId53" imgW="431640" imgH="368280" progId="Equation.DSMT4">
                  <p:embed/>
                  <p:pic>
                    <p:nvPicPr>
                      <p:cNvPr id="4" name="Object 3"/>
                      <p:cNvPicPr/>
                      <p:nvPr/>
                    </p:nvPicPr>
                    <p:blipFill>
                      <a:blip r:embed="rId54"/>
                      <a:stretch>
                        <a:fillRect/>
                      </a:stretch>
                    </p:blipFill>
                    <p:spPr>
                      <a:xfrm>
                        <a:off x="3150751" y="8200049"/>
                        <a:ext cx="522478" cy="44564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2" name="Object 261">
            <a:extLst>
              <a:ext uri="{FF2B5EF4-FFF2-40B4-BE49-F238E27FC236}">
                <a16:creationId xmlns:a16="http://schemas.microsoft.com/office/drawing/2014/main" id="{60D89C82-2541-48BF-A163-3A10035B288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5215806"/>
              </p:ext>
            </p:extLst>
          </p:nvPr>
        </p:nvGraphicFramePr>
        <p:xfrm>
          <a:off x="3193042" y="8786789"/>
          <a:ext cx="430276" cy="4456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56" name="Equation" r:id="rId55" imgW="355320" imgH="368280" progId="Equation.DSMT4">
                  <p:embed/>
                </p:oleObj>
              </mc:Choice>
              <mc:Fallback>
                <p:oleObj name="Equation" r:id="rId55" imgW="355320" imgH="368280" progId="Equation.DSMT4">
                  <p:embed/>
                  <p:pic>
                    <p:nvPicPr>
                      <p:cNvPr id="5" name="Object 4"/>
                      <p:cNvPicPr/>
                      <p:nvPr/>
                    </p:nvPicPr>
                    <p:blipFill>
                      <a:blip r:embed="rId56"/>
                      <a:stretch>
                        <a:fillRect/>
                      </a:stretch>
                    </p:blipFill>
                    <p:spPr>
                      <a:xfrm>
                        <a:off x="3193042" y="8786789"/>
                        <a:ext cx="430276" cy="44564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3" name="Object 262">
            <a:extLst>
              <a:ext uri="{FF2B5EF4-FFF2-40B4-BE49-F238E27FC236}">
                <a16:creationId xmlns:a16="http://schemas.microsoft.com/office/drawing/2014/main" id="{6A95A0FF-35D7-4E8D-A3BB-539981A4F20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3818148"/>
              </p:ext>
            </p:extLst>
          </p:nvPr>
        </p:nvGraphicFramePr>
        <p:xfrm>
          <a:off x="4405575" y="8188619"/>
          <a:ext cx="507111" cy="4456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57" name="Equation" r:id="rId57" imgW="419040" imgH="368280" progId="Equation.DSMT4">
                  <p:embed/>
                </p:oleObj>
              </mc:Choice>
              <mc:Fallback>
                <p:oleObj name="Equation" r:id="rId57" imgW="419040" imgH="368280" progId="Equation.DSMT4">
                  <p:embed/>
                  <p:pic>
                    <p:nvPicPr>
                      <p:cNvPr id="6" name="Object 5"/>
                      <p:cNvPicPr/>
                      <p:nvPr/>
                    </p:nvPicPr>
                    <p:blipFill>
                      <a:blip r:embed="rId58"/>
                      <a:stretch>
                        <a:fillRect/>
                      </a:stretch>
                    </p:blipFill>
                    <p:spPr>
                      <a:xfrm>
                        <a:off x="4405575" y="8188619"/>
                        <a:ext cx="507111" cy="44564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4" name="Object 263">
            <a:extLst>
              <a:ext uri="{FF2B5EF4-FFF2-40B4-BE49-F238E27FC236}">
                <a16:creationId xmlns:a16="http://schemas.microsoft.com/office/drawing/2014/main" id="{893FAD97-4A2B-4911-ABEC-B68F0D34F0B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1477144"/>
              </p:ext>
            </p:extLst>
          </p:nvPr>
        </p:nvGraphicFramePr>
        <p:xfrm>
          <a:off x="4491109" y="8908518"/>
          <a:ext cx="399542" cy="1844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58" name="Equation" r:id="rId59" imgW="330120" imgH="152280" progId="Equation.DSMT4">
                  <p:embed/>
                </p:oleObj>
              </mc:Choice>
              <mc:Fallback>
                <p:oleObj name="Equation" r:id="rId59" imgW="330120" imgH="152280" progId="Equation.DSMT4">
                  <p:embed/>
                  <p:pic>
                    <p:nvPicPr>
                      <p:cNvPr id="7" name="Object 6"/>
                      <p:cNvPicPr/>
                      <p:nvPr/>
                    </p:nvPicPr>
                    <p:blipFill>
                      <a:blip r:embed="rId60"/>
                      <a:stretch>
                        <a:fillRect/>
                      </a:stretch>
                    </p:blipFill>
                    <p:spPr>
                      <a:xfrm>
                        <a:off x="4491109" y="8908518"/>
                        <a:ext cx="399542" cy="1844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5" name="Object 264">
            <a:extLst>
              <a:ext uri="{FF2B5EF4-FFF2-40B4-BE49-F238E27FC236}">
                <a16:creationId xmlns:a16="http://schemas.microsoft.com/office/drawing/2014/main" id="{846A7224-A2CF-438C-A5FE-C0B8C0C8750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7487560"/>
              </p:ext>
            </p:extLst>
          </p:nvPr>
        </p:nvGraphicFramePr>
        <p:xfrm>
          <a:off x="5600962" y="8188619"/>
          <a:ext cx="430276" cy="4456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59" name="Equation" r:id="rId61" imgW="355320" imgH="368280" progId="Equation.DSMT4">
                  <p:embed/>
                </p:oleObj>
              </mc:Choice>
              <mc:Fallback>
                <p:oleObj name="Equation" r:id="rId61" imgW="355320" imgH="368280" progId="Equation.DSMT4">
                  <p:embed/>
                  <p:pic>
                    <p:nvPicPr>
                      <p:cNvPr id="8" name="Object 7"/>
                      <p:cNvPicPr/>
                      <p:nvPr/>
                    </p:nvPicPr>
                    <p:blipFill>
                      <a:blip r:embed="rId62"/>
                      <a:stretch>
                        <a:fillRect/>
                      </a:stretch>
                    </p:blipFill>
                    <p:spPr>
                      <a:xfrm>
                        <a:off x="5600962" y="8188619"/>
                        <a:ext cx="430276" cy="44564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" name="Object 265">
            <a:extLst>
              <a:ext uri="{FF2B5EF4-FFF2-40B4-BE49-F238E27FC236}">
                <a16:creationId xmlns:a16="http://schemas.microsoft.com/office/drawing/2014/main" id="{81E84A7E-531A-475A-B65E-4692037A2DF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0127423"/>
              </p:ext>
            </p:extLst>
          </p:nvPr>
        </p:nvGraphicFramePr>
        <p:xfrm>
          <a:off x="5577721" y="8775359"/>
          <a:ext cx="522478" cy="4456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60" name="Equation" r:id="rId63" imgW="431640" imgH="368280" progId="Equation.DSMT4">
                  <p:embed/>
                </p:oleObj>
              </mc:Choice>
              <mc:Fallback>
                <p:oleObj name="Equation" r:id="rId63" imgW="431640" imgH="368280" progId="Equation.DSMT4">
                  <p:embed/>
                  <p:pic>
                    <p:nvPicPr>
                      <p:cNvPr id="9" name="Object 8"/>
                      <p:cNvPicPr/>
                      <p:nvPr/>
                    </p:nvPicPr>
                    <p:blipFill>
                      <a:blip r:embed="rId64"/>
                      <a:stretch>
                        <a:fillRect/>
                      </a:stretch>
                    </p:blipFill>
                    <p:spPr>
                      <a:xfrm>
                        <a:off x="5577721" y="8775359"/>
                        <a:ext cx="522478" cy="44564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grayscl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52338287-DD8C-4E39-A46E-E305945D8BC8}"/>
              </a:ext>
            </a:extLst>
          </p:cNvPr>
          <p:cNvSpPr/>
          <p:nvPr/>
        </p:nvSpPr>
        <p:spPr>
          <a:xfrm>
            <a:off x="460695" y="362515"/>
            <a:ext cx="2427268" cy="28469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50" b="1" dirty="0">
                <a:latin typeface="Tahoma" panose="020B0604030504040204" pitchFamily="34" charset="0"/>
                <a:ea typeface="Calibri" panose="020F0502020204030204" pitchFamily="34" charset="0"/>
              </a:rPr>
              <a:t>30.  </a:t>
            </a:r>
            <a:r>
              <a:rPr lang="en-US" sz="1150" dirty="0">
                <a:latin typeface="Tahoma" panose="020B0604030504040204" pitchFamily="34" charset="0"/>
                <a:ea typeface="Calibri" panose="020F0502020204030204" pitchFamily="34" charset="0"/>
              </a:rPr>
              <a:t>Find</a:t>
            </a:r>
            <a:r>
              <a:rPr lang="en-US" sz="1250" i="1" dirty="0">
                <a:latin typeface="Times New Roman" panose="02020603050405020304" pitchFamily="18" charset="0"/>
                <a:ea typeface="Calibri" panose="020F0502020204030204" pitchFamily="34" charset="0"/>
              </a:rPr>
              <a:t> ST</a:t>
            </a:r>
            <a:r>
              <a:rPr lang="en-US" sz="1150" dirty="0">
                <a:latin typeface="Tahoma" panose="020B0604030504040204" pitchFamily="34" charset="0"/>
                <a:ea typeface="Calibri" panose="020F0502020204030204" pitchFamily="34" charset="0"/>
              </a:rPr>
              <a:t> to the nearest tenth. </a:t>
            </a:r>
            <a:endParaRPr lang="en-US" dirty="0"/>
          </a:p>
        </p:txBody>
      </p:sp>
      <p:sp>
        <p:nvSpPr>
          <p:cNvPr id="48" name="Freeform 19">
            <a:extLst>
              <a:ext uri="{FF2B5EF4-FFF2-40B4-BE49-F238E27FC236}">
                <a16:creationId xmlns:a16="http://schemas.microsoft.com/office/drawing/2014/main" id="{D49E3EBB-098C-4ADC-A5CE-35D8184BE125}"/>
              </a:ext>
            </a:extLst>
          </p:cNvPr>
          <p:cNvSpPr/>
          <p:nvPr/>
        </p:nvSpPr>
        <p:spPr>
          <a:xfrm>
            <a:off x="2114680" y="951137"/>
            <a:ext cx="1453350" cy="654109"/>
          </a:xfrm>
          <a:custGeom>
            <a:avLst/>
            <a:gdLst>
              <a:gd name="connsiteX0" fmla="*/ 1742303 w 1742303"/>
              <a:gd name="connsiteY0" fmla="*/ 778476 h 784654"/>
              <a:gd name="connsiteX1" fmla="*/ 0 w 1742303"/>
              <a:gd name="connsiteY1" fmla="*/ 784654 h 784654"/>
              <a:gd name="connsiteX2" fmla="*/ 1346887 w 1742303"/>
              <a:gd name="connsiteY2" fmla="*/ 0 h 784654"/>
              <a:gd name="connsiteX3" fmla="*/ 1742303 w 1742303"/>
              <a:gd name="connsiteY3" fmla="*/ 778476 h 7846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42303" h="784654">
                <a:moveTo>
                  <a:pt x="1742303" y="778476"/>
                </a:moveTo>
                <a:lnTo>
                  <a:pt x="0" y="784654"/>
                </a:lnTo>
                <a:lnTo>
                  <a:pt x="1346887" y="0"/>
                </a:lnTo>
                <a:lnTo>
                  <a:pt x="1742303" y="778476"/>
                </a:lnTo>
                <a:close/>
              </a:path>
            </a:pathLst>
          </a:custGeom>
          <a:noFill/>
          <a:ln w="9525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9" name="Text Box 418">
            <a:extLst>
              <a:ext uri="{FF2B5EF4-FFF2-40B4-BE49-F238E27FC236}">
                <a16:creationId xmlns:a16="http://schemas.microsoft.com/office/drawing/2014/main" id="{760EA678-DB30-4D17-9622-611DD1F40162}"/>
              </a:ext>
            </a:extLst>
          </p:cNvPr>
          <p:cNvSpPr txBox="1"/>
          <p:nvPr/>
        </p:nvSpPr>
        <p:spPr>
          <a:xfrm>
            <a:off x="1873770" y="1587150"/>
            <a:ext cx="258349" cy="210954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1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0" name="Text Box 419">
            <a:extLst>
              <a:ext uri="{FF2B5EF4-FFF2-40B4-BE49-F238E27FC236}">
                <a16:creationId xmlns:a16="http://schemas.microsoft.com/office/drawing/2014/main" id="{8C99CF52-B823-4363-A65B-2DDF70F57687}"/>
              </a:ext>
            </a:extLst>
          </p:cNvPr>
          <p:cNvSpPr txBox="1"/>
          <p:nvPr/>
        </p:nvSpPr>
        <p:spPr>
          <a:xfrm>
            <a:off x="3115383" y="778240"/>
            <a:ext cx="258349" cy="210954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1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1" name="Text Box 420">
            <a:extLst>
              <a:ext uri="{FF2B5EF4-FFF2-40B4-BE49-F238E27FC236}">
                <a16:creationId xmlns:a16="http://schemas.microsoft.com/office/drawing/2014/main" id="{3A317397-19E2-4B14-AD12-FF9F0B0B34A3}"/>
              </a:ext>
            </a:extLst>
          </p:cNvPr>
          <p:cNvSpPr txBox="1"/>
          <p:nvPr/>
        </p:nvSpPr>
        <p:spPr>
          <a:xfrm>
            <a:off x="3504545" y="1580975"/>
            <a:ext cx="258349" cy="210954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1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2" name="Text Box 421">
            <a:extLst>
              <a:ext uri="{FF2B5EF4-FFF2-40B4-BE49-F238E27FC236}">
                <a16:creationId xmlns:a16="http://schemas.microsoft.com/office/drawing/2014/main" id="{AB6379A0-6173-410A-B2B8-E4AE41407CA5}"/>
              </a:ext>
            </a:extLst>
          </p:cNvPr>
          <p:cNvSpPr txBox="1"/>
          <p:nvPr/>
        </p:nvSpPr>
        <p:spPr>
          <a:xfrm>
            <a:off x="2398830" y="1438952"/>
            <a:ext cx="204648" cy="164005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28</a:t>
            </a:r>
            <a:r>
              <a:rPr kumimoji="0" lang="en-US" sz="950" b="0" i="0" u="none" strike="noStrike" kern="0" cap="none" spc="0" normalizeH="0" baseline="30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°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3" name="Text Box 422">
            <a:extLst>
              <a:ext uri="{FF2B5EF4-FFF2-40B4-BE49-F238E27FC236}">
                <a16:creationId xmlns:a16="http://schemas.microsoft.com/office/drawing/2014/main" id="{045669ED-2BF3-4A5A-B4DF-91BF27682742}"/>
              </a:ext>
            </a:extLst>
          </p:cNvPr>
          <p:cNvSpPr txBox="1"/>
          <p:nvPr/>
        </p:nvSpPr>
        <p:spPr>
          <a:xfrm>
            <a:off x="3288344" y="1420428"/>
            <a:ext cx="204648" cy="164005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73</a:t>
            </a:r>
            <a:r>
              <a:rPr kumimoji="0" lang="en-US" sz="950" b="0" i="0" u="none" strike="noStrike" kern="0" cap="none" spc="0" normalizeH="0" baseline="30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°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4" name="Text Box 423">
            <a:extLst>
              <a:ext uri="{FF2B5EF4-FFF2-40B4-BE49-F238E27FC236}">
                <a16:creationId xmlns:a16="http://schemas.microsoft.com/office/drawing/2014/main" id="{22761699-AB82-4882-9946-C8F1C8A72EBD}"/>
              </a:ext>
            </a:extLst>
          </p:cNvPr>
          <p:cNvSpPr txBox="1"/>
          <p:nvPr/>
        </p:nvSpPr>
        <p:spPr>
          <a:xfrm>
            <a:off x="2811942" y="1639124"/>
            <a:ext cx="204648" cy="164005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18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5" name="Text Box 425">
            <a:extLst>
              <a:ext uri="{FF2B5EF4-FFF2-40B4-BE49-F238E27FC236}">
                <a16:creationId xmlns:a16="http://schemas.microsoft.com/office/drawing/2014/main" id="{859F6716-21EA-4C84-B074-F5EA83E1E3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9745" y="3216640"/>
            <a:ext cx="1038225" cy="358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0" tIns="0" rIns="0" bIns="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br>
              <a:rPr lang="en-US" sz="100" i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i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i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00" i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</a:t>
            </a:r>
            <a:r>
              <a:rPr lang="en-US" sz="1500" i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</a:t>
            </a: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10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</a:t>
            </a: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77F60633-D93A-4A73-994F-E83FAEAC815A}"/>
              </a:ext>
            </a:extLst>
          </p:cNvPr>
          <p:cNvSpPr/>
          <p:nvPr/>
        </p:nvSpPr>
        <p:spPr>
          <a:xfrm>
            <a:off x="3889693" y="362515"/>
            <a:ext cx="3470477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50" b="1" dirty="0">
                <a:latin typeface="Tahoma" panose="020B0604030504040204" pitchFamily="34" charset="0"/>
                <a:ea typeface="Calibri" panose="020F0502020204030204" pitchFamily="34" charset="0"/>
              </a:rPr>
              <a:t>31.  </a:t>
            </a:r>
            <a:r>
              <a:rPr lang="en-US" sz="1150" dirty="0">
                <a:latin typeface="Tahoma" panose="020B0604030504040204" pitchFamily="34" charset="0"/>
                <a:ea typeface="Calibri" panose="020F0502020204030204" pitchFamily="34" charset="0"/>
              </a:rPr>
              <a:t> In </a:t>
            </a:r>
            <a:r>
              <a:rPr lang="en-US" sz="1150" dirty="0">
                <a:latin typeface="Tahoma" panose="020B0604030504040204" pitchFamily="34" charset="0"/>
                <a:ea typeface="Calibri" panose="020F0502020204030204" pitchFamily="34" charset="0"/>
                <a:cs typeface="Tahoma" panose="020B0604030504040204" pitchFamily="34" charset="0"/>
                <a:sym typeface="Symbol" panose="05050102010706020507" pitchFamily="18" charset="2"/>
              </a:rPr>
              <a:t></a:t>
            </a:r>
            <a:r>
              <a:rPr lang="en-US" sz="1250" i="1" dirty="0">
                <a:latin typeface="Times New Roman" panose="02020603050405020304" pitchFamily="18" charset="0"/>
                <a:ea typeface="Calibri" panose="020F0502020204030204" pitchFamily="34" charset="0"/>
              </a:rPr>
              <a:t>ABC</a:t>
            </a:r>
            <a:r>
              <a:rPr lang="en-US" sz="1150" dirty="0">
                <a:latin typeface="Tahoma" panose="020B0604030504040204" pitchFamily="34" charset="0"/>
                <a:ea typeface="Calibri" panose="020F0502020204030204" pitchFamily="34" charset="0"/>
              </a:rPr>
              <a:t>, m</a:t>
            </a:r>
            <a:r>
              <a:rPr lang="en-US" sz="1150" dirty="0">
                <a:latin typeface="Tahoma" panose="020B0604030504040204" pitchFamily="34" charset="0"/>
                <a:ea typeface="Calibri" panose="020F0502020204030204" pitchFamily="34" charset="0"/>
                <a:cs typeface="Tahoma" panose="020B0604030504040204" pitchFamily="34" charset="0"/>
                <a:sym typeface="Symbol" panose="05050102010706020507" pitchFamily="18" charset="2"/>
              </a:rPr>
              <a:t></a:t>
            </a:r>
            <a:r>
              <a:rPr lang="en-US" sz="1250" i="1" dirty="0">
                <a:latin typeface="Times New Roman" panose="02020603050405020304" pitchFamily="18" charset="0"/>
                <a:ea typeface="Calibri" panose="020F0502020204030204" pitchFamily="34" charset="0"/>
              </a:rPr>
              <a:t>A</a:t>
            </a:r>
            <a:r>
              <a:rPr lang="en-US" sz="1150" dirty="0">
                <a:latin typeface="Tahoma" panose="020B0604030504040204" pitchFamily="34" charset="0"/>
                <a:ea typeface="Calibri" panose="020F0502020204030204" pitchFamily="34" charset="0"/>
              </a:rPr>
              <a:t> = 58°, </a:t>
            </a:r>
            <a:r>
              <a:rPr lang="en-US" sz="1250" i="1" dirty="0">
                <a:latin typeface="Times New Roman" panose="02020603050405020304" pitchFamily="18" charset="0"/>
                <a:ea typeface="Calibri" panose="020F0502020204030204" pitchFamily="34" charset="0"/>
              </a:rPr>
              <a:t>AC</a:t>
            </a:r>
            <a:r>
              <a:rPr lang="en-US" sz="1150" dirty="0">
                <a:latin typeface="Tahoma" panose="020B0604030504040204" pitchFamily="34" charset="0"/>
                <a:ea typeface="Calibri" panose="020F0502020204030204" pitchFamily="34" charset="0"/>
              </a:rPr>
              <a:t> = 22, and </a:t>
            </a:r>
            <a:br>
              <a:rPr lang="en-US" sz="1150" dirty="0">
                <a:latin typeface="Tahoma" panose="020B0604030504040204" pitchFamily="34" charset="0"/>
                <a:ea typeface="Calibri" panose="020F0502020204030204" pitchFamily="34" charset="0"/>
              </a:rPr>
            </a:br>
            <a:r>
              <a:rPr lang="en-US" sz="1150" dirty="0">
                <a:latin typeface="Tahoma" panose="020B0604030504040204" pitchFamily="34" charset="0"/>
                <a:ea typeface="Calibri" panose="020F0502020204030204" pitchFamily="34" charset="0"/>
              </a:rPr>
              <a:t>        </a:t>
            </a:r>
            <a:r>
              <a:rPr lang="en-US" sz="1250" i="1" dirty="0">
                <a:latin typeface="Times New Roman" panose="02020603050405020304" pitchFamily="18" charset="0"/>
                <a:ea typeface="Calibri" panose="020F0502020204030204" pitchFamily="34" charset="0"/>
              </a:rPr>
              <a:t>BC</a:t>
            </a:r>
            <a:r>
              <a:rPr lang="en-US" sz="1150" dirty="0">
                <a:latin typeface="Tahoma" panose="020B0604030504040204" pitchFamily="34" charset="0"/>
                <a:ea typeface="Calibri" panose="020F0502020204030204" pitchFamily="34" charset="0"/>
              </a:rPr>
              <a:t> = 25. Find </a:t>
            </a:r>
            <a:r>
              <a:rPr lang="en-US" sz="1250" i="1" dirty="0">
                <a:latin typeface="Times New Roman" panose="02020603050405020304" pitchFamily="18" charset="0"/>
                <a:ea typeface="Calibri" panose="020F0502020204030204" pitchFamily="34" charset="0"/>
              </a:rPr>
              <a:t>m</a:t>
            </a:r>
            <a:r>
              <a:rPr lang="en-US" sz="1150" dirty="0">
                <a:latin typeface="Tahoma" panose="020B0604030504040204" pitchFamily="34" charset="0"/>
                <a:ea typeface="Calibri" panose="020F0502020204030204" pitchFamily="34" charset="0"/>
                <a:cs typeface="Tahoma" panose="020B0604030504040204" pitchFamily="34" charset="0"/>
                <a:sym typeface="Symbol" panose="05050102010706020507" pitchFamily="18" charset="2"/>
              </a:rPr>
              <a:t></a:t>
            </a:r>
            <a:r>
              <a:rPr lang="en-US" sz="1250" i="1" dirty="0">
                <a:latin typeface="Times New Roman" panose="02020603050405020304" pitchFamily="18" charset="0"/>
                <a:ea typeface="Calibri" panose="020F0502020204030204" pitchFamily="34" charset="0"/>
              </a:rPr>
              <a:t>B</a:t>
            </a:r>
            <a:r>
              <a:rPr lang="en-US" sz="1150" dirty="0">
                <a:latin typeface="Tahoma" panose="020B0604030504040204" pitchFamily="34" charset="0"/>
                <a:ea typeface="Calibri" panose="020F0502020204030204" pitchFamily="34" charset="0"/>
              </a:rPr>
              <a:t>.</a:t>
            </a:r>
            <a:endParaRPr lang="en-US" dirty="0"/>
          </a:p>
        </p:txBody>
      </p:sp>
      <p:sp>
        <p:nvSpPr>
          <p:cNvPr id="57" name="Text Box 807">
            <a:extLst>
              <a:ext uri="{FF2B5EF4-FFF2-40B4-BE49-F238E27FC236}">
                <a16:creationId xmlns:a16="http://schemas.microsoft.com/office/drawing/2014/main" id="{8ACED91B-E5A5-452E-B102-CCB832D44D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9770" y="2454640"/>
            <a:ext cx="1241425" cy="970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4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 </a:t>
            </a:r>
            <a:r>
              <a:rPr lang="en-US" sz="110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48</a:t>
            </a:r>
            <a:r>
              <a:rPr lang="en-US" sz="1150" baseline="3000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°</a:t>
            </a:r>
            <a:r>
              <a:rPr lang="en-US" sz="1100" b="1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br>
              <a:rPr lang="en-US" sz="1100" b="1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 </a:t>
            </a:r>
            <a:r>
              <a:rPr lang="en-US" sz="110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74</a:t>
            </a:r>
            <a:r>
              <a:rPr lang="en-US" sz="1150" baseline="3000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°</a:t>
            </a:r>
            <a:br>
              <a:rPr lang="en-US" sz="110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  </a:t>
            </a:r>
            <a:r>
              <a:rPr lang="en-US" sz="110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48</a:t>
            </a:r>
            <a:r>
              <a:rPr lang="en-US" sz="1150" baseline="3000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°</a:t>
            </a:r>
            <a:r>
              <a:rPr lang="en-US" sz="110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or 132</a:t>
            </a:r>
            <a:r>
              <a:rPr lang="en-US" sz="1150" baseline="3000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°</a:t>
            </a:r>
            <a:br>
              <a:rPr lang="en-US" sz="1100" b="1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   </a:t>
            </a:r>
            <a:r>
              <a:rPr lang="en-US" sz="110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Not Possible</a:t>
            </a:r>
            <a:endParaRPr lang="en-US" sz="1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8" name="Text Box 427">
            <a:extLst>
              <a:ext uri="{FF2B5EF4-FFF2-40B4-BE49-F238E27FC236}">
                <a16:creationId xmlns:a16="http://schemas.microsoft.com/office/drawing/2014/main" id="{6BF8EBB5-9928-4EF7-83E6-5BC322409C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3145" y="6481665"/>
            <a:ext cx="522605" cy="358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59" name="Text Box 427">
            <a:extLst>
              <a:ext uri="{FF2B5EF4-FFF2-40B4-BE49-F238E27FC236}">
                <a16:creationId xmlns:a16="http://schemas.microsoft.com/office/drawing/2014/main" id="{F4298D72-8E2C-4216-B32D-A092985C17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50570" y="3216640"/>
            <a:ext cx="522605" cy="358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FA1C01DD-DEFC-4A13-ADC2-63A3E342BA23}"/>
              </a:ext>
            </a:extLst>
          </p:cNvPr>
          <p:cNvSpPr/>
          <p:nvPr/>
        </p:nvSpPr>
        <p:spPr>
          <a:xfrm>
            <a:off x="437545" y="3604390"/>
            <a:ext cx="3493625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50" b="1" dirty="0">
                <a:latin typeface="Tahoma" panose="020B0604030504040204" pitchFamily="34" charset="0"/>
                <a:ea typeface="Calibri" panose="020F0502020204030204" pitchFamily="34" charset="0"/>
              </a:rPr>
              <a:t>32.  </a:t>
            </a:r>
            <a:r>
              <a:rPr lang="en-US" sz="1150" dirty="0">
                <a:latin typeface="Tahoma" panose="020B0604030504040204" pitchFamily="34" charset="0"/>
                <a:ea typeface="Calibri" panose="020F0502020204030204" pitchFamily="34" charset="0"/>
              </a:rPr>
              <a:t> In </a:t>
            </a:r>
            <a:r>
              <a:rPr lang="en-US" sz="1150" dirty="0">
                <a:latin typeface="Tahoma" panose="020B0604030504040204" pitchFamily="34" charset="0"/>
                <a:ea typeface="Calibri" panose="020F0502020204030204" pitchFamily="34" charset="0"/>
                <a:cs typeface="Tahoma" panose="020B0604030504040204" pitchFamily="34" charset="0"/>
                <a:sym typeface="Symbol" panose="05050102010706020507" pitchFamily="18" charset="2"/>
              </a:rPr>
              <a:t></a:t>
            </a:r>
            <a:r>
              <a:rPr lang="en-US" sz="1250" i="1" dirty="0">
                <a:latin typeface="Times New Roman" panose="02020603050405020304" pitchFamily="18" charset="0"/>
                <a:ea typeface="Calibri" panose="020F0502020204030204" pitchFamily="34" charset="0"/>
              </a:rPr>
              <a:t>XYZ</a:t>
            </a:r>
            <a:r>
              <a:rPr lang="en-US" sz="1150" dirty="0">
                <a:latin typeface="Tahoma" panose="020B0604030504040204" pitchFamily="34" charset="0"/>
                <a:ea typeface="Calibri" panose="020F0502020204030204" pitchFamily="34" charset="0"/>
              </a:rPr>
              <a:t>, </a:t>
            </a:r>
            <a:r>
              <a:rPr lang="en-US" sz="1250" i="1" dirty="0">
                <a:latin typeface="Times New Roman" panose="02020603050405020304" pitchFamily="18" charset="0"/>
                <a:ea typeface="Calibri" panose="020F0502020204030204" pitchFamily="34" charset="0"/>
              </a:rPr>
              <a:t>m</a:t>
            </a:r>
            <a:r>
              <a:rPr lang="en-US" sz="1150" dirty="0">
                <a:latin typeface="Tahoma" panose="020B0604030504040204" pitchFamily="34" charset="0"/>
                <a:ea typeface="Calibri" panose="020F0502020204030204" pitchFamily="34" charset="0"/>
                <a:cs typeface="Tahoma" panose="020B0604030504040204" pitchFamily="34" charset="0"/>
                <a:sym typeface="Symbol" panose="05050102010706020507" pitchFamily="18" charset="2"/>
              </a:rPr>
              <a:t></a:t>
            </a:r>
            <a:r>
              <a:rPr lang="en-US" sz="1250" i="1" dirty="0">
                <a:latin typeface="Times New Roman" panose="02020603050405020304" pitchFamily="18" charset="0"/>
                <a:ea typeface="Calibri" panose="020F0502020204030204" pitchFamily="34" charset="0"/>
              </a:rPr>
              <a:t>X</a:t>
            </a:r>
            <a:r>
              <a:rPr lang="en-US" sz="1150" dirty="0">
                <a:latin typeface="Tahoma" panose="020B0604030504040204" pitchFamily="34" charset="0"/>
                <a:ea typeface="Calibri" panose="020F0502020204030204" pitchFamily="34" charset="0"/>
              </a:rPr>
              <a:t> = 49</a:t>
            </a:r>
            <a:r>
              <a:rPr lang="en-US" sz="1150" baseline="30000" dirty="0">
                <a:latin typeface="Tahoma" panose="020B0604030504040204" pitchFamily="34" charset="0"/>
                <a:ea typeface="Calibri" panose="020F0502020204030204" pitchFamily="34" charset="0"/>
              </a:rPr>
              <a:t>°</a:t>
            </a:r>
            <a:r>
              <a:rPr lang="en-US" sz="1150" dirty="0">
                <a:latin typeface="Tahoma" panose="020B0604030504040204" pitchFamily="34" charset="0"/>
                <a:ea typeface="Calibri" panose="020F0502020204030204" pitchFamily="34" charset="0"/>
              </a:rPr>
              <a:t>, </a:t>
            </a:r>
            <a:r>
              <a:rPr lang="en-US" sz="1250" i="1" dirty="0">
                <a:latin typeface="Times New Roman" panose="02020603050405020304" pitchFamily="18" charset="0"/>
                <a:ea typeface="Calibri" panose="020F0502020204030204" pitchFamily="34" charset="0"/>
              </a:rPr>
              <a:t>XY </a:t>
            </a:r>
            <a:r>
              <a:rPr lang="en-US" sz="1150" dirty="0">
                <a:latin typeface="Tahoma" panose="020B0604030504040204" pitchFamily="34" charset="0"/>
                <a:ea typeface="Calibri" panose="020F0502020204030204" pitchFamily="34" charset="0"/>
              </a:rPr>
              <a:t>= 18, and </a:t>
            </a:r>
            <a:br>
              <a:rPr lang="en-US" sz="1150" dirty="0">
                <a:latin typeface="Tahoma" panose="020B0604030504040204" pitchFamily="34" charset="0"/>
                <a:ea typeface="Calibri" panose="020F0502020204030204" pitchFamily="34" charset="0"/>
              </a:rPr>
            </a:br>
            <a:r>
              <a:rPr lang="en-US" sz="1150" dirty="0">
                <a:latin typeface="Tahoma" panose="020B0604030504040204" pitchFamily="34" charset="0"/>
                <a:ea typeface="Calibri" panose="020F0502020204030204" pitchFamily="34" charset="0"/>
              </a:rPr>
              <a:t>        </a:t>
            </a:r>
            <a:r>
              <a:rPr lang="en-US" sz="1250" i="1" dirty="0">
                <a:latin typeface="Times New Roman" panose="02020603050405020304" pitchFamily="18" charset="0"/>
                <a:ea typeface="Calibri" panose="020F0502020204030204" pitchFamily="34" charset="0"/>
              </a:rPr>
              <a:t>YZ</a:t>
            </a:r>
            <a:r>
              <a:rPr lang="en-US" sz="1150" dirty="0">
                <a:latin typeface="Tahoma" panose="020B0604030504040204" pitchFamily="34" charset="0"/>
                <a:ea typeface="Calibri" panose="020F0502020204030204" pitchFamily="34" charset="0"/>
              </a:rPr>
              <a:t> = 14. Find </a:t>
            </a:r>
            <a:r>
              <a:rPr lang="en-US" sz="1250" i="1" dirty="0">
                <a:latin typeface="Times New Roman" panose="02020603050405020304" pitchFamily="18" charset="0"/>
                <a:ea typeface="Calibri" panose="020F0502020204030204" pitchFamily="34" charset="0"/>
              </a:rPr>
              <a:t>m</a:t>
            </a:r>
            <a:r>
              <a:rPr lang="en-US" sz="1150" dirty="0">
                <a:latin typeface="Tahoma" panose="020B0604030504040204" pitchFamily="34" charset="0"/>
                <a:ea typeface="Calibri" panose="020F0502020204030204" pitchFamily="34" charset="0"/>
                <a:cs typeface="Tahoma" panose="020B0604030504040204" pitchFamily="34" charset="0"/>
                <a:sym typeface="Symbol" panose="05050102010706020507" pitchFamily="18" charset="2"/>
              </a:rPr>
              <a:t></a:t>
            </a:r>
            <a:r>
              <a:rPr lang="en-US" sz="1250" i="1" dirty="0">
                <a:latin typeface="Times New Roman" panose="02020603050405020304" pitchFamily="18" charset="0"/>
                <a:ea typeface="Calibri" panose="020F0502020204030204" pitchFamily="34" charset="0"/>
              </a:rPr>
              <a:t>Y</a:t>
            </a:r>
            <a:r>
              <a:rPr lang="en-US" sz="1150" dirty="0">
                <a:latin typeface="Tahoma" panose="020B0604030504040204" pitchFamily="34" charset="0"/>
                <a:ea typeface="Calibri" panose="020F0502020204030204" pitchFamily="34" charset="0"/>
              </a:rPr>
              <a:t>.</a:t>
            </a:r>
            <a:endParaRPr lang="en-US" dirty="0"/>
          </a:p>
        </p:txBody>
      </p:sp>
      <p:sp>
        <p:nvSpPr>
          <p:cNvPr id="61" name="Text Box 807">
            <a:extLst>
              <a:ext uri="{FF2B5EF4-FFF2-40B4-BE49-F238E27FC236}">
                <a16:creationId xmlns:a16="http://schemas.microsoft.com/office/drawing/2014/main" id="{B242753C-0D54-4974-860E-8A128FFAD5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6970" y="5655040"/>
            <a:ext cx="1463675" cy="10058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4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 </a:t>
            </a: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55</a:t>
            </a:r>
            <a:r>
              <a:rPr lang="en-US" sz="1150" baseline="300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°</a:t>
            </a: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 </a:t>
            </a: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76</a:t>
            </a:r>
            <a:r>
              <a:rPr lang="en-US" sz="1150" baseline="300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°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  </a:t>
            </a: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76</a:t>
            </a:r>
            <a:r>
              <a:rPr lang="en-US" sz="1150" baseline="300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°</a:t>
            </a: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or 104</a:t>
            </a:r>
            <a:r>
              <a:rPr lang="en-US" sz="1150" baseline="300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°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   </a:t>
            </a: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55</a:t>
            </a:r>
            <a:r>
              <a:rPr lang="en-US" sz="1150" baseline="300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°</a:t>
            </a: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or 27</a:t>
            </a:r>
            <a:r>
              <a:rPr lang="en-US" sz="1150" baseline="300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°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64879F55-5ABF-49EC-9A9D-071369BDF4F6}"/>
              </a:ext>
            </a:extLst>
          </p:cNvPr>
          <p:cNvSpPr/>
          <p:nvPr/>
        </p:nvSpPr>
        <p:spPr>
          <a:xfrm>
            <a:off x="3878120" y="3611140"/>
            <a:ext cx="2433680" cy="28469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50" b="1" dirty="0">
                <a:latin typeface="Tahoma" panose="020B0604030504040204" pitchFamily="34" charset="0"/>
                <a:ea typeface="Calibri" panose="020F0502020204030204" pitchFamily="34" charset="0"/>
              </a:rPr>
              <a:t>33. </a:t>
            </a:r>
            <a:r>
              <a:rPr lang="en-US" sz="1150" dirty="0">
                <a:latin typeface="Tahoma" panose="020B0604030504040204" pitchFamily="34" charset="0"/>
                <a:ea typeface="Calibri" panose="020F0502020204030204" pitchFamily="34" charset="0"/>
              </a:rPr>
              <a:t> Find </a:t>
            </a:r>
            <a:r>
              <a:rPr lang="en-US" sz="1250" i="1" dirty="0">
                <a:latin typeface="Times New Roman" panose="02020603050405020304" pitchFamily="18" charset="0"/>
                <a:ea typeface="Calibri" panose="020F0502020204030204" pitchFamily="34" charset="0"/>
              </a:rPr>
              <a:t>DE</a:t>
            </a:r>
            <a:r>
              <a:rPr lang="en-US" sz="1150" dirty="0">
                <a:latin typeface="Tahoma" panose="020B0604030504040204" pitchFamily="34" charset="0"/>
                <a:ea typeface="Calibri" panose="020F0502020204030204" pitchFamily="34" charset="0"/>
              </a:rPr>
              <a:t> to the nearest tenth.</a:t>
            </a:r>
            <a:endParaRPr lang="en-US" dirty="0"/>
          </a:p>
        </p:txBody>
      </p:sp>
      <p:sp>
        <p:nvSpPr>
          <p:cNvPr id="63" name="Text Box 439">
            <a:extLst>
              <a:ext uri="{FF2B5EF4-FFF2-40B4-BE49-F238E27FC236}">
                <a16:creationId xmlns:a16="http://schemas.microsoft.com/office/drawing/2014/main" id="{CCAA73C6-D551-491B-BE8C-08A93EDAE5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8745" y="6470090"/>
            <a:ext cx="1038225" cy="358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0" tIns="0" rIns="0" bIns="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br>
              <a:rPr lang="en-US" sz="100" i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i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i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00" i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</a:t>
            </a:r>
            <a:r>
              <a:rPr lang="en-US" sz="1500" i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DF</a:t>
            </a: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10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</a:t>
            </a: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65" name="Freeform 36">
            <a:extLst>
              <a:ext uri="{FF2B5EF4-FFF2-40B4-BE49-F238E27FC236}">
                <a16:creationId xmlns:a16="http://schemas.microsoft.com/office/drawing/2014/main" id="{E3523183-A5FC-4F5E-9BCD-9DB03ABC1584}"/>
              </a:ext>
            </a:extLst>
          </p:cNvPr>
          <p:cNvSpPr/>
          <p:nvPr/>
        </p:nvSpPr>
        <p:spPr>
          <a:xfrm flipH="1">
            <a:off x="5764769" y="4166661"/>
            <a:ext cx="1060245" cy="680767"/>
          </a:xfrm>
          <a:custGeom>
            <a:avLst/>
            <a:gdLst>
              <a:gd name="connsiteX0" fmla="*/ 0 w 1661160"/>
              <a:gd name="connsiteY0" fmla="*/ 0 h 1066800"/>
              <a:gd name="connsiteX1" fmla="*/ 529590 w 1661160"/>
              <a:gd name="connsiteY1" fmla="*/ 1066800 h 1066800"/>
              <a:gd name="connsiteX2" fmla="*/ 1661160 w 1661160"/>
              <a:gd name="connsiteY2" fmla="*/ 1066800 h 1066800"/>
              <a:gd name="connsiteX3" fmla="*/ 0 w 1661160"/>
              <a:gd name="connsiteY3" fmla="*/ 0 h 106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61160" h="1066800">
                <a:moveTo>
                  <a:pt x="0" y="0"/>
                </a:moveTo>
                <a:lnTo>
                  <a:pt x="529590" y="1066800"/>
                </a:lnTo>
                <a:lnTo>
                  <a:pt x="1661160" y="1066800"/>
                </a:lnTo>
                <a:lnTo>
                  <a:pt x="0" y="0"/>
                </a:lnTo>
                <a:close/>
              </a:path>
            </a:pathLst>
          </a:custGeom>
          <a:noFill/>
          <a:ln w="9525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6" name="Text Box 432">
            <a:extLst>
              <a:ext uri="{FF2B5EF4-FFF2-40B4-BE49-F238E27FC236}">
                <a16:creationId xmlns:a16="http://schemas.microsoft.com/office/drawing/2014/main" id="{ECABAD52-F3B8-4512-871E-8FAF32AA9674}"/>
              </a:ext>
            </a:extLst>
          </p:cNvPr>
          <p:cNvSpPr txBox="1"/>
          <p:nvPr/>
        </p:nvSpPr>
        <p:spPr>
          <a:xfrm>
            <a:off x="5531370" y="4795559"/>
            <a:ext cx="258278" cy="210979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1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7" name="Text Box 433">
            <a:extLst>
              <a:ext uri="{FF2B5EF4-FFF2-40B4-BE49-F238E27FC236}">
                <a16:creationId xmlns:a16="http://schemas.microsoft.com/office/drawing/2014/main" id="{A0CB9BD8-4CA1-4631-8B09-6CA1D28C76E1}"/>
              </a:ext>
            </a:extLst>
          </p:cNvPr>
          <p:cNvSpPr txBox="1"/>
          <p:nvPr/>
        </p:nvSpPr>
        <p:spPr>
          <a:xfrm>
            <a:off x="6743751" y="3978640"/>
            <a:ext cx="258278" cy="210979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1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8" name="Text Box 434">
            <a:extLst>
              <a:ext uri="{FF2B5EF4-FFF2-40B4-BE49-F238E27FC236}">
                <a16:creationId xmlns:a16="http://schemas.microsoft.com/office/drawing/2014/main" id="{C66B4929-4021-4089-A332-3DC0838DFE22}"/>
              </a:ext>
            </a:extLst>
          </p:cNvPr>
          <p:cNvSpPr txBox="1"/>
          <p:nvPr/>
        </p:nvSpPr>
        <p:spPr>
          <a:xfrm>
            <a:off x="6400135" y="4834460"/>
            <a:ext cx="258278" cy="210979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9" name="Text Box 435">
            <a:extLst>
              <a:ext uri="{FF2B5EF4-FFF2-40B4-BE49-F238E27FC236}">
                <a16:creationId xmlns:a16="http://schemas.microsoft.com/office/drawing/2014/main" id="{2586BD0E-4CC0-415C-A923-F475DEEFA2E9}"/>
              </a:ext>
            </a:extLst>
          </p:cNvPr>
          <p:cNvSpPr txBox="1"/>
          <p:nvPr/>
        </p:nvSpPr>
        <p:spPr>
          <a:xfrm>
            <a:off x="6251018" y="4678856"/>
            <a:ext cx="301664" cy="154995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115</a:t>
            </a:r>
            <a:r>
              <a:rPr kumimoji="0" lang="en-US" sz="950" b="0" i="0" u="none" strike="noStrike" kern="0" cap="none" spc="0" normalizeH="0" baseline="30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°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0" name="Text Box 436">
            <a:extLst>
              <a:ext uri="{FF2B5EF4-FFF2-40B4-BE49-F238E27FC236}">
                <a16:creationId xmlns:a16="http://schemas.microsoft.com/office/drawing/2014/main" id="{6B03A1CB-5203-4C42-8D9E-AA7BA3A9FBE0}"/>
              </a:ext>
            </a:extLst>
          </p:cNvPr>
          <p:cNvSpPr txBox="1"/>
          <p:nvPr/>
        </p:nvSpPr>
        <p:spPr>
          <a:xfrm>
            <a:off x="6678919" y="4503802"/>
            <a:ext cx="301664" cy="154995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15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1" name="Text Box 437">
            <a:extLst>
              <a:ext uri="{FF2B5EF4-FFF2-40B4-BE49-F238E27FC236}">
                <a16:creationId xmlns:a16="http://schemas.microsoft.com/office/drawing/2014/main" id="{AE4B606D-1A0F-4120-9B47-BBEFC3638B99}"/>
              </a:ext>
            </a:extLst>
          </p:cNvPr>
          <p:cNvSpPr txBox="1"/>
          <p:nvPr/>
        </p:nvSpPr>
        <p:spPr>
          <a:xfrm>
            <a:off x="6037069" y="4886328"/>
            <a:ext cx="301664" cy="154995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12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6D1C89A8-54D2-402B-9ED8-131B3F4F50CF}"/>
              </a:ext>
            </a:extLst>
          </p:cNvPr>
          <p:cNvSpPr/>
          <p:nvPr/>
        </p:nvSpPr>
        <p:spPr>
          <a:xfrm>
            <a:off x="448636" y="6872261"/>
            <a:ext cx="691153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50" b="1" dirty="0">
                <a:latin typeface="Tahoma" panose="020B0604030504040204" pitchFamily="34" charset="0"/>
                <a:ea typeface="Calibri" panose="020F0502020204030204" pitchFamily="34" charset="0"/>
              </a:rPr>
              <a:t>34.  </a:t>
            </a:r>
            <a:r>
              <a:rPr lang="en-US" sz="1150" dirty="0">
                <a:latin typeface="Tahoma" panose="020B0604030504040204" pitchFamily="34" charset="0"/>
                <a:ea typeface="Calibri" panose="020F0502020204030204" pitchFamily="34" charset="0"/>
              </a:rPr>
              <a:t>Given </a:t>
            </a:r>
            <a:r>
              <a:rPr lang="en-US" sz="1150" spc="50" dirty="0">
                <a:latin typeface="Tahoma" panose="020B0604030504040204" pitchFamily="34" charset="0"/>
                <a:ea typeface="Calibri" panose="020F0502020204030204" pitchFamily="34" charset="0"/>
                <a:cs typeface="Tahoma" panose="020B0604030504040204" pitchFamily="34" charset="0"/>
                <a:sym typeface="Symbol" panose="05050102010706020507" pitchFamily="18" charset="2"/>
              </a:rPr>
              <a:t></a:t>
            </a:r>
            <a:r>
              <a:rPr lang="en-US" sz="1250" i="1" spc="50" dirty="0">
                <a:latin typeface="Times New Roman" panose="02020603050405020304" pitchFamily="18" charset="0"/>
                <a:ea typeface="Calibri" panose="020F0502020204030204" pitchFamily="34" charset="0"/>
              </a:rPr>
              <a:t>JKL</a:t>
            </a:r>
            <a:r>
              <a:rPr lang="en-US" sz="1150" spc="50" dirty="0">
                <a:latin typeface="Tahoma" panose="020B0604030504040204" pitchFamily="34" charset="0"/>
                <a:ea typeface="Calibri" panose="020F0502020204030204" pitchFamily="34" charset="0"/>
              </a:rPr>
              <a:t> with </a:t>
            </a:r>
            <a:r>
              <a:rPr lang="en-US" sz="1250" i="1" dirty="0">
                <a:latin typeface="Times New Roman" panose="02020603050405020304" pitchFamily="18" charset="0"/>
                <a:ea typeface="Calibri" panose="020F0502020204030204" pitchFamily="34" charset="0"/>
              </a:rPr>
              <a:t>JK </a:t>
            </a:r>
            <a:r>
              <a:rPr lang="en-US" sz="1150" spc="50" dirty="0">
                <a:latin typeface="Tahoma" panose="020B0604030504040204" pitchFamily="34" charset="0"/>
                <a:ea typeface="Calibri" panose="020F0502020204030204" pitchFamily="34" charset="0"/>
              </a:rPr>
              <a:t>= 16, </a:t>
            </a:r>
            <a:r>
              <a:rPr lang="en-US" sz="1250" i="1" dirty="0">
                <a:latin typeface="Times New Roman" panose="02020603050405020304" pitchFamily="18" charset="0"/>
                <a:ea typeface="Calibri" panose="020F0502020204030204" pitchFamily="34" charset="0"/>
              </a:rPr>
              <a:t>KL</a:t>
            </a:r>
            <a:r>
              <a:rPr lang="en-US" sz="1150" spc="50" dirty="0">
                <a:latin typeface="Tahoma" panose="020B0604030504040204" pitchFamily="34" charset="0"/>
                <a:ea typeface="Calibri" panose="020F0502020204030204" pitchFamily="34" charset="0"/>
              </a:rPr>
              <a:t> = 14, and </a:t>
            </a:r>
            <a:r>
              <a:rPr lang="en-US" sz="1250" i="1" spc="50" dirty="0">
                <a:latin typeface="Times New Roman" panose="02020603050405020304" pitchFamily="18" charset="0"/>
                <a:ea typeface="Calibri" panose="020F0502020204030204" pitchFamily="34" charset="0"/>
              </a:rPr>
              <a:t>JL</a:t>
            </a:r>
            <a:r>
              <a:rPr lang="en-US" sz="1150" i="1" spc="5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150" spc="50" dirty="0">
                <a:latin typeface="Tahoma" panose="020B0604030504040204" pitchFamily="34" charset="0"/>
                <a:ea typeface="Calibri" panose="020F0502020204030204" pitchFamily="34" charset="0"/>
              </a:rPr>
              <a:t>= 10, solve the triangle.  Round all answers to </a:t>
            </a:r>
            <a:br>
              <a:rPr lang="en-US" sz="1150" spc="50" dirty="0">
                <a:latin typeface="Tahoma" panose="020B0604030504040204" pitchFamily="34" charset="0"/>
                <a:ea typeface="Calibri" panose="020F0502020204030204" pitchFamily="34" charset="0"/>
              </a:rPr>
            </a:br>
            <a:r>
              <a:rPr lang="en-US" sz="1150" spc="50" dirty="0">
                <a:latin typeface="Tahoma" panose="020B0604030504040204" pitchFamily="34" charset="0"/>
                <a:ea typeface="Calibri" panose="020F0502020204030204" pitchFamily="34" charset="0"/>
              </a:rPr>
              <a:t>      the nearest tenth.</a:t>
            </a:r>
            <a:endParaRPr lang="en-US" dirty="0"/>
          </a:p>
        </p:txBody>
      </p:sp>
      <p:sp>
        <p:nvSpPr>
          <p:cNvPr id="73" name="Text Box 450">
            <a:extLst>
              <a:ext uri="{FF2B5EF4-FFF2-40B4-BE49-F238E27FC236}">
                <a16:creationId xmlns:a16="http://schemas.microsoft.com/office/drawing/2014/main" id="{5C077E5C-4A75-493B-86A5-DE6E3F087E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1820" y="8398240"/>
            <a:ext cx="1283970" cy="1143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0" rIns="0" bIns="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br>
              <a:rPr lang="en-US" sz="100" i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i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i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500" i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en-US" sz="1100">
                <a:effectLst/>
                <a:latin typeface="Tahoma" panose="020B0604030504040204" pitchFamily="34" charset="0"/>
                <a:ea typeface="Calibri" panose="020F0502020204030204" pitchFamily="34" charset="0"/>
                <a:cs typeface="Tahoma" panose="020B0604030504040204" pitchFamily="34" charset="0"/>
                <a:sym typeface="Symbol" panose="05050102010706020507" pitchFamily="18" charset="2"/>
              </a:rPr>
              <a:t></a:t>
            </a:r>
            <a:r>
              <a:rPr lang="en-US" sz="1500" i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</a:t>
            </a:r>
            <a:r>
              <a:rPr lang="en-US" sz="110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</a:t>
            </a: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500" i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en-US" sz="1100">
                <a:effectLst/>
                <a:latin typeface="Tahoma" panose="020B0604030504040204" pitchFamily="34" charset="0"/>
                <a:ea typeface="Calibri" panose="020F0502020204030204" pitchFamily="34" charset="0"/>
                <a:cs typeface="Tahoma" panose="020B0604030504040204" pitchFamily="34" charset="0"/>
                <a:sym typeface="Symbol" panose="05050102010706020507" pitchFamily="18" charset="2"/>
              </a:rPr>
              <a:t></a:t>
            </a:r>
            <a:r>
              <a:rPr lang="en-US" sz="1500" i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</a:t>
            </a:r>
            <a:r>
              <a:rPr lang="en-US" sz="110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</a:t>
            </a:r>
            <a:endParaRPr lang="en-US" sz="1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500" i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en-US" sz="1100">
                <a:effectLst/>
                <a:latin typeface="Tahoma" panose="020B0604030504040204" pitchFamily="34" charset="0"/>
                <a:ea typeface="Calibri" panose="020F0502020204030204" pitchFamily="34" charset="0"/>
                <a:cs typeface="Tahoma" panose="020B0604030504040204" pitchFamily="34" charset="0"/>
                <a:sym typeface="Symbol" panose="05050102010706020507" pitchFamily="18" charset="2"/>
              </a:rPr>
              <a:t></a:t>
            </a:r>
            <a:r>
              <a:rPr lang="en-US" sz="1500" i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</a:t>
            </a:r>
            <a:r>
              <a:rPr lang="en-US" sz="110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</a:t>
            </a:r>
            <a:endParaRPr lang="en-US" sz="1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grayscl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C4F0C0C6-A759-41DA-A1EF-BECCFC71B12D}"/>
              </a:ext>
            </a:extLst>
          </p:cNvPr>
          <p:cNvSpPr/>
          <p:nvPr/>
        </p:nvSpPr>
        <p:spPr>
          <a:xfrm>
            <a:off x="404150" y="377505"/>
            <a:ext cx="692262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50" b="1" dirty="0">
                <a:latin typeface="Tahoma" panose="020B0604030504040204" pitchFamily="34" charset="0"/>
                <a:ea typeface="Calibri" panose="020F0502020204030204" pitchFamily="34" charset="0"/>
              </a:rPr>
              <a:t>35.  </a:t>
            </a:r>
            <a:r>
              <a:rPr lang="en-US" sz="1150" dirty="0">
                <a:latin typeface="Tahoma" panose="020B0604030504040204" pitchFamily="34" charset="0"/>
                <a:ea typeface="Calibri" panose="020F0502020204030204" pitchFamily="34" charset="0"/>
              </a:rPr>
              <a:t>Given </a:t>
            </a:r>
            <a:r>
              <a:rPr lang="en-US" sz="1150" spc="50" dirty="0">
                <a:latin typeface="Tahoma" panose="020B0604030504040204" pitchFamily="34" charset="0"/>
                <a:ea typeface="Calibri" panose="020F0502020204030204" pitchFamily="34" charset="0"/>
                <a:cs typeface="Tahoma" panose="020B0604030504040204" pitchFamily="34" charset="0"/>
                <a:sym typeface="Symbol" panose="05050102010706020507" pitchFamily="18" charset="2"/>
              </a:rPr>
              <a:t></a:t>
            </a:r>
            <a:r>
              <a:rPr lang="en-US" sz="1250" i="1" spc="50" dirty="0">
                <a:latin typeface="Times New Roman" panose="02020603050405020304" pitchFamily="18" charset="0"/>
                <a:ea typeface="Calibri" panose="020F0502020204030204" pitchFamily="34" charset="0"/>
              </a:rPr>
              <a:t>PQR</a:t>
            </a:r>
            <a:r>
              <a:rPr lang="en-US" sz="1150" spc="50" dirty="0">
                <a:latin typeface="Tahoma" panose="020B0604030504040204" pitchFamily="34" charset="0"/>
                <a:ea typeface="Calibri" panose="020F0502020204030204" pitchFamily="34" charset="0"/>
              </a:rPr>
              <a:t> with</a:t>
            </a:r>
            <a:r>
              <a:rPr lang="en-US" sz="1250" i="1" dirty="0">
                <a:latin typeface="Times New Roman" panose="02020603050405020304" pitchFamily="18" charset="0"/>
                <a:ea typeface="Calibri" panose="020F0502020204030204" pitchFamily="34" charset="0"/>
              </a:rPr>
              <a:t> m</a:t>
            </a:r>
            <a:r>
              <a:rPr lang="en-US" sz="1150" dirty="0">
                <a:latin typeface="Tahoma" panose="020B0604030504040204" pitchFamily="34" charset="0"/>
                <a:ea typeface="Calibri" panose="020F0502020204030204" pitchFamily="34" charset="0"/>
                <a:cs typeface="Tahoma" panose="020B0604030504040204" pitchFamily="34" charset="0"/>
                <a:sym typeface="Symbol" panose="05050102010706020507" pitchFamily="18" charset="2"/>
              </a:rPr>
              <a:t></a:t>
            </a:r>
            <a:r>
              <a:rPr lang="en-US" sz="1250" i="1" dirty="0">
                <a:latin typeface="Times New Roman" panose="02020603050405020304" pitchFamily="18" charset="0"/>
                <a:ea typeface="Calibri" panose="020F0502020204030204" pitchFamily="34" charset="0"/>
              </a:rPr>
              <a:t>P</a:t>
            </a:r>
            <a:r>
              <a:rPr lang="en-US" sz="1150" dirty="0">
                <a:latin typeface="Tahoma" panose="020B0604030504040204" pitchFamily="34" charset="0"/>
                <a:ea typeface="Calibri" panose="020F0502020204030204" pitchFamily="34" charset="0"/>
              </a:rPr>
              <a:t> = 42</a:t>
            </a:r>
            <a:r>
              <a:rPr lang="en-US" sz="1150" baseline="30000" dirty="0">
                <a:latin typeface="Tahoma" panose="020B0604030504040204" pitchFamily="34" charset="0"/>
                <a:ea typeface="Calibri" panose="020F0502020204030204" pitchFamily="34" charset="0"/>
              </a:rPr>
              <a:t>°</a:t>
            </a:r>
            <a:r>
              <a:rPr lang="en-US" sz="1150" dirty="0">
                <a:latin typeface="Tahoma" panose="020B0604030504040204" pitchFamily="34" charset="0"/>
                <a:ea typeface="Calibri" panose="020F0502020204030204" pitchFamily="34" charset="0"/>
              </a:rPr>
              <a:t>,</a:t>
            </a:r>
            <a:r>
              <a:rPr lang="en-US" sz="1250" i="1" dirty="0">
                <a:latin typeface="Times New Roman" panose="02020603050405020304" pitchFamily="18" charset="0"/>
                <a:ea typeface="Calibri" panose="020F0502020204030204" pitchFamily="34" charset="0"/>
              </a:rPr>
              <a:t> m</a:t>
            </a:r>
            <a:r>
              <a:rPr lang="en-US" sz="1150" dirty="0">
                <a:latin typeface="Tahoma" panose="020B0604030504040204" pitchFamily="34" charset="0"/>
                <a:ea typeface="Calibri" panose="020F0502020204030204" pitchFamily="34" charset="0"/>
                <a:cs typeface="Tahoma" panose="020B0604030504040204" pitchFamily="34" charset="0"/>
                <a:sym typeface="Symbol" panose="05050102010706020507" pitchFamily="18" charset="2"/>
              </a:rPr>
              <a:t></a:t>
            </a:r>
            <a:r>
              <a:rPr lang="en-US" sz="1250" i="1" dirty="0">
                <a:latin typeface="Times New Roman" panose="02020603050405020304" pitchFamily="18" charset="0"/>
                <a:ea typeface="Calibri" panose="020F0502020204030204" pitchFamily="34" charset="0"/>
              </a:rPr>
              <a:t>R</a:t>
            </a:r>
            <a:r>
              <a:rPr lang="en-US" sz="1150" dirty="0">
                <a:latin typeface="Tahoma" panose="020B0604030504040204" pitchFamily="34" charset="0"/>
                <a:ea typeface="Calibri" panose="020F0502020204030204" pitchFamily="34" charset="0"/>
              </a:rPr>
              <a:t> = 26</a:t>
            </a:r>
            <a:r>
              <a:rPr lang="en-US" sz="1150" baseline="30000" dirty="0">
                <a:latin typeface="Tahoma" panose="020B0604030504040204" pitchFamily="34" charset="0"/>
                <a:ea typeface="Calibri" panose="020F0502020204030204" pitchFamily="34" charset="0"/>
              </a:rPr>
              <a:t>°</a:t>
            </a:r>
            <a:r>
              <a:rPr lang="en-US" sz="1150" dirty="0">
                <a:latin typeface="Tahoma" panose="020B0604030504040204" pitchFamily="34" charset="0"/>
                <a:ea typeface="Calibri" panose="020F0502020204030204" pitchFamily="34" charset="0"/>
              </a:rPr>
              <a:t>, </a:t>
            </a:r>
            <a:r>
              <a:rPr lang="en-US" sz="1150" spc="50" dirty="0">
                <a:latin typeface="Tahoma" panose="020B0604030504040204" pitchFamily="34" charset="0"/>
                <a:ea typeface="Calibri" panose="020F0502020204030204" pitchFamily="34" charset="0"/>
              </a:rPr>
              <a:t>and </a:t>
            </a:r>
            <a:r>
              <a:rPr lang="en-US" sz="1250" i="1" spc="50" dirty="0">
                <a:latin typeface="Times New Roman" panose="02020603050405020304" pitchFamily="18" charset="0"/>
                <a:ea typeface="Calibri" panose="020F0502020204030204" pitchFamily="34" charset="0"/>
              </a:rPr>
              <a:t>PQ</a:t>
            </a:r>
            <a:r>
              <a:rPr lang="en-US" sz="1150" i="1" spc="5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150" spc="50" dirty="0">
                <a:latin typeface="Tahoma" panose="020B0604030504040204" pitchFamily="34" charset="0"/>
                <a:ea typeface="Calibri" panose="020F0502020204030204" pitchFamily="34" charset="0"/>
              </a:rPr>
              <a:t>= 19, solve the triangle.  Round all </a:t>
            </a:r>
            <a:br>
              <a:rPr lang="en-US" sz="1150" spc="50" dirty="0">
                <a:latin typeface="Tahoma" panose="020B0604030504040204" pitchFamily="34" charset="0"/>
                <a:ea typeface="Calibri" panose="020F0502020204030204" pitchFamily="34" charset="0"/>
              </a:rPr>
            </a:br>
            <a:r>
              <a:rPr lang="en-US" sz="1150" spc="50" dirty="0">
                <a:latin typeface="Tahoma" panose="020B0604030504040204" pitchFamily="34" charset="0"/>
                <a:ea typeface="Calibri" panose="020F0502020204030204" pitchFamily="34" charset="0"/>
              </a:rPr>
              <a:t>      answers to the nearest tenth.</a:t>
            </a:r>
            <a:endParaRPr lang="en-US" dirty="0"/>
          </a:p>
        </p:txBody>
      </p:sp>
      <p:sp>
        <p:nvSpPr>
          <p:cNvPr id="34" name="Text Box 454">
            <a:extLst>
              <a:ext uri="{FF2B5EF4-FFF2-40B4-BE49-F238E27FC236}">
                <a16:creationId xmlns:a16="http://schemas.microsoft.com/office/drawing/2014/main" id="{F1A41802-0DC3-4EA5-B324-A566F23053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1931405"/>
            <a:ext cx="1283970" cy="1143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0" rIns="0" bIns="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br>
              <a:rPr lang="en-US" sz="100" i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i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i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500" i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en-US" sz="1100">
                <a:effectLst/>
                <a:latin typeface="Tahoma" panose="020B0604030504040204" pitchFamily="34" charset="0"/>
                <a:ea typeface="Calibri" panose="020F0502020204030204" pitchFamily="34" charset="0"/>
                <a:cs typeface="Tahoma" panose="020B0604030504040204" pitchFamily="34" charset="0"/>
                <a:sym typeface="Symbol" panose="05050102010706020507" pitchFamily="18" charset="2"/>
              </a:rPr>
              <a:t></a:t>
            </a:r>
            <a:r>
              <a:rPr lang="en-US" sz="1500" i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 </a:t>
            </a:r>
            <a:r>
              <a:rPr lang="en-US" sz="110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</a:t>
            </a: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500" i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QR</a:t>
            </a:r>
            <a:r>
              <a:rPr lang="en-US" sz="110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</a:t>
            </a:r>
            <a:endParaRPr lang="en-US" sz="1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500" i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</a:t>
            </a:r>
            <a:r>
              <a:rPr lang="en-US" sz="110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</a:t>
            </a:r>
            <a:endParaRPr lang="en-US" sz="1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7D2E9A9F-A27F-4C50-B4C9-9A3949D3F7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5397801"/>
              </p:ext>
            </p:extLst>
          </p:nvPr>
        </p:nvGraphicFramePr>
        <p:xfrm>
          <a:off x="392575" y="3173755"/>
          <a:ext cx="4800600" cy="201549"/>
        </p:xfrm>
        <a:graphic>
          <a:graphicData uri="http://schemas.openxmlformats.org/drawingml/2006/table">
            <a:tbl>
              <a:tblPr/>
              <a:tblGrid>
                <a:gridCol w="480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50" b="1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36.  </a:t>
                      </a:r>
                      <a:r>
                        <a:rPr lang="en-US" sz="115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Find the area of the triangle below to the nearest tenth.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7" name="Freeform 16">
            <a:extLst>
              <a:ext uri="{FF2B5EF4-FFF2-40B4-BE49-F238E27FC236}">
                <a16:creationId xmlns:a16="http://schemas.microsoft.com/office/drawing/2014/main" id="{0026E523-7B17-440E-96A9-E3D4CCCEAD3B}"/>
              </a:ext>
            </a:extLst>
          </p:cNvPr>
          <p:cNvSpPr/>
          <p:nvPr/>
        </p:nvSpPr>
        <p:spPr>
          <a:xfrm>
            <a:off x="1071625" y="3688830"/>
            <a:ext cx="908833" cy="766633"/>
          </a:xfrm>
          <a:custGeom>
            <a:avLst/>
            <a:gdLst>
              <a:gd name="connsiteX0" fmla="*/ 0 w 707626"/>
              <a:gd name="connsiteY0" fmla="*/ 592752 h 597347"/>
              <a:gd name="connsiteX1" fmla="*/ 124064 w 707626"/>
              <a:gd name="connsiteY1" fmla="*/ 0 h 597347"/>
              <a:gd name="connsiteX2" fmla="*/ 707626 w 707626"/>
              <a:gd name="connsiteY2" fmla="*/ 597347 h 597347"/>
              <a:gd name="connsiteX3" fmla="*/ 0 w 707626"/>
              <a:gd name="connsiteY3" fmla="*/ 592752 h 5973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7626" h="597347">
                <a:moveTo>
                  <a:pt x="0" y="592752"/>
                </a:moveTo>
                <a:lnTo>
                  <a:pt x="124064" y="0"/>
                </a:lnTo>
                <a:lnTo>
                  <a:pt x="707626" y="597347"/>
                </a:lnTo>
                <a:lnTo>
                  <a:pt x="0" y="592752"/>
                </a:lnTo>
                <a:close/>
              </a:path>
            </a:pathLst>
          </a:custGeom>
          <a:noFill/>
          <a:ln w="9525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8" name="Text Box 466">
            <a:extLst>
              <a:ext uri="{FF2B5EF4-FFF2-40B4-BE49-F238E27FC236}">
                <a16:creationId xmlns:a16="http://schemas.microsoft.com/office/drawing/2014/main" id="{33B4EB20-CB43-458E-B703-BE0902EFD9BE}"/>
              </a:ext>
            </a:extLst>
          </p:cNvPr>
          <p:cNvSpPr txBox="1"/>
          <p:nvPr/>
        </p:nvSpPr>
        <p:spPr>
          <a:xfrm>
            <a:off x="1177304" y="3849595"/>
            <a:ext cx="257307" cy="174545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56</a:t>
            </a:r>
            <a:r>
              <a:rPr kumimoji="0" lang="en-US" sz="950" b="0" i="0" u="none" strike="noStrike" kern="0" cap="none" spc="0" normalizeH="0" baseline="30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°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9" name="Text Box 467">
            <a:extLst>
              <a:ext uri="{FF2B5EF4-FFF2-40B4-BE49-F238E27FC236}">
                <a16:creationId xmlns:a16="http://schemas.microsoft.com/office/drawing/2014/main" id="{73AFBF3A-DA85-4BBC-AACD-5408ED460E97}"/>
              </a:ext>
            </a:extLst>
          </p:cNvPr>
          <p:cNvSpPr txBox="1"/>
          <p:nvPr/>
        </p:nvSpPr>
        <p:spPr>
          <a:xfrm>
            <a:off x="1094599" y="4281365"/>
            <a:ext cx="257307" cy="174545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78</a:t>
            </a:r>
            <a:r>
              <a:rPr kumimoji="0" lang="en-US" sz="950" b="0" i="0" u="none" strike="noStrike" kern="0" cap="none" spc="0" normalizeH="0" baseline="30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°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0" name="Text Box 468">
            <a:extLst>
              <a:ext uri="{FF2B5EF4-FFF2-40B4-BE49-F238E27FC236}">
                <a16:creationId xmlns:a16="http://schemas.microsoft.com/office/drawing/2014/main" id="{104757C5-3260-4CC4-869C-3C009DBA4699}"/>
              </a:ext>
            </a:extLst>
          </p:cNvPr>
          <p:cNvSpPr txBox="1"/>
          <p:nvPr/>
        </p:nvSpPr>
        <p:spPr>
          <a:xfrm>
            <a:off x="1604617" y="3936868"/>
            <a:ext cx="441098" cy="179138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7.2 cm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1" name="Text Box 807">
            <a:extLst>
              <a:ext uri="{FF2B5EF4-FFF2-40B4-BE49-F238E27FC236}">
                <a16:creationId xmlns:a16="http://schemas.microsoft.com/office/drawing/2014/main" id="{F9130609-6CF0-4F76-B404-D8DB2E6EEE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9150" y="4619630"/>
            <a:ext cx="24384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</a:t>
            </a: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13.7 cm</a:t>
            </a:r>
            <a:r>
              <a:rPr lang="en-US" sz="1100" baseline="300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C.  </a:t>
            </a: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18.4 cm</a:t>
            </a:r>
            <a:r>
              <a:rPr lang="en-US" sz="1100" baseline="300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</a:t>
            </a: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12.2 cm</a:t>
            </a:r>
            <a:r>
              <a:rPr lang="en-US" sz="1100" baseline="300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             </a:t>
            </a: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  </a:t>
            </a: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15.8 cm</a:t>
            </a:r>
            <a:r>
              <a:rPr lang="en-US" sz="1100" baseline="300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2" name="Text Box 463">
            <a:extLst>
              <a:ext uri="{FF2B5EF4-FFF2-40B4-BE49-F238E27FC236}">
                <a16:creationId xmlns:a16="http://schemas.microsoft.com/office/drawing/2014/main" id="{C2F6364F-BC20-4DEA-8C86-CFE2A558A6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600" y="4884880"/>
            <a:ext cx="522605" cy="358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207B0B49-B9F4-4575-B0EE-6297A1E85C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7728882"/>
              </p:ext>
            </p:extLst>
          </p:nvPr>
        </p:nvGraphicFramePr>
        <p:xfrm>
          <a:off x="392575" y="5330505"/>
          <a:ext cx="4640262" cy="201549"/>
        </p:xfrm>
        <a:graphic>
          <a:graphicData uri="http://schemas.openxmlformats.org/drawingml/2006/table">
            <a:tbl>
              <a:tblPr/>
              <a:tblGrid>
                <a:gridCol w="46402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50" b="1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37.  </a:t>
                      </a:r>
                      <a:r>
                        <a:rPr lang="en-US" sz="115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Find the area of the triangle below to the nearest tenth.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5" name="Freeform 24">
            <a:extLst>
              <a:ext uri="{FF2B5EF4-FFF2-40B4-BE49-F238E27FC236}">
                <a16:creationId xmlns:a16="http://schemas.microsoft.com/office/drawing/2014/main" id="{8B7DB059-0F45-4364-8670-6D8AB1EB8702}"/>
              </a:ext>
            </a:extLst>
          </p:cNvPr>
          <p:cNvSpPr/>
          <p:nvPr/>
        </p:nvSpPr>
        <p:spPr>
          <a:xfrm>
            <a:off x="906341" y="5822430"/>
            <a:ext cx="919283" cy="741045"/>
          </a:xfrm>
          <a:custGeom>
            <a:avLst/>
            <a:gdLst>
              <a:gd name="connsiteX0" fmla="*/ 158595 w 755804"/>
              <a:gd name="connsiteY0" fmla="*/ 609600 h 609600"/>
              <a:gd name="connsiteX1" fmla="*/ 755804 w 755804"/>
              <a:gd name="connsiteY1" fmla="*/ 609600 h 609600"/>
              <a:gd name="connsiteX2" fmla="*/ 0 w 755804"/>
              <a:gd name="connsiteY2" fmla="*/ 0 h 609600"/>
              <a:gd name="connsiteX3" fmla="*/ 158595 w 755804"/>
              <a:gd name="connsiteY3" fmla="*/ 609600 h 60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5804" h="609600">
                <a:moveTo>
                  <a:pt x="158595" y="609600"/>
                </a:moveTo>
                <a:lnTo>
                  <a:pt x="755804" y="609600"/>
                </a:lnTo>
                <a:lnTo>
                  <a:pt x="0" y="0"/>
                </a:lnTo>
                <a:lnTo>
                  <a:pt x="158595" y="609600"/>
                </a:lnTo>
                <a:close/>
              </a:path>
            </a:pathLst>
          </a:custGeom>
          <a:noFill/>
          <a:ln w="9525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6" name="Text Box 458">
            <a:extLst>
              <a:ext uri="{FF2B5EF4-FFF2-40B4-BE49-F238E27FC236}">
                <a16:creationId xmlns:a16="http://schemas.microsoft.com/office/drawing/2014/main" id="{57539C6C-A081-48B6-8250-9657BD556B09}"/>
              </a:ext>
            </a:extLst>
          </p:cNvPr>
          <p:cNvSpPr txBox="1"/>
          <p:nvPr/>
        </p:nvSpPr>
        <p:spPr>
          <a:xfrm>
            <a:off x="1117694" y="6396322"/>
            <a:ext cx="301640" cy="154865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105</a:t>
            </a:r>
            <a:r>
              <a:rPr kumimoji="0" lang="en-US" sz="950" b="0" i="0" u="none" strike="noStrike" kern="0" cap="none" spc="0" normalizeH="0" baseline="30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°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7" name="Text Box 459">
            <a:extLst>
              <a:ext uri="{FF2B5EF4-FFF2-40B4-BE49-F238E27FC236}">
                <a16:creationId xmlns:a16="http://schemas.microsoft.com/office/drawing/2014/main" id="{1FE9E8A1-DBD5-4401-916D-24630FE20504}"/>
              </a:ext>
            </a:extLst>
          </p:cNvPr>
          <p:cNvSpPr txBox="1"/>
          <p:nvPr/>
        </p:nvSpPr>
        <p:spPr>
          <a:xfrm>
            <a:off x="1419331" y="6047396"/>
            <a:ext cx="301640" cy="154865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20 ft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8" name="Text Box 460">
            <a:extLst>
              <a:ext uri="{FF2B5EF4-FFF2-40B4-BE49-F238E27FC236}">
                <a16:creationId xmlns:a16="http://schemas.microsoft.com/office/drawing/2014/main" id="{27D21EFF-73CC-4D72-9F06-3C3443F154F5}"/>
              </a:ext>
            </a:extLst>
          </p:cNvPr>
          <p:cNvSpPr txBox="1"/>
          <p:nvPr/>
        </p:nvSpPr>
        <p:spPr>
          <a:xfrm>
            <a:off x="685800" y="6166766"/>
            <a:ext cx="301640" cy="154865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13 ft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9" name="Text Box 807">
            <a:extLst>
              <a:ext uri="{FF2B5EF4-FFF2-40B4-BE49-F238E27FC236}">
                <a16:creationId xmlns:a16="http://schemas.microsoft.com/office/drawing/2014/main" id="{C6A34FC1-C2EC-4C82-BE6C-20F974D619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6771555"/>
            <a:ext cx="1998345" cy="528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</a:t>
            </a: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80.5 ft</a:t>
            </a:r>
            <a:r>
              <a:rPr lang="en-US" sz="1100" baseline="300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C.  </a:t>
            </a: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76.6 ft</a:t>
            </a:r>
            <a:r>
              <a:rPr lang="en-US" sz="1100" baseline="300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</a:t>
            </a: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71.3 ft</a:t>
            </a:r>
            <a:r>
              <a:rPr lang="en-US" sz="1100" baseline="300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             </a:t>
            </a: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  </a:t>
            </a: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68.1 ft</a:t>
            </a:r>
            <a:r>
              <a:rPr lang="en-US" sz="1100" baseline="300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b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0" name="Text Box 498">
            <a:extLst>
              <a:ext uri="{FF2B5EF4-FFF2-40B4-BE49-F238E27FC236}">
                <a16:creationId xmlns:a16="http://schemas.microsoft.com/office/drawing/2014/main" id="{A0C9450B-2A38-4E1C-9BC6-EAEA03CCDB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600" y="7041630"/>
            <a:ext cx="522605" cy="358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624969D-B2ED-4896-89E3-44B24DCC7B3D}"/>
              </a:ext>
            </a:extLst>
          </p:cNvPr>
          <p:cNvSpPr/>
          <p:nvPr/>
        </p:nvSpPr>
        <p:spPr>
          <a:xfrm>
            <a:off x="404150" y="7445780"/>
            <a:ext cx="6911050" cy="6232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50" b="1" dirty="0">
                <a:latin typeface="Tahoma" panose="020B0604030504040204" pitchFamily="34" charset="0"/>
                <a:ea typeface="Calibri" panose="020F0502020204030204" pitchFamily="34" charset="0"/>
              </a:rPr>
              <a:t>38.  </a:t>
            </a:r>
            <a:r>
              <a:rPr lang="en-US" sz="1150" dirty="0">
                <a:latin typeface="Tahoma" panose="020B0604030504040204" pitchFamily="34" charset="0"/>
                <a:ea typeface="Calibri" panose="020F0502020204030204" pitchFamily="34" charset="0"/>
              </a:rPr>
              <a:t>A 24-foot ladder is placed against a building to reach a window on the second floor.  The angle of </a:t>
            </a:r>
            <a:br>
              <a:rPr lang="en-US" sz="1150" dirty="0">
                <a:latin typeface="Tahoma" panose="020B0604030504040204" pitchFamily="34" charset="0"/>
                <a:ea typeface="Calibri" panose="020F0502020204030204" pitchFamily="34" charset="0"/>
              </a:rPr>
            </a:br>
            <a:r>
              <a:rPr lang="en-US" sz="1150" dirty="0">
                <a:latin typeface="Tahoma" panose="020B0604030504040204" pitchFamily="34" charset="0"/>
                <a:ea typeface="Calibri" panose="020F0502020204030204" pitchFamily="34" charset="0"/>
              </a:rPr>
              <a:t>       depression from the top of the ladder to the bottom of the ladder is 62</a:t>
            </a:r>
            <a:r>
              <a:rPr lang="en-US" sz="1150" baseline="30000" dirty="0">
                <a:latin typeface="Tahoma" panose="020B0604030504040204" pitchFamily="34" charset="0"/>
                <a:ea typeface="Calibri" panose="020F0502020204030204" pitchFamily="34" charset="0"/>
              </a:rPr>
              <a:t>º</a:t>
            </a:r>
            <a:r>
              <a:rPr lang="en-US" sz="1150" dirty="0">
                <a:latin typeface="Tahoma" panose="020B0604030504040204" pitchFamily="34" charset="0"/>
                <a:ea typeface="Calibri" panose="020F0502020204030204" pitchFamily="34" charset="0"/>
              </a:rPr>
              <a:t>.  Find the distance </a:t>
            </a:r>
            <a:br>
              <a:rPr lang="en-US" sz="1150" dirty="0">
                <a:latin typeface="Tahoma" panose="020B0604030504040204" pitchFamily="34" charset="0"/>
                <a:ea typeface="Calibri" panose="020F0502020204030204" pitchFamily="34" charset="0"/>
              </a:rPr>
            </a:br>
            <a:r>
              <a:rPr lang="en-US" sz="1150" dirty="0">
                <a:latin typeface="Tahoma" panose="020B0604030504040204" pitchFamily="34" charset="0"/>
                <a:ea typeface="Calibri" panose="020F0502020204030204" pitchFamily="34" charset="0"/>
              </a:rPr>
              <a:t>       between the bottom of the ladder and the base of the building to the nearest tenth of a foot.</a:t>
            </a:r>
            <a:endParaRPr lang="en-US" dirty="0"/>
          </a:p>
        </p:txBody>
      </p:sp>
      <p:sp>
        <p:nvSpPr>
          <p:cNvPr id="52" name="Text Box 496">
            <a:extLst>
              <a:ext uri="{FF2B5EF4-FFF2-40B4-BE49-F238E27FC236}">
                <a16:creationId xmlns:a16="http://schemas.microsoft.com/office/drawing/2014/main" id="{0C05DFAA-DFB8-43BA-B290-4DC60A74B6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9875" y="9186805"/>
            <a:ext cx="931545" cy="358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grayscl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0B658E56-9A4F-40DD-8643-112ED7A5A709}"/>
              </a:ext>
            </a:extLst>
          </p:cNvPr>
          <p:cNvSpPr/>
          <p:nvPr/>
        </p:nvSpPr>
        <p:spPr>
          <a:xfrm>
            <a:off x="430715" y="377505"/>
            <a:ext cx="6858000" cy="800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50" b="1" dirty="0">
                <a:latin typeface="Tahoma" panose="020B0604030504040204" pitchFamily="34" charset="0"/>
                <a:ea typeface="Calibri" panose="020F0502020204030204" pitchFamily="34" charset="0"/>
              </a:rPr>
              <a:t>39.</a:t>
            </a:r>
            <a:r>
              <a:rPr lang="en-US" sz="1150" dirty="0">
                <a:latin typeface="Tahoma" panose="020B0604030504040204" pitchFamily="34" charset="0"/>
                <a:ea typeface="Calibri" panose="020F0502020204030204" pitchFamily="34" charset="0"/>
              </a:rPr>
              <a:t>  Alex is standing 60 feet from the base of a flagpole.  He measures the angle of elevation to the</a:t>
            </a:r>
            <a:br>
              <a:rPr lang="en-US" sz="1150" dirty="0">
                <a:latin typeface="Tahoma" panose="020B0604030504040204" pitchFamily="34" charset="0"/>
                <a:ea typeface="Calibri" panose="020F0502020204030204" pitchFamily="34" charset="0"/>
              </a:rPr>
            </a:br>
            <a:r>
              <a:rPr lang="en-US" sz="1150" dirty="0">
                <a:latin typeface="Tahoma" panose="020B0604030504040204" pitchFamily="34" charset="0"/>
                <a:ea typeface="Calibri" panose="020F0502020204030204" pitchFamily="34" charset="0"/>
              </a:rPr>
              <a:t>       top of the pole as 35</a:t>
            </a:r>
            <a:r>
              <a:rPr lang="en-US" sz="1150" baseline="30000" dirty="0">
                <a:latin typeface="Tahoma" panose="020B0604030504040204" pitchFamily="34" charset="0"/>
                <a:ea typeface="Calibri" panose="020F0502020204030204" pitchFamily="34" charset="0"/>
              </a:rPr>
              <a:t>º</a:t>
            </a:r>
            <a:r>
              <a:rPr lang="en-US" sz="1150" dirty="0">
                <a:latin typeface="Tahoma" panose="020B0604030504040204" pitchFamily="34" charset="0"/>
                <a:ea typeface="Calibri" panose="020F0502020204030204" pitchFamily="34" charset="0"/>
              </a:rPr>
              <a:t>.  Vera is 36 feet closer to the base of the flagpole on a straight level </a:t>
            </a:r>
            <a:br>
              <a:rPr lang="en-US" sz="1150" dirty="0">
                <a:latin typeface="Tahoma" panose="020B0604030504040204" pitchFamily="34" charset="0"/>
                <a:ea typeface="Calibri" panose="020F0502020204030204" pitchFamily="34" charset="0"/>
              </a:rPr>
            </a:br>
            <a:r>
              <a:rPr lang="en-US" sz="1150" dirty="0">
                <a:latin typeface="Tahoma" panose="020B0604030504040204" pitchFamily="34" charset="0"/>
                <a:ea typeface="Calibri" panose="020F0502020204030204" pitchFamily="34" charset="0"/>
              </a:rPr>
              <a:t>       path. Find the angle of elevation from the point Vera is standing to the top of the flagpole to the </a:t>
            </a:r>
            <a:br>
              <a:rPr lang="en-US" sz="1150" dirty="0">
                <a:latin typeface="Tahoma" panose="020B0604030504040204" pitchFamily="34" charset="0"/>
                <a:ea typeface="Calibri" panose="020F0502020204030204" pitchFamily="34" charset="0"/>
              </a:rPr>
            </a:br>
            <a:r>
              <a:rPr lang="en-US" sz="1150" dirty="0">
                <a:latin typeface="Tahoma" panose="020B0604030504040204" pitchFamily="34" charset="0"/>
                <a:ea typeface="Calibri" panose="020F0502020204030204" pitchFamily="34" charset="0"/>
              </a:rPr>
              <a:t>       nearest tenth of a degree.</a:t>
            </a:r>
            <a:endParaRPr lang="en-US" dirty="0"/>
          </a:p>
        </p:txBody>
      </p:sp>
      <p:sp>
        <p:nvSpPr>
          <p:cNvPr id="17" name="Text Box 482">
            <a:extLst>
              <a:ext uri="{FF2B5EF4-FFF2-40B4-BE49-F238E27FC236}">
                <a16:creationId xmlns:a16="http://schemas.microsoft.com/office/drawing/2014/main" id="{500557D4-BB60-453B-8CE5-9CB522071D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1265" y="9233105"/>
            <a:ext cx="931545" cy="358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18" name="Text Box 482">
            <a:extLst>
              <a:ext uri="{FF2B5EF4-FFF2-40B4-BE49-F238E27FC236}">
                <a16:creationId xmlns:a16="http://schemas.microsoft.com/office/drawing/2014/main" id="{9B19E00C-77E1-4A84-BD12-0998D5A31A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8015" y="6912380"/>
            <a:ext cx="931545" cy="358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19" name="Text Box 482">
            <a:extLst>
              <a:ext uri="{FF2B5EF4-FFF2-40B4-BE49-F238E27FC236}">
                <a16:creationId xmlns:a16="http://schemas.microsoft.com/office/drawing/2014/main" id="{E44D1628-B97A-4933-BF7F-3E8540B7EE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39590" y="4603230"/>
            <a:ext cx="931545" cy="358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20" name="Text Box 482">
            <a:extLst>
              <a:ext uri="{FF2B5EF4-FFF2-40B4-BE49-F238E27FC236}">
                <a16:creationId xmlns:a16="http://schemas.microsoft.com/office/drawing/2014/main" id="{FC62BFA2-A22F-4B80-B7F2-7151DD74E2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8015" y="2294080"/>
            <a:ext cx="931545" cy="358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5479D1B-5648-4294-B5B2-21C334E9058B}"/>
              </a:ext>
            </a:extLst>
          </p:cNvPr>
          <p:cNvSpPr/>
          <p:nvPr/>
        </p:nvSpPr>
        <p:spPr>
          <a:xfrm>
            <a:off x="425890" y="2693405"/>
            <a:ext cx="6934200" cy="800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50" b="1" dirty="0">
                <a:latin typeface="Tahoma" panose="020B0604030504040204" pitchFamily="34" charset="0"/>
                <a:ea typeface="Calibri" panose="020F0502020204030204" pitchFamily="34" charset="0"/>
              </a:rPr>
              <a:t>40.  </a:t>
            </a:r>
            <a:r>
              <a:rPr lang="en-US" sz="1150" dirty="0">
                <a:latin typeface="Tahoma" panose="020B0604030504040204" pitchFamily="34" charset="0"/>
                <a:ea typeface="Calibri" panose="020F0502020204030204" pitchFamily="34" charset="0"/>
              </a:rPr>
              <a:t>A course in the shape of a triangle consists of a running path, biking path, and skateboarding</a:t>
            </a:r>
            <a:br>
              <a:rPr lang="en-US" sz="1150" dirty="0">
                <a:latin typeface="Tahoma" panose="020B0604030504040204" pitchFamily="34" charset="0"/>
                <a:ea typeface="Calibri" panose="020F0502020204030204" pitchFamily="34" charset="0"/>
              </a:rPr>
            </a:br>
            <a:r>
              <a:rPr lang="en-US" sz="1150" dirty="0">
                <a:latin typeface="Tahoma" panose="020B0604030504040204" pitchFamily="34" charset="0"/>
                <a:ea typeface="Calibri" panose="020F0502020204030204" pitchFamily="34" charset="0"/>
              </a:rPr>
              <a:t>       path.  The biking path is 51 meters long and the skateboarding path is 64 meters long.  If the</a:t>
            </a:r>
            <a:br>
              <a:rPr lang="en-US" sz="1150" dirty="0">
                <a:latin typeface="Tahoma" panose="020B0604030504040204" pitchFamily="34" charset="0"/>
                <a:ea typeface="Calibri" panose="020F0502020204030204" pitchFamily="34" charset="0"/>
              </a:rPr>
            </a:br>
            <a:r>
              <a:rPr lang="en-US" sz="1150" dirty="0">
                <a:latin typeface="Tahoma" panose="020B0604030504040204" pitchFamily="34" charset="0"/>
                <a:ea typeface="Calibri" panose="020F0502020204030204" pitchFamily="34" charset="0"/>
              </a:rPr>
              <a:t>       angle between the running and biking paths is 78</a:t>
            </a:r>
            <a:r>
              <a:rPr lang="en-US" sz="1150" baseline="30000" dirty="0">
                <a:latin typeface="MT Symbol"/>
                <a:ea typeface="Calibri" panose="020F0502020204030204" pitchFamily="34" charset="0"/>
                <a:cs typeface="Tahoma" panose="020B0604030504040204" pitchFamily="34" charset="0"/>
                <a:sym typeface="MT Symbol"/>
              </a:rPr>
              <a:t></a:t>
            </a:r>
            <a:r>
              <a:rPr lang="en-US" sz="1150" dirty="0">
                <a:latin typeface="Tahoma" panose="020B0604030504040204" pitchFamily="34" charset="0"/>
                <a:ea typeface="Calibri" panose="020F0502020204030204" pitchFamily="34" charset="0"/>
              </a:rPr>
              <a:t>, find the angle between the running and</a:t>
            </a:r>
            <a:br>
              <a:rPr lang="en-US" sz="1150" dirty="0">
                <a:latin typeface="Tahoma" panose="020B0604030504040204" pitchFamily="34" charset="0"/>
                <a:ea typeface="Calibri" panose="020F0502020204030204" pitchFamily="34" charset="0"/>
              </a:rPr>
            </a:br>
            <a:r>
              <a:rPr lang="en-US" sz="1150" dirty="0">
                <a:latin typeface="Tahoma" panose="020B0604030504040204" pitchFamily="34" charset="0"/>
                <a:ea typeface="Calibri" panose="020F0502020204030204" pitchFamily="34" charset="0"/>
              </a:rPr>
              <a:t>       skateboarding paths to the nearest tenth of a degree.</a:t>
            </a:r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D2BFAB4-8827-4FBE-98A2-FAD7DD040830}"/>
              </a:ext>
            </a:extLst>
          </p:cNvPr>
          <p:cNvSpPr/>
          <p:nvPr/>
        </p:nvSpPr>
        <p:spPr>
          <a:xfrm>
            <a:off x="419140" y="5002555"/>
            <a:ext cx="6858000" cy="6232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50" b="1" dirty="0">
                <a:latin typeface="Tahoma" panose="020B0604030504040204" pitchFamily="34" charset="0"/>
                <a:ea typeface="Calibri" panose="020F0502020204030204" pitchFamily="34" charset="0"/>
              </a:rPr>
              <a:t>41. </a:t>
            </a:r>
            <a:r>
              <a:rPr lang="en-US" sz="1150" dirty="0">
                <a:latin typeface="Tahoma" panose="020B0604030504040204" pitchFamily="34" charset="0"/>
                <a:ea typeface="Calibri" panose="020F0502020204030204" pitchFamily="34" charset="0"/>
              </a:rPr>
              <a:t> The distances from a boat to two buoys are 75 meters and 52 meters.  If the angle between the </a:t>
            </a:r>
            <a:br>
              <a:rPr lang="en-US" sz="1150" dirty="0">
                <a:latin typeface="Tahoma" panose="020B0604030504040204" pitchFamily="34" charset="0"/>
                <a:ea typeface="Calibri" panose="020F0502020204030204" pitchFamily="34" charset="0"/>
              </a:rPr>
            </a:br>
            <a:r>
              <a:rPr lang="en-US" sz="1150" dirty="0">
                <a:latin typeface="Tahoma" panose="020B0604030504040204" pitchFamily="34" charset="0"/>
                <a:ea typeface="Calibri" panose="020F0502020204030204" pitchFamily="34" charset="0"/>
              </a:rPr>
              <a:t>       two lines of sight is 67</a:t>
            </a:r>
            <a:r>
              <a:rPr lang="en-US" sz="1150" baseline="30000" dirty="0">
                <a:latin typeface="MT Symbol"/>
                <a:ea typeface="Calibri" panose="020F0502020204030204" pitchFamily="34" charset="0"/>
                <a:cs typeface="Tahoma" panose="020B0604030504040204" pitchFamily="34" charset="0"/>
                <a:sym typeface="MT Symbol"/>
              </a:rPr>
              <a:t></a:t>
            </a:r>
            <a:r>
              <a:rPr lang="en-US" sz="1150" dirty="0">
                <a:latin typeface="Tahoma" panose="020B0604030504040204" pitchFamily="34" charset="0"/>
                <a:ea typeface="Calibri" panose="020F0502020204030204" pitchFamily="34" charset="0"/>
              </a:rPr>
              <a:t>, find the distance between the buoys.  Round to the nearest tenth of a </a:t>
            </a:r>
            <a:br>
              <a:rPr lang="en-US" sz="1150" dirty="0">
                <a:latin typeface="Tahoma" panose="020B0604030504040204" pitchFamily="34" charset="0"/>
                <a:ea typeface="Calibri" panose="020F0502020204030204" pitchFamily="34" charset="0"/>
              </a:rPr>
            </a:br>
            <a:r>
              <a:rPr lang="en-US" sz="1150" dirty="0">
                <a:latin typeface="Tahoma" panose="020B0604030504040204" pitchFamily="34" charset="0"/>
                <a:ea typeface="Calibri" panose="020F0502020204030204" pitchFamily="34" charset="0"/>
              </a:rPr>
              <a:t>       meter.</a:t>
            </a:r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943878C-CF03-4091-AA39-E3DC8455F245}"/>
              </a:ext>
            </a:extLst>
          </p:cNvPr>
          <p:cNvSpPr/>
          <p:nvPr/>
        </p:nvSpPr>
        <p:spPr>
          <a:xfrm>
            <a:off x="419140" y="7300130"/>
            <a:ext cx="6705600" cy="4462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50" b="1" dirty="0">
                <a:latin typeface="Tahoma" panose="020B0604030504040204" pitchFamily="34" charset="0"/>
                <a:ea typeface="Calibri" panose="020F0502020204030204" pitchFamily="34" charset="0"/>
              </a:rPr>
              <a:t>42.  </a:t>
            </a:r>
            <a:r>
              <a:rPr lang="en-US" sz="1150" dirty="0">
                <a:latin typeface="Tahoma" panose="020B0604030504040204" pitchFamily="34" charset="0"/>
                <a:ea typeface="Calibri" panose="020F0502020204030204" pitchFamily="34" charset="0"/>
              </a:rPr>
              <a:t>A triangular sail on a boat has side lengths that measure 15 feet, 36 feet, and 38 feet.  Find the </a:t>
            </a:r>
            <a:br>
              <a:rPr lang="en-US" sz="1150" dirty="0">
                <a:latin typeface="Tahoma" panose="020B0604030504040204" pitchFamily="34" charset="0"/>
                <a:ea typeface="Calibri" panose="020F0502020204030204" pitchFamily="34" charset="0"/>
              </a:rPr>
            </a:br>
            <a:r>
              <a:rPr lang="en-US" sz="1150" dirty="0">
                <a:latin typeface="Tahoma" panose="020B0604030504040204" pitchFamily="34" charset="0"/>
                <a:ea typeface="Calibri" panose="020F0502020204030204" pitchFamily="34" charset="0"/>
              </a:rPr>
              <a:t>       area of the sail to the nearest tenth of a foot.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122</TotalTime>
  <Words>679</Words>
  <Application>Microsoft Office PowerPoint</Application>
  <PresentationFormat>Custom</PresentationFormat>
  <Paragraphs>151</Paragraphs>
  <Slides>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Calibri</vt:lpstr>
      <vt:lpstr>MT Symbol</vt:lpstr>
      <vt:lpstr>Symbol</vt:lpstr>
      <vt:lpstr>Tahoma</vt:lpstr>
      <vt:lpstr>Times New Roman</vt:lpstr>
      <vt:lpstr>Office Theme</vt:lpstr>
      <vt:lpstr>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Word - 20 - Unit 12 Test (Part I)</dc:title>
  <dc:creator>allth</dc:creator>
  <cp:lastModifiedBy>Gina Wilson</cp:lastModifiedBy>
  <cp:revision>62</cp:revision>
  <dcterms:created xsi:type="dcterms:W3CDTF">2017-12-20T11:57:35Z</dcterms:created>
  <dcterms:modified xsi:type="dcterms:W3CDTF">2018-02-02T01:15:34Z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2016-03-09T00:00:00Z</vt:filetime>
  </property>
  <property fmtid="{D5CDD505-2E9C-101B-9397-08002B2CF9AE}" pid="3" name="Creator">
    <vt:lpwstr>PrimoPDF http://www.primopdf.com</vt:lpwstr>
  </property>
  <property fmtid="{D5CDD505-2E9C-101B-9397-08002B2CF9AE}" pid="4" name="LastSaved">
    <vt:filetime>2017-12-20T00:00:00Z</vt:filetime>
  </property>
</Properties>
</file>