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1092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14.wmf"/><Relationship Id="rId16" Type="http://schemas.openxmlformats.org/officeDocument/2006/relationships/image" Target="../media/image28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5" Type="http://schemas.openxmlformats.org/officeDocument/2006/relationships/image" Target="../media/image2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Relationship Id="rId14" Type="http://schemas.openxmlformats.org/officeDocument/2006/relationships/image" Target="../media/image26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22915" y="9800950"/>
            <a:ext cx="1596390" cy="121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15"/>
              </a:lnSpc>
            </a:pPr>
            <a:r>
              <a:rPr dirty="0"/>
              <a:t>© </a:t>
            </a:r>
            <a:r>
              <a:rPr spc="-5" dirty="0"/>
              <a:t>Gina Wilson (All Things Algebra),</a:t>
            </a:r>
            <a:r>
              <a:rPr spc="-20" dirty="0"/>
              <a:t> </a:t>
            </a:r>
            <a:r>
              <a:rPr spc="-5" dirty="0"/>
              <a:t>2016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1.PNG"/><Relationship Id="rId21" Type="http://schemas.openxmlformats.org/officeDocument/2006/relationships/image" Target="../media/image12.e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oleObject" Target="../embeddings/oleObject15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9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0.wmf"/><Relationship Id="rId30" Type="http://schemas.openxmlformats.org/officeDocument/2006/relationships/oleObject" Target="../embeddings/oleObject16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4.bin"/><Relationship Id="rId26" Type="http://schemas.openxmlformats.org/officeDocument/2006/relationships/oleObject" Target="../embeddings/oleObject28.bin"/><Relationship Id="rId3" Type="http://schemas.openxmlformats.org/officeDocument/2006/relationships/image" Target="../media/image29.PNG"/><Relationship Id="rId21" Type="http://schemas.openxmlformats.org/officeDocument/2006/relationships/image" Target="../media/image21.wmf"/><Relationship Id="rId34" Type="http://schemas.openxmlformats.org/officeDocument/2006/relationships/image" Target="../media/image27.w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21.bin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33" Type="http://schemas.openxmlformats.org/officeDocument/2006/relationships/oleObject" Target="../embeddings/oleObject32.bin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3.bin"/><Relationship Id="rId20" Type="http://schemas.openxmlformats.org/officeDocument/2006/relationships/oleObject" Target="../embeddings/oleObject25.bin"/><Relationship Id="rId29" Type="http://schemas.openxmlformats.org/officeDocument/2006/relationships/image" Target="../media/image25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16.wmf"/><Relationship Id="rId24" Type="http://schemas.openxmlformats.org/officeDocument/2006/relationships/oleObject" Target="../embeddings/oleObject27.bin"/><Relationship Id="rId32" Type="http://schemas.openxmlformats.org/officeDocument/2006/relationships/image" Target="../media/image26.wmf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wmf"/><Relationship Id="rId28" Type="http://schemas.openxmlformats.org/officeDocument/2006/relationships/oleObject" Target="../embeddings/oleObject29.bin"/><Relationship Id="rId36" Type="http://schemas.openxmlformats.org/officeDocument/2006/relationships/image" Target="../media/image28.wmf"/><Relationship Id="rId10" Type="http://schemas.openxmlformats.org/officeDocument/2006/relationships/oleObject" Target="../embeddings/oleObject20.bin"/><Relationship Id="rId19" Type="http://schemas.openxmlformats.org/officeDocument/2006/relationships/image" Target="../media/image20.wmf"/><Relationship Id="rId31" Type="http://schemas.openxmlformats.org/officeDocument/2006/relationships/oleObject" Target="../embeddings/oleObject31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22.bin"/><Relationship Id="rId22" Type="http://schemas.openxmlformats.org/officeDocument/2006/relationships/oleObject" Target="../embeddings/oleObject26.bin"/><Relationship Id="rId27" Type="http://schemas.openxmlformats.org/officeDocument/2006/relationships/image" Target="../media/image24.wmf"/><Relationship Id="rId30" Type="http://schemas.openxmlformats.org/officeDocument/2006/relationships/oleObject" Target="../embeddings/oleObject30.bin"/><Relationship Id="rId35" Type="http://schemas.openxmlformats.org/officeDocument/2006/relationships/oleObject" Target="../embeddings/oleObject3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bject 26">
            <a:extLst>
              <a:ext uri="{FF2B5EF4-FFF2-40B4-BE49-F238E27FC236}">
                <a16:creationId xmlns:a16="http://schemas.microsoft.com/office/drawing/2014/main" id="{1C800A74-4D96-4D6E-BA91-A515916710F8}"/>
              </a:ext>
            </a:extLst>
          </p:cNvPr>
          <p:cNvSpPr txBox="1"/>
          <p:nvPr/>
        </p:nvSpPr>
        <p:spPr>
          <a:xfrm>
            <a:off x="6165590" y="5156200"/>
            <a:ext cx="113411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20775" algn="l"/>
              </a:tabLst>
            </a:pPr>
            <a:r>
              <a:rPr sz="1100" b="1" dirty="0">
                <a:latin typeface="Tahoma"/>
                <a:cs typeface="Tahoma"/>
              </a:rPr>
              <a:t>3.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3" name="object 27">
            <a:extLst>
              <a:ext uri="{FF2B5EF4-FFF2-40B4-BE49-F238E27FC236}">
                <a16:creationId xmlns:a16="http://schemas.microsoft.com/office/drawing/2014/main" id="{CF390052-AB72-4252-9AE3-7CAEBC7DCB02}"/>
              </a:ext>
            </a:extLst>
          </p:cNvPr>
          <p:cNvSpPr txBox="1"/>
          <p:nvPr/>
        </p:nvSpPr>
        <p:spPr>
          <a:xfrm>
            <a:off x="6180839" y="5578347"/>
            <a:ext cx="113220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8870" algn="l"/>
              </a:tabLst>
            </a:pPr>
            <a:r>
              <a:rPr sz="1100" b="1" dirty="0">
                <a:latin typeface="Tahoma"/>
                <a:cs typeface="Tahoma"/>
              </a:rPr>
              <a:t>4.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4" name="object 29">
            <a:extLst>
              <a:ext uri="{FF2B5EF4-FFF2-40B4-BE49-F238E27FC236}">
                <a16:creationId xmlns:a16="http://schemas.microsoft.com/office/drawing/2014/main" id="{0F869AFB-503E-40D0-9C78-B0EBBD355FD1}"/>
              </a:ext>
            </a:extLst>
          </p:cNvPr>
          <p:cNvSpPr txBox="1"/>
          <p:nvPr/>
        </p:nvSpPr>
        <p:spPr>
          <a:xfrm>
            <a:off x="6171687" y="6919467"/>
            <a:ext cx="113411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20775" algn="l"/>
              </a:tabLst>
            </a:pPr>
            <a:r>
              <a:rPr sz="1100" b="1" dirty="0">
                <a:latin typeface="Tahoma"/>
                <a:cs typeface="Tahoma"/>
              </a:rPr>
              <a:t>5.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5" name="object 30">
            <a:extLst>
              <a:ext uri="{FF2B5EF4-FFF2-40B4-BE49-F238E27FC236}">
                <a16:creationId xmlns:a16="http://schemas.microsoft.com/office/drawing/2014/main" id="{65993AF6-1724-4E1A-A11D-52E36122048A}"/>
              </a:ext>
            </a:extLst>
          </p:cNvPr>
          <p:cNvSpPr txBox="1"/>
          <p:nvPr/>
        </p:nvSpPr>
        <p:spPr>
          <a:xfrm>
            <a:off x="6180839" y="7353807"/>
            <a:ext cx="113220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8870" algn="l"/>
              </a:tabLst>
            </a:pPr>
            <a:r>
              <a:rPr sz="1100" b="1" dirty="0">
                <a:latin typeface="Tahoma"/>
                <a:cs typeface="Tahoma"/>
              </a:rPr>
              <a:t>6.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6" name="object 31">
            <a:extLst>
              <a:ext uri="{FF2B5EF4-FFF2-40B4-BE49-F238E27FC236}">
                <a16:creationId xmlns:a16="http://schemas.microsoft.com/office/drawing/2014/main" id="{D30D4B73-6F05-45EB-B69A-F4882871142A}"/>
              </a:ext>
            </a:extLst>
          </p:cNvPr>
          <p:cNvSpPr txBox="1"/>
          <p:nvPr/>
        </p:nvSpPr>
        <p:spPr>
          <a:xfrm>
            <a:off x="604519" y="8374903"/>
            <a:ext cx="5123815" cy="690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 marR="5080" indent="-220345">
              <a:lnSpc>
                <a:spcPct val="100899"/>
              </a:lnSpc>
            </a:pPr>
            <a:r>
              <a:rPr sz="1100" b="1" dirty="0">
                <a:latin typeface="Tahoma"/>
                <a:cs typeface="Tahoma"/>
              </a:rPr>
              <a:t>7. </a:t>
            </a:r>
            <a:r>
              <a:rPr sz="1100" spc="-5" dirty="0">
                <a:latin typeface="Tahoma"/>
                <a:cs typeface="Tahoma"/>
              </a:rPr>
              <a:t>Beth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flying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" dirty="0">
                <a:latin typeface="Tahoma"/>
                <a:cs typeface="Tahoma"/>
              </a:rPr>
              <a:t>kite with 300 feet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string. The </a:t>
            </a:r>
            <a:r>
              <a:rPr sz="1100" dirty="0">
                <a:latin typeface="Tahoma"/>
                <a:cs typeface="Tahoma"/>
              </a:rPr>
              <a:t>kite </a:t>
            </a:r>
            <a:r>
              <a:rPr sz="1100" spc="-5" dirty="0">
                <a:latin typeface="Tahoma"/>
                <a:cs typeface="Tahoma"/>
              </a:rPr>
              <a:t>gets stuck </a:t>
            </a:r>
            <a:r>
              <a:rPr sz="1100" dirty="0">
                <a:latin typeface="Tahoma"/>
                <a:cs typeface="Tahoma"/>
              </a:rPr>
              <a:t>in a </a:t>
            </a:r>
            <a:r>
              <a:rPr sz="1100" spc="-10" dirty="0">
                <a:latin typeface="Tahoma"/>
                <a:cs typeface="Tahoma"/>
              </a:rPr>
              <a:t>tree, </a:t>
            </a:r>
            <a:r>
              <a:rPr sz="1100" dirty="0">
                <a:latin typeface="Tahoma"/>
                <a:cs typeface="Tahoma"/>
              </a:rPr>
              <a:t>so </a:t>
            </a:r>
            <a:r>
              <a:rPr sz="1100" spc="-5" dirty="0">
                <a:latin typeface="Tahoma"/>
                <a:cs typeface="Tahoma"/>
              </a:rPr>
              <a:t>she  ties the other end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the string </a:t>
            </a:r>
            <a:r>
              <a:rPr sz="1100" dirty="0">
                <a:latin typeface="Tahoma"/>
                <a:cs typeface="Tahoma"/>
              </a:rPr>
              <a:t>to a </a:t>
            </a:r>
            <a:r>
              <a:rPr sz="1100" spc="-5" dirty="0">
                <a:latin typeface="Tahoma"/>
                <a:cs typeface="Tahoma"/>
              </a:rPr>
              <a:t>rock </a:t>
            </a:r>
            <a:r>
              <a:rPr sz="1100" dirty="0">
                <a:latin typeface="Tahoma"/>
                <a:cs typeface="Tahoma"/>
              </a:rPr>
              <a:t>on </a:t>
            </a:r>
            <a:r>
              <a:rPr sz="1100" spc="-5" dirty="0">
                <a:latin typeface="Tahoma"/>
                <a:cs typeface="Tahoma"/>
              </a:rPr>
              <a:t>the ground making the </a:t>
            </a:r>
            <a:r>
              <a:rPr sz="1100" spc="-10" dirty="0">
                <a:latin typeface="Tahoma"/>
                <a:cs typeface="Tahoma"/>
              </a:rPr>
              <a:t>string </a:t>
            </a:r>
            <a:r>
              <a:rPr sz="1100" spc="-5" dirty="0">
                <a:latin typeface="Tahoma"/>
                <a:cs typeface="Tahoma"/>
              </a:rPr>
              <a:t>taut.  </a:t>
            </a:r>
            <a:r>
              <a:rPr sz="1100" dirty="0">
                <a:latin typeface="Tahoma"/>
                <a:cs typeface="Tahoma"/>
              </a:rPr>
              <a:t>The </a:t>
            </a:r>
            <a:r>
              <a:rPr sz="1100" spc="-5" dirty="0">
                <a:latin typeface="Tahoma"/>
                <a:cs typeface="Tahoma"/>
              </a:rPr>
              <a:t>angle </a:t>
            </a:r>
            <a:r>
              <a:rPr sz="1100" dirty="0">
                <a:latin typeface="Tahoma"/>
                <a:cs typeface="Tahoma"/>
              </a:rPr>
              <a:t>of </a:t>
            </a:r>
            <a:r>
              <a:rPr sz="1100" spc="-5" dirty="0">
                <a:latin typeface="Tahoma"/>
                <a:cs typeface="Tahoma"/>
              </a:rPr>
              <a:t>elevation from the rock </a:t>
            </a:r>
            <a:r>
              <a:rPr sz="1100" dirty="0">
                <a:latin typeface="Tahoma"/>
                <a:cs typeface="Tahoma"/>
              </a:rPr>
              <a:t>to kite </a:t>
            </a:r>
            <a:r>
              <a:rPr sz="1100" spc="-5" dirty="0">
                <a:latin typeface="Tahoma"/>
                <a:cs typeface="Tahoma"/>
              </a:rPr>
              <a:t>is 35</a:t>
            </a:r>
            <a:r>
              <a:rPr sz="1050" spc="-7" baseline="31746" dirty="0">
                <a:latin typeface="Symbol"/>
                <a:cs typeface="Symbol"/>
              </a:rPr>
              <a:t></a:t>
            </a:r>
            <a:r>
              <a:rPr sz="1100" spc="-5" dirty="0">
                <a:latin typeface="Tahoma"/>
                <a:cs typeface="Tahoma"/>
              </a:rPr>
              <a:t>. How far up the tree </a:t>
            </a:r>
            <a:r>
              <a:rPr sz="1100" dirty="0">
                <a:latin typeface="Tahoma"/>
                <a:cs typeface="Tahoma"/>
              </a:rPr>
              <a:t>is </a:t>
            </a:r>
            <a:r>
              <a:rPr sz="1100" spc="-5" dirty="0">
                <a:latin typeface="Tahoma"/>
                <a:cs typeface="Tahoma"/>
              </a:rPr>
              <a:t>the  kite? Round your answer </a:t>
            </a:r>
            <a:r>
              <a:rPr sz="1100" dirty="0">
                <a:latin typeface="Tahoma"/>
                <a:cs typeface="Tahoma"/>
              </a:rPr>
              <a:t>to </a:t>
            </a:r>
            <a:r>
              <a:rPr sz="1100" spc="-5" dirty="0">
                <a:latin typeface="Tahoma"/>
                <a:cs typeface="Tahoma"/>
              </a:rPr>
              <a:t>the nearest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tenth.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7" name="object 32">
            <a:extLst>
              <a:ext uri="{FF2B5EF4-FFF2-40B4-BE49-F238E27FC236}">
                <a16:creationId xmlns:a16="http://schemas.microsoft.com/office/drawing/2014/main" id="{644CF62D-740C-4920-937D-3DA29F6BCEC6}"/>
              </a:ext>
            </a:extLst>
          </p:cNvPr>
          <p:cNvSpPr txBox="1"/>
          <p:nvPr/>
        </p:nvSpPr>
        <p:spPr>
          <a:xfrm>
            <a:off x="6157972" y="8376411"/>
            <a:ext cx="113220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8870" algn="l"/>
              </a:tabLst>
            </a:pPr>
            <a:r>
              <a:rPr sz="1100" b="1" dirty="0">
                <a:latin typeface="Tahoma"/>
                <a:cs typeface="Tahoma"/>
              </a:rPr>
              <a:t>7.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8" name="object 50">
            <a:extLst>
              <a:ext uri="{FF2B5EF4-FFF2-40B4-BE49-F238E27FC236}">
                <a16:creationId xmlns:a16="http://schemas.microsoft.com/office/drawing/2014/main" id="{2E9920BE-F7A3-4142-9AFD-471294BA1F0C}"/>
              </a:ext>
            </a:extLst>
          </p:cNvPr>
          <p:cNvSpPr/>
          <p:nvPr/>
        </p:nvSpPr>
        <p:spPr>
          <a:xfrm>
            <a:off x="1561337" y="7300721"/>
            <a:ext cx="181610" cy="151130"/>
          </a:xfrm>
          <a:custGeom>
            <a:avLst/>
            <a:gdLst/>
            <a:ahLst/>
            <a:cxnLst/>
            <a:rect l="l" t="t" r="r" b="b"/>
            <a:pathLst>
              <a:path w="181610" h="151129">
                <a:moveTo>
                  <a:pt x="0" y="150875"/>
                </a:moveTo>
                <a:lnTo>
                  <a:pt x="181355" y="150875"/>
                </a:lnTo>
                <a:lnTo>
                  <a:pt x="181355" y="0"/>
                </a:lnTo>
                <a:lnTo>
                  <a:pt x="0" y="0"/>
                </a:lnTo>
                <a:lnTo>
                  <a:pt x="0" y="1508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E0740DD-1FB4-49E4-874C-3E9EF8A1A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86200"/>
              </p:ext>
            </p:extLst>
          </p:nvPr>
        </p:nvGraphicFramePr>
        <p:xfrm>
          <a:off x="4876800" y="3505200"/>
          <a:ext cx="2743200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 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11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Rectangle 79">
            <a:extLst>
              <a:ext uri="{FF2B5EF4-FFF2-40B4-BE49-F238E27FC236}">
                <a16:creationId xmlns:a16="http://schemas.microsoft.com/office/drawing/2014/main" id="{436A884D-790E-4EF3-A03B-CAAB54B6C502}"/>
              </a:ext>
            </a:extLst>
          </p:cNvPr>
          <p:cNvSpPr/>
          <p:nvPr/>
        </p:nvSpPr>
        <p:spPr>
          <a:xfrm>
            <a:off x="524691" y="4835436"/>
            <a:ext cx="59817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Find the missing side lengths.  Round all answers to the nearest tenth.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BD2112E-446C-43EF-A0E8-B02A2AA3951A}"/>
              </a:ext>
            </a:extLst>
          </p:cNvPr>
          <p:cNvSpPr/>
          <p:nvPr/>
        </p:nvSpPr>
        <p:spPr>
          <a:xfrm>
            <a:off x="524691" y="3513909"/>
            <a:ext cx="41072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If                  ,find the remaining trigonometric functions. </a:t>
            </a:r>
            <a:endParaRPr lang="en-US" dirty="0"/>
          </a:p>
        </p:txBody>
      </p:sp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A5EB2566-F804-4FDD-B48D-33CA23C424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744540"/>
              </p:ext>
            </p:extLst>
          </p:nvPr>
        </p:nvGraphicFramePr>
        <p:xfrm>
          <a:off x="4911636" y="3648891"/>
          <a:ext cx="347663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" name="Equation" r:id="rId4" imgW="330120" imgH="177480" progId="Equation.DSMT4">
                  <p:embed/>
                </p:oleObj>
              </mc:Choice>
              <mc:Fallback>
                <p:oleObj name="Equation" r:id="rId4" imgW="330120" imgH="177480" progId="Equation.DSMT4">
                  <p:embed/>
                  <p:pic>
                    <p:nvPicPr>
                      <p:cNvPr id="102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636" y="3648891"/>
                        <a:ext cx="347663" cy="185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Object 82">
            <a:extLst>
              <a:ext uri="{FF2B5EF4-FFF2-40B4-BE49-F238E27FC236}">
                <a16:creationId xmlns:a16="http://schemas.microsoft.com/office/drawing/2014/main" id="{EC3AEE3B-39D6-46A8-9A25-AFD9AA8F76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405333"/>
              </p:ext>
            </p:extLst>
          </p:nvPr>
        </p:nvGraphicFramePr>
        <p:xfrm>
          <a:off x="4902927" y="4114800"/>
          <a:ext cx="3857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3" name="Equation" r:id="rId6" imgW="368280" imgH="164880" progId="Equation.DSMT4">
                  <p:embed/>
                </p:oleObj>
              </mc:Choice>
              <mc:Fallback>
                <p:oleObj name="Equation" r:id="rId6" imgW="368280" imgH="164880" progId="Equation.DSMT4">
                  <p:embed/>
                  <p:pic>
                    <p:nvPicPr>
                      <p:cNvPr id="103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927" y="4114800"/>
                        <a:ext cx="385763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Object 83">
            <a:extLst>
              <a:ext uri="{FF2B5EF4-FFF2-40B4-BE49-F238E27FC236}">
                <a16:creationId xmlns:a16="http://schemas.microsoft.com/office/drawing/2014/main" id="{96D57AC1-3A76-4EBE-86EB-C68392BBB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019795"/>
              </p:ext>
            </p:extLst>
          </p:nvPr>
        </p:nvGraphicFramePr>
        <p:xfrm>
          <a:off x="4902927" y="4554582"/>
          <a:ext cx="414338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" name="Equation" r:id="rId8" imgW="355320" imgH="177480" progId="Equation.DSMT4">
                  <p:embed/>
                </p:oleObj>
              </mc:Choice>
              <mc:Fallback>
                <p:oleObj name="Equation" r:id="rId8" imgW="355320" imgH="177480" progId="Equation.DSMT4">
                  <p:embed/>
                  <p:pic>
                    <p:nvPicPr>
                      <p:cNvPr id="106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927" y="4554582"/>
                        <a:ext cx="414338" cy="179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08F40F26-6DA0-4C67-8D1F-433925A13C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944625"/>
              </p:ext>
            </p:extLst>
          </p:nvPr>
        </p:nvGraphicFramePr>
        <p:xfrm>
          <a:off x="6180909" y="3657600"/>
          <a:ext cx="37465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5" name="Equation" r:id="rId10" imgW="355320" imgH="164880" progId="Equation.DSMT4">
                  <p:embed/>
                </p:oleObj>
              </mc:Choice>
              <mc:Fallback>
                <p:oleObj name="Equation" r:id="rId10" imgW="355320" imgH="164880" progId="Equation.DSMT4">
                  <p:embed/>
                  <p:pic>
                    <p:nvPicPr>
                      <p:cNvPr id="107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909" y="3657600"/>
                        <a:ext cx="374650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A1A7AE93-B0CE-4C03-B518-E9A4E25921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429073"/>
              </p:ext>
            </p:extLst>
          </p:nvPr>
        </p:nvGraphicFramePr>
        <p:xfrm>
          <a:off x="6189618" y="4123509"/>
          <a:ext cx="3857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6" name="Equation" r:id="rId12" imgW="368280" imgH="164880" progId="Equation.DSMT4">
                  <p:embed/>
                </p:oleObj>
              </mc:Choice>
              <mc:Fallback>
                <p:oleObj name="Equation" r:id="rId12" imgW="368280" imgH="164880" progId="Equation.DSMT4">
                  <p:embed/>
                  <p:pic>
                    <p:nvPicPr>
                      <p:cNvPr id="108" name="Objec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9618" y="4123509"/>
                        <a:ext cx="385763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448D99CD-0BB5-49A8-9C45-C2A7835D2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203644"/>
              </p:ext>
            </p:extLst>
          </p:nvPr>
        </p:nvGraphicFramePr>
        <p:xfrm>
          <a:off x="922592" y="3378953"/>
          <a:ext cx="783717" cy="47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" name="Equation" r:id="rId14" imgW="647640" imgH="393480" progId="Equation.DSMT4">
                  <p:embed/>
                </p:oleObj>
              </mc:Choice>
              <mc:Fallback>
                <p:oleObj name="Equation" r:id="rId14" imgW="647640" imgH="39348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22592" y="3378953"/>
                        <a:ext cx="783717" cy="476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Rectangle 94">
            <a:extLst>
              <a:ext uri="{FF2B5EF4-FFF2-40B4-BE49-F238E27FC236}">
                <a16:creationId xmlns:a16="http://schemas.microsoft.com/office/drawing/2014/main" id="{A8C5CC40-BF83-4933-9AC3-BE4822F59CC7}"/>
              </a:ext>
            </a:extLst>
          </p:cNvPr>
          <p:cNvSpPr/>
          <p:nvPr/>
        </p:nvSpPr>
        <p:spPr>
          <a:xfrm>
            <a:off x="524691" y="5122818"/>
            <a:ext cx="31931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3.</a:t>
            </a:r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56C903ED-1B15-4BCC-948C-78161AD3A723}"/>
              </a:ext>
            </a:extLst>
          </p:cNvPr>
          <p:cNvSpPr/>
          <p:nvPr/>
        </p:nvSpPr>
        <p:spPr>
          <a:xfrm>
            <a:off x="3320145" y="5122818"/>
            <a:ext cx="31931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4.</a:t>
            </a:r>
            <a:endParaRPr lang="en-US" dirty="0"/>
          </a:p>
        </p:txBody>
      </p:sp>
      <p:sp>
        <p:nvSpPr>
          <p:cNvPr id="100" name="Right Triangle 99">
            <a:extLst>
              <a:ext uri="{FF2B5EF4-FFF2-40B4-BE49-F238E27FC236}">
                <a16:creationId xmlns:a16="http://schemas.microsoft.com/office/drawing/2014/main" id="{460D0518-0850-4C83-BFAB-BBA184533549}"/>
              </a:ext>
            </a:extLst>
          </p:cNvPr>
          <p:cNvSpPr/>
          <p:nvPr/>
        </p:nvSpPr>
        <p:spPr>
          <a:xfrm>
            <a:off x="1014418" y="5181600"/>
            <a:ext cx="515932" cy="1001114"/>
          </a:xfrm>
          <a:prstGeom prst="rtTriangl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D9797DF-7B51-49EF-9F83-6B4AFC5DEA13}"/>
              </a:ext>
            </a:extLst>
          </p:cNvPr>
          <p:cNvSpPr/>
          <p:nvPr/>
        </p:nvSpPr>
        <p:spPr>
          <a:xfrm>
            <a:off x="1018063" y="6090997"/>
            <a:ext cx="90741" cy="90771"/>
          </a:xfrm>
          <a:prstGeom prst="rect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Text Box 104">
            <a:extLst>
              <a:ext uri="{FF2B5EF4-FFF2-40B4-BE49-F238E27FC236}">
                <a16:creationId xmlns:a16="http://schemas.microsoft.com/office/drawing/2014/main" id="{559BE1D8-0874-47CF-BE2C-5FE8326C514B}"/>
              </a:ext>
            </a:extLst>
          </p:cNvPr>
          <p:cNvSpPr txBox="1"/>
          <p:nvPr/>
        </p:nvSpPr>
        <p:spPr>
          <a:xfrm>
            <a:off x="1130969" y="5195591"/>
            <a:ext cx="204800" cy="164282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</a:t>
            </a:r>
            <a:r>
              <a:rPr kumimoji="0" lang="en-US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1" name="Freeform 115">
            <a:extLst>
              <a:ext uri="{FF2B5EF4-FFF2-40B4-BE49-F238E27FC236}">
                <a16:creationId xmlns:a16="http://schemas.microsoft.com/office/drawing/2014/main" id="{8D506989-4439-4583-83DE-95C4D1A5DC67}"/>
              </a:ext>
            </a:extLst>
          </p:cNvPr>
          <p:cNvSpPr/>
          <p:nvPr/>
        </p:nvSpPr>
        <p:spPr>
          <a:xfrm>
            <a:off x="1042391" y="5326171"/>
            <a:ext cx="124321" cy="124416"/>
          </a:xfrm>
          <a:custGeom>
            <a:avLst/>
            <a:gdLst>
              <a:gd name="connsiteX0" fmla="*/ 124408 w 124408"/>
              <a:gd name="connsiteY0" fmla="*/ 12441 h 124462"/>
              <a:gd name="connsiteX1" fmla="*/ 43543 w 124408"/>
              <a:gd name="connsiteY1" fmla="*/ 124408 h 124462"/>
              <a:gd name="connsiteX2" fmla="*/ 0 w 124408"/>
              <a:gd name="connsiteY2" fmla="*/ 0 h 124462"/>
              <a:gd name="connsiteX3" fmla="*/ 0 w 124408"/>
              <a:gd name="connsiteY3" fmla="*/ 0 h 124462"/>
              <a:gd name="connsiteX4" fmla="*/ 0 w 124408"/>
              <a:gd name="connsiteY4" fmla="*/ 0 h 124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08" h="124462">
                <a:moveTo>
                  <a:pt x="124408" y="12441"/>
                </a:moveTo>
                <a:cubicBezTo>
                  <a:pt x="94343" y="69461"/>
                  <a:pt x="64278" y="126481"/>
                  <a:pt x="43543" y="124408"/>
                </a:cubicBezTo>
                <a:cubicBezTo>
                  <a:pt x="22808" y="122335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9525" cap="flat" cmpd="sng" algn="ctr">
            <a:solidFill>
              <a:sysClr val="windowText" lastClr="000000"/>
            </a:solidFill>
            <a:prstDash val="solid"/>
            <a:tailEnd type="stealth" w="sm" len="sm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Text Box 106">
            <a:extLst>
              <a:ext uri="{FF2B5EF4-FFF2-40B4-BE49-F238E27FC236}">
                <a16:creationId xmlns:a16="http://schemas.microsoft.com/office/drawing/2014/main" id="{39D1EAE6-6040-4559-912E-1767DA6FBAAC}"/>
              </a:ext>
            </a:extLst>
          </p:cNvPr>
          <p:cNvSpPr txBox="1"/>
          <p:nvPr/>
        </p:nvSpPr>
        <p:spPr>
          <a:xfrm>
            <a:off x="838200" y="5691202"/>
            <a:ext cx="220825" cy="18027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7" name="Text Box 107">
            <a:extLst>
              <a:ext uri="{FF2B5EF4-FFF2-40B4-BE49-F238E27FC236}">
                <a16:creationId xmlns:a16="http://schemas.microsoft.com/office/drawing/2014/main" id="{B2D1A8DF-2C58-4F4A-8BC7-9069A5830330}"/>
              </a:ext>
            </a:extLst>
          </p:cNvPr>
          <p:cNvSpPr txBox="1"/>
          <p:nvPr/>
        </p:nvSpPr>
        <p:spPr>
          <a:xfrm>
            <a:off x="1246667" y="6197990"/>
            <a:ext cx="221121" cy="18058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AB08EB6-F514-4246-AFBE-BD92364EF4DA}"/>
              </a:ext>
            </a:extLst>
          </p:cNvPr>
          <p:cNvGrpSpPr/>
          <p:nvPr/>
        </p:nvGrpSpPr>
        <p:grpSpPr>
          <a:xfrm rot="7833718">
            <a:off x="3619371" y="5372888"/>
            <a:ext cx="752451" cy="675993"/>
            <a:chOff x="0" y="0"/>
            <a:chExt cx="752669" cy="676275"/>
          </a:xfrm>
        </p:grpSpPr>
        <p:sp>
          <p:nvSpPr>
            <p:cNvPr id="153" name="Right Triangle 152">
              <a:extLst>
                <a:ext uri="{FF2B5EF4-FFF2-40B4-BE49-F238E27FC236}">
                  <a16:creationId xmlns:a16="http://schemas.microsoft.com/office/drawing/2014/main" id="{BEEB3A87-BA6A-4619-B7AA-2C0C5052933F}"/>
                </a:ext>
              </a:extLst>
            </p:cNvPr>
            <p:cNvSpPr/>
            <p:nvPr/>
          </p:nvSpPr>
          <p:spPr>
            <a:xfrm>
              <a:off x="0" y="0"/>
              <a:ext cx="752669" cy="676275"/>
            </a:xfrm>
            <a:prstGeom prst="rtTriangl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3BA99CF-7617-4893-AF55-701EE9E55561}"/>
                </a:ext>
              </a:extLst>
            </p:cNvPr>
            <p:cNvSpPr/>
            <p:nvPr/>
          </p:nvSpPr>
          <p:spPr>
            <a:xfrm>
              <a:off x="0" y="572278"/>
              <a:ext cx="100330" cy="100330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0" name="Text Box 346">
            <a:extLst>
              <a:ext uri="{FF2B5EF4-FFF2-40B4-BE49-F238E27FC236}">
                <a16:creationId xmlns:a16="http://schemas.microsoft.com/office/drawing/2014/main" id="{884497FE-046A-48D3-B928-B622595E5C14}"/>
              </a:ext>
            </a:extLst>
          </p:cNvPr>
          <p:cNvSpPr txBox="1"/>
          <p:nvPr/>
        </p:nvSpPr>
        <p:spPr>
          <a:xfrm>
            <a:off x="4199816" y="5512822"/>
            <a:ext cx="204859" cy="164295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</a:t>
            </a:r>
            <a:r>
              <a:rPr kumimoji="0" lang="en-US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Text Box 347">
            <a:extLst>
              <a:ext uri="{FF2B5EF4-FFF2-40B4-BE49-F238E27FC236}">
                <a16:creationId xmlns:a16="http://schemas.microsoft.com/office/drawing/2014/main" id="{57C66FD2-016A-494A-8C98-4033AC1CCD09}"/>
              </a:ext>
            </a:extLst>
          </p:cNvPr>
          <p:cNvSpPr txBox="1"/>
          <p:nvPr/>
        </p:nvSpPr>
        <p:spPr>
          <a:xfrm>
            <a:off x="4259375" y="5257800"/>
            <a:ext cx="221184" cy="18060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2" name="Text Box 348">
            <a:extLst>
              <a:ext uri="{FF2B5EF4-FFF2-40B4-BE49-F238E27FC236}">
                <a16:creationId xmlns:a16="http://schemas.microsoft.com/office/drawing/2014/main" id="{778DEAB9-C047-4B0B-A87E-07BA5770CFB5}"/>
              </a:ext>
            </a:extLst>
          </p:cNvPr>
          <p:cNvSpPr txBox="1"/>
          <p:nvPr/>
        </p:nvSpPr>
        <p:spPr>
          <a:xfrm>
            <a:off x="3921018" y="5705187"/>
            <a:ext cx="221184" cy="18060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68B1960-F93F-4535-BD4E-A7752624A57E}"/>
              </a:ext>
            </a:extLst>
          </p:cNvPr>
          <p:cNvSpPr/>
          <p:nvPr/>
        </p:nvSpPr>
        <p:spPr>
          <a:xfrm>
            <a:off x="533400" y="6570618"/>
            <a:ext cx="5562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Find the measure of   .  Round all answers to the nearest tenth.</a:t>
            </a:r>
            <a:endParaRPr lang="en-US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03B568F-D310-4617-9BDD-91128293D21B}"/>
              </a:ext>
            </a:extLst>
          </p:cNvPr>
          <p:cNvSpPr/>
          <p:nvPr/>
        </p:nvSpPr>
        <p:spPr>
          <a:xfrm>
            <a:off x="533400" y="6858000"/>
            <a:ext cx="3706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5.</a:t>
            </a:r>
            <a:r>
              <a:rPr lang="en-US" sz="120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2781D556-B282-4B78-93AF-B33CDA9E7E28}"/>
              </a:ext>
            </a:extLst>
          </p:cNvPr>
          <p:cNvSpPr/>
          <p:nvPr/>
        </p:nvSpPr>
        <p:spPr>
          <a:xfrm>
            <a:off x="3317964" y="6866709"/>
            <a:ext cx="325730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6.</a:t>
            </a:r>
            <a:endParaRPr lang="en-US" dirty="0"/>
          </a:p>
        </p:txBody>
      </p:sp>
      <p:graphicFrame>
        <p:nvGraphicFramePr>
          <p:cNvPr id="158" name="Object 157">
            <a:extLst>
              <a:ext uri="{FF2B5EF4-FFF2-40B4-BE49-F238E27FC236}">
                <a16:creationId xmlns:a16="http://schemas.microsoft.com/office/drawing/2014/main" id="{4093A3B1-BF95-4C5D-BF44-99D790F4D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748327"/>
              </p:ext>
            </p:extLst>
          </p:nvPr>
        </p:nvGraphicFramePr>
        <p:xfrm>
          <a:off x="2033632" y="6612436"/>
          <a:ext cx="139700" cy="181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" name="Equation" r:id="rId16" imgW="126720" imgH="164880" progId="Equation.DSMT4">
                  <p:embed/>
                </p:oleObj>
              </mc:Choice>
              <mc:Fallback>
                <p:oleObj name="Equation" r:id="rId16" imgW="126720" imgH="164880" progId="Equation.DSMT4">
                  <p:embed/>
                  <p:pic>
                    <p:nvPicPr>
                      <p:cNvPr id="129" name="Object 12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033632" y="6612436"/>
                        <a:ext cx="139700" cy="1816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08D2AA5-2AD9-4122-A396-AF4697B3DCC6}"/>
              </a:ext>
            </a:extLst>
          </p:cNvPr>
          <p:cNvGrpSpPr/>
          <p:nvPr/>
        </p:nvGrpSpPr>
        <p:grpSpPr>
          <a:xfrm rot="13918820" flipH="1">
            <a:off x="968614" y="7308348"/>
            <a:ext cx="996315" cy="400418"/>
            <a:chOff x="0" y="0"/>
            <a:chExt cx="1183341" cy="476410"/>
          </a:xfrm>
        </p:grpSpPr>
        <p:sp>
          <p:nvSpPr>
            <p:cNvPr id="163" name="Right Triangle 162">
              <a:extLst>
                <a:ext uri="{FF2B5EF4-FFF2-40B4-BE49-F238E27FC236}">
                  <a16:creationId xmlns:a16="http://schemas.microsoft.com/office/drawing/2014/main" id="{1C21BEBB-C1E9-4141-AE1D-C295EE1D7535}"/>
                </a:ext>
              </a:extLst>
            </p:cNvPr>
            <p:cNvSpPr/>
            <p:nvPr/>
          </p:nvSpPr>
          <p:spPr>
            <a:xfrm>
              <a:off x="0" y="0"/>
              <a:ext cx="1183341" cy="476410"/>
            </a:xfrm>
            <a:prstGeom prst="rtTriangl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A3FAAE97-88EF-4ABE-A56C-14349BAD886C}"/>
                </a:ext>
              </a:extLst>
            </p:cNvPr>
            <p:cNvSpPr/>
            <p:nvPr/>
          </p:nvSpPr>
          <p:spPr>
            <a:xfrm flipH="1">
              <a:off x="0" y="371350"/>
              <a:ext cx="100505" cy="100566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.11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</p:grpSp>
      <p:sp>
        <p:nvSpPr>
          <p:cNvPr id="161" name="Text Box 29">
            <a:extLst>
              <a:ext uri="{FF2B5EF4-FFF2-40B4-BE49-F238E27FC236}">
                <a16:creationId xmlns:a16="http://schemas.microsoft.com/office/drawing/2014/main" id="{A4DC20E3-07E4-4C54-A838-F4F1800C429D}"/>
              </a:ext>
            </a:extLst>
          </p:cNvPr>
          <p:cNvSpPr txBox="1"/>
          <p:nvPr/>
        </p:nvSpPr>
        <p:spPr>
          <a:xfrm>
            <a:off x="1284421" y="7509601"/>
            <a:ext cx="185667" cy="151994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2" name="Text Box 21">
            <a:extLst>
              <a:ext uri="{FF2B5EF4-FFF2-40B4-BE49-F238E27FC236}">
                <a16:creationId xmlns:a16="http://schemas.microsoft.com/office/drawing/2014/main" id="{8B99433E-57EA-472C-B55C-93281853D966}"/>
              </a:ext>
            </a:extLst>
          </p:cNvPr>
          <p:cNvSpPr txBox="1"/>
          <p:nvPr/>
        </p:nvSpPr>
        <p:spPr>
          <a:xfrm>
            <a:off x="1610775" y="7183029"/>
            <a:ext cx="185640" cy="15205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5" name="Object 164">
            <a:extLst>
              <a:ext uri="{FF2B5EF4-FFF2-40B4-BE49-F238E27FC236}">
                <a16:creationId xmlns:a16="http://schemas.microsoft.com/office/drawing/2014/main" id="{212DCCD3-52C1-40D1-A730-DC0FB3C668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69718"/>
              </p:ext>
            </p:extLst>
          </p:nvPr>
        </p:nvGraphicFramePr>
        <p:xfrm>
          <a:off x="1125582" y="7121436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" name="Equation" r:id="rId18" imgW="126720" imgH="164880" progId="Equation.DSMT4">
                  <p:embed/>
                </p:oleObj>
              </mc:Choice>
              <mc:Fallback>
                <p:oleObj name="Equation" r:id="rId18" imgW="126720" imgH="164880" progId="Equation.DSMT4">
                  <p:embed/>
                  <p:pic>
                    <p:nvPicPr>
                      <p:cNvPr id="137" name="Object 13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125582" y="7121436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165">
            <a:extLst>
              <a:ext uri="{FF2B5EF4-FFF2-40B4-BE49-F238E27FC236}">
                <a16:creationId xmlns:a16="http://schemas.microsoft.com/office/drawing/2014/main" id="{3D9C0F7E-752F-4D39-8215-F499A4C8EC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650908"/>
              </p:ext>
            </p:extLst>
          </p:nvPr>
        </p:nvGraphicFramePr>
        <p:xfrm>
          <a:off x="4419600" y="7373982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" name="Equation" r:id="rId20" imgW="126720" imgH="164880" progId="Equation.DSMT4">
                  <p:embed/>
                </p:oleObj>
              </mc:Choice>
              <mc:Fallback>
                <p:oleObj name="Equation" r:id="rId20" imgW="126720" imgH="164880" progId="Equation.DSMT4">
                  <p:embed/>
                  <p:pic>
                    <p:nvPicPr>
                      <p:cNvPr id="138" name="Object 13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419600" y="7373982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8" name="Group 167">
            <a:extLst>
              <a:ext uri="{FF2B5EF4-FFF2-40B4-BE49-F238E27FC236}">
                <a16:creationId xmlns:a16="http://schemas.microsoft.com/office/drawing/2014/main" id="{C177E0E9-83C3-4471-9BAE-97C8F09AAE06}"/>
              </a:ext>
            </a:extLst>
          </p:cNvPr>
          <p:cNvGrpSpPr/>
          <p:nvPr/>
        </p:nvGrpSpPr>
        <p:grpSpPr>
          <a:xfrm rot="10800000">
            <a:off x="3907941" y="7010400"/>
            <a:ext cx="871704" cy="525348"/>
            <a:chOff x="0" y="193813"/>
            <a:chExt cx="791229" cy="477078"/>
          </a:xfrm>
        </p:grpSpPr>
        <p:sp>
          <p:nvSpPr>
            <p:cNvPr id="171" name="Right Triangle 170">
              <a:extLst>
                <a:ext uri="{FF2B5EF4-FFF2-40B4-BE49-F238E27FC236}">
                  <a16:creationId xmlns:a16="http://schemas.microsoft.com/office/drawing/2014/main" id="{24F99E93-F302-46EB-8F02-06DA20CD4B2D}"/>
                </a:ext>
              </a:extLst>
            </p:cNvPr>
            <p:cNvSpPr/>
            <p:nvPr/>
          </p:nvSpPr>
          <p:spPr>
            <a:xfrm rot="10800000">
              <a:off x="0" y="193813"/>
              <a:ext cx="790894" cy="477078"/>
            </a:xfrm>
            <a:prstGeom prst="rtTriangl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03CBC19-A25A-4674-8646-CBA2DA5A60B4}"/>
                </a:ext>
              </a:extLst>
            </p:cNvPr>
            <p:cNvSpPr/>
            <p:nvPr/>
          </p:nvSpPr>
          <p:spPr>
            <a:xfrm>
              <a:off x="699823" y="194454"/>
              <a:ext cx="91406" cy="9144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69" name="Text Box 46">
            <a:extLst>
              <a:ext uri="{FF2B5EF4-FFF2-40B4-BE49-F238E27FC236}">
                <a16:creationId xmlns:a16="http://schemas.microsoft.com/office/drawing/2014/main" id="{D9BDBD22-F17C-41F4-B255-E9444D03C65C}"/>
              </a:ext>
            </a:extLst>
          </p:cNvPr>
          <p:cNvSpPr txBox="1"/>
          <p:nvPr/>
        </p:nvSpPr>
        <p:spPr>
          <a:xfrm>
            <a:off x="3733800" y="7217171"/>
            <a:ext cx="185608" cy="15200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31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0" name="Text Box 47">
            <a:extLst>
              <a:ext uri="{FF2B5EF4-FFF2-40B4-BE49-F238E27FC236}">
                <a16:creationId xmlns:a16="http://schemas.microsoft.com/office/drawing/2014/main" id="{B0B72644-A9F5-4B35-BF30-9A85CEC2C319}"/>
              </a:ext>
            </a:extLst>
          </p:cNvPr>
          <p:cNvSpPr txBox="1"/>
          <p:nvPr/>
        </p:nvSpPr>
        <p:spPr>
          <a:xfrm>
            <a:off x="4267108" y="7570861"/>
            <a:ext cx="185608" cy="152009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42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B0276D7-5DD0-451A-B08E-CBB56D8489C2}"/>
              </a:ext>
            </a:extLst>
          </p:cNvPr>
          <p:cNvSpPr/>
          <p:nvPr/>
        </p:nvSpPr>
        <p:spPr>
          <a:xfrm>
            <a:off x="515982" y="1465218"/>
            <a:ext cx="6248400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1.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Find the values of the six trigonometric functions for angle </a:t>
            </a:r>
            <a:r>
              <a:rPr lang="en-US" sz="125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θ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.  Give answers in simplest form.</a:t>
            </a:r>
            <a:endParaRPr lang="en-US" dirty="0"/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EBBC983-BA83-4037-9A61-96CC221CC5DB}"/>
              </a:ext>
            </a:extLst>
          </p:cNvPr>
          <p:cNvGrpSpPr/>
          <p:nvPr/>
        </p:nvGrpSpPr>
        <p:grpSpPr>
          <a:xfrm rot="7418630">
            <a:off x="1293231" y="2049517"/>
            <a:ext cx="631082" cy="1083945"/>
            <a:chOff x="134913" y="-877"/>
            <a:chExt cx="516294" cy="1002599"/>
          </a:xfrm>
        </p:grpSpPr>
        <p:sp>
          <p:nvSpPr>
            <p:cNvPr id="178" name="Right Triangle 177">
              <a:extLst>
                <a:ext uri="{FF2B5EF4-FFF2-40B4-BE49-F238E27FC236}">
                  <a16:creationId xmlns:a16="http://schemas.microsoft.com/office/drawing/2014/main" id="{B7592173-591E-43B1-B9E3-67C03891B885}"/>
                </a:ext>
              </a:extLst>
            </p:cNvPr>
            <p:cNvSpPr/>
            <p:nvPr/>
          </p:nvSpPr>
          <p:spPr>
            <a:xfrm>
              <a:off x="134913" y="-877"/>
              <a:ext cx="516294" cy="1001486"/>
            </a:xfrm>
            <a:prstGeom prst="rtTriangl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80D461F-68F6-4361-A4A3-DA5711DAE540}"/>
                </a:ext>
              </a:extLst>
            </p:cNvPr>
            <p:cNvSpPr/>
            <p:nvPr/>
          </p:nvSpPr>
          <p:spPr>
            <a:xfrm>
              <a:off x="138073" y="898369"/>
              <a:ext cx="90805" cy="103353"/>
            </a:xfrm>
            <a:prstGeom prst="rect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76" name="Text Box 126">
            <a:extLst>
              <a:ext uri="{FF2B5EF4-FFF2-40B4-BE49-F238E27FC236}">
                <a16:creationId xmlns:a16="http://schemas.microsoft.com/office/drawing/2014/main" id="{77A93EA3-0AE3-4184-BE12-B5A7F7AD743F}"/>
              </a:ext>
            </a:extLst>
          </p:cNvPr>
          <p:cNvSpPr txBox="1"/>
          <p:nvPr/>
        </p:nvSpPr>
        <p:spPr>
          <a:xfrm>
            <a:off x="1450013" y="2620870"/>
            <a:ext cx="238725" cy="22035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7" name="Picture 176">
            <a:extLst>
              <a:ext uri="{FF2B5EF4-FFF2-40B4-BE49-F238E27FC236}">
                <a16:creationId xmlns:a16="http://schemas.microsoft.com/office/drawing/2014/main" id="{85DDA4F3-7F3C-4104-BA29-AF8E431C91D5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211" y="2133600"/>
            <a:ext cx="232368" cy="2114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Object 179">
            <a:extLst>
              <a:ext uri="{FF2B5EF4-FFF2-40B4-BE49-F238E27FC236}">
                <a16:creationId xmlns:a16="http://schemas.microsoft.com/office/drawing/2014/main" id="{5871D4E1-98B0-4605-95AD-E366849E9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587808"/>
              </p:ext>
            </p:extLst>
          </p:nvPr>
        </p:nvGraphicFramePr>
        <p:xfrm>
          <a:off x="1828800" y="2438400"/>
          <a:ext cx="13335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" name="Equation" r:id="rId22" imgW="126780" imgH="164814" progId="Equation.DSMT4">
                  <p:embed/>
                </p:oleObj>
              </mc:Choice>
              <mc:Fallback>
                <p:oleObj name="Equation" r:id="rId22" imgW="126780" imgH="164814" progId="Equation.DSMT4">
                  <p:embed/>
                  <p:pic>
                    <p:nvPicPr>
                      <p:cNvPr id="85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438400"/>
                        <a:ext cx="133350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Table 180">
            <a:extLst>
              <a:ext uri="{FF2B5EF4-FFF2-40B4-BE49-F238E27FC236}">
                <a16:creationId xmlns:a16="http://schemas.microsoft.com/office/drawing/2014/main" id="{CEAE8701-0E7C-4B87-89B3-06044AC0A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417864"/>
              </p:ext>
            </p:extLst>
          </p:nvPr>
        </p:nvGraphicFramePr>
        <p:xfrm>
          <a:off x="4876800" y="1752600"/>
          <a:ext cx="2743200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1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 ________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1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115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2" name="Object 181">
            <a:extLst>
              <a:ext uri="{FF2B5EF4-FFF2-40B4-BE49-F238E27FC236}">
                <a16:creationId xmlns:a16="http://schemas.microsoft.com/office/drawing/2014/main" id="{59A38AE0-288C-4B12-9C62-75B83CEE1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164273"/>
              </p:ext>
            </p:extLst>
          </p:nvPr>
        </p:nvGraphicFramePr>
        <p:xfrm>
          <a:off x="6224454" y="1905000"/>
          <a:ext cx="37465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2" name="Equation" r:id="rId24" imgW="355320" imgH="164880" progId="Equation.DSMT4">
                  <p:embed/>
                </p:oleObj>
              </mc:Choice>
              <mc:Fallback>
                <p:oleObj name="Equation" r:id="rId24" imgW="355320" imgH="164880" progId="Equation.DSMT4">
                  <p:embed/>
                  <p:pic>
                    <p:nvPicPr>
                      <p:cNvPr id="9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454" y="1905000"/>
                        <a:ext cx="374650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" name="Object 182">
            <a:extLst>
              <a:ext uri="{FF2B5EF4-FFF2-40B4-BE49-F238E27FC236}">
                <a16:creationId xmlns:a16="http://schemas.microsoft.com/office/drawing/2014/main" id="{12CA7E11-6894-43A9-BB49-0E5997A30B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141462"/>
              </p:ext>
            </p:extLst>
          </p:nvPr>
        </p:nvGraphicFramePr>
        <p:xfrm>
          <a:off x="6239691" y="2362200"/>
          <a:ext cx="3857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3" name="Equation" r:id="rId25" imgW="368280" imgH="164880" progId="Equation.DSMT4">
                  <p:embed/>
                </p:oleObj>
              </mc:Choice>
              <mc:Fallback>
                <p:oleObj name="Equation" r:id="rId25" imgW="368280" imgH="164880" progId="Equation.DSMT4">
                  <p:embed/>
                  <p:pic>
                    <p:nvPicPr>
                      <p:cNvPr id="91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9691" y="2362200"/>
                        <a:ext cx="385763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Object 183">
            <a:extLst>
              <a:ext uri="{FF2B5EF4-FFF2-40B4-BE49-F238E27FC236}">
                <a16:creationId xmlns:a16="http://schemas.microsoft.com/office/drawing/2014/main" id="{595B4DCB-502B-4533-9371-19556EAAB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596994"/>
              </p:ext>
            </p:extLst>
          </p:nvPr>
        </p:nvGraphicFramePr>
        <p:xfrm>
          <a:off x="6239691" y="2801982"/>
          <a:ext cx="373063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4" name="Equation" r:id="rId26" imgW="355320" imgH="177480" progId="Equation.DSMT4">
                  <p:embed/>
                </p:oleObj>
              </mc:Choice>
              <mc:Fallback>
                <p:oleObj name="Equation" r:id="rId26" imgW="355320" imgH="177480" progId="Equation.DSMT4">
                  <p:embed/>
                  <p:pic>
                    <p:nvPicPr>
                      <p:cNvPr id="92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9691" y="2801982"/>
                        <a:ext cx="373063" cy="184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" name="Object 184">
            <a:extLst>
              <a:ext uri="{FF2B5EF4-FFF2-40B4-BE49-F238E27FC236}">
                <a16:creationId xmlns:a16="http://schemas.microsoft.com/office/drawing/2014/main" id="{F3611257-0EFB-48F3-9518-B259F237A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937937"/>
              </p:ext>
            </p:extLst>
          </p:nvPr>
        </p:nvGraphicFramePr>
        <p:xfrm>
          <a:off x="4911636" y="1905000"/>
          <a:ext cx="347663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5" name="Equation" r:id="rId28" imgW="330120" imgH="177480" progId="Equation.DSMT4">
                  <p:embed/>
                </p:oleObj>
              </mc:Choice>
              <mc:Fallback>
                <p:oleObj name="Equation" r:id="rId28" imgW="330120" imgH="177480" progId="Equation.DSMT4">
                  <p:embed/>
                  <p:pic>
                    <p:nvPicPr>
                      <p:cNvPr id="97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636" y="1905000"/>
                        <a:ext cx="347663" cy="185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ct 185">
            <a:extLst>
              <a:ext uri="{FF2B5EF4-FFF2-40B4-BE49-F238E27FC236}">
                <a16:creationId xmlns:a16="http://schemas.microsoft.com/office/drawing/2014/main" id="{93394E2F-93B1-4DFA-A299-22244E8D2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815115"/>
              </p:ext>
            </p:extLst>
          </p:nvPr>
        </p:nvGraphicFramePr>
        <p:xfrm>
          <a:off x="4911636" y="2810691"/>
          <a:ext cx="414338" cy="17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" name="Equation" r:id="rId29" imgW="355320" imgH="177480" progId="Equation.DSMT4">
                  <p:embed/>
                </p:oleObj>
              </mc:Choice>
              <mc:Fallback>
                <p:oleObj name="Equation" r:id="rId29" imgW="355320" imgH="177480" progId="Equation.DSMT4">
                  <p:embed/>
                  <p:pic>
                    <p:nvPicPr>
                      <p:cNvPr id="98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636" y="2810691"/>
                        <a:ext cx="414338" cy="179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Object 186">
            <a:extLst>
              <a:ext uri="{FF2B5EF4-FFF2-40B4-BE49-F238E27FC236}">
                <a16:creationId xmlns:a16="http://schemas.microsoft.com/office/drawing/2014/main" id="{31C9CAD4-4B39-4EC1-A658-F73CA1F7EA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644615"/>
              </p:ext>
            </p:extLst>
          </p:nvPr>
        </p:nvGraphicFramePr>
        <p:xfrm>
          <a:off x="4894218" y="2362200"/>
          <a:ext cx="385763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7" name="Equation" r:id="rId30" imgW="368280" imgH="164880" progId="Equation.DSMT4">
                  <p:embed/>
                </p:oleObj>
              </mc:Choice>
              <mc:Fallback>
                <p:oleObj name="Equation" r:id="rId30" imgW="368280" imgH="164880" progId="Equation.DSMT4">
                  <p:embed/>
                  <p:pic>
                    <p:nvPicPr>
                      <p:cNvPr id="104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218" y="2362200"/>
                        <a:ext cx="385763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bject 3">
            <a:extLst>
              <a:ext uri="{FF2B5EF4-FFF2-40B4-BE49-F238E27FC236}">
                <a16:creationId xmlns:a16="http://schemas.microsoft.com/office/drawing/2014/main" id="{35DE6549-DCF4-494A-9ED7-ADE738A1426E}"/>
              </a:ext>
            </a:extLst>
          </p:cNvPr>
          <p:cNvSpPr txBox="1"/>
          <p:nvPr/>
        </p:nvSpPr>
        <p:spPr>
          <a:xfrm>
            <a:off x="6401815" y="802131"/>
            <a:ext cx="92392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0590" algn="l"/>
              </a:tabLst>
            </a:pPr>
            <a:r>
              <a:rPr sz="1100" b="1" dirty="0">
                <a:latin typeface="Tahoma"/>
                <a:cs typeface="Tahoma"/>
              </a:rPr>
              <a:t>8.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5" name="object 4">
            <a:extLst>
              <a:ext uri="{FF2B5EF4-FFF2-40B4-BE49-F238E27FC236}">
                <a16:creationId xmlns:a16="http://schemas.microsoft.com/office/drawing/2014/main" id="{5B9C85B5-01F5-4EF1-8D94-E1F4AE27E696}"/>
              </a:ext>
            </a:extLst>
          </p:cNvPr>
          <p:cNvSpPr txBox="1"/>
          <p:nvPr/>
        </p:nvSpPr>
        <p:spPr>
          <a:xfrm>
            <a:off x="6401815" y="1177035"/>
            <a:ext cx="923925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10590" algn="l"/>
              </a:tabLst>
            </a:pPr>
            <a:r>
              <a:rPr sz="1100" b="1" dirty="0">
                <a:latin typeface="Tahoma"/>
                <a:cs typeface="Tahoma"/>
              </a:rPr>
              <a:t>9.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329EC296-5641-48BB-A792-1B3ACFC45F8E}"/>
              </a:ext>
            </a:extLst>
          </p:cNvPr>
          <p:cNvSpPr txBox="1"/>
          <p:nvPr/>
        </p:nvSpPr>
        <p:spPr>
          <a:xfrm>
            <a:off x="6313427" y="1521459"/>
            <a:ext cx="101219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8855" algn="l"/>
              </a:tabLst>
            </a:pPr>
            <a:r>
              <a:rPr sz="1100" b="1" dirty="0">
                <a:latin typeface="Tahoma"/>
                <a:cs typeface="Tahoma"/>
              </a:rPr>
              <a:t>10. </a:t>
            </a:r>
            <a:r>
              <a:rPr sz="1100" u="sng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0" name="object 18">
            <a:extLst>
              <a:ext uri="{FF2B5EF4-FFF2-40B4-BE49-F238E27FC236}">
                <a16:creationId xmlns:a16="http://schemas.microsoft.com/office/drawing/2014/main" id="{499F54AD-7C50-4FED-8EE0-85C744C2CF2A}"/>
              </a:ext>
            </a:extLst>
          </p:cNvPr>
          <p:cNvSpPr txBox="1"/>
          <p:nvPr/>
        </p:nvSpPr>
        <p:spPr>
          <a:xfrm>
            <a:off x="6144257" y="6277864"/>
            <a:ext cx="115062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37285" algn="l"/>
              </a:tabLst>
            </a:pPr>
            <a:r>
              <a:rPr sz="1100" b="1" spc="-5" dirty="0">
                <a:latin typeface="Tahoma"/>
                <a:cs typeface="Tahoma"/>
              </a:rPr>
              <a:t>15. </a:t>
            </a:r>
            <a:r>
              <a:rPr sz="1100" u="sng" spc="-5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C2E2D56-C2F8-4E94-BBE5-A444E88C60D8}"/>
              </a:ext>
            </a:extLst>
          </p:cNvPr>
          <p:cNvSpPr/>
          <p:nvPr/>
        </p:nvSpPr>
        <p:spPr>
          <a:xfrm>
            <a:off x="524691" y="422364"/>
            <a:ext cx="5715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Give each degree measure in radians and each radian measure in degrees.</a:t>
            </a:r>
            <a:endParaRPr lang="en-US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1176152-80C4-40D6-82E4-EA6E08DBEF27}"/>
              </a:ext>
            </a:extLst>
          </p:cNvPr>
          <p:cNvSpPr/>
          <p:nvPr/>
        </p:nvSpPr>
        <p:spPr>
          <a:xfrm>
            <a:off x="524691" y="718455"/>
            <a:ext cx="6238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8.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130</a:t>
            </a:r>
            <a:r>
              <a:rPr lang="en-US" sz="110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A20D6E5-D070-4321-8A75-7DDE13345E65}"/>
              </a:ext>
            </a:extLst>
          </p:cNvPr>
          <p:cNvSpPr/>
          <p:nvPr/>
        </p:nvSpPr>
        <p:spPr>
          <a:xfrm>
            <a:off x="3150327" y="720636"/>
            <a:ext cx="67518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9.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-285</a:t>
            </a:r>
            <a:r>
              <a:rPr lang="en-US" sz="110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F71F5FA-6F73-4F49-B60A-646FA8FE2D46}"/>
              </a:ext>
            </a:extLst>
          </p:cNvPr>
          <p:cNvSpPr/>
          <p:nvPr/>
        </p:nvSpPr>
        <p:spPr>
          <a:xfrm>
            <a:off x="524691" y="1574073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10. </a:t>
            </a:r>
            <a:endParaRPr lang="en-US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78F4B8D8-4C61-4332-B403-EEAAC68F03DB}"/>
              </a:ext>
            </a:extLst>
          </p:cNvPr>
          <p:cNvSpPr/>
          <p:nvPr/>
        </p:nvSpPr>
        <p:spPr>
          <a:xfrm>
            <a:off x="3150327" y="1574073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11. </a:t>
            </a:r>
            <a:endParaRPr lang="en-US" dirty="0"/>
          </a:p>
        </p:txBody>
      </p:sp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6251B277-9E44-43E3-8434-1DD7E4ACD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037541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" name="Equation" r:id="rId4" imgW="114120" imgH="164880" progId="Equation.DSMT4">
                  <p:embed/>
                </p:oleObj>
              </mc:Choice>
              <mc:Fallback>
                <p:oleObj name="Equation" r:id="rId4" imgW="114120" imgH="164880" progId="Equation.DSMT4">
                  <p:embed/>
                  <p:pic>
                    <p:nvPicPr>
                      <p:cNvPr id="42" name="Object 4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352ABF5E-18F3-4869-B0A5-49872A224B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113067"/>
              </p:ext>
            </p:extLst>
          </p:nvPr>
        </p:nvGraphicFramePr>
        <p:xfrm>
          <a:off x="887795" y="1524677"/>
          <a:ext cx="393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3" name="Equation" r:id="rId6" imgW="393480" imgH="368280" progId="Equation.DSMT4">
                  <p:embed/>
                </p:oleObj>
              </mc:Choice>
              <mc:Fallback>
                <p:oleObj name="Equation" r:id="rId6" imgW="393480" imgH="368280" progId="Equation.DSMT4">
                  <p:embed/>
                  <p:pic>
                    <p:nvPicPr>
                      <p:cNvPr id="43" name="Object 4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7795" y="1524677"/>
                        <a:ext cx="3937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78AC6F24-B164-4A5D-9109-D967B3B5D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469054"/>
              </p:ext>
            </p:extLst>
          </p:nvPr>
        </p:nvGraphicFramePr>
        <p:xfrm>
          <a:off x="3572691" y="1532709"/>
          <a:ext cx="241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" name="Equation" r:id="rId8" imgW="241200" imgH="368280" progId="Equation.DSMT4">
                  <p:embed/>
                </p:oleObj>
              </mc:Choice>
              <mc:Fallback>
                <p:oleObj name="Equation" r:id="rId8" imgW="241200" imgH="36828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72691" y="1532709"/>
                        <a:ext cx="241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67067191-8A10-443C-8036-B3C22BE52D09}"/>
              </a:ext>
            </a:extLst>
          </p:cNvPr>
          <p:cNvSpPr/>
          <p:nvPr/>
        </p:nvSpPr>
        <p:spPr>
          <a:xfrm>
            <a:off x="6230982" y="1846218"/>
            <a:ext cx="1156086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11.</a:t>
            </a:r>
            <a:r>
              <a:rPr lang="en-US" sz="1300" i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Tahoma" panose="020B0604030504040204" pitchFamily="34" charset="0"/>
                <a:ea typeface="Calibri" panose="020F0502020204030204" pitchFamily="34" charset="0"/>
              </a:rPr>
              <a:t>__________</a:t>
            </a:r>
            <a:endParaRPr lang="en-US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281DF5C-69CE-4F6D-BA5B-4112D83EC3FA}"/>
              </a:ext>
            </a:extLst>
          </p:cNvPr>
          <p:cNvSpPr/>
          <p:nvPr/>
        </p:nvSpPr>
        <p:spPr>
          <a:xfrm>
            <a:off x="524691" y="2235927"/>
            <a:ext cx="62865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Give two coterminal angles (one positive and one negative) and the reference angle.</a:t>
            </a:r>
            <a:endParaRPr lang="en-US" dirty="0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B4FA1F5-382B-4EB6-BAEA-BE03726F6FE4}"/>
              </a:ext>
            </a:extLst>
          </p:cNvPr>
          <p:cNvSpPr/>
          <p:nvPr/>
        </p:nvSpPr>
        <p:spPr>
          <a:xfrm>
            <a:off x="533400" y="2514600"/>
            <a:ext cx="7553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12.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290</a:t>
            </a:r>
            <a:r>
              <a:rPr lang="en-US" sz="110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4E83D03-552A-489C-8F4A-5ADD2D9AC4E7}"/>
              </a:ext>
            </a:extLst>
          </p:cNvPr>
          <p:cNvSpPr/>
          <p:nvPr/>
        </p:nvSpPr>
        <p:spPr>
          <a:xfrm>
            <a:off x="4217127" y="2505891"/>
            <a:ext cx="3555273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12.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Coterminal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’s: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Tahoma" panose="020B0604030504040204" pitchFamily="34" charset="0"/>
                <a:ea typeface="Calibri" panose="020F0502020204030204" pitchFamily="34" charset="0"/>
              </a:rPr>
              <a:t>________________________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Reference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: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Tahoma" panose="020B0604030504040204" pitchFamily="34" charset="0"/>
                <a:ea typeface="Calibri" panose="020F0502020204030204" pitchFamily="34" charset="0"/>
              </a:rPr>
              <a:t>___________</a:t>
            </a:r>
            <a:endParaRPr lang="en-US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6B50E16-CDE7-4D56-B671-68A10815E36D}"/>
              </a:ext>
            </a:extLst>
          </p:cNvPr>
          <p:cNvSpPr/>
          <p:nvPr/>
        </p:nvSpPr>
        <p:spPr>
          <a:xfrm>
            <a:off x="526872" y="3378927"/>
            <a:ext cx="409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13.</a:t>
            </a:r>
            <a:endParaRPr lang="en-US" dirty="0"/>
          </a:p>
        </p:txBody>
      </p:sp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4D058647-42DB-4861-A76A-498B9BC8E4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128770"/>
              </p:ext>
            </p:extLst>
          </p:nvPr>
        </p:nvGraphicFramePr>
        <p:xfrm>
          <a:off x="905691" y="3335382"/>
          <a:ext cx="3429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" name="Equation" r:id="rId10" imgW="342720" imgH="368280" progId="Equation.DSMT4">
                  <p:embed/>
                </p:oleObj>
              </mc:Choice>
              <mc:Fallback>
                <p:oleObj name="Equation" r:id="rId10" imgW="342720" imgH="36828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5691" y="3335382"/>
                        <a:ext cx="3429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Rectangle 106">
            <a:extLst>
              <a:ext uri="{FF2B5EF4-FFF2-40B4-BE49-F238E27FC236}">
                <a16:creationId xmlns:a16="http://schemas.microsoft.com/office/drawing/2014/main" id="{93361912-6225-442F-BF50-B6E67E462D5C}"/>
              </a:ext>
            </a:extLst>
          </p:cNvPr>
          <p:cNvSpPr/>
          <p:nvPr/>
        </p:nvSpPr>
        <p:spPr>
          <a:xfrm>
            <a:off x="4223655" y="3285309"/>
            <a:ext cx="3548745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13.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Coterminal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’s: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Tahoma" panose="020B0604030504040204" pitchFamily="34" charset="0"/>
                <a:ea typeface="Calibri" panose="020F0502020204030204" pitchFamily="34" charset="0"/>
              </a:rPr>
              <a:t>________________________</a:t>
            </a:r>
            <a:br>
              <a:rPr lang="en-US" sz="1150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b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</a:br>
            <a:r>
              <a:rPr lang="en-US" sz="100" b="1" dirty="0">
                <a:latin typeface="Tahoma" panose="020B0604030504040204" pitchFamily="34" charset="0"/>
                <a:ea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Reference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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:</a:t>
            </a:r>
            <a:r>
              <a:rPr lang="en-US" sz="1150" b="1" dirty="0"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r>
              <a:rPr lang="en-US" sz="1000" dirty="0">
                <a:latin typeface="Tahoma" panose="020B0604030504040204" pitchFamily="34" charset="0"/>
                <a:ea typeface="Calibri" panose="020F0502020204030204" pitchFamily="34" charset="0"/>
              </a:rPr>
              <a:t>___________</a:t>
            </a:r>
            <a:endParaRPr lang="en-US" dirty="0"/>
          </a:p>
        </p:txBody>
      </p:sp>
      <p:graphicFrame>
        <p:nvGraphicFramePr>
          <p:cNvPr id="108" name="Table 107">
            <a:extLst>
              <a:ext uri="{FF2B5EF4-FFF2-40B4-BE49-F238E27FC236}">
                <a16:creationId xmlns:a16="http://schemas.microsoft.com/office/drawing/2014/main" id="{D52DAABF-77B6-446B-8B78-A6D581BC1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412832"/>
              </p:ext>
            </p:extLst>
          </p:nvPr>
        </p:nvGraphicFramePr>
        <p:xfrm>
          <a:off x="507273" y="4149636"/>
          <a:ext cx="6994525" cy="335280"/>
        </p:xfrm>
        <a:graphic>
          <a:graphicData uri="http://schemas.openxmlformats.org/drawingml/2006/table">
            <a:tbl>
              <a:tblPr/>
              <a:tblGrid>
                <a:gridCol w="69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  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 terminal side of an angle in standard form passes through the point (6, -4).  Make a sketch, </a:t>
                      </a:r>
                      <a:b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then find each function value.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9A74E60-DEE9-4310-B601-49660128D50C}"/>
              </a:ext>
            </a:extLst>
          </p:cNvPr>
          <p:cNvGrpSpPr/>
          <p:nvPr/>
        </p:nvGrpSpPr>
        <p:grpSpPr>
          <a:xfrm>
            <a:off x="914400" y="4572000"/>
            <a:ext cx="1534733" cy="1474470"/>
            <a:chOff x="244233" y="28981"/>
            <a:chExt cx="1044309" cy="1004659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A6C177D1-EA62-4031-B948-0589F547C57A}"/>
                </a:ext>
              </a:extLst>
            </p:cNvPr>
            <p:cNvCxnSpPr/>
            <p:nvPr/>
          </p:nvCxnSpPr>
          <p:spPr>
            <a:xfrm>
              <a:off x="692900" y="141987"/>
              <a:ext cx="0" cy="891653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0C9D68BC-EBFE-4815-8E9E-AAE5A037F583}"/>
                </a:ext>
              </a:extLst>
            </p:cNvPr>
            <p:cNvCxnSpPr/>
            <p:nvPr/>
          </p:nvCxnSpPr>
          <p:spPr>
            <a:xfrm rot="16200000">
              <a:off x="690060" y="139148"/>
              <a:ext cx="0" cy="891653"/>
            </a:xfrm>
            <a:prstGeom prst="straightConnector1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headEnd type="stealth" w="med" len="med"/>
              <a:tailEnd type="stealth" w="med" len="med"/>
            </a:ln>
            <a:effectLst/>
          </p:spPr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0A0F84C-3C90-48DA-98C9-CAAD527CBCC1}"/>
                </a:ext>
              </a:extLst>
            </p:cNvPr>
            <p:cNvGrpSpPr/>
            <p:nvPr/>
          </p:nvGrpSpPr>
          <p:grpSpPr>
            <a:xfrm>
              <a:off x="602730" y="28981"/>
              <a:ext cx="685812" cy="650381"/>
              <a:chOff x="602730" y="28981"/>
              <a:chExt cx="685812" cy="650381"/>
            </a:xfrm>
          </p:grpSpPr>
          <p:sp>
            <p:nvSpPr>
              <p:cNvPr id="113" name="Text Box 490">
                <a:extLst>
                  <a:ext uri="{FF2B5EF4-FFF2-40B4-BE49-F238E27FC236}">
                    <a16:creationId xmlns:a16="http://schemas.microsoft.com/office/drawing/2014/main" id="{0F60C667-0338-4C5A-AFBB-9F5EDF1B6902}"/>
                  </a:ext>
                </a:extLst>
              </p:cNvPr>
              <p:cNvSpPr txBox="1"/>
              <p:nvPr/>
            </p:nvSpPr>
            <p:spPr>
              <a:xfrm>
                <a:off x="602730" y="28981"/>
                <a:ext cx="177406" cy="15281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Text Box 491">
                <a:extLst>
                  <a:ext uri="{FF2B5EF4-FFF2-40B4-BE49-F238E27FC236}">
                    <a16:creationId xmlns:a16="http://schemas.microsoft.com/office/drawing/2014/main" id="{1059D0C2-2B18-4869-9046-2C2A09C25A09}"/>
                  </a:ext>
                </a:extLst>
              </p:cNvPr>
              <p:cNvSpPr txBox="1"/>
              <p:nvPr/>
            </p:nvSpPr>
            <p:spPr>
              <a:xfrm>
                <a:off x="1097474" y="533785"/>
                <a:ext cx="191068" cy="145577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1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1D16637D-1A8F-4CE7-96E8-3A457587A3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827395"/>
              </p:ext>
            </p:extLst>
          </p:nvPr>
        </p:nvGraphicFramePr>
        <p:xfrm>
          <a:off x="4800600" y="4572000"/>
          <a:ext cx="2743200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125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 ________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3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aseline="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10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________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E54FD20F-F143-4551-89FB-4E6A485729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061601"/>
              </p:ext>
            </p:extLst>
          </p:nvPr>
        </p:nvGraphicFramePr>
        <p:xfrm>
          <a:off x="4835436" y="4683036"/>
          <a:ext cx="368808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" name="Equation" r:id="rId12" imgW="304560" imgH="164880" progId="Equation.DSMT4">
                  <p:embed/>
                </p:oleObj>
              </mc:Choice>
              <mc:Fallback>
                <p:oleObj name="Equation" r:id="rId12" imgW="304560" imgH="1648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35436" y="4683036"/>
                        <a:ext cx="368808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07834BA8-39F6-42D4-A436-CE16C879A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573770"/>
              </p:ext>
            </p:extLst>
          </p:nvPr>
        </p:nvGraphicFramePr>
        <p:xfrm>
          <a:off x="4835436" y="5138055"/>
          <a:ext cx="399542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" name="Equation" r:id="rId14" imgW="330120" imgH="164880" progId="Equation.DSMT4">
                  <p:embed/>
                </p:oleObj>
              </mc:Choice>
              <mc:Fallback>
                <p:oleObj name="Equation" r:id="rId14" imgW="330120" imgH="1648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35436" y="5138055"/>
                        <a:ext cx="399542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767D7B85-74A3-4073-A1CF-9E23919C8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581348"/>
              </p:ext>
            </p:extLst>
          </p:nvPr>
        </p:nvGraphicFramePr>
        <p:xfrm>
          <a:off x="4850673" y="5638800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" name="Equation" r:id="rId16" imgW="317160" imgH="164880" progId="Equation.DSMT4">
                  <p:embed/>
                </p:oleObj>
              </mc:Choice>
              <mc:Fallback>
                <p:oleObj name="Equation" r:id="rId16" imgW="317160" imgH="164880" progId="Equation.DSMT4">
                  <p:embed/>
                  <p:pic>
                    <p:nvPicPr>
                      <p:cNvPr id="65" name="Object 6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850673" y="5638800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D1DD7D12-56D3-48DC-9262-40F92C132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603765"/>
              </p:ext>
            </p:extLst>
          </p:nvPr>
        </p:nvGraphicFramePr>
        <p:xfrm>
          <a:off x="6080763" y="4706982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" name="Equation" r:id="rId18" imgW="317160" imgH="164880" progId="Equation.DSMT4">
                  <p:embed/>
                </p:oleObj>
              </mc:Choice>
              <mc:Fallback>
                <p:oleObj name="Equation" r:id="rId18" imgW="317160" imgH="1648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080763" y="4706982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B5DB17A3-202A-4AD6-9722-8FE70594F3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369101"/>
              </p:ext>
            </p:extLst>
          </p:nvPr>
        </p:nvGraphicFramePr>
        <p:xfrm>
          <a:off x="6087291" y="5164182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" name="Equation" r:id="rId20" imgW="317160" imgH="164880" progId="Equation.DSMT4">
                  <p:embed/>
                </p:oleObj>
              </mc:Choice>
              <mc:Fallback>
                <p:oleObj name="Equation" r:id="rId20" imgW="317160" imgH="16488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087291" y="5164182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800CFAC5-06FE-41F8-9364-AB9FABE556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926477"/>
              </p:ext>
            </p:extLst>
          </p:nvPr>
        </p:nvGraphicFramePr>
        <p:xfrm>
          <a:off x="6096000" y="5621382"/>
          <a:ext cx="384175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" name="Equation" r:id="rId22" imgW="317160" imgH="164880" progId="Equation.DSMT4">
                  <p:embed/>
                </p:oleObj>
              </mc:Choice>
              <mc:Fallback>
                <p:oleObj name="Equation" r:id="rId22" imgW="317160" imgH="16488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096000" y="5621382"/>
                        <a:ext cx="384175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Rectangle 121">
            <a:extLst>
              <a:ext uri="{FF2B5EF4-FFF2-40B4-BE49-F238E27FC236}">
                <a16:creationId xmlns:a16="http://schemas.microsoft.com/office/drawing/2014/main" id="{6DB7B65B-7A0A-46EC-ACF8-5AF3F0251771}"/>
              </a:ext>
            </a:extLst>
          </p:cNvPr>
          <p:cNvSpPr/>
          <p:nvPr/>
        </p:nvSpPr>
        <p:spPr>
          <a:xfrm>
            <a:off x="535581" y="6215745"/>
            <a:ext cx="556041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15.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If               and               which quadrant(s) could the terminal side of </a:t>
            </a:r>
            <a:r>
              <a:rPr lang="en-US" sz="1100" i="1" dirty="0">
                <a:solidFill>
                  <a:srgbClr val="222222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lie?</a:t>
            </a:r>
            <a:endParaRPr lang="en-US" dirty="0"/>
          </a:p>
        </p:txBody>
      </p:sp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F90B9091-4BCF-4FAF-A1AE-BD424F1C00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3192947"/>
              </p:ext>
            </p:extLst>
          </p:nvPr>
        </p:nvGraphicFramePr>
        <p:xfrm>
          <a:off x="1028211" y="6221022"/>
          <a:ext cx="645414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Equation" r:id="rId24" imgW="533160" imgH="177480" progId="Equation.DSMT4">
                  <p:embed/>
                </p:oleObj>
              </mc:Choice>
              <mc:Fallback>
                <p:oleObj name="Equation" r:id="rId24" imgW="533160" imgH="17748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28211" y="6221022"/>
                        <a:ext cx="645414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4384067D-5D2A-4E06-ACD1-97CABCCB30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180669"/>
              </p:ext>
            </p:extLst>
          </p:nvPr>
        </p:nvGraphicFramePr>
        <p:xfrm>
          <a:off x="1935236" y="6221022"/>
          <a:ext cx="630047" cy="21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" name="Equation" r:id="rId26" imgW="520560" imgH="177480" progId="Equation.DSMT4">
                  <p:embed/>
                </p:oleObj>
              </mc:Choice>
              <mc:Fallback>
                <p:oleObj name="Equation" r:id="rId26" imgW="520560" imgH="177480" progId="Equation.DSMT4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935236" y="6221022"/>
                        <a:ext cx="630047" cy="21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Object 124">
            <a:extLst>
              <a:ext uri="{FF2B5EF4-FFF2-40B4-BE49-F238E27FC236}">
                <a16:creationId xmlns:a16="http://schemas.microsoft.com/office/drawing/2014/main" id="{801B5B87-61D0-4F08-A5C5-0D7A3AB600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229963"/>
              </p:ext>
            </p:extLst>
          </p:nvPr>
        </p:nvGraphicFramePr>
        <p:xfrm>
          <a:off x="5338083" y="6239774"/>
          <a:ext cx="153670" cy="19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" name="Equation" r:id="rId28" imgW="126720" imgH="164880" progId="Equation.DSMT4">
                  <p:embed/>
                </p:oleObj>
              </mc:Choice>
              <mc:Fallback>
                <p:oleObj name="Equation" r:id="rId28" imgW="126720" imgH="164880" progId="Equation.DSMT4">
                  <p:embed/>
                  <p:pic>
                    <p:nvPicPr>
                      <p:cNvPr id="72" name="Object 7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338083" y="6239774"/>
                        <a:ext cx="153670" cy="19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663B5B04-8F55-4A56-81BA-6EA54CDECE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199004"/>
              </p:ext>
            </p:extLst>
          </p:nvPr>
        </p:nvGraphicFramePr>
        <p:xfrm>
          <a:off x="3829050" y="4946650"/>
          <a:ext cx="1143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" name="Equation" r:id="rId30" imgW="114120" imgH="164880" progId="Equation.DSMT4">
                  <p:embed/>
                </p:oleObj>
              </mc:Choice>
              <mc:Fallback>
                <p:oleObj name="Equation" r:id="rId30" imgW="114120" imgH="16488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29050" y="4946650"/>
                        <a:ext cx="1143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7" name="object 20">
            <a:extLst>
              <a:ext uri="{FF2B5EF4-FFF2-40B4-BE49-F238E27FC236}">
                <a16:creationId xmlns:a16="http://schemas.microsoft.com/office/drawing/2014/main" id="{C94FF00F-0D62-4C86-8696-E25531922A3C}"/>
              </a:ext>
            </a:extLst>
          </p:cNvPr>
          <p:cNvSpPr txBox="1"/>
          <p:nvPr/>
        </p:nvSpPr>
        <p:spPr>
          <a:xfrm>
            <a:off x="6311900" y="7119111"/>
            <a:ext cx="1012190" cy="182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98855" algn="l"/>
              </a:tabLst>
            </a:pPr>
            <a:r>
              <a:rPr sz="1100" b="1" spc="-5" dirty="0">
                <a:latin typeface="Tahoma"/>
                <a:cs typeface="Tahoma"/>
              </a:rPr>
              <a:t>16. </a:t>
            </a:r>
            <a:r>
              <a:rPr sz="1100" u="sng" spc="-5" dirty="0">
                <a:latin typeface="Times New Roman"/>
                <a:cs typeface="Times New Roman"/>
              </a:rPr>
              <a:t> 	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0680811C-E488-4333-87CA-1A93344B60D5}"/>
              </a:ext>
            </a:extLst>
          </p:cNvPr>
          <p:cNvSpPr/>
          <p:nvPr/>
        </p:nvSpPr>
        <p:spPr>
          <a:xfrm>
            <a:off x="515982" y="6790509"/>
            <a:ext cx="395813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Find the exact value for each trigonometric function. </a:t>
            </a:r>
            <a:endParaRPr lang="en-US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BE169C4-A3A3-42DB-98F8-38FA1E12CB78}"/>
              </a:ext>
            </a:extLst>
          </p:cNvPr>
          <p:cNvSpPr/>
          <p:nvPr/>
        </p:nvSpPr>
        <p:spPr>
          <a:xfrm>
            <a:off x="524691" y="8551818"/>
            <a:ext cx="45076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19. </a:t>
            </a:r>
            <a:endParaRPr lang="en-U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EE60FC1-8811-4650-88CE-5CE53FA217FC}"/>
              </a:ext>
            </a:extLst>
          </p:cNvPr>
          <p:cNvSpPr/>
          <p:nvPr/>
        </p:nvSpPr>
        <p:spPr>
          <a:xfrm>
            <a:off x="2370909" y="8543109"/>
            <a:ext cx="409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20.</a:t>
            </a:r>
            <a:endParaRPr lang="en-US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E82F455-E4D9-44BA-82A7-3DFAA5FB2533}"/>
              </a:ext>
            </a:extLst>
          </p:cNvPr>
          <p:cNvSpPr/>
          <p:nvPr/>
        </p:nvSpPr>
        <p:spPr>
          <a:xfrm>
            <a:off x="4217127" y="8534400"/>
            <a:ext cx="40908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21.</a:t>
            </a:r>
            <a:endParaRPr lang="en-US" dirty="0"/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F62739B-84F6-4C2A-BD18-50A078CF4D7D}"/>
              </a:ext>
            </a:extLst>
          </p:cNvPr>
          <p:cNvSpPr/>
          <p:nvPr/>
        </p:nvSpPr>
        <p:spPr>
          <a:xfrm>
            <a:off x="6222273" y="7517673"/>
            <a:ext cx="119327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>
              <a:tabLst>
                <a:tab pos="998855" algn="l"/>
              </a:tabLst>
            </a:pPr>
            <a:r>
              <a:rPr lang="en-US" sz="1100" b="1" dirty="0">
                <a:solidFill>
                  <a:prstClr val="black"/>
                </a:solidFill>
                <a:latin typeface="Tahoma"/>
                <a:cs typeface="Tahoma"/>
              </a:rPr>
              <a:t>17. </a:t>
            </a:r>
            <a:r>
              <a:rPr lang="en-US" sz="1100" u="sng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1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75D1B4A-90B1-42EE-9944-B920AE4EB066}"/>
              </a:ext>
            </a:extLst>
          </p:cNvPr>
          <p:cNvSpPr/>
          <p:nvPr/>
        </p:nvSpPr>
        <p:spPr>
          <a:xfrm>
            <a:off x="6215745" y="7968345"/>
            <a:ext cx="119327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>
              <a:spcBef>
                <a:spcPts val="5"/>
              </a:spcBef>
              <a:tabLst>
                <a:tab pos="998855" algn="l"/>
              </a:tabLst>
            </a:pPr>
            <a:r>
              <a:rPr lang="en-US" sz="1100" b="1" dirty="0">
                <a:solidFill>
                  <a:prstClr val="black"/>
                </a:solidFill>
                <a:latin typeface="Tahoma"/>
                <a:cs typeface="Tahoma"/>
              </a:rPr>
              <a:t>18. </a:t>
            </a:r>
            <a:r>
              <a:rPr lang="en-US" sz="1100" u="sng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1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07D0E0E1-039B-4312-9231-F2435231A46E}"/>
              </a:ext>
            </a:extLst>
          </p:cNvPr>
          <p:cNvSpPr/>
          <p:nvPr/>
        </p:nvSpPr>
        <p:spPr>
          <a:xfrm>
            <a:off x="6215745" y="8414655"/>
            <a:ext cx="119327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>
              <a:spcBef>
                <a:spcPts val="5"/>
              </a:spcBef>
              <a:tabLst>
                <a:tab pos="998855" algn="l"/>
              </a:tabLst>
            </a:pPr>
            <a:r>
              <a:rPr lang="en-US" sz="1100" b="1" dirty="0">
                <a:solidFill>
                  <a:prstClr val="black"/>
                </a:solidFill>
                <a:latin typeface="Tahoma"/>
                <a:cs typeface="Tahoma"/>
              </a:rPr>
              <a:t>19. </a:t>
            </a:r>
            <a:r>
              <a:rPr lang="en-US" sz="1100" u="sng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1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BE2768F-D998-4C71-AF56-71ADBE08DE5C}"/>
              </a:ext>
            </a:extLst>
          </p:cNvPr>
          <p:cNvSpPr/>
          <p:nvPr/>
        </p:nvSpPr>
        <p:spPr>
          <a:xfrm>
            <a:off x="6222273" y="8830491"/>
            <a:ext cx="119327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>
              <a:tabLst>
                <a:tab pos="998855" algn="l"/>
              </a:tabLst>
            </a:pPr>
            <a:r>
              <a:rPr lang="en-US" sz="1100" b="1" dirty="0">
                <a:solidFill>
                  <a:prstClr val="black"/>
                </a:solidFill>
                <a:latin typeface="Tahoma"/>
                <a:cs typeface="Tahoma"/>
              </a:rPr>
              <a:t>20. </a:t>
            </a:r>
            <a:r>
              <a:rPr lang="en-US" sz="1100" u="sng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1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8360EBE1-A6A2-41BF-843F-9FA8A4F75ACC}"/>
              </a:ext>
            </a:extLst>
          </p:cNvPr>
          <p:cNvSpPr/>
          <p:nvPr/>
        </p:nvSpPr>
        <p:spPr>
          <a:xfrm>
            <a:off x="6215745" y="9278982"/>
            <a:ext cx="119327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lvl="0">
              <a:spcBef>
                <a:spcPts val="5"/>
              </a:spcBef>
              <a:tabLst>
                <a:tab pos="998855" algn="l"/>
              </a:tabLst>
            </a:pPr>
            <a:r>
              <a:rPr lang="en-US" sz="1100" b="1" dirty="0">
                <a:solidFill>
                  <a:prstClr val="black"/>
                </a:solidFill>
                <a:latin typeface="Tahoma"/>
                <a:cs typeface="Tahoma"/>
              </a:rPr>
              <a:t>21. </a:t>
            </a:r>
            <a:r>
              <a:rPr lang="en-US" sz="1100" u="sng" dirty="0">
                <a:solidFill>
                  <a:prstClr val="black"/>
                </a:solidFill>
                <a:latin typeface="Times New Roman"/>
                <a:cs typeface="Times New Roman"/>
              </a:rPr>
              <a:t> 	</a:t>
            </a:r>
            <a:endParaRPr lang="en-US" sz="11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37" name="Table 136">
            <a:extLst>
              <a:ext uri="{FF2B5EF4-FFF2-40B4-BE49-F238E27FC236}">
                <a16:creationId xmlns:a16="http://schemas.microsoft.com/office/drawing/2014/main" id="{969C8345-D5D8-4E4E-8703-68A734B3D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275602"/>
              </p:ext>
            </p:extLst>
          </p:nvPr>
        </p:nvGraphicFramePr>
        <p:xfrm>
          <a:off x="500745" y="7136673"/>
          <a:ext cx="1058862" cy="167640"/>
        </p:xfrm>
        <a:graphic>
          <a:graphicData uri="http://schemas.openxmlformats.org/drawingml/2006/table">
            <a:tbl>
              <a:tblPr/>
              <a:tblGrid>
                <a:gridCol w="1058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 </a:t>
                      </a:r>
                      <a:r>
                        <a:rPr lang="en-US" sz="11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tan 135</a:t>
                      </a:r>
                      <a:r>
                        <a:rPr lang="en-US" sz="1100" baseline="30000" dirty="0">
                          <a:effectLst/>
                          <a:latin typeface="Tahom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°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" name="Rectangle 137">
            <a:extLst>
              <a:ext uri="{FF2B5EF4-FFF2-40B4-BE49-F238E27FC236}">
                <a16:creationId xmlns:a16="http://schemas.microsoft.com/office/drawing/2014/main" id="{50D9942F-AD46-47AD-9975-9038C656A6EA}"/>
              </a:ext>
            </a:extLst>
          </p:cNvPr>
          <p:cNvSpPr/>
          <p:nvPr/>
        </p:nvSpPr>
        <p:spPr>
          <a:xfrm>
            <a:off x="2362200" y="7086600"/>
            <a:ext cx="9973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17.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 csc 240</a:t>
            </a:r>
            <a:r>
              <a:rPr lang="en-US" sz="110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endParaRPr lang="en-US" dirty="0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29AE02E-8A40-4BD0-AB93-FFB8FF3C7437}"/>
              </a:ext>
            </a:extLst>
          </p:cNvPr>
          <p:cNvSpPr/>
          <p:nvPr/>
        </p:nvSpPr>
        <p:spPr>
          <a:xfrm>
            <a:off x="4217127" y="7086600"/>
            <a:ext cx="97654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Tahoma" panose="020B0604030504040204" pitchFamily="34" charset="0"/>
                <a:ea typeface="Calibri" panose="020F0502020204030204" pitchFamily="34" charset="0"/>
              </a:rPr>
              <a:t>18. </a:t>
            </a:r>
            <a:r>
              <a:rPr lang="en-US" sz="1100" dirty="0">
                <a:latin typeface="Tahoma" panose="020B0604030504040204" pitchFamily="34" charset="0"/>
                <a:ea typeface="Calibri" panose="020F0502020204030204" pitchFamily="34" charset="0"/>
              </a:rPr>
              <a:t> sin 120</a:t>
            </a:r>
            <a:r>
              <a:rPr lang="en-US" sz="1100" baseline="30000" dirty="0">
                <a:latin typeface="Tahoma" panose="020B0604030504040204" pitchFamily="34" charset="0"/>
                <a:ea typeface="Calibri" panose="020F0502020204030204" pitchFamily="34" charset="0"/>
              </a:rPr>
              <a:t>°</a:t>
            </a:r>
            <a:endParaRPr lang="en-US" dirty="0"/>
          </a:p>
        </p:txBody>
      </p:sp>
      <p:graphicFrame>
        <p:nvGraphicFramePr>
          <p:cNvPr id="140" name="Object 139">
            <a:extLst>
              <a:ext uri="{FF2B5EF4-FFF2-40B4-BE49-F238E27FC236}">
                <a16:creationId xmlns:a16="http://schemas.microsoft.com/office/drawing/2014/main" id="{8CC821A8-8AFE-4F95-9D6F-6456F73E0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713811"/>
              </p:ext>
            </p:extLst>
          </p:nvPr>
        </p:nvGraphicFramePr>
        <p:xfrm>
          <a:off x="896982" y="8484327"/>
          <a:ext cx="43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6" name="Equation" r:id="rId31" imgW="431640" imgH="368280" progId="Equation.DSMT4">
                  <p:embed/>
                </p:oleObj>
              </mc:Choice>
              <mc:Fallback>
                <p:oleObj name="Equation" r:id="rId31" imgW="431640" imgH="36828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96982" y="8484327"/>
                        <a:ext cx="43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9F10F239-D110-4CC8-91A9-48C03BD51F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59496"/>
              </p:ext>
            </p:extLst>
          </p:nvPr>
        </p:nvGraphicFramePr>
        <p:xfrm>
          <a:off x="2743200" y="8458200"/>
          <a:ext cx="41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7" name="Equation" r:id="rId33" imgW="419040" imgH="368280" progId="Equation.DSMT4">
                  <p:embed/>
                </p:oleObj>
              </mc:Choice>
              <mc:Fallback>
                <p:oleObj name="Equation" r:id="rId33" imgW="419040" imgH="36828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2743200" y="8458200"/>
                        <a:ext cx="419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E6B59341-8BB3-407B-8E26-CE51DF126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056693"/>
              </p:ext>
            </p:extLst>
          </p:nvPr>
        </p:nvGraphicFramePr>
        <p:xfrm>
          <a:off x="4572000" y="8458200"/>
          <a:ext cx="355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8" name="Equation" r:id="rId35" imgW="355320" imgH="368280" progId="Equation.DSMT4">
                  <p:embed/>
                </p:oleObj>
              </mc:Choice>
              <mc:Fallback>
                <p:oleObj name="Equation" r:id="rId35" imgW="355320" imgH="368280" progId="Equation.DSMT4">
                  <p:embed/>
                  <p:pic>
                    <p:nvPicPr>
                      <p:cNvPr id="94" name="Object 93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572000" y="8458200"/>
                        <a:ext cx="3556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370</Words>
  <Application>Microsoft Office PowerPoint</Application>
  <PresentationFormat>Custom</PresentationFormat>
  <Paragraphs>77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Calibri</vt:lpstr>
      <vt:lpstr>Century Gothic</vt:lpstr>
      <vt:lpstr>Symbol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- 10 - Quiz 12-1</dc:title>
  <dc:creator>allth</dc:creator>
  <cp:lastModifiedBy>Gina Wilson</cp:lastModifiedBy>
  <cp:revision>32</cp:revision>
  <dcterms:created xsi:type="dcterms:W3CDTF">2017-12-20T11:56:17Z</dcterms:created>
  <dcterms:modified xsi:type="dcterms:W3CDTF">2018-02-02T01:02:32Z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2016-03-06T00:00:00Z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2017-12-20T00:00:00Z</vt:filetime>
  </property>
</Properties>
</file>