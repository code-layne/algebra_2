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2" r:id="rId3"/>
    <p:sldId id="273" r:id="rId4"/>
    <p:sldId id="274" r:id="rId5"/>
    <p:sldId id="275" r:id="rId6"/>
    <p:sldId id="276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2271" y="26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A567F-1919-4DBB-A494-A3325B11A9C6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674AC-F13F-4FEB-9EE3-75850134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7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56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4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07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68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4AC-F13F-4FEB-9EE3-758501347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9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7717" y="9803997"/>
            <a:ext cx="141160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4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.bin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11.bin"/><Relationship Id="rId3" Type="http://schemas.openxmlformats.org/officeDocument/2006/relationships/image" Target="../media/image1.JPG"/><Relationship Id="rId21" Type="http://schemas.openxmlformats.org/officeDocument/2006/relationships/oleObject" Target="../embeddings/oleObject9.bin"/><Relationship Id="rId34" Type="http://schemas.openxmlformats.org/officeDocument/2006/relationships/oleObject" Target="../embeddings/oleObject15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7.bin"/><Relationship Id="rId25" Type="http://schemas.openxmlformats.org/officeDocument/2006/relationships/image" Target="../media/image13.wmf"/><Relationship Id="rId33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.bin"/><Relationship Id="rId24" Type="http://schemas.openxmlformats.org/officeDocument/2006/relationships/oleObject" Target="../embeddings/oleObject10.bin"/><Relationship Id="rId32" Type="http://schemas.openxmlformats.org/officeDocument/2006/relationships/oleObject" Target="../embeddings/oleObject1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image" Target="../media/image12.png"/><Relationship Id="rId28" Type="http://schemas.openxmlformats.org/officeDocument/2006/relationships/oleObject" Target="../embeddings/oleObject12.bin"/><Relationship Id="rId36" Type="http://schemas.openxmlformats.org/officeDocument/2006/relationships/image" Target="../media/image19.e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8.bin"/><Relationship Id="rId31" Type="http://schemas.openxmlformats.org/officeDocument/2006/relationships/image" Target="../media/image16.e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3.bin"/><Relationship Id="rId35" Type="http://schemas.openxmlformats.org/officeDocument/2006/relationships/image" Target="../media/image18.wmf"/><Relationship Id="rId8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31.bin"/><Relationship Id="rId42" Type="http://schemas.openxmlformats.org/officeDocument/2006/relationships/oleObject" Target="../embeddings/oleObject35.bin"/><Relationship Id="rId47" Type="http://schemas.openxmlformats.org/officeDocument/2006/relationships/image" Target="../media/image42.wmf"/><Relationship Id="rId50" Type="http://schemas.openxmlformats.org/officeDocument/2006/relationships/oleObject" Target="../embeddings/oleObject39.bin"/><Relationship Id="rId55" Type="http://schemas.openxmlformats.org/officeDocument/2006/relationships/image" Target="../media/image46.wmf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22.bin"/><Relationship Id="rId29" Type="http://schemas.openxmlformats.org/officeDocument/2006/relationships/image" Target="../media/image33.wmf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26.bin"/><Relationship Id="rId32" Type="http://schemas.openxmlformats.org/officeDocument/2006/relationships/oleObject" Target="../embeddings/oleObject30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34.bin"/><Relationship Id="rId45" Type="http://schemas.openxmlformats.org/officeDocument/2006/relationships/image" Target="../media/image41.wmf"/><Relationship Id="rId53" Type="http://schemas.openxmlformats.org/officeDocument/2006/relationships/image" Target="../media/image45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4" Type="http://schemas.openxmlformats.org/officeDocument/2006/relationships/oleObject" Target="../embeddings/oleObject36.bin"/><Relationship Id="rId52" Type="http://schemas.openxmlformats.org/officeDocument/2006/relationships/oleObject" Target="../embeddings/oleObject40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29.bin"/><Relationship Id="rId35" Type="http://schemas.openxmlformats.org/officeDocument/2006/relationships/image" Target="../media/image36.wmf"/><Relationship Id="rId43" Type="http://schemas.openxmlformats.org/officeDocument/2006/relationships/image" Target="../media/image40.wmf"/><Relationship Id="rId48" Type="http://schemas.openxmlformats.org/officeDocument/2006/relationships/oleObject" Target="../embeddings/oleObject38.bin"/><Relationship Id="rId8" Type="http://schemas.openxmlformats.org/officeDocument/2006/relationships/oleObject" Target="../embeddings/oleObject18.bin"/><Relationship Id="rId51" Type="http://schemas.openxmlformats.org/officeDocument/2006/relationships/image" Target="../media/image44.wmf"/><Relationship Id="rId3" Type="http://schemas.openxmlformats.org/officeDocument/2006/relationships/image" Target="../media/image20.JPG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33.bin"/><Relationship Id="rId46" Type="http://schemas.openxmlformats.org/officeDocument/2006/relationships/oleObject" Target="../embeddings/oleObject37.bin"/><Relationship Id="rId20" Type="http://schemas.openxmlformats.org/officeDocument/2006/relationships/oleObject" Target="../embeddings/oleObject24.bin"/><Relationship Id="rId41" Type="http://schemas.openxmlformats.org/officeDocument/2006/relationships/image" Target="../media/image39.wmf"/><Relationship Id="rId54" Type="http://schemas.openxmlformats.org/officeDocument/2006/relationships/oleObject" Target="../embeddings/oleObject4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7.bin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28.bin"/><Relationship Id="rId36" Type="http://schemas.openxmlformats.org/officeDocument/2006/relationships/oleObject" Target="../embeddings/oleObject32.bin"/><Relationship Id="rId49" Type="http://schemas.openxmlformats.org/officeDocument/2006/relationships/image" Target="../media/image43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4.wmf"/><Relationship Id="rId26" Type="http://schemas.openxmlformats.org/officeDocument/2006/relationships/image" Target="../media/image58.wmf"/><Relationship Id="rId39" Type="http://schemas.openxmlformats.org/officeDocument/2006/relationships/oleObject" Target="../embeddings/oleObject59.bin"/><Relationship Id="rId21" Type="http://schemas.openxmlformats.org/officeDocument/2006/relationships/oleObject" Target="../embeddings/oleObject50.bin"/><Relationship Id="rId34" Type="http://schemas.openxmlformats.org/officeDocument/2006/relationships/image" Target="../media/image62.wmf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2.bin"/><Relationship Id="rId33" Type="http://schemas.openxmlformats.org/officeDocument/2006/relationships/oleObject" Target="../embeddings/oleObject56.bin"/><Relationship Id="rId38" Type="http://schemas.openxmlformats.org/officeDocument/2006/relationships/image" Target="../media/image64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29" Type="http://schemas.openxmlformats.org/officeDocument/2006/relationships/oleObject" Target="../embeddings/oleObject5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5.bin"/><Relationship Id="rId24" Type="http://schemas.openxmlformats.org/officeDocument/2006/relationships/image" Target="../media/image57.wmf"/><Relationship Id="rId32" Type="http://schemas.openxmlformats.org/officeDocument/2006/relationships/image" Target="../media/image61.wmf"/><Relationship Id="rId37" Type="http://schemas.openxmlformats.org/officeDocument/2006/relationships/oleObject" Target="../embeddings/oleObject58.bin"/><Relationship Id="rId40" Type="http://schemas.openxmlformats.org/officeDocument/2006/relationships/image" Target="../media/image65.wmf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image" Target="../media/image59.wmf"/><Relationship Id="rId36" Type="http://schemas.openxmlformats.org/officeDocument/2006/relationships/image" Target="../media/image63.wmf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49.bin"/><Relationship Id="rId31" Type="http://schemas.openxmlformats.org/officeDocument/2006/relationships/oleObject" Target="../embeddings/oleObject55.bin"/><Relationship Id="rId4" Type="http://schemas.openxmlformats.org/officeDocument/2006/relationships/image" Target="../media/image47.png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53.bin"/><Relationship Id="rId30" Type="http://schemas.openxmlformats.org/officeDocument/2006/relationships/image" Target="../media/image60.wmf"/><Relationship Id="rId35" Type="http://schemas.openxmlformats.org/officeDocument/2006/relationships/oleObject" Target="../embeddings/oleObject57.bin"/><Relationship Id="rId8" Type="http://schemas.openxmlformats.org/officeDocument/2006/relationships/image" Target="../media/image49.wmf"/><Relationship Id="rId3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image" Target="../media/image66.JPG"/><Relationship Id="rId21" Type="http://schemas.openxmlformats.org/officeDocument/2006/relationships/image" Target="../media/image75.wmf"/><Relationship Id="rId34" Type="http://schemas.openxmlformats.org/officeDocument/2006/relationships/oleObject" Target="../embeddings/oleObject75.bin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3.wmf"/><Relationship Id="rId25" Type="http://schemas.openxmlformats.org/officeDocument/2006/relationships/image" Target="../media/image77.wmf"/><Relationship Id="rId33" Type="http://schemas.openxmlformats.org/officeDocument/2006/relationships/image" Target="../media/image81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29" Type="http://schemas.openxmlformats.org/officeDocument/2006/relationships/image" Target="../media/image79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0.wmf"/><Relationship Id="rId24" Type="http://schemas.openxmlformats.org/officeDocument/2006/relationships/oleObject" Target="../embeddings/oleObject70.bin"/><Relationship Id="rId32" Type="http://schemas.openxmlformats.org/officeDocument/2006/relationships/oleObject" Target="../embeddings/oleObject74.bin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23" Type="http://schemas.openxmlformats.org/officeDocument/2006/relationships/image" Target="../media/image76.wmf"/><Relationship Id="rId28" Type="http://schemas.openxmlformats.org/officeDocument/2006/relationships/oleObject" Target="../embeddings/oleObject72.bin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4.wmf"/><Relationship Id="rId31" Type="http://schemas.openxmlformats.org/officeDocument/2006/relationships/image" Target="../media/image80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8.wmf"/><Relationship Id="rId30" Type="http://schemas.openxmlformats.org/officeDocument/2006/relationships/oleObject" Target="../embeddings/oleObject73.bin"/><Relationship Id="rId35" Type="http://schemas.openxmlformats.org/officeDocument/2006/relationships/image" Target="../media/image82.wmf"/><Relationship Id="rId8" Type="http://schemas.openxmlformats.org/officeDocument/2006/relationships/oleObject" Target="../embeddings/oleObject6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7" Type="http://schemas.openxmlformats.org/officeDocument/2006/relationships/image" Target="../media/image8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7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6" name="Picture 1635">
            <a:extLst>
              <a:ext uri="{FF2B5EF4-FFF2-40B4-BE49-F238E27FC236}">
                <a16:creationId xmlns:a16="http://schemas.microsoft.com/office/drawing/2014/main" id="{829AF9B2-A42C-C0C7-2701-393554C3C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894" y="1387719"/>
            <a:ext cx="4462659" cy="114614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AF4F7E-EF2F-381E-16D2-0D8DB4691FB4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149982"/>
          <a:ext cx="5715000" cy="175451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functions represent an exponential growth?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1D90639-65CF-32DC-5D16-D2106149385D}"/>
              </a:ext>
            </a:extLst>
          </p:cNvPr>
          <p:cNvSpPr/>
          <p:nvPr/>
        </p:nvSpPr>
        <p:spPr>
          <a:xfrm>
            <a:off x="436259" y="2607265"/>
            <a:ext cx="431056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function and identify its key characteristics.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662C3918-224C-E448-8AA8-62D976A45CA6}"/>
              </a:ext>
            </a:extLst>
          </p:cNvPr>
          <p:cNvSpPr/>
          <p:nvPr/>
        </p:nvSpPr>
        <p:spPr>
          <a:xfrm>
            <a:off x="448086" y="288905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735BDCD3-9C90-49A2-DCDC-08BC405A3511}"/>
              </a:ext>
            </a:extLst>
          </p:cNvPr>
          <p:cNvSpPr/>
          <p:nvPr/>
        </p:nvSpPr>
        <p:spPr>
          <a:xfrm>
            <a:off x="448086" y="511696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05EE4449-BD92-6798-A80B-105F02EBA25F}"/>
              </a:ext>
            </a:extLst>
          </p:cNvPr>
          <p:cNvSpPr/>
          <p:nvPr/>
        </p:nvSpPr>
        <p:spPr>
          <a:xfrm>
            <a:off x="448086" y="740296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379" name="Object 1378">
            <a:extLst>
              <a:ext uri="{FF2B5EF4-FFF2-40B4-BE49-F238E27FC236}">
                <a16:creationId xmlns:a16="http://schemas.microsoft.com/office/drawing/2014/main" id="{A177B9AC-2BFC-DF7D-C0DB-1889ADADD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921" y="2844086"/>
          <a:ext cx="1117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368280" progId="Equation.DSMT4">
                  <p:embed/>
                </p:oleObj>
              </mc:Choice>
              <mc:Fallback>
                <p:oleObj name="Equation" r:id="rId5" imgW="1117440" imgH="368280" progId="Equation.DSMT4">
                  <p:embed/>
                  <p:pic>
                    <p:nvPicPr>
                      <p:cNvPr id="1408" name="Object 14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2921" y="2844086"/>
                        <a:ext cx="1117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4" name="Object 1383">
            <a:extLst>
              <a:ext uri="{FF2B5EF4-FFF2-40B4-BE49-F238E27FC236}">
                <a16:creationId xmlns:a16="http://schemas.microsoft.com/office/drawing/2014/main" id="{6BEA7DB0-078A-E421-386A-B84C83EEE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110" y="5148366"/>
          <a:ext cx="1320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215640" progId="Equation.DSMT4">
                  <p:embed/>
                </p:oleObj>
              </mc:Choice>
              <mc:Fallback>
                <p:oleObj name="Equation" r:id="rId7" imgW="1320480" imgH="215640" progId="Equation.DSMT4">
                  <p:embed/>
                  <p:pic>
                    <p:nvPicPr>
                      <p:cNvPr id="1425" name="Object 14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5110" y="5148366"/>
                        <a:ext cx="1320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5" name="Object 1384">
            <a:extLst>
              <a:ext uri="{FF2B5EF4-FFF2-40B4-BE49-F238E27FC236}">
                <a16:creationId xmlns:a16="http://schemas.microsoft.com/office/drawing/2014/main" id="{29E80411-6D9B-8B23-0BC2-29E0B3983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018" y="7417719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6040" imgH="342720" progId="Equation.DSMT4">
                  <p:embed/>
                </p:oleObj>
              </mc:Choice>
              <mc:Fallback>
                <p:oleObj name="Equation" r:id="rId9" imgW="1346040" imgH="342720" progId="Equation.DSMT4">
                  <p:embed/>
                  <p:pic>
                    <p:nvPicPr>
                      <p:cNvPr id="1426" name="Object 14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9018" y="7417719"/>
                        <a:ext cx="1346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8" name="object 135">
            <a:extLst>
              <a:ext uri="{FF2B5EF4-FFF2-40B4-BE49-F238E27FC236}">
                <a16:creationId xmlns:a16="http://schemas.microsoft.com/office/drawing/2014/main" id="{4D1041EC-4BD6-E54E-06FA-274DAD288CAE}"/>
              </a:ext>
            </a:extLst>
          </p:cNvPr>
          <p:cNvSpPr txBox="1">
            <a:spLocks noGrp="1"/>
          </p:cNvSpPr>
          <p:nvPr/>
        </p:nvSpPr>
        <p:spPr>
          <a:xfrm>
            <a:off x="4992988" y="9700631"/>
            <a:ext cx="2440982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770"/>
              </a:lnSpc>
            </a:pPr>
            <a:r>
              <a:rPr lang="en-US" sz="750" spc="-5" dirty="0">
                <a:latin typeface="Century Gothic" panose="020B0502020202020204" pitchFamily="34" charset="0"/>
              </a:rPr>
              <a:t>© </a:t>
            </a:r>
            <a:r>
              <a:rPr sz="750" spc="-5" dirty="0">
                <a:latin typeface="Century Gothic" panose="020B0502020202020204" pitchFamily="34" charset="0"/>
              </a:rPr>
              <a:t>Gina </a:t>
            </a:r>
            <a:r>
              <a:rPr sz="750" dirty="0">
                <a:latin typeface="Century Gothic" panose="020B0502020202020204" pitchFamily="34" charset="0"/>
              </a:rPr>
              <a:t>Wilson </a:t>
            </a:r>
            <a:r>
              <a:rPr sz="750" spc="-5" dirty="0">
                <a:latin typeface="Century Gothic" panose="020B0502020202020204" pitchFamily="34" charset="0"/>
              </a:rPr>
              <a:t>(All Things </a:t>
            </a:r>
            <a:r>
              <a:rPr sz="750" dirty="0">
                <a:latin typeface="Century Gothic" panose="020B0502020202020204" pitchFamily="34" charset="0"/>
              </a:rPr>
              <a:t>Algebra</a:t>
            </a:r>
            <a:r>
              <a:rPr lang="en-US" sz="750" dirty="0">
                <a:latin typeface="Century Gothic" panose="020B0502020202020204" pitchFamily="34" charset="0"/>
              </a:rPr>
              <a:t>®, LLC</a:t>
            </a:r>
            <a:r>
              <a:rPr sz="750" dirty="0">
                <a:latin typeface="Century Gothic" panose="020B0502020202020204" pitchFamily="34" charset="0"/>
              </a:rPr>
              <a:t>),</a:t>
            </a:r>
            <a:r>
              <a:rPr sz="750" spc="-10" dirty="0">
                <a:latin typeface="Century Gothic" panose="020B0502020202020204" pitchFamily="34" charset="0"/>
              </a:rPr>
              <a:t> </a:t>
            </a:r>
            <a:r>
              <a:rPr lang="en-US" sz="750" dirty="0">
                <a:latin typeface="Century Gothic" panose="020B0502020202020204" pitchFamily="34" charset="0"/>
              </a:rPr>
              <a:t>2015-2023</a:t>
            </a:r>
            <a:endParaRPr sz="750" dirty="0">
              <a:latin typeface="Century Gothic" panose="020B0502020202020204" pitchFamily="34" charset="0"/>
            </a:endParaRPr>
          </a:p>
        </p:txBody>
      </p:sp>
      <p:graphicFrame>
        <p:nvGraphicFramePr>
          <p:cNvPr id="1627" name="Object 1626">
            <a:extLst>
              <a:ext uri="{FF2B5EF4-FFF2-40B4-BE49-F238E27FC236}">
                <a16:creationId xmlns:a16="http://schemas.microsoft.com/office/drawing/2014/main" id="{B2FBAD33-FC3F-8015-2056-210FA14FF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1335" y="1587461"/>
          <a:ext cx="838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241200" progId="Equation.DSMT4">
                  <p:embed/>
                </p:oleObj>
              </mc:Choice>
              <mc:Fallback>
                <p:oleObj name="Equation" r:id="rId11" imgW="838080" imgH="241200" progId="Equation.DSMT4">
                  <p:embed/>
                  <p:pic>
                    <p:nvPicPr>
                      <p:cNvPr id="1481" name="Object 1480">
                        <a:extLst>
                          <a:ext uri="{FF2B5EF4-FFF2-40B4-BE49-F238E27FC236}">
                            <a16:creationId xmlns:a16="http://schemas.microsoft.com/office/drawing/2014/main" id="{20B03B8A-BD02-42C5-0C12-53BC55403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1335" y="1587461"/>
                        <a:ext cx="838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" name="Object 1627">
            <a:extLst>
              <a:ext uri="{FF2B5EF4-FFF2-40B4-BE49-F238E27FC236}">
                <a16:creationId xmlns:a16="http://schemas.microsoft.com/office/drawing/2014/main" id="{A214F8C3-1694-4FCC-476D-85E5E82DE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5062" y="1473535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600" imgH="457200" progId="Equation.DSMT4">
                  <p:embed/>
                </p:oleObj>
              </mc:Choice>
              <mc:Fallback>
                <p:oleObj name="Equation" r:id="rId13" imgW="939600" imgH="457200" progId="Equation.DSMT4">
                  <p:embed/>
                  <p:pic>
                    <p:nvPicPr>
                      <p:cNvPr id="1482" name="Object 1481">
                        <a:extLst>
                          <a:ext uri="{FF2B5EF4-FFF2-40B4-BE49-F238E27FC236}">
                            <a16:creationId xmlns:a16="http://schemas.microsoft.com/office/drawing/2014/main" id="{246142C4-E357-0584-B52E-6CF0D1DF8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35062" y="1473535"/>
                        <a:ext cx="939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9" name="Object 1628">
            <a:extLst>
              <a:ext uri="{FF2B5EF4-FFF2-40B4-BE49-F238E27FC236}">
                <a16:creationId xmlns:a16="http://schemas.microsoft.com/office/drawing/2014/main" id="{C6BB9219-54B7-C440-42E4-20CA40A42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1575" y="1476375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457200" progId="Equation.DSMT4">
                  <p:embed/>
                </p:oleObj>
              </mc:Choice>
              <mc:Fallback>
                <p:oleObj name="Equation" r:id="rId15" imgW="939600" imgH="457200" progId="Equation.DSMT4">
                  <p:embed/>
                  <p:pic>
                    <p:nvPicPr>
                      <p:cNvPr id="1483" name="Object 1482">
                        <a:extLst>
                          <a:ext uri="{FF2B5EF4-FFF2-40B4-BE49-F238E27FC236}">
                            <a16:creationId xmlns:a16="http://schemas.microsoft.com/office/drawing/2014/main" id="{D1660E25-0A45-39F2-C5DD-57A463889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81575" y="1476375"/>
                        <a:ext cx="939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0" name="Object 1629">
            <a:extLst>
              <a:ext uri="{FF2B5EF4-FFF2-40B4-BE49-F238E27FC236}">
                <a16:creationId xmlns:a16="http://schemas.microsoft.com/office/drawing/2014/main" id="{48696931-1F12-5F4F-77AB-EE3A3E256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235" y="2002245"/>
          <a:ext cx="91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400" imgH="457200" progId="Equation.DSMT4">
                  <p:embed/>
                </p:oleObj>
              </mc:Choice>
              <mc:Fallback>
                <p:oleObj name="Equation" r:id="rId17" imgW="914400" imgH="457200" progId="Equation.DSMT4">
                  <p:embed/>
                  <p:pic>
                    <p:nvPicPr>
                      <p:cNvPr id="1484" name="Object 1483">
                        <a:extLst>
                          <a:ext uri="{FF2B5EF4-FFF2-40B4-BE49-F238E27FC236}">
                            <a16:creationId xmlns:a16="http://schemas.microsoft.com/office/drawing/2014/main" id="{31C319CF-7E73-9FE1-1DB5-4CFECA5F77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3235" y="2002245"/>
                        <a:ext cx="9144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1" name="Object 1630">
            <a:extLst>
              <a:ext uri="{FF2B5EF4-FFF2-40B4-BE49-F238E27FC236}">
                <a16:creationId xmlns:a16="http://schemas.microsoft.com/office/drawing/2014/main" id="{3A680B69-F94D-88A3-E74E-A514849D90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0369" y="2052345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99920" imgH="368280" progId="Equation.DSMT4">
                  <p:embed/>
                </p:oleObj>
              </mc:Choice>
              <mc:Fallback>
                <p:oleObj name="Equation" r:id="rId19" imgW="799920" imgH="368280" progId="Equation.DSMT4">
                  <p:embed/>
                  <p:pic>
                    <p:nvPicPr>
                      <p:cNvPr id="1485" name="Object 1484">
                        <a:extLst>
                          <a:ext uri="{FF2B5EF4-FFF2-40B4-BE49-F238E27FC236}">
                            <a16:creationId xmlns:a16="http://schemas.microsoft.com/office/drawing/2014/main" id="{4E66A223-700B-7CFC-0B37-91CF446059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80369" y="2052345"/>
                        <a:ext cx="800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2" name="Object 1631">
            <a:extLst>
              <a:ext uri="{FF2B5EF4-FFF2-40B4-BE49-F238E27FC236}">
                <a16:creationId xmlns:a16="http://schemas.microsoft.com/office/drawing/2014/main" id="{60589F54-0757-6A3C-FF49-ACBDEA9EA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2988" y="2109408"/>
          <a:ext cx="939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39600" imgH="241200" progId="Equation.DSMT4">
                  <p:embed/>
                </p:oleObj>
              </mc:Choice>
              <mc:Fallback>
                <p:oleObj name="Equation" r:id="rId21" imgW="939600" imgH="241200" progId="Equation.DSMT4">
                  <p:embed/>
                  <p:pic>
                    <p:nvPicPr>
                      <p:cNvPr id="1486" name="Object 1485">
                        <a:extLst>
                          <a:ext uri="{FF2B5EF4-FFF2-40B4-BE49-F238E27FC236}">
                            <a16:creationId xmlns:a16="http://schemas.microsoft.com/office/drawing/2014/main" id="{4CEFD01F-EC2A-F3D8-D7C9-83AA19FBC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92988" y="2109408"/>
                        <a:ext cx="939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3" name="Picture 1632">
            <a:extLst>
              <a:ext uri="{FF2B5EF4-FFF2-40B4-BE49-F238E27FC236}">
                <a16:creationId xmlns:a16="http://schemas.microsoft.com/office/drawing/2014/main" id="{9E725905-E46D-A68C-5C6A-F0638422688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2039" y="2832335"/>
            <a:ext cx="2304488" cy="2304488"/>
          </a:xfrm>
          <a:prstGeom prst="rect">
            <a:avLst/>
          </a:prstGeom>
        </p:spPr>
      </p:pic>
      <p:pic>
        <p:nvPicPr>
          <p:cNvPr id="1634" name="Picture 1633">
            <a:extLst>
              <a:ext uri="{FF2B5EF4-FFF2-40B4-BE49-F238E27FC236}">
                <a16:creationId xmlns:a16="http://schemas.microsoft.com/office/drawing/2014/main" id="{FDC6A316-9D2D-F8C5-1F7D-AC61104BF9F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2039" y="5114772"/>
            <a:ext cx="2304488" cy="2304488"/>
          </a:xfrm>
          <a:prstGeom prst="rect">
            <a:avLst/>
          </a:prstGeom>
        </p:spPr>
      </p:pic>
      <p:pic>
        <p:nvPicPr>
          <p:cNvPr id="1635" name="Picture 1634">
            <a:extLst>
              <a:ext uri="{FF2B5EF4-FFF2-40B4-BE49-F238E27FC236}">
                <a16:creationId xmlns:a16="http://schemas.microsoft.com/office/drawing/2014/main" id="{03ED2623-9CB7-2586-B164-732EAEBF844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2039" y="7382283"/>
            <a:ext cx="2304488" cy="23044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B4595C-F779-8E1D-58F0-312AAA9710D1}"/>
              </a:ext>
            </a:extLst>
          </p:cNvPr>
          <p:cNvSpPr/>
          <p:nvPr/>
        </p:nvSpPr>
        <p:spPr>
          <a:xfrm>
            <a:off x="5181600" y="2926830"/>
            <a:ext cx="2133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135" lvl="0">
              <a:spcBef>
                <a:spcPts val="1000"/>
              </a:spcBef>
              <a:tabLst>
                <a:tab pos="1850389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Domain: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30"/>
              </a:spcBef>
            </a:pPr>
            <a:endParaRPr lang="en-US" sz="95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4135" lvl="0">
              <a:tabLst>
                <a:tab pos="1835150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Range: </a:t>
            </a:r>
            <a:r>
              <a:rPr lang="en-US" sz="1000" u="sng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5"/>
              </a:spcBef>
            </a:pPr>
            <a:endParaRPr lang="en-US" sz="14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4135" lvl="0"/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End</a:t>
            </a:r>
            <a:r>
              <a:rPr lang="en-US" sz="1000" b="1" kern="0" spc="-7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Behavior:</a:t>
            </a:r>
            <a:endParaRPr lang="en-US" sz="1000" kern="0" dirty="0">
              <a:solidFill>
                <a:prstClr val="black"/>
              </a:solidFill>
              <a:latin typeface="Century Gothic"/>
              <a:cs typeface="Century Gothic"/>
            </a:endParaRPr>
          </a:p>
          <a:p>
            <a:pPr marL="100965" lvl="0">
              <a:spcBef>
                <a:spcPts val="630"/>
              </a:spcBef>
              <a:tabLst>
                <a:tab pos="1022985" algn="l"/>
              </a:tabLst>
            </a:pPr>
            <a:br>
              <a:rPr lang="en-US" sz="100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en-US" sz="100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en-US" sz="100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en-US" sz="100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en-US" sz="1050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As </a:t>
            </a:r>
            <a:r>
              <a:rPr lang="en-US" sz="1050" kern="0" spc="240" dirty="0">
                <a:solidFill>
                  <a:prstClr val="black"/>
                </a:solidFill>
                <a:latin typeface="Century Gothic"/>
                <a:cs typeface="Century Gothic"/>
              </a:rPr>
              <a:t>      </a:t>
            </a:r>
            <a:r>
              <a:rPr lang="en-US" sz="105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,                ________</a:t>
            </a:r>
            <a:endParaRPr lang="en-US" sz="1050" kern="0" dirty="0">
              <a:solidFill>
                <a:prstClr val="black"/>
              </a:solidFill>
              <a:latin typeface="Symbol"/>
              <a:cs typeface="Symbol"/>
            </a:endParaRPr>
          </a:p>
          <a:p>
            <a:pPr marL="100965" marR="0" lvl="0" indent="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22985" algn="l"/>
              </a:tabLst>
              <a:defRPr/>
            </a:pP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br>
              <a:rPr kumimoji="0" lang="en-US" sz="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</a:br>
            <a:r>
              <a:rPr kumimoji="0" lang="en-US" sz="105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  <a:t>As </a:t>
            </a:r>
            <a:r>
              <a:rPr kumimoji="0" lang="en-US" sz="1050" b="0" i="0" u="none" strike="noStrike" kern="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  <a:t>       </a:t>
            </a:r>
            <a:r>
              <a:rPr kumimoji="0" lang="en-US" sz="105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  <a:t>,               </a:t>
            </a:r>
            <a:r>
              <a:rPr lang="en-US" sz="105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</a:t>
            </a:r>
            <a:r>
              <a:rPr kumimoji="0" lang="en-US" sz="105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Century Gothic"/>
              </a:rPr>
              <a:t>                </a:t>
            </a:r>
            <a:endParaRPr lang="en-US" sz="115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4135" lvl="0">
              <a:tabLst>
                <a:tab pos="1920239" algn="l"/>
              </a:tabLst>
            </a:pP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br>
              <a:rPr lang="en-US" sz="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</a:br>
            <a:r>
              <a:rPr lang="en-US" sz="115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-intercept: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4135" lvl="0">
              <a:spcBef>
                <a:spcPts val="1155"/>
              </a:spcBef>
              <a:tabLst>
                <a:tab pos="1943100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Asymptote: </a:t>
            </a:r>
            <a:r>
              <a:rPr lang="en-US" sz="1000" b="1" kern="0" spc="-1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CBB4DCB-CD17-1093-A273-008E08B6A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72275"/>
              </p:ext>
            </p:extLst>
          </p:nvPr>
        </p:nvGraphicFramePr>
        <p:xfrm>
          <a:off x="5563507" y="3959673"/>
          <a:ext cx="4191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9040" imgH="139680" progId="Equation.DSMT4">
                  <p:embed/>
                </p:oleObj>
              </mc:Choice>
              <mc:Fallback>
                <p:oleObj name="Equation" r:id="rId24" imgW="419040" imgH="139680" progId="Equation.DSMT4">
                  <p:embed/>
                  <p:pic>
                    <p:nvPicPr>
                      <p:cNvPr id="1427" name="Object 14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563507" y="3959673"/>
                        <a:ext cx="4191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CFC362A-B225-F2CE-6B5C-7E1FACC3DA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835554"/>
              </p:ext>
            </p:extLst>
          </p:nvPr>
        </p:nvGraphicFramePr>
        <p:xfrm>
          <a:off x="6035405" y="3914901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95000" imgH="203040" progId="Equation.DSMT4">
                  <p:embed/>
                </p:oleObj>
              </mc:Choice>
              <mc:Fallback>
                <p:oleObj name="Equation" r:id="rId26" imgW="495000" imgH="203040" progId="Equation.DSMT4">
                  <p:embed/>
                  <p:pic>
                    <p:nvPicPr>
                      <p:cNvPr id="1435" name="Object 143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035405" y="3914901"/>
                        <a:ext cx="495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EDEF6AC4-AC30-4A6E-B379-54B62E8F0DC3}"/>
              </a:ext>
            </a:extLst>
          </p:cNvPr>
          <p:cNvGrpSpPr/>
          <p:nvPr/>
        </p:nvGrpSpPr>
        <p:grpSpPr>
          <a:xfrm>
            <a:off x="5181600" y="5212830"/>
            <a:ext cx="2133600" cy="2123658"/>
            <a:chOff x="5181600" y="5212830"/>
            <a:chExt cx="2133600" cy="21236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C79C7E-C50E-A2C7-9481-E783FF45F767}"/>
                </a:ext>
              </a:extLst>
            </p:cNvPr>
            <p:cNvSpPr/>
            <p:nvPr/>
          </p:nvSpPr>
          <p:spPr>
            <a:xfrm>
              <a:off x="5181600" y="5212830"/>
              <a:ext cx="2133600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4135" lvl="0">
                <a:spcBef>
                  <a:spcPts val="1000"/>
                </a:spcBef>
                <a:tabLst>
                  <a:tab pos="1850389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Domain:</a:t>
              </a:r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lvl="0">
                <a:spcBef>
                  <a:spcPts val="30"/>
                </a:spcBef>
              </a:pPr>
              <a:endParaRPr lang="en-US" sz="95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tabLst>
                  <a:tab pos="1835150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Range: </a:t>
              </a:r>
              <a:r>
                <a:rPr lang="en-US" sz="1000" u="sng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lvl="0">
                <a:spcBef>
                  <a:spcPts val="5"/>
                </a:spcBef>
              </a:pPr>
              <a:endParaRPr lang="en-US" sz="14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/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End</a:t>
              </a:r>
              <a:r>
                <a:rPr lang="en-US" sz="1000" b="1" kern="0" spc="-7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Behavior:</a:t>
              </a:r>
              <a:endParaRPr lang="en-US" sz="1000" kern="0" dirty="0">
                <a:solidFill>
                  <a:prstClr val="black"/>
                </a:solidFill>
                <a:latin typeface="Century Gothic"/>
                <a:cs typeface="Century Gothic"/>
              </a:endParaRPr>
            </a:p>
            <a:p>
              <a:pPr marL="100965" lvl="0">
                <a:spcBef>
                  <a:spcPts val="630"/>
                </a:spcBef>
                <a:tabLst>
                  <a:tab pos="1022985" algn="l"/>
                </a:tabLst>
              </a:pP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r>
                <a:rPr lang="en-US" sz="105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As</a:t>
              </a:r>
              <a:r>
                <a:rPr lang="en-US" sz="1050" kern="0" spc="24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50" i="1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      </a:t>
              </a:r>
              <a:r>
                <a:rPr lang="en-US" sz="105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	</a:t>
              </a:r>
              <a:r>
                <a:rPr lang="en-US" sz="1000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,   </a:t>
              </a:r>
              <a:endParaRPr lang="en-US" sz="1050" kern="0" dirty="0">
                <a:solidFill>
                  <a:prstClr val="black"/>
                </a:solidFill>
                <a:latin typeface="Symbol"/>
                <a:cs typeface="Symbol"/>
              </a:endParaRPr>
            </a:p>
            <a:p>
              <a:pPr lvl="0">
                <a:spcBef>
                  <a:spcPts val="15"/>
                </a:spcBef>
              </a:pPr>
              <a:endParaRPr lang="en-US" sz="11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100965" lvl="0">
                <a:tabLst>
                  <a:tab pos="1022985" algn="l"/>
                </a:tabLst>
              </a:pPr>
              <a:r>
                <a:rPr lang="en-US" sz="105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As</a:t>
              </a:r>
              <a:r>
                <a:rPr lang="en-US" sz="1050" kern="0" spc="24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50" i="1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      </a:t>
              </a:r>
              <a:r>
                <a:rPr lang="en-US" sz="105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r>
                <a:rPr lang="en-US" sz="1000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, </a:t>
              </a:r>
              <a:r>
                <a:rPr lang="en-US" sz="1000" kern="0" spc="25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endParaRPr lang="en-US" sz="115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tabLst>
                  <a:tab pos="1920239" algn="l"/>
                </a:tabLst>
              </a:pP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r>
                <a:rPr lang="en-US" sz="115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  <a:t>x</a:t>
              </a: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-intercept:</a:t>
              </a:r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spcBef>
                  <a:spcPts val="1155"/>
                </a:spcBef>
                <a:tabLst>
                  <a:tab pos="1943100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Asymptote: </a:t>
              </a:r>
              <a:r>
                <a:rPr lang="en-US" sz="1000" b="1" kern="0" spc="-15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</p:txBody>
        </p: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F4636556-6676-E840-D202-6AFFDA2D06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3976814"/>
                </p:ext>
              </p:extLst>
            </p:nvPr>
          </p:nvGraphicFramePr>
          <p:xfrm>
            <a:off x="5552768" y="623700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139680" progId="Equation.DSMT4">
                    <p:embed/>
                  </p:oleObj>
                </mc:Choice>
                <mc:Fallback>
                  <p:oleObj name="Equation" r:id="rId28" imgW="279360" imgH="139680" progId="Equation.DSMT4">
                    <p:embed/>
                    <p:pic>
                      <p:nvPicPr>
                        <p:cNvPr id="1429" name="Object 1428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552768" y="623700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656E5CBE-6E8A-F058-9F43-9EC8AFF911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680676"/>
                </p:ext>
              </p:extLst>
            </p:nvPr>
          </p:nvGraphicFramePr>
          <p:xfrm>
            <a:off x="5552768" y="656884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139680" progId="Equation.DSMT4">
                    <p:embed/>
                  </p:oleObj>
                </mc:Choice>
                <mc:Fallback>
                  <p:oleObj name="Equation" r:id="rId28" imgW="279360" imgH="139680" progId="Equation.DSMT4">
                    <p:embed/>
                    <p:pic>
                      <p:nvPicPr>
                        <p:cNvPr id="1430" name="Object 1429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552768" y="656884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834761E0-FCA2-674A-99C5-FDC5988547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3483047"/>
                </p:ext>
              </p:extLst>
            </p:nvPr>
          </p:nvGraphicFramePr>
          <p:xfrm>
            <a:off x="6372759" y="6203087"/>
            <a:ext cx="638175" cy="204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38175" imgH="204537" progId="Equation.DSMT4">
                    <p:embed/>
                  </p:oleObj>
                </mc:Choice>
                <mc:Fallback>
                  <p:oleObj name="Equation" r:id="rId30" imgW="638175" imgH="204537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38F3F54E-3005-6248-A209-EEBE3E94A9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372759" y="6203087"/>
                          <a:ext cx="638175" cy="2047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AA6E1596-6548-20FE-013F-480B4B8A7D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285092"/>
                </p:ext>
              </p:extLst>
            </p:nvPr>
          </p:nvGraphicFramePr>
          <p:xfrm>
            <a:off x="6372759" y="6561344"/>
            <a:ext cx="7239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23900" imgH="200025" progId="Equation.DSMT4">
                    <p:embed/>
                  </p:oleObj>
                </mc:Choice>
                <mc:Fallback>
                  <p:oleObj name="Equation" r:id="rId32" imgW="723900" imgH="200025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2A2B8033-F601-FCDE-6F8D-1F8DBEE757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372759" y="6561344"/>
                          <a:ext cx="723900" cy="200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2D667FB-AFAB-B4FF-C1F2-1533618E6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982701"/>
              </p:ext>
            </p:extLst>
          </p:nvPr>
        </p:nvGraphicFramePr>
        <p:xfrm>
          <a:off x="5551527" y="4275913"/>
          <a:ext cx="495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95000" imgH="139680" progId="Equation.DSMT4">
                  <p:embed/>
                </p:oleObj>
              </mc:Choice>
              <mc:Fallback>
                <p:oleObj name="Equation" r:id="rId34" imgW="495000" imgH="1396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C640A03-69D1-AEEB-1BFC-F0BBEC909D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551527" y="4275913"/>
                        <a:ext cx="4953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240EF51-4DDA-BB09-6D0A-10D0377820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809200"/>
              </p:ext>
            </p:extLst>
          </p:nvPr>
        </p:nvGraphicFramePr>
        <p:xfrm>
          <a:off x="6093021" y="4210826"/>
          <a:ext cx="495300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95300" imgH="204537" progId="Equation.DSMT4">
                  <p:embed/>
                </p:oleObj>
              </mc:Choice>
              <mc:Fallback>
                <p:oleObj name="Equation" r:id="rId26" imgW="495300" imgH="204537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9CB5F88-9EE7-B839-9954-5BFDF9E1CF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093021" y="4210826"/>
                        <a:ext cx="495300" cy="20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042B88E-B4C9-BFAD-0492-2978C0476477}"/>
              </a:ext>
            </a:extLst>
          </p:cNvPr>
          <p:cNvGrpSpPr/>
          <p:nvPr/>
        </p:nvGrpSpPr>
        <p:grpSpPr>
          <a:xfrm>
            <a:off x="5172458" y="7468168"/>
            <a:ext cx="2133600" cy="2123658"/>
            <a:chOff x="5181600" y="5212830"/>
            <a:chExt cx="2133600" cy="212365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35D958-2170-3837-E130-EB23C9F65E4A}"/>
                </a:ext>
              </a:extLst>
            </p:cNvPr>
            <p:cNvSpPr/>
            <p:nvPr/>
          </p:nvSpPr>
          <p:spPr>
            <a:xfrm>
              <a:off x="5181600" y="5212830"/>
              <a:ext cx="2133600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4135" lvl="0">
                <a:spcBef>
                  <a:spcPts val="1000"/>
                </a:spcBef>
                <a:tabLst>
                  <a:tab pos="1850389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Domain:</a:t>
              </a:r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lvl="0">
                <a:spcBef>
                  <a:spcPts val="30"/>
                </a:spcBef>
              </a:pPr>
              <a:endParaRPr lang="en-US" sz="95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tabLst>
                  <a:tab pos="1835150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Range: </a:t>
              </a:r>
              <a:r>
                <a:rPr lang="en-US" sz="1000" u="sng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lvl="0">
                <a:spcBef>
                  <a:spcPts val="5"/>
                </a:spcBef>
              </a:pPr>
              <a:endParaRPr lang="en-US" sz="14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/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End</a:t>
              </a:r>
              <a:r>
                <a:rPr lang="en-US" sz="1000" b="1" kern="0" spc="-7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Behavior:</a:t>
              </a:r>
              <a:endParaRPr lang="en-US" sz="1000" kern="0" dirty="0">
                <a:solidFill>
                  <a:prstClr val="black"/>
                </a:solidFill>
                <a:latin typeface="Century Gothic"/>
                <a:cs typeface="Century Gothic"/>
              </a:endParaRPr>
            </a:p>
            <a:p>
              <a:pPr marL="100965" lvl="0">
                <a:spcBef>
                  <a:spcPts val="630"/>
                </a:spcBef>
                <a:tabLst>
                  <a:tab pos="1022985" algn="l"/>
                </a:tabLst>
              </a:pP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br>
                <a:rPr lang="en-US" sz="10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</a:br>
              <a:r>
                <a:rPr lang="en-US" sz="105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As</a:t>
              </a:r>
              <a:r>
                <a:rPr lang="en-US" sz="1050" kern="0" spc="24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50" i="1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      </a:t>
              </a:r>
              <a:r>
                <a:rPr lang="en-US" sz="105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	</a:t>
              </a:r>
              <a:r>
                <a:rPr lang="en-US" sz="1000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,   </a:t>
              </a:r>
              <a:endParaRPr lang="en-US" sz="1050" kern="0" dirty="0">
                <a:solidFill>
                  <a:prstClr val="black"/>
                </a:solidFill>
                <a:latin typeface="Symbol"/>
                <a:cs typeface="Symbol"/>
              </a:endParaRPr>
            </a:p>
            <a:p>
              <a:pPr lvl="0">
                <a:spcBef>
                  <a:spcPts val="15"/>
                </a:spcBef>
              </a:pPr>
              <a:endParaRPr lang="en-US" sz="11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100965" lvl="0">
                <a:tabLst>
                  <a:tab pos="1022985" algn="l"/>
                </a:tabLst>
              </a:pPr>
              <a:r>
                <a:rPr lang="en-US" sz="1050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As</a:t>
              </a:r>
              <a:r>
                <a:rPr lang="en-US" sz="1050" kern="0" spc="24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50" i="1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      </a:t>
              </a:r>
              <a:r>
                <a:rPr lang="en-US" sz="105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r>
                <a:rPr lang="en-US" sz="1000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, </a:t>
              </a:r>
              <a:r>
                <a:rPr lang="en-US" sz="1000" kern="0" spc="25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endParaRPr lang="en-US" sz="115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tabLst>
                  <a:tab pos="1920239" algn="l"/>
                </a:tabLst>
              </a:pP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br>
                <a:rPr lang="en-US" sz="10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</a:br>
              <a:r>
                <a:rPr lang="en-US" sz="1150" b="1" i="1" kern="0" spc="-5" dirty="0">
                  <a:solidFill>
                    <a:prstClr val="black"/>
                  </a:solidFill>
                  <a:latin typeface="Times New Roman"/>
                  <a:cs typeface="Times New Roman"/>
                </a:rPr>
                <a:t>x</a:t>
              </a: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-intercept:</a:t>
              </a:r>
              <a:r>
                <a:rPr lang="en-US" sz="1000" b="1" kern="0" spc="-10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marL="64135" lvl="0">
                <a:spcBef>
                  <a:spcPts val="1155"/>
                </a:spcBef>
                <a:tabLst>
                  <a:tab pos="1943100" algn="l"/>
                </a:tabLst>
              </a:pPr>
              <a:r>
                <a:rPr lang="en-US" sz="1000" b="1" kern="0" spc="-5" dirty="0">
                  <a:solidFill>
                    <a:prstClr val="black"/>
                  </a:solidFill>
                  <a:latin typeface="Century Gothic"/>
                  <a:cs typeface="Century Gothic"/>
                </a:rPr>
                <a:t>Asymptote: </a:t>
              </a:r>
              <a:r>
                <a:rPr lang="en-US" sz="1000" b="1" kern="0" spc="-15" dirty="0">
                  <a:solidFill>
                    <a:prstClr val="black"/>
                  </a:solidFill>
                  <a:latin typeface="Century Gothic"/>
                  <a:cs typeface="Century Gothic"/>
                </a:rPr>
                <a:t> </a:t>
              </a:r>
              <a:r>
                <a:rPr lang="en-US" sz="1000" u="sng" kern="0" dirty="0">
                  <a:solidFill>
                    <a:prstClr val="black"/>
                  </a:solidFill>
                  <a:latin typeface="Times New Roman"/>
                  <a:cs typeface="Times New Roman"/>
                </a:rPr>
                <a:t> 	</a:t>
              </a:r>
              <a:endParaRPr lang="en-US" sz="1000" kern="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8E0B3131-5967-F641-5B44-B6471F1F6B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7078240"/>
                </p:ext>
              </p:extLst>
            </p:nvPr>
          </p:nvGraphicFramePr>
          <p:xfrm>
            <a:off x="5552768" y="623700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139680" progId="Equation.DSMT4">
                    <p:embed/>
                  </p:oleObj>
                </mc:Choice>
                <mc:Fallback>
                  <p:oleObj name="Equation" r:id="rId28" imgW="279360" imgH="139680" progId="Equation.DSMT4">
                    <p:embed/>
                    <p:pic>
                      <p:nvPicPr>
                        <p:cNvPr id="1379" name="Object 1378">
                          <a:extLst>
                            <a:ext uri="{FF2B5EF4-FFF2-40B4-BE49-F238E27FC236}">
                              <a16:creationId xmlns:a16="http://schemas.microsoft.com/office/drawing/2014/main" id="{0787F064-CCDC-07FF-F824-4F90979637A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552768" y="623700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57C325FA-18B4-CC28-C24E-0B8F090735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4656923"/>
                </p:ext>
              </p:extLst>
            </p:nvPr>
          </p:nvGraphicFramePr>
          <p:xfrm>
            <a:off x="5552768" y="656884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139680" progId="Equation.DSMT4">
                    <p:embed/>
                  </p:oleObj>
                </mc:Choice>
                <mc:Fallback>
                  <p:oleObj name="Equation" r:id="rId28" imgW="279360" imgH="139680" progId="Equation.DSMT4">
                    <p:embed/>
                    <p:pic>
                      <p:nvPicPr>
                        <p:cNvPr id="1380" name="Object 1379">
                          <a:extLst>
                            <a:ext uri="{FF2B5EF4-FFF2-40B4-BE49-F238E27FC236}">
                              <a16:creationId xmlns:a16="http://schemas.microsoft.com/office/drawing/2014/main" id="{51D20E18-3D68-8A5B-AB70-BB794E3CED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552768" y="656884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6B87BBBE-F80D-9ECD-0BFC-212C07E0A0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3063735"/>
                </p:ext>
              </p:extLst>
            </p:nvPr>
          </p:nvGraphicFramePr>
          <p:xfrm>
            <a:off x="6372759" y="6203087"/>
            <a:ext cx="638175" cy="204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38175" imgH="204537" progId="Equation.DSMT4">
                    <p:embed/>
                  </p:oleObj>
                </mc:Choice>
                <mc:Fallback>
                  <p:oleObj name="Equation" r:id="rId30" imgW="638175" imgH="204537" progId="Equation.DSMT4">
                    <p:embed/>
                    <p:pic>
                      <p:nvPicPr>
                        <p:cNvPr id="1381" name="Object 1380">
                          <a:extLst>
                            <a:ext uri="{FF2B5EF4-FFF2-40B4-BE49-F238E27FC236}">
                              <a16:creationId xmlns:a16="http://schemas.microsoft.com/office/drawing/2014/main" id="{AE140A12-697D-A117-F40A-9A4D9C21EA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372759" y="6203087"/>
                          <a:ext cx="638175" cy="2047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A20DA837-F54C-934F-F557-8C12DC62BF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7080765"/>
                </p:ext>
              </p:extLst>
            </p:nvPr>
          </p:nvGraphicFramePr>
          <p:xfrm>
            <a:off x="6372759" y="6561344"/>
            <a:ext cx="7239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23900" imgH="200025" progId="Equation.DSMT4">
                    <p:embed/>
                  </p:oleObj>
                </mc:Choice>
                <mc:Fallback>
                  <p:oleObj name="Equation" r:id="rId32" imgW="723900" imgH="200025" progId="Equation.DSMT4">
                    <p:embed/>
                    <p:pic>
                      <p:nvPicPr>
                        <p:cNvPr id="1383" name="Object 1382">
                          <a:extLst>
                            <a:ext uri="{FF2B5EF4-FFF2-40B4-BE49-F238E27FC236}">
                              <a16:creationId xmlns:a16="http://schemas.microsoft.com/office/drawing/2014/main" id="{328326F1-C178-7A8D-ABD4-317D8F9CC1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372759" y="6561344"/>
                          <a:ext cx="723900" cy="200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99B3F-BD8C-39CF-7E2A-A81E9845D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290031"/>
              </p:ext>
            </p:extLst>
          </p:nvPr>
        </p:nvGraphicFramePr>
        <p:xfrm>
          <a:off x="395340" y="485667"/>
          <a:ext cx="3505200" cy="36836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line represents the asymptote of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graph of the following function?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8B2B18-1287-480B-288E-AF7F5E3BC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71896"/>
              </p:ext>
            </p:extLst>
          </p:nvPr>
        </p:nvGraphicFramePr>
        <p:xfrm>
          <a:off x="3849127" y="493276"/>
          <a:ext cx="3421062" cy="368364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What is the domain of the function given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CA8D38-24B8-0957-AAC4-2E64CB88F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94904"/>
              </p:ext>
            </p:extLst>
          </p:nvPr>
        </p:nvGraphicFramePr>
        <p:xfrm>
          <a:off x="403278" y="2781810"/>
          <a:ext cx="3497262" cy="368364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equation given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2F0B82-F73B-750C-987F-825E1827C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56977"/>
              </p:ext>
            </p:extLst>
          </p:nvPr>
        </p:nvGraphicFramePr>
        <p:xfrm>
          <a:off x="3865938" y="2778341"/>
          <a:ext cx="3362267" cy="368364"/>
        </p:xfrm>
        <a:graphic>
          <a:graphicData uri="http://schemas.openxmlformats.org/drawingml/2006/table">
            <a:tbl>
              <a:tblPr/>
              <a:tblGrid>
                <a:gridCol w="336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equation given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02FBD0-EF07-AE7C-B21D-0EA9AA000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813243"/>
              </p:ext>
            </p:extLst>
          </p:nvPr>
        </p:nvGraphicFramePr>
        <p:xfrm>
          <a:off x="403278" y="5084035"/>
          <a:ext cx="3497262" cy="368364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equation given 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44468-8250-79FF-D311-3A34635B7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54806"/>
              </p:ext>
            </p:extLst>
          </p:nvPr>
        </p:nvGraphicFramePr>
        <p:xfrm>
          <a:off x="3845759" y="5081734"/>
          <a:ext cx="3497262" cy="368364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equation given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5CEC42-2BF1-8E4D-A908-142B1830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13529"/>
              </p:ext>
            </p:extLst>
          </p:nvPr>
        </p:nvGraphicFramePr>
        <p:xfrm>
          <a:off x="390190" y="7393585"/>
          <a:ext cx="3497262" cy="368364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expression </a:t>
                      </a:r>
                      <a:r>
                        <a:rPr lang="en-US" sz="1100" b="1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US" sz="1100" b="0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equivalent to which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of the following?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698DF4-7C86-0756-125A-D92DFD7BE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68400"/>
              </p:ext>
            </p:extLst>
          </p:nvPr>
        </p:nvGraphicFramePr>
        <p:xfrm>
          <a:off x="3845759" y="7390431"/>
          <a:ext cx="3192462" cy="175451"/>
        </p:xfrm>
        <a:graphic>
          <a:graphicData uri="http://schemas.openxmlformats.org/drawingml/2006/table">
            <a:tbl>
              <a:tblPr/>
              <a:tblGrid>
                <a:gridCol w="319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 the value of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Box 297">
            <a:extLst>
              <a:ext uri="{FF2B5EF4-FFF2-40B4-BE49-F238E27FC236}">
                <a16:creationId xmlns:a16="http://schemas.microsoft.com/office/drawing/2014/main" id="{069C6D99-067C-F99A-29D7-766B8AC48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392" y="459855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" name="Text Box 297">
            <a:extLst>
              <a:ext uri="{FF2B5EF4-FFF2-40B4-BE49-F238E27FC236}">
                <a16:creationId xmlns:a16="http://schemas.microsoft.com/office/drawing/2014/main" id="{9DC70773-F023-5E67-0504-7F345D076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768" y="229534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Text Box 297">
            <a:extLst>
              <a:ext uri="{FF2B5EF4-FFF2-40B4-BE49-F238E27FC236}">
                <a16:creationId xmlns:a16="http://schemas.microsoft.com/office/drawing/2014/main" id="{527B705C-4337-E825-24A6-82D10FCC4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768" y="229534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" name="Text Box 297">
            <a:extLst>
              <a:ext uri="{FF2B5EF4-FFF2-40B4-BE49-F238E27FC236}">
                <a16:creationId xmlns:a16="http://schemas.microsoft.com/office/drawing/2014/main" id="{57C7CE60-9459-0FD1-AD0D-2B8E5019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59855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" name="Text Box 297">
            <a:extLst>
              <a:ext uri="{FF2B5EF4-FFF2-40B4-BE49-F238E27FC236}">
                <a16:creationId xmlns:a16="http://schemas.microsoft.com/office/drawing/2014/main" id="{9B7F8F83-B5C2-687F-8427-C58CBE345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90422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5" name="Text Box 297">
            <a:extLst>
              <a:ext uri="{FF2B5EF4-FFF2-40B4-BE49-F238E27FC236}">
                <a16:creationId xmlns:a16="http://schemas.microsoft.com/office/drawing/2014/main" id="{C9EFA3C5-D95C-474F-57D8-145A8EC1E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690422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6" name="Text Box 297">
            <a:extLst>
              <a:ext uri="{FF2B5EF4-FFF2-40B4-BE49-F238E27FC236}">
                <a16:creationId xmlns:a16="http://schemas.microsoft.com/office/drawing/2014/main" id="{199666AC-1086-8708-7317-BD44D439A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768" y="922954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Text Box 297">
            <a:extLst>
              <a:ext uri="{FF2B5EF4-FFF2-40B4-BE49-F238E27FC236}">
                <a16:creationId xmlns:a16="http://schemas.microsoft.com/office/drawing/2014/main" id="{0B47B115-8EAB-2375-A4B1-62B813E36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921971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8" name="Text Box 807">
            <a:extLst>
              <a:ext uri="{FF2B5EF4-FFF2-40B4-BE49-F238E27FC236}">
                <a16:creationId xmlns:a16="http://schemas.microsoft.com/office/drawing/2014/main" id="{27E3A8CD-60DC-8655-11D2-143C07A07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38" y="1550556"/>
            <a:ext cx="924560" cy="109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-4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-4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Box 807">
            <a:extLst>
              <a:ext uri="{FF2B5EF4-FFF2-40B4-BE49-F238E27FC236}">
                <a16:creationId xmlns:a16="http://schemas.microsoft.com/office/drawing/2014/main" id="{A46658D8-318E-FC50-9035-823AD46E9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494113"/>
            <a:ext cx="730250" cy="112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 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B70AD3-1613-CEB3-0F14-299B81BC1C7F}"/>
              </a:ext>
            </a:extLst>
          </p:cNvPr>
          <p:cNvGrpSpPr/>
          <p:nvPr/>
        </p:nvGrpSpPr>
        <p:grpSpPr>
          <a:xfrm>
            <a:off x="683493" y="3842007"/>
            <a:ext cx="1023126" cy="1131889"/>
            <a:chOff x="674958" y="3780020"/>
            <a:chExt cx="1023126" cy="1131889"/>
          </a:xfrm>
        </p:grpSpPr>
        <p:sp>
          <p:nvSpPr>
            <p:cNvPr id="21" name="Text Box 807">
              <a:extLst>
                <a:ext uri="{FF2B5EF4-FFF2-40B4-BE49-F238E27FC236}">
                  <a16:creationId xmlns:a16="http://schemas.microsoft.com/office/drawing/2014/main" id="{319FA5EC-D1F1-9037-E61A-4E0705DBE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958" y="3780020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CA1B0A9D-C4EB-FD30-EC55-ABFA28E928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4184" y="3881487"/>
            <a:ext cx="723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23600" imgH="215640" progId="Equation.DSMT4">
                    <p:embed/>
                  </p:oleObj>
                </mc:Choice>
                <mc:Fallback>
                  <p:oleObj name="Equation" r:id="rId4" imgW="723600" imgH="215640" progId="Equation.DSMT4">
                    <p:embed/>
                    <p:pic>
                      <p:nvPicPr>
                        <p:cNvPr id="47" name="Object 46">
                          <a:extLst>
                            <a:ext uri="{FF2B5EF4-FFF2-40B4-BE49-F238E27FC236}">
                              <a16:creationId xmlns:a16="http://schemas.microsoft.com/office/drawing/2014/main" id="{43A85614-9562-BCD8-1FE8-FE0C771A7D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74184" y="3881487"/>
                          <a:ext cx="7239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606E1ECC-8B1B-689B-4E70-059C1F0420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4184" y="4152994"/>
            <a:ext cx="698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98400" imgH="215640" progId="Equation.DSMT4">
                    <p:embed/>
                  </p:oleObj>
                </mc:Choice>
                <mc:Fallback>
                  <p:oleObj name="Equation" r:id="rId6" imgW="698400" imgH="215640" progId="Equation.DSMT4">
                    <p:embed/>
                    <p:pic>
                      <p:nvPicPr>
                        <p:cNvPr id="48" name="Object 47">
                          <a:extLst>
                            <a:ext uri="{FF2B5EF4-FFF2-40B4-BE49-F238E27FC236}">
                              <a16:creationId xmlns:a16="http://schemas.microsoft.com/office/drawing/2014/main" id="{ED9D822D-35A2-93E7-266B-67BEB78683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74184" y="4152994"/>
                          <a:ext cx="698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CB480380-5E56-9E07-A980-4F1E60705E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4184" y="4424501"/>
            <a:ext cx="6731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72840" imgH="215640" progId="Equation.DSMT4">
                    <p:embed/>
                  </p:oleObj>
                </mc:Choice>
                <mc:Fallback>
                  <p:oleObj name="Equation" r:id="rId8" imgW="672840" imgH="215640" progId="Equation.DSMT4">
                    <p:embed/>
                    <p:pic>
                      <p:nvPicPr>
                        <p:cNvPr id="49" name="Object 48">
                          <a:extLst>
                            <a:ext uri="{FF2B5EF4-FFF2-40B4-BE49-F238E27FC236}">
                              <a16:creationId xmlns:a16="http://schemas.microsoft.com/office/drawing/2014/main" id="{3AF3B7E4-6A48-6F27-3AAD-A1B73AACDA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74184" y="4424501"/>
                          <a:ext cx="6731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D410147C-6E5D-F5E3-6830-B4F574D5BF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4184" y="4696009"/>
            <a:ext cx="698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98400" imgH="215640" progId="Equation.DSMT4">
                    <p:embed/>
                  </p:oleObj>
                </mc:Choice>
                <mc:Fallback>
                  <p:oleObj name="Equation" r:id="rId10" imgW="698400" imgH="215640" progId="Equation.DSMT4">
                    <p:embed/>
                    <p:pic>
                      <p:nvPicPr>
                        <p:cNvPr id="50" name="Object 49">
                          <a:extLst>
                            <a:ext uri="{FF2B5EF4-FFF2-40B4-BE49-F238E27FC236}">
                              <a16:creationId xmlns:a16="http://schemas.microsoft.com/office/drawing/2014/main" id="{B0610FF3-8C6D-5041-D5D4-9A10F50055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74184" y="4696009"/>
                          <a:ext cx="698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49D2BD2B-554E-BCE8-2013-B9E28DE9E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669337"/>
              </p:ext>
            </p:extLst>
          </p:nvPr>
        </p:nvGraphicFramePr>
        <p:xfrm>
          <a:off x="1606550" y="966788"/>
          <a:ext cx="965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160" imgH="215640" progId="Equation.DSMT4">
                  <p:embed/>
                </p:oleObj>
              </mc:Choice>
              <mc:Fallback>
                <p:oleObj name="Equation" r:id="rId12" imgW="965160" imgH="215640" progId="Equation.DSMT4">
                  <p:embed/>
                  <p:pic>
                    <p:nvPicPr>
                      <p:cNvPr id="1347" name="Object 1346">
                        <a:extLst>
                          <a:ext uri="{FF2B5EF4-FFF2-40B4-BE49-F238E27FC236}">
                            <a16:creationId xmlns:a16="http://schemas.microsoft.com/office/drawing/2014/main" id="{E3A2EF93-43DC-B746-6DBA-2A5970BBAF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06550" y="966788"/>
                        <a:ext cx="965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18F175C6-DD9E-69FA-2BA6-F2722691B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574602"/>
              </p:ext>
            </p:extLst>
          </p:nvPr>
        </p:nvGraphicFramePr>
        <p:xfrm>
          <a:off x="4921250" y="927100"/>
          <a:ext cx="1409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203040" progId="Equation.DSMT4">
                  <p:embed/>
                </p:oleObj>
              </mc:Choice>
              <mc:Fallback>
                <p:oleObj name="Equation" r:id="rId14" imgW="1409400" imgH="203040" progId="Equation.DSMT4">
                  <p:embed/>
                  <p:pic>
                    <p:nvPicPr>
                      <p:cNvPr id="1348" name="Object 1347">
                        <a:extLst>
                          <a:ext uri="{FF2B5EF4-FFF2-40B4-BE49-F238E27FC236}">
                            <a16:creationId xmlns:a16="http://schemas.microsoft.com/office/drawing/2014/main" id="{515AC460-DD85-9DDD-6365-2FB6F3084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921250" y="927100"/>
                        <a:ext cx="1409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8C6B7A19-71D5-F036-94D9-50B99C3C1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816857"/>
              </p:ext>
            </p:extLst>
          </p:nvPr>
        </p:nvGraphicFramePr>
        <p:xfrm>
          <a:off x="1850231" y="3248528"/>
          <a:ext cx="558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8720" imgH="215640" progId="Equation.DSMT4">
                  <p:embed/>
                </p:oleObj>
              </mc:Choice>
              <mc:Fallback>
                <p:oleObj name="Equation" r:id="rId16" imgW="558720" imgH="215640" progId="Equation.DSMT4">
                  <p:embed/>
                  <p:pic>
                    <p:nvPicPr>
                      <p:cNvPr id="1349" name="Object 1348">
                        <a:extLst>
                          <a:ext uri="{FF2B5EF4-FFF2-40B4-BE49-F238E27FC236}">
                            <a16:creationId xmlns:a16="http://schemas.microsoft.com/office/drawing/2014/main" id="{96BA3027-ED8C-57CA-68ED-5E86A8F6AE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850231" y="3248528"/>
                        <a:ext cx="558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D17C9919-012E-B2AF-90E9-985EAEDB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569272"/>
              </p:ext>
            </p:extLst>
          </p:nvPr>
        </p:nvGraphicFramePr>
        <p:xfrm>
          <a:off x="5271935" y="3215614"/>
          <a:ext cx="647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215640" progId="Equation.DSMT4">
                  <p:embed/>
                </p:oleObj>
              </mc:Choice>
              <mc:Fallback>
                <p:oleObj name="Equation" r:id="rId18" imgW="647640" imgH="215640" progId="Equation.DSMT4">
                  <p:embed/>
                  <p:pic>
                    <p:nvPicPr>
                      <p:cNvPr id="1350" name="Object 1349">
                        <a:extLst>
                          <a:ext uri="{FF2B5EF4-FFF2-40B4-BE49-F238E27FC236}">
                            <a16:creationId xmlns:a16="http://schemas.microsoft.com/office/drawing/2014/main" id="{AA01AC42-EC50-7F89-FEA0-0C2AA827B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71935" y="3215614"/>
                        <a:ext cx="647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DBA29611-5431-D828-AEFE-72B8B7234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534837"/>
              </p:ext>
            </p:extLst>
          </p:nvPr>
        </p:nvGraphicFramePr>
        <p:xfrm>
          <a:off x="1634331" y="5490262"/>
          <a:ext cx="990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90360" imgH="228600" progId="Equation.DSMT4">
                  <p:embed/>
                </p:oleObj>
              </mc:Choice>
              <mc:Fallback>
                <p:oleObj name="Equation" r:id="rId20" imgW="990360" imgH="228600" progId="Equation.DSMT4">
                  <p:embed/>
                  <p:pic>
                    <p:nvPicPr>
                      <p:cNvPr id="1351" name="Object 1350">
                        <a:extLst>
                          <a:ext uri="{FF2B5EF4-FFF2-40B4-BE49-F238E27FC236}">
                            <a16:creationId xmlns:a16="http://schemas.microsoft.com/office/drawing/2014/main" id="{891AF25C-093A-63DB-B6E0-A0AE327F9C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34331" y="5490262"/>
                        <a:ext cx="990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1358F057-84AA-C10A-470F-740E3C44A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231532"/>
              </p:ext>
            </p:extLst>
          </p:nvPr>
        </p:nvGraphicFramePr>
        <p:xfrm>
          <a:off x="5346700" y="5514936"/>
          <a:ext cx="635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680" imgH="203040" progId="Equation.DSMT4">
                  <p:embed/>
                </p:oleObj>
              </mc:Choice>
              <mc:Fallback>
                <p:oleObj name="Equation" r:id="rId22" imgW="634680" imgH="203040" progId="Equation.DSMT4">
                  <p:embed/>
                  <p:pic>
                    <p:nvPicPr>
                      <p:cNvPr id="1352" name="Object 1351">
                        <a:extLst>
                          <a:ext uri="{FF2B5EF4-FFF2-40B4-BE49-F238E27FC236}">
                            <a16:creationId xmlns:a16="http://schemas.microsoft.com/office/drawing/2014/main" id="{767138E3-DBD8-BB1A-F963-0FFD752A7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346700" y="5514936"/>
                        <a:ext cx="635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3879319A-CA55-1FD2-D7BD-A7EF4BF9A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215431"/>
              </p:ext>
            </p:extLst>
          </p:nvPr>
        </p:nvGraphicFramePr>
        <p:xfrm>
          <a:off x="5125619" y="7693318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54080" imgH="228600" progId="Equation.DSMT4">
                  <p:embed/>
                </p:oleObj>
              </mc:Choice>
              <mc:Fallback>
                <p:oleObj name="Equation" r:id="rId24" imgW="1054080" imgH="228600" progId="Equation.DSMT4">
                  <p:embed/>
                  <p:pic>
                    <p:nvPicPr>
                      <p:cNvPr id="1353" name="Object 1352">
                        <a:extLst>
                          <a:ext uri="{FF2B5EF4-FFF2-40B4-BE49-F238E27FC236}">
                            <a16:creationId xmlns:a16="http://schemas.microsoft.com/office/drawing/2014/main" id="{F63F97F0-A4E2-A65B-F667-C20234DA1F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25619" y="7693318"/>
                        <a:ext cx="1054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1B2C2A3A-6D7A-B7B8-3B49-F13A7E69B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706802"/>
              </p:ext>
            </p:extLst>
          </p:nvPr>
        </p:nvGraphicFramePr>
        <p:xfrm>
          <a:off x="1761730" y="7400079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44240" imgH="215640" progId="Equation.DSMT4">
                  <p:embed/>
                </p:oleObj>
              </mc:Choice>
              <mc:Fallback>
                <p:oleObj name="Equation" r:id="rId26" imgW="444240" imgH="215640" progId="Equation.DSMT4">
                  <p:embed/>
                  <p:pic>
                    <p:nvPicPr>
                      <p:cNvPr id="1354" name="Object 1353">
                        <a:extLst>
                          <a:ext uri="{FF2B5EF4-FFF2-40B4-BE49-F238E27FC236}">
                            <a16:creationId xmlns:a16="http://schemas.microsoft.com/office/drawing/2014/main" id="{B58DFFD7-DC08-C1F6-FCA8-7BEECAA15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761730" y="7400079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807">
            <a:extLst>
              <a:ext uri="{FF2B5EF4-FFF2-40B4-BE49-F238E27FC236}">
                <a16:creationId xmlns:a16="http://schemas.microsoft.com/office/drawing/2014/main" id="{3136F96B-DC49-63AD-5F23-6367E9239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363" y="1564287"/>
            <a:ext cx="1156673" cy="109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| x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-5}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| x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5}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| x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-2}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| x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2}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27DE61-EAD7-BDFE-F257-C8DEE8F8A4C5}"/>
              </a:ext>
            </a:extLst>
          </p:cNvPr>
          <p:cNvGrpSpPr/>
          <p:nvPr/>
        </p:nvGrpSpPr>
        <p:grpSpPr>
          <a:xfrm>
            <a:off x="4140983" y="3792903"/>
            <a:ext cx="1280365" cy="1123315"/>
            <a:chOff x="4120806" y="3882614"/>
            <a:chExt cx="1280365" cy="1123315"/>
          </a:xfrm>
        </p:grpSpPr>
        <p:graphicFrame>
          <p:nvGraphicFramePr>
            <p:cNvPr id="36" name="Object 35">
              <a:extLst>
                <a:ext uri="{FF2B5EF4-FFF2-40B4-BE49-F238E27FC236}">
                  <a16:creationId xmlns:a16="http://schemas.microsoft.com/office/drawing/2014/main" id="{23D727BF-DFA2-6DD8-A927-B460A499A6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8851" y="3987964"/>
            <a:ext cx="8636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863280" imgH="203040" progId="Equation.DSMT4">
                    <p:embed/>
                  </p:oleObj>
                </mc:Choice>
                <mc:Fallback>
                  <p:oleObj name="Equation" r:id="rId28" imgW="863280" imgH="203040" progId="Equation.DSMT4">
                    <p:embed/>
                    <p:pic>
                      <p:nvPicPr>
                        <p:cNvPr id="51" name="Object 50">
                          <a:extLst>
                            <a:ext uri="{FF2B5EF4-FFF2-40B4-BE49-F238E27FC236}">
                              <a16:creationId xmlns:a16="http://schemas.microsoft.com/office/drawing/2014/main" id="{77374387-2295-072A-C1E6-E953B1E4CF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428851" y="3987964"/>
                          <a:ext cx="8636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>
              <a:extLst>
                <a:ext uri="{FF2B5EF4-FFF2-40B4-BE49-F238E27FC236}">
                  <a16:creationId xmlns:a16="http://schemas.microsoft.com/office/drawing/2014/main" id="{F2DBB506-D28E-F757-7861-131A92996D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5971" y="4256193"/>
            <a:ext cx="762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761760" imgH="203040" progId="Equation.DSMT4">
                    <p:embed/>
                  </p:oleObj>
                </mc:Choice>
                <mc:Fallback>
                  <p:oleObj name="Equation" r:id="rId30" imgW="761760" imgH="203040" progId="Equation.DSMT4">
                    <p:embed/>
                    <p:pic>
                      <p:nvPicPr>
                        <p:cNvPr id="52" name="Object 51">
                          <a:extLst>
                            <a:ext uri="{FF2B5EF4-FFF2-40B4-BE49-F238E27FC236}">
                              <a16:creationId xmlns:a16="http://schemas.microsoft.com/office/drawing/2014/main" id="{4B7F0C18-9D68-213C-0ECD-050DD65358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435971" y="4256193"/>
                          <a:ext cx="762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>
              <a:extLst>
                <a:ext uri="{FF2B5EF4-FFF2-40B4-BE49-F238E27FC236}">
                  <a16:creationId xmlns:a16="http://schemas.microsoft.com/office/drawing/2014/main" id="{8EBA38C2-BF53-856E-FFC3-156CC7941B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5971" y="4524467"/>
            <a:ext cx="965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965160" imgH="203040" progId="Equation.DSMT4">
                    <p:embed/>
                  </p:oleObj>
                </mc:Choice>
                <mc:Fallback>
                  <p:oleObj name="Equation" r:id="rId32" imgW="965160" imgH="203040" progId="Equation.DSMT4">
                    <p:embed/>
                    <p:pic>
                      <p:nvPicPr>
                        <p:cNvPr id="53" name="Object 52">
                          <a:extLst>
                            <a:ext uri="{FF2B5EF4-FFF2-40B4-BE49-F238E27FC236}">
                              <a16:creationId xmlns:a16="http://schemas.microsoft.com/office/drawing/2014/main" id="{7B98F54F-6C7B-037A-642D-23C718A3B3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4435971" y="4524467"/>
                          <a:ext cx="965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>
              <a:extLst>
                <a:ext uri="{FF2B5EF4-FFF2-40B4-BE49-F238E27FC236}">
                  <a16:creationId xmlns:a16="http://schemas.microsoft.com/office/drawing/2014/main" id="{5C94325B-5A80-5932-6291-C82D8759E1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5971" y="4792741"/>
            <a:ext cx="8636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863280" imgH="203040" progId="Equation.DSMT4">
                    <p:embed/>
                  </p:oleObj>
                </mc:Choice>
                <mc:Fallback>
                  <p:oleObj name="Equation" r:id="rId34" imgW="863280" imgH="203040" progId="Equation.DSMT4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D269C5E8-BD3F-62FA-DCCC-F3D88F4435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435971" y="4792741"/>
                          <a:ext cx="8636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807">
              <a:extLst>
                <a:ext uri="{FF2B5EF4-FFF2-40B4-BE49-F238E27FC236}">
                  <a16:creationId xmlns:a16="http://schemas.microsoft.com/office/drawing/2014/main" id="{AE11CC8D-CBA1-9E79-A496-BAF3189C7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806" y="3882614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2D76B55-CFAF-C860-E76C-00CBCDCCA664}"/>
              </a:ext>
            </a:extLst>
          </p:cNvPr>
          <p:cNvGrpSpPr/>
          <p:nvPr/>
        </p:nvGrpSpPr>
        <p:grpSpPr>
          <a:xfrm>
            <a:off x="724846" y="6139680"/>
            <a:ext cx="956373" cy="1123315"/>
            <a:chOff x="604639" y="6105358"/>
            <a:chExt cx="956373" cy="1123315"/>
          </a:xfrm>
        </p:grpSpPr>
        <p:graphicFrame>
          <p:nvGraphicFramePr>
            <p:cNvPr id="42" name="Object 41">
              <a:extLst>
                <a:ext uri="{FF2B5EF4-FFF2-40B4-BE49-F238E27FC236}">
                  <a16:creationId xmlns:a16="http://schemas.microsoft.com/office/drawing/2014/main" id="{49ECC4F5-4A43-03CF-84F6-58A95056D3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612" y="6185207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634680" imgH="215640" progId="Equation.DSMT4">
                    <p:embed/>
                  </p:oleObj>
                </mc:Choice>
                <mc:Fallback>
                  <p:oleObj name="Equation" r:id="rId36" imgW="634680" imgH="215640" progId="Equation.DSMT4">
                    <p:embed/>
                    <p:pic>
                      <p:nvPicPr>
                        <p:cNvPr id="55" name="Object 54">
                          <a:extLst>
                            <a:ext uri="{FF2B5EF4-FFF2-40B4-BE49-F238E27FC236}">
                              <a16:creationId xmlns:a16="http://schemas.microsoft.com/office/drawing/2014/main" id="{209ECFF5-5529-335B-BA24-CD66E2B994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900612" y="6185207"/>
                          <a:ext cx="6350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42">
              <a:extLst>
                <a:ext uri="{FF2B5EF4-FFF2-40B4-BE49-F238E27FC236}">
                  <a16:creationId xmlns:a16="http://schemas.microsoft.com/office/drawing/2014/main" id="{95F8C692-CA36-DF5D-FBB1-BA5C4737E3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612" y="6448690"/>
            <a:ext cx="571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571320" imgH="215640" progId="Equation.DSMT4">
                    <p:embed/>
                  </p:oleObj>
                </mc:Choice>
                <mc:Fallback>
                  <p:oleObj name="Equation" r:id="rId38" imgW="571320" imgH="215640" progId="Equation.DSMT4">
                    <p:embed/>
                    <p:pic>
                      <p:nvPicPr>
                        <p:cNvPr id="56" name="Object 55">
                          <a:extLst>
                            <a:ext uri="{FF2B5EF4-FFF2-40B4-BE49-F238E27FC236}">
                              <a16:creationId xmlns:a16="http://schemas.microsoft.com/office/drawing/2014/main" id="{5D4295A8-3880-B9CF-4C15-12038B83C8A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900612" y="6448690"/>
                          <a:ext cx="571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3">
              <a:extLst>
                <a:ext uri="{FF2B5EF4-FFF2-40B4-BE49-F238E27FC236}">
                  <a16:creationId xmlns:a16="http://schemas.microsoft.com/office/drawing/2014/main" id="{ED19C98B-A6C4-E45A-5170-B358DAED88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612" y="6712173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660240" imgH="215640" progId="Equation.DSMT4">
                    <p:embed/>
                  </p:oleObj>
                </mc:Choice>
                <mc:Fallback>
                  <p:oleObj name="Equation" r:id="rId40" imgW="660240" imgH="215640" progId="Equation.DSMT4">
                    <p:embed/>
                    <p:pic>
                      <p:nvPicPr>
                        <p:cNvPr id="57" name="Object 56">
                          <a:extLst>
                            <a:ext uri="{FF2B5EF4-FFF2-40B4-BE49-F238E27FC236}">
                              <a16:creationId xmlns:a16="http://schemas.microsoft.com/office/drawing/2014/main" id="{7B15A047-E738-A230-EE84-EEFA6B8413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900612" y="6712173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44">
              <a:extLst>
                <a:ext uri="{FF2B5EF4-FFF2-40B4-BE49-F238E27FC236}">
                  <a16:creationId xmlns:a16="http://schemas.microsoft.com/office/drawing/2014/main" id="{AD9B85DB-89C6-F058-88C0-2722696FFD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612" y="6975657"/>
            <a:ext cx="571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571320" imgH="215640" progId="Equation.DSMT4">
                    <p:embed/>
                  </p:oleObj>
                </mc:Choice>
                <mc:Fallback>
                  <p:oleObj name="Equation" r:id="rId42" imgW="571320" imgH="215640" progId="Equation.DSMT4">
                    <p:embed/>
                    <p:pic>
                      <p:nvPicPr>
                        <p:cNvPr id="58" name="Object 57">
                          <a:extLst>
                            <a:ext uri="{FF2B5EF4-FFF2-40B4-BE49-F238E27FC236}">
                              <a16:creationId xmlns:a16="http://schemas.microsoft.com/office/drawing/2014/main" id="{4C131E14-910F-91AD-9D84-5DFE2F0EB5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900612" y="6975657"/>
                          <a:ext cx="571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Text Box 807">
              <a:extLst>
                <a:ext uri="{FF2B5EF4-FFF2-40B4-BE49-F238E27FC236}">
                  <a16:creationId xmlns:a16="http://schemas.microsoft.com/office/drawing/2014/main" id="{B23386EB-46A6-8489-1EC3-A44E16F5F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9" y="6105358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BCDC340-0651-D6C4-D7FA-E60FFD70E4F0}"/>
              </a:ext>
            </a:extLst>
          </p:cNvPr>
          <p:cNvGrpSpPr/>
          <p:nvPr/>
        </p:nvGrpSpPr>
        <p:grpSpPr>
          <a:xfrm>
            <a:off x="4165852" y="6073402"/>
            <a:ext cx="780546" cy="1123315"/>
            <a:chOff x="4158202" y="6102564"/>
            <a:chExt cx="780546" cy="1123315"/>
          </a:xfrm>
        </p:grpSpPr>
        <p:graphicFrame>
          <p:nvGraphicFramePr>
            <p:cNvPr id="48" name="Object 47">
              <a:extLst>
                <a:ext uri="{FF2B5EF4-FFF2-40B4-BE49-F238E27FC236}">
                  <a16:creationId xmlns:a16="http://schemas.microsoft.com/office/drawing/2014/main" id="{45608D5F-8EB9-C7A3-205E-0B859D527F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148" y="6158659"/>
            <a:ext cx="469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469800" imgH="215640" progId="Equation.DSMT4">
                    <p:embed/>
                  </p:oleObj>
                </mc:Choice>
                <mc:Fallback>
                  <p:oleObj name="Equation" r:id="rId44" imgW="469800" imgH="215640" progId="Equation.DSMT4">
                    <p:embed/>
                    <p:pic>
                      <p:nvPicPr>
                        <p:cNvPr id="59" name="Object 58">
                          <a:extLst>
                            <a:ext uri="{FF2B5EF4-FFF2-40B4-BE49-F238E27FC236}">
                              <a16:creationId xmlns:a16="http://schemas.microsoft.com/office/drawing/2014/main" id="{41011F8B-9D14-41E6-B004-8D5C565D72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4456148" y="6158659"/>
                          <a:ext cx="4699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48">
              <a:extLst>
                <a:ext uri="{FF2B5EF4-FFF2-40B4-BE49-F238E27FC236}">
                  <a16:creationId xmlns:a16="http://schemas.microsoft.com/office/drawing/2014/main" id="{945F6099-A219-069D-AC9E-193F18747B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148" y="6431161"/>
            <a:ext cx="469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469800" imgH="215640" progId="Equation.DSMT4">
                    <p:embed/>
                  </p:oleObj>
                </mc:Choice>
                <mc:Fallback>
                  <p:oleObj name="Equation" r:id="rId46" imgW="469800" imgH="215640" progId="Equation.DSMT4">
                    <p:embed/>
                    <p:pic>
                      <p:nvPicPr>
                        <p:cNvPr id="60" name="Object 59">
                          <a:extLst>
                            <a:ext uri="{FF2B5EF4-FFF2-40B4-BE49-F238E27FC236}">
                              <a16:creationId xmlns:a16="http://schemas.microsoft.com/office/drawing/2014/main" id="{0783DF15-6F53-93E8-E5B2-47127537AF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4456148" y="6431161"/>
                          <a:ext cx="4699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49">
              <a:extLst>
                <a:ext uri="{FF2B5EF4-FFF2-40B4-BE49-F238E27FC236}">
                  <a16:creationId xmlns:a16="http://schemas.microsoft.com/office/drawing/2014/main" id="{63336014-4EDA-8F78-C072-88D990B76B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148" y="6701337"/>
            <a:ext cx="482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482400" imgH="215640" progId="Equation.DSMT4">
                    <p:embed/>
                  </p:oleObj>
                </mc:Choice>
                <mc:Fallback>
                  <p:oleObj name="Equation" r:id="rId48" imgW="482400" imgH="215640" progId="Equation.DSMT4">
                    <p:embed/>
                    <p:pic>
                      <p:nvPicPr>
                        <p:cNvPr id="61" name="Object 60">
                          <a:extLst>
                            <a:ext uri="{FF2B5EF4-FFF2-40B4-BE49-F238E27FC236}">
                              <a16:creationId xmlns:a16="http://schemas.microsoft.com/office/drawing/2014/main" id="{CF396CF9-2ADB-6D7D-B051-03CE278AA0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4456148" y="6701337"/>
                          <a:ext cx="4826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50">
              <a:extLst>
                <a:ext uri="{FF2B5EF4-FFF2-40B4-BE49-F238E27FC236}">
                  <a16:creationId xmlns:a16="http://schemas.microsoft.com/office/drawing/2014/main" id="{E87724D3-DD74-DA22-9E8A-9D6C98FBA2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148" y="6975657"/>
            <a:ext cx="482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482400" imgH="215640" progId="Equation.DSMT4">
                    <p:embed/>
                  </p:oleObj>
                </mc:Choice>
                <mc:Fallback>
                  <p:oleObj name="Equation" r:id="rId50" imgW="482400" imgH="215640" progId="Equation.DSMT4">
                    <p:embed/>
                    <p:pic>
                      <p:nvPicPr>
                        <p:cNvPr id="62" name="Object 61">
                          <a:extLst>
                            <a:ext uri="{FF2B5EF4-FFF2-40B4-BE49-F238E27FC236}">
                              <a16:creationId xmlns:a16="http://schemas.microsoft.com/office/drawing/2014/main" id="{9489B2D4-B511-7CBF-C8EC-DCEF491B36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1"/>
                        <a:stretch>
                          <a:fillRect/>
                        </a:stretch>
                      </p:blipFill>
                      <p:spPr>
                        <a:xfrm>
                          <a:off x="4456148" y="6975657"/>
                          <a:ext cx="4826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ext Box 807">
              <a:extLst>
                <a:ext uri="{FF2B5EF4-FFF2-40B4-BE49-F238E27FC236}">
                  <a16:creationId xmlns:a16="http://schemas.microsoft.com/office/drawing/2014/main" id="{9C6F22D7-93CB-747D-4BE7-B6DB7B146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202" y="6102564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DFAC218-08B6-2C38-5C4C-E6C2FA57D5C8}"/>
              </a:ext>
            </a:extLst>
          </p:cNvPr>
          <p:cNvGrpSpPr/>
          <p:nvPr/>
        </p:nvGrpSpPr>
        <p:grpSpPr>
          <a:xfrm>
            <a:off x="685800" y="7808146"/>
            <a:ext cx="533400" cy="1755033"/>
            <a:chOff x="685800" y="7808146"/>
            <a:chExt cx="533400" cy="1755033"/>
          </a:xfrm>
        </p:grpSpPr>
        <p:sp>
          <p:nvSpPr>
            <p:cNvPr id="54" name="Text Box 807">
              <a:extLst>
                <a:ext uri="{FF2B5EF4-FFF2-40B4-BE49-F238E27FC236}">
                  <a16:creationId xmlns:a16="http://schemas.microsoft.com/office/drawing/2014/main" id="{A720276C-844D-134E-12E1-4AF8FBCD3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808146"/>
              <a:ext cx="533400" cy="173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25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 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  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" name="Object 54">
              <a:extLst>
                <a:ext uri="{FF2B5EF4-FFF2-40B4-BE49-F238E27FC236}">
                  <a16:creationId xmlns:a16="http://schemas.microsoft.com/office/drawing/2014/main" id="{88921865-CF0E-10E3-74A0-C348EA760C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2346" y="8761649"/>
            <a:ext cx="1524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152280" imgH="368280" progId="Equation.DSMT4">
                    <p:embed/>
                  </p:oleObj>
                </mc:Choice>
                <mc:Fallback>
                  <p:oleObj name="Equation" r:id="rId52" imgW="152280" imgH="368280" progId="Equation.DSMT4">
                    <p:embed/>
                    <p:pic>
                      <p:nvPicPr>
                        <p:cNvPr id="1367" name="Object 1366">
                          <a:extLst>
                            <a:ext uri="{FF2B5EF4-FFF2-40B4-BE49-F238E27FC236}">
                              <a16:creationId xmlns:a16="http://schemas.microsoft.com/office/drawing/2014/main" id="{DD5F09AB-E4CC-B2FF-F17F-5F0FD91889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1002346" y="8761649"/>
                          <a:ext cx="1524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55">
              <a:extLst>
                <a:ext uri="{FF2B5EF4-FFF2-40B4-BE49-F238E27FC236}">
                  <a16:creationId xmlns:a16="http://schemas.microsoft.com/office/drawing/2014/main" id="{F87A254A-6C8D-93CA-142E-9E198B5FD5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303" y="9194879"/>
            <a:ext cx="1397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139680" imgH="368280" progId="Equation.DSMT4">
                    <p:embed/>
                  </p:oleObj>
                </mc:Choice>
                <mc:Fallback>
                  <p:oleObj name="Equation" r:id="rId54" imgW="139680" imgH="368280" progId="Equation.DSMT4">
                    <p:embed/>
                    <p:pic>
                      <p:nvPicPr>
                        <p:cNvPr id="1368" name="Object 1367">
                          <a:extLst>
                            <a:ext uri="{FF2B5EF4-FFF2-40B4-BE49-F238E27FC236}">
                              <a16:creationId xmlns:a16="http://schemas.microsoft.com/office/drawing/2014/main" id="{CDCE8D22-A980-4F95-974B-67592B7FF8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5"/>
                        <a:stretch>
                          <a:fillRect/>
                        </a:stretch>
                      </p:blipFill>
                      <p:spPr>
                        <a:xfrm>
                          <a:off x="998303" y="9194879"/>
                          <a:ext cx="1397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831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4A857F3E-C133-1962-98A9-B1EA3AFB2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536" y="1205145"/>
            <a:ext cx="2389839" cy="112785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BD4B21-26A5-DB1F-D51F-792D866AD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168426"/>
              </p:ext>
            </p:extLst>
          </p:nvPr>
        </p:nvGraphicFramePr>
        <p:xfrm>
          <a:off x="388588" y="486124"/>
          <a:ext cx="3505200" cy="36836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Approximate the value of </a:t>
                      </a:r>
                      <a:r>
                        <a:rPr lang="en-US" sz="1100" b="1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100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nearest ten-thousandths place.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132">
            <a:extLst>
              <a:ext uri="{FF2B5EF4-FFF2-40B4-BE49-F238E27FC236}">
                <a16:creationId xmlns:a16="http://schemas.microsoft.com/office/drawing/2014/main" id="{55924505-C408-4AC8-C86E-76394F34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229" y="4621989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Text Box 132">
            <a:extLst>
              <a:ext uri="{FF2B5EF4-FFF2-40B4-BE49-F238E27FC236}">
                <a16:creationId xmlns:a16="http://schemas.microsoft.com/office/drawing/2014/main" id="{B05C2C0C-1AB2-67FA-8B53-19DCE3113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481" y="4612146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 Box 132">
            <a:extLst>
              <a:ext uri="{FF2B5EF4-FFF2-40B4-BE49-F238E27FC236}">
                <a16:creationId xmlns:a16="http://schemas.microsoft.com/office/drawing/2014/main" id="{FF060BAE-A7A6-FC79-927E-138DB70A3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229" y="2338366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9D34B-5421-D459-51B6-99E7BF75ECB3}"/>
              </a:ext>
            </a:extLst>
          </p:cNvPr>
          <p:cNvSpPr/>
          <p:nvPr/>
        </p:nvSpPr>
        <p:spPr>
          <a:xfrm>
            <a:off x="3850360" y="461065"/>
            <a:ext cx="344707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of the following have values less than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1?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B85C788-DFD8-5F4D-4071-E848A5CE3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9910" y="1349505"/>
          <a:ext cx="46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15640" progId="Equation.DSMT4">
                  <p:embed/>
                </p:oleObj>
              </mc:Choice>
              <mc:Fallback>
                <p:oleObj name="Equation" r:id="rId5" imgW="469800" imgH="2156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38F0D079-DC35-2658-03F2-D91F42CF78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39910" y="1349505"/>
                        <a:ext cx="46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1C8BFB5-6C21-C9C7-5D06-B5E56C3DE0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967" y="1675701"/>
          <a:ext cx="419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040" imgH="203040" progId="Equation.DSMT4">
                  <p:embed/>
                </p:oleObj>
              </mc:Choice>
              <mc:Fallback>
                <p:oleObj name="Equation" r:id="rId7" imgW="419040" imgH="2030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B1D5AB21-07AD-7733-A93A-F8A3A1CA6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7967" y="1675701"/>
                        <a:ext cx="419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8FC607C-F022-C544-D96B-8278EE6D0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1633" y="2002875"/>
          <a:ext cx="393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3480" imgH="215640" progId="Equation.DSMT4">
                  <p:embed/>
                </p:oleObj>
              </mc:Choice>
              <mc:Fallback>
                <p:oleObj name="Equation" r:id="rId9" imgW="393480" imgH="2156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34092A4A-9AE8-22F8-8178-0BB996BCF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71633" y="2002875"/>
                        <a:ext cx="393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632B478-E42B-421B-27AD-617DE21B9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9293" y="1357113"/>
          <a:ext cx="482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215640" progId="Equation.DSMT4">
                  <p:embed/>
                </p:oleObj>
              </mc:Choice>
              <mc:Fallback>
                <p:oleObj name="Equation" r:id="rId11" imgW="482400" imgH="21564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7504752D-7491-44A9-F032-289CC370D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79293" y="1357113"/>
                        <a:ext cx="482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574AC7C-F312-587D-C2C8-435C4C2406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6697" y="1672379"/>
          <a:ext cx="393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480" imgH="215640" progId="Equation.DSMT4">
                  <p:embed/>
                </p:oleObj>
              </mc:Choice>
              <mc:Fallback>
                <p:oleObj name="Equation" r:id="rId13" imgW="393480" imgH="21564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7F215532-6F59-FEF3-FF6D-23437C45ED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86697" y="1672379"/>
                        <a:ext cx="393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32B5D429-F87D-6C9C-2368-1001CD847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130" y="2013694"/>
          <a:ext cx="266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203040" progId="Equation.DSMT4">
                  <p:embed/>
                </p:oleObj>
              </mc:Choice>
              <mc:Fallback>
                <p:oleObj name="Equation" r:id="rId15" imgW="266400" imgH="2030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2C73D708-49A1-8608-7ACE-DAE8A38BD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57130" y="2013694"/>
                        <a:ext cx="266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7F9B523-B28A-89AA-8850-208279907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747144"/>
              </p:ext>
            </p:extLst>
          </p:nvPr>
        </p:nvGraphicFramePr>
        <p:xfrm>
          <a:off x="392357" y="2798285"/>
          <a:ext cx="3421062" cy="368364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Condense the expression below into a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single logarithm.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8953E05-684F-8498-BF9E-3B74E6C19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327417"/>
              </p:ext>
            </p:extLst>
          </p:nvPr>
        </p:nvGraphicFramePr>
        <p:xfrm>
          <a:off x="3800168" y="2782528"/>
          <a:ext cx="3497262" cy="368364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Condense the expression below into a single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logarithm.  Do not evaluate.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3345702D-40A0-3DE9-106B-75744D174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684225"/>
              </p:ext>
            </p:extLst>
          </p:nvPr>
        </p:nvGraphicFramePr>
        <p:xfrm>
          <a:off x="1353690" y="3261108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49080" imgH="406080" progId="Equation.DSMT4">
                  <p:embed/>
                </p:oleObj>
              </mc:Choice>
              <mc:Fallback>
                <p:oleObj name="Equation" r:id="rId17" imgW="1549080" imgH="40608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D92CCD21-9CC5-E59F-3907-CBDAC9734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53690" y="3261108"/>
                        <a:ext cx="1549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5F4168F8-D00A-F20C-D864-E962D02D2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15295"/>
              </p:ext>
            </p:extLst>
          </p:nvPr>
        </p:nvGraphicFramePr>
        <p:xfrm>
          <a:off x="5178451" y="3220967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91880" imgH="406080" progId="Equation.DSMT4">
                  <p:embed/>
                </p:oleObj>
              </mc:Choice>
              <mc:Fallback>
                <p:oleObj name="Equation" r:id="rId19" imgW="1091880" imgH="4060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556F9D39-8A27-8584-70D1-F0E745D5C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78451" y="3220967"/>
                        <a:ext cx="1092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C6C74E10-77F1-A490-6CE6-AC7669CA7AB3}"/>
              </a:ext>
            </a:extLst>
          </p:cNvPr>
          <p:cNvSpPr/>
          <p:nvPr/>
        </p:nvSpPr>
        <p:spPr>
          <a:xfrm>
            <a:off x="3828070" y="5055053"/>
            <a:ext cx="3429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18.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Write a value in the box that would make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 the equation true.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9949A1A-1548-E859-9FB2-3E1CBCA2A3A8}"/>
              </a:ext>
            </a:extLst>
          </p:cNvPr>
          <p:cNvGrpSpPr/>
          <p:nvPr/>
        </p:nvGrpSpPr>
        <p:grpSpPr>
          <a:xfrm>
            <a:off x="4314700" y="6039161"/>
            <a:ext cx="2686300" cy="364341"/>
            <a:chOff x="3948827" y="5994217"/>
            <a:chExt cx="2686300" cy="364341"/>
          </a:xfrm>
        </p:grpSpPr>
        <p:graphicFrame>
          <p:nvGraphicFramePr>
            <p:cNvPr id="50" name="Object 49">
              <a:extLst>
                <a:ext uri="{FF2B5EF4-FFF2-40B4-BE49-F238E27FC236}">
                  <a16:creationId xmlns:a16="http://schemas.microsoft.com/office/drawing/2014/main" id="{01FFD430-6948-9528-5DD2-2844943944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8827" y="6002607"/>
            <a:ext cx="159067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927000" imgH="203040" progId="Equation.DSMT4">
                    <p:embed/>
                  </p:oleObj>
                </mc:Choice>
                <mc:Fallback>
                  <p:oleObj name="Equation" r:id="rId21" imgW="927000" imgH="203040" progId="Equation.DSMT4">
                    <p:embed/>
                    <p:pic>
                      <p:nvPicPr>
                        <p:cNvPr id="51" name="Object 50">
                          <a:extLst>
                            <a:ext uri="{FF2B5EF4-FFF2-40B4-BE49-F238E27FC236}">
                              <a16:creationId xmlns:a16="http://schemas.microsoft.com/office/drawing/2014/main" id="{0E836090-539A-E966-1526-F0B0065E1B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48827" y="6002607"/>
                          <a:ext cx="1590675" cy="349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47844A6-F53B-C52D-CC26-A991A8EF035B}"/>
                </a:ext>
              </a:extLst>
            </p:cNvPr>
            <p:cNvSpPr/>
            <p:nvPr/>
          </p:nvSpPr>
          <p:spPr>
            <a:xfrm>
              <a:off x="5575372" y="5994217"/>
              <a:ext cx="347472" cy="34987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52" name="Object 51">
              <a:extLst>
                <a:ext uri="{FF2B5EF4-FFF2-40B4-BE49-F238E27FC236}">
                  <a16:creationId xmlns:a16="http://schemas.microsoft.com/office/drawing/2014/main" id="{D7FDDF09-921E-41A5-3FA9-832FFB624C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68377" y="6002958"/>
            <a:ext cx="66675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80880" imgH="203040" progId="Equation.DSMT4">
                    <p:embed/>
                  </p:oleObj>
                </mc:Choice>
                <mc:Fallback>
                  <p:oleObj name="Equation" r:id="rId23" imgW="380880" imgH="203040" progId="Equation.DSMT4">
                    <p:embed/>
                    <p:pic>
                      <p:nvPicPr>
                        <p:cNvPr id="53" name="Object 52">
                          <a:extLst>
                            <a:ext uri="{FF2B5EF4-FFF2-40B4-BE49-F238E27FC236}">
                              <a16:creationId xmlns:a16="http://schemas.microsoft.com/office/drawing/2014/main" id="{D67FB586-56F1-F3FF-7D0C-1FE5840638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968377" y="6002958"/>
                          <a:ext cx="66675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0992FBC-3162-E881-6110-12B18B0D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533539"/>
              </p:ext>
            </p:extLst>
          </p:nvPr>
        </p:nvGraphicFramePr>
        <p:xfrm>
          <a:off x="392303" y="7386117"/>
          <a:ext cx="2811462" cy="175451"/>
        </p:xfrm>
        <a:graphic>
          <a:graphicData uri="http://schemas.openxmlformats.org/drawingml/2006/table">
            <a:tbl>
              <a:tblPr/>
              <a:tblGrid>
                <a:gridCol w="2811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Expand the logarithm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BEFB0270-DE52-7172-32BA-643DB0413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50346"/>
              </p:ext>
            </p:extLst>
          </p:nvPr>
        </p:nvGraphicFramePr>
        <p:xfrm>
          <a:off x="3829331" y="7392961"/>
          <a:ext cx="3192462" cy="175451"/>
        </p:xfrm>
        <a:graphic>
          <a:graphicData uri="http://schemas.openxmlformats.org/drawingml/2006/table">
            <a:tbl>
              <a:tblPr/>
              <a:tblGrid>
                <a:gridCol w="319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Expand the logarithm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CAA14BCA-31EA-B97E-1DFE-86FB66EDC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200483"/>
              </p:ext>
            </p:extLst>
          </p:nvPr>
        </p:nvGraphicFramePr>
        <p:xfrm>
          <a:off x="1730994" y="7742420"/>
          <a:ext cx="876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76240" imgH="253800" progId="Equation.DSMT4">
                  <p:embed/>
                </p:oleObj>
              </mc:Choice>
              <mc:Fallback>
                <p:oleObj name="Equation" r:id="rId25" imgW="876240" imgH="25380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1729CF6C-3139-6D92-3E6D-68328D2BD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730994" y="7742420"/>
                        <a:ext cx="876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B9745BA9-9561-F23C-B7A9-0ABE90671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526663"/>
              </p:ext>
            </p:extLst>
          </p:nvPr>
        </p:nvGraphicFramePr>
        <p:xfrm>
          <a:off x="5283200" y="7678343"/>
          <a:ext cx="749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49160" imgH="291960" progId="Equation.DSMT4">
                  <p:embed/>
                </p:oleObj>
              </mc:Choice>
              <mc:Fallback>
                <p:oleObj name="Equation" r:id="rId27" imgW="749160" imgH="29196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3852DD3E-F055-63D6-251E-3CA1BD4352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283200" y="7678343"/>
                        <a:ext cx="749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6CD9C7DC-ECEC-FBC6-300D-89307AFC4400}"/>
              </a:ext>
            </a:extLst>
          </p:cNvPr>
          <p:cNvSpPr/>
          <p:nvPr/>
        </p:nvSpPr>
        <p:spPr>
          <a:xfrm>
            <a:off x="1099947" y="9219716"/>
            <a:ext cx="2706859" cy="3556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440C5B-27F1-B8A2-572B-7F53A6B66E7A}"/>
              </a:ext>
            </a:extLst>
          </p:cNvPr>
          <p:cNvSpPr/>
          <p:nvPr/>
        </p:nvSpPr>
        <p:spPr>
          <a:xfrm>
            <a:off x="4531812" y="9221819"/>
            <a:ext cx="2706859" cy="3556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F47427-AD3E-79E2-EC45-0233229E9FAA}"/>
              </a:ext>
            </a:extLst>
          </p:cNvPr>
          <p:cNvSpPr/>
          <p:nvPr/>
        </p:nvSpPr>
        <p:spPr>
          <a:xfrm>
            <a:off x="3309091" y="6936093"/>
            <a:ext cx="524309" cy="3556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30949EB1-0EEE-FC57-8596-96C8772117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089583"/>
              </p:ext>
            </p:extLst>
          </p:nvPr>
        </p:nvGraphicFramePr>
        <p:xfrm>
          <a:off x="2523776" y="489489"/>
          <a:ext cx="482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82400" imgH="215640" progId="Equation.DSMT4">
                  <p:embed/>
                </p:oleObj>
              </mc:Choice>
              <mc:Fallback>
                <p:oleObj name="Equation" r:id="rId29" imgW="482400" imgH="215640" progId="Equation.DSMT4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0C50F8CA-7C76-132F-18C2-1B93190EAE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523776" y="489489"/>
                        <a:ext cx="482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Group 60">
            <a:extLst>
              <a:ext uri="{FF2B5EF4-FFF2-40B4-BE49-F238E27FC236}">
                <a16:creationId xmlns:a16="http://schemas.microsoft.com/office/drawing/2014/main" id="{AF64BAF8-1B02-411A-67DA-115860F00ED6}"/>
              </a:ext>
            </a:extLst>
          </p:cNvPr>
          <p:cNvGrpSpPr/>
          <p:nvPr/>
        </p:nvGrpSpPr>
        <p:grpSpPr>
          <a:xfrm>
            <a:off x="685800" y="6095841"/>
            <a:ext cx="1516438" cy="1139072"/>
            <a:chOff x="656785" y="6139680"/>
            <a:chExt cx="1516438" cy="1139072"/>
          </a:xfrm>
        </p:grpSpPr>
        <p:graphicFrame>
          <p:nvGraphicFramePr>
            <p:cNvPr id="62" name="Object 61">
              <a:extLst>
                <a:ext uri="{FF2B5EF4-FFF2-40B4-BE49-F238E27FC236}">
                  <a16:creationId xmlns:a16="http://schemas.microsoft.com/office/drawing/2014/main" id="{4A1D32B6-AEE9-19AF-2E12-1CCFA2B337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9423" y="6240218"/>
            <a:ext cx="558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558720" imgH="215640" progId="Equation.DSMT4">
                    <p:embed/>
                  </p:oleObj>
                </mc:Choice>
                <mc:Fallback>
                  <p:oleObj name="Equation" r:id="rId31" imgW="558720" imgH="215640" progId="Equation.DSMT4">
                    <p:embed/>
                    <p:pic>
                      <p:nvPicPr>
                        <p:cNvPr id="61" name="Object 60">
                          <a:extLst>
                            <a:ext uri="{FF2B5EF4-FFF2-40B4-BE49-F238E27FC236}">
                              <a16:creationId xmlns:a16="http://schemas.microsoft.com/office/drawing/2014/main" id="{F3E427A8-884D-1AED-9AB7-244A3F7972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79423" y="6240218"/>
                          <a:ext cx="558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62">
              <a:extLst>
                <a:ext uri="{FF2B5EF4-FFF2-40B4-BE49-F238E27FC236}">
                  <a16:creationId xmlns:a16="http://schemas.microsoft.com/office/drawing/2014/main" id="{CABD41E6-A1E3-7B25-0AF2-5F2B424CE1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9423" y="6514429"/>
            <a:ext cx="558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558720" imgH="215640" progId="Equation.DSMT4">
                    <p:embed/>
                  </p:oleObj>
                </mc:Choice>
                <mc:Fallback>
                  <p:oleObj name="Equation" r:id="rId33" imgW="558720" imgH="215640" progId="Equation.DSMT4">
                    <p:embed/>
                    <p:pic>
                      <p:nvPicPr>
                        <p:cNvPr id="62" name="Object 61">
                          <a:extLst>
                            <a:ext uri="{FF2B5EF4-FFF2-40B4-BE49-F238E27FC236}">
                              <a16:creationId xmlns:a16="http://schemas.microsoft.com/office/drawing/2014/main" id="{4DD975C1-BDC8-5B33-F78A-BD477FFE23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979423" y="6514429"/>
                          <a:ext cx="558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63">
              <a:extLst>
                <a:ext uri="{FF2B5EF4-FFF2-40B4-BE49-F238E27FC236}">
                  <a16:creationId xmlns:a16="http://schemas.microsoft.com/office/drawing/2014/main" id="{079A9CA6-17D6-3A19-E8D4-7ED457AA6D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9423" y="6788640"/>
            <a:ext cx="889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888840" imgH="215640" progId="Equation.DSMT4">
                    <p:embed/>
                  </p:oleObj>
                </mc:Choice>
                <mc:Fallback>
                  <p:oleObj name="Equation" r:id="rId35" imgW="888840" imgH="215640" progId="Equation.DSMT4">
                    <p:embed/>
                    <p:pic>
                      <p:nvPicPr>
                        <p:cNvPr id="63" name="Object 62">
                          <a:extLst>
                            <a:ext uri="{FF2B5EF4-FFF2-40B4-BE49-F238E27FC236}">
                              <a16:creationId xmlns:a16="http://schemas.microsoft.com/office/drawing/2014/main" id="{348A23FE-3FD4-3B64-785F-C8807E36C1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979423" y="6788640"/>
                          <a:ext cx="8890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64">
              <a:extLst>
                <a:ext uri="{FF2B5EF4-FFF2-40B4-BE49-F238E27FC236}">
                  <a16:creationId xmlns:a16="http://schemas.microsoft.com/office/drawing/2014/main" id="{5EB9D37F-FB53-2D5C-8208-D582CA7F5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9423" y="7062852"/>
            <a:ext cx="1193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193760" imgH="215640" progId="Equation.DSMT4">
                    <p:embed/>
                  </p:oleObj>
                </mc:Choice>
                <mc:Fallback>
                  <p:oleObj name="Equation" r:id="rId37" imgW="1193760" imgH="215640" progId="Equation.DSMT4">
                    <p:embed/>
                    <p:pic>
                      <p:nvPicPr>
                        <p:cNvPr id="64" name="Object 63">
                          <a:extLst>
                            <a:ext uri="{FF2B5EF4-FFF2-40B4-BE49-F238E27FC236}">
                              <a16:creationId xmlns:a16="http://schemas.microsoft.com/office/drawing/2014/main" id="{53B7F777-A88B-9A59-5E76-30F24A5D57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979423" y="7062852"/>
                          <a:ext cx="1193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Text Box 807">
              <a:extLst>
                <a:ext uri="{FF2B5EF4-FFF2-40B4-BE49-F238E27FC236}">
                  <a16:creationId xmlns:a16="http://schemas.microsoft.com/office/drawing/2014/main" id="{EFC68497-95AD-7D66-45D9-10EE836FD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85" y="6139680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827331-8019-B295-B9A7-9BFFB68B342B}"/>
              </a:ext>
            </a:extLst>
          </p:cNvPr>
          <p:cNvGrpSpPr/>
          <p:nvPr/>
        </p:nvGrpSpPr>
        <p:grpSpPr>
          <a:xfrm>
            <a:off x="408208" y="5052597"/>
            <a:ext cx="3517310" cy="261610"/>
            <a:chOff x="389238" y="5045340"/>
            <a:chExt cx="3517310" cy="2616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C191FF-89F8-C6F9-EA9E-BB0A024E8AE0}"/>
                </a:ext>
              </a:extLst>
            </p:cNvPr>
            <p:cNvSpPr/>
            <p:nvPr/>
          </p:nvSpPr>
          <p:spPr>
            <a:xfrm>
              <a:off x="389238" y="5045340"/>
              <a:ext cx="35173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17.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Which expression is </a:t>
              </a:r>
              <a:r>
                <a:rPr lang="en-US" sz="1100" b="1" u="sng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not</a:t>
              </a:r>
              <a:r>
                <a:rPr lang="en-US" sz="1100" i="1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equivalent to  </a:t>
              </a:r>
              <a:r>
                <a:rPr lang="en-US" sz="11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          </a:t>
              </a:r>
              <a:r>
                <a:rPr lang="en-US" sz="1100" dirty="0">
                  <a:solidFill>
                    <a:srgbClr val="000000"/>
                  </a:solidFill>
                  <a:latin typeface="Century Gothic" panose="020B0502020202020204" pitchFamily="34" charset="0"/>
                  <a:ea typeface="Calibri" panose="020F0502020204030204" pitchFamily="34" charset="0"/>
                </a:rPr>
                <a:t>?</a:t>
              </a:r>
              <a:endParaRPr lang="en-US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E31E44A5-CFEC-EC2A-7C17-02D24E279C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5131957"/>
                </p:ext>
              </p:extLst>
            </p:nvPr>
          </p:nvGraphicFramePr>
          <p:xfrm>
            <a:off x="3207307" y="5083856"/>
            <a:ext cx="469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469800" imgH="215640" progId="Equation.DSMT4">
                    <p:embed/>
                  </p:oleObj>
                </mc:Choice>
                <mc:Fallback>
                  <p:oleObj name="Equation" r:id="rId39" imgW="469800" imgH="215640" progId="Equation.DSMT4">
                    <p:embed/>
                    <p:pic>
                      <p:nvPicPr>
                        <p:cNvPr id="49" name="Object 48">
                          <a:extLst>
                            <a:ext uri="{FF2B5EF4-FFF2-40B4-BE49-F238E27FC236}">
                              <a16:creationId xmlns:a16="http://schemas.microsoft.com/office/drawing/2014/main" id="{B8075FDD-8227-BDF7-14AB-91BF66CD43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3207307" y="5083856"/>
                          <a:ext cx="4699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112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1BC5E300-23C4-54A0-283F-C40533574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28759"/>
              </p:ext>
            </p:extLst>
          </p:nvPr>
        </p:nvGraphicFramePr>
        <p:xfrm>
          <a:off x="419100" y="509553"/>
          <a:ext cx="3505200" cy="17545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expression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2" name="Rectangle 231">
            <a:extLst>
              <a:ext uri="{FF2B5EF4-FFF2-40B4-BE49-F238E27FC236}">
                <a16:creationId xmlns:a16="http://schemas.microsoft.com/office/drawing/2014/main" id="{D98E15C5-3B63-D0F8-A3C9-0574CC605986}"/>
              </a:ext>
            </a:extLst>
          </p:cNvPr>
          <p:cNvSpPr/>
          <p:nvPr/>
        </p:nvSpPr>
        <p:spPr>
          <a:xfrm>
            <a:off x="3857462" y="466473"/>
            <a:ext cx="347723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is equivalent to the expression below?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33" name="Object 232">
            <a:extLst>
              <a:ext uri="{FF2B5EF4-FFF2-40B4-BE49-F238E27FC236}">
                <a16:creationId xmlns:a16="http://schemas.microsoft.com/office/drawing/2014/main" id="{6AF7E728-CB2A-15F4-8943-175BB56F38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27584"/>
              </p:ext>
            </p:extLst>
          </p:nvPr>
        </p:nvGraphicFramePr>
        <p:xfrm>
          <a:off x="1839860" y="831384"/>
          <a:ext cx="571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457200" progId="Equation.DSMT4">
                  <p:embed/>
                </p:oleObj>
              </mc:Choice>
              <mc:Fallback>
                <p:oleObj name="Equation" r:id="rId4" imgW="571320" imgH="457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3CE2537-3552-373E-E98B-1DDB48301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9860" y="831384"/>
                        <a:ext cx="571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" name="Object 233">
            <a:extLst>
              <a:ext uri="{FF2B5EF4-FFF2-40B4-BE49-F238E27FC236}">
                <a16:creationId xmlns:a16="http://schemas.microsoft.com/office/drawing/2014/main" id="{0406B551-902A-68C4-775A-E29C24E79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466407"/>
              </p:ext>
            </p:extLst>
          </p:nvPr>
        </p:nvGraphicFramePr>
        <p:xfrm>
          <a:off x="4738688" y="925513"/>
          <a:ext cx="1727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03040" progId="Equation.DSMT4">
                  <p:embed/>
                </p:oleObj>
              </mc:Choice>
              <mc:Fallback>
                <p:oleObj name="Equation" r:id="rId6" imgW="1726920" imgH="203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ADD7B18-6BA9-7C5B-9789-2CE74DFDC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8688" y="925513"/>
                        <a:ext cx="1727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" name="Text Box 605">
            <a:extLst>
              <a:ext uri="{FF2B5EF4-FFF2-40B4-BE49-F238E27FC236}">
                <a16:creationId xmlns:a16="http://schemas.microsoft.com/office/drawing/2014/main" id="{91CDCF99-3AEE-2D11-0BA0-12B6D9FC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945" y="2225282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36" name="Text Box 605">
            <a:extLst>
              <a:ext uri="{FF2B5EF4-FFF2-40B4-BE49-F238E27FC236}">
                <a16:creationId xmlns:a16="http://schemas.microsoft.com/office/drawing/2014/main" id="{4AB094D1-0B57-5366-21DA-E83380F8D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712" y="2217773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68C7371-3E7F-4FCE-DE88-7D86D7F35C23}"/>
              </a:ext>
            </a:extLst>
          </p:cNvPr>
          <p:cNvGrpSpPr/>
          <p:nvPr/>
        </p:nvGrpSpPr>
        <p:grpSpPr>
          <a:xfrm>
            <a:off x="4147694" y="1488129"/>
            <a:ext cx="2259330" cy="1176020"/>
            <a:chOff x="4114800" y="1525250"/>
            <a:chExt cx="2259330" cy="1176020"/>
          </a:xfrm>
        </p:grpSpPr>
        <p:sp>
          <p:nvSpPr>
            <p:cNvPr id="238" name="Text Box 807">
              <a:extLst>
                <a:ext uri="{FF2B5EF4-FFF2-40B4-BE49-F238E27FC236}">
                  <a16:creationId xmlns:a16="http://schemas.microsoft.com/office/drawing/2014/main" id="{B994AAD8-8FE0-F9B8-2A08-48898B188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1525250"/>
              <a:ext cx="2259330" cy="1176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35000"/>
                </a:lnSpc>
                <a:spcBef>
                  <a:spcPts val="0"/>
                </a:spcBef>
                <a:spcAft>
                  <a:spcPts val="1000"/>
                </a:spcAft>
              </a:pP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                      C.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 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         </a:t>
              </a: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 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9" name="Object 238">
              <a:extLst>
                <a:ext uri="{FF2B5EF4-FFF2-40B4-BE49-F238E27FC236}">
                  <a16:creationId xmlns:a16="http://schemas.microsoft.com/office/drawing/2014/main" id="{A9B08898-4BC2-2AD4-6074-136ADCD39D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5539" y="1547813"/>
            <a:ext cx="571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482400" progId="Equation.DSMT4">
                    <p:embed/>
                  </p:oleObj>
                </mc:Choice>
                <mc:Fallback>
                  <p:oleObj name="Equation" r:id="rId8" imgW="571320" imgH="48240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E070CCDC-069B-F435-4AC4-342C0C5185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425539" y="1547813"/>
                          <a:ext cx="571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0" name="Object 239">
              <a:extLst>
                <a:ext uri="{FF2B5EF4-FFF2-40B4-BE49-F238E27FC236}">
                  <a16:creationId xmlns:a16="http://schemas.microsoft.com/office/drawing/2014/main" id="{8311EB4B-D5AC-5D3C-BFAF-966D2A5500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3421" y="1663168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71320" imgH="241200" progId="Equation.DSMT4">
                    <p:embed/>
                  </p:oleObj>
                </mc:Choice>
                <mc:Fallback>
                  <p:oleObj name="Equation" r:id="rId10" imgW="571320" imgH="241200" progId="Equation.DSMT4">
                    <p:embed/>
                    <p:pic>
                      <p:nvPicPr>
                        <p:cNvPr id="17" name="Object 16">
                          <a:extLst>
                            <a:ext uri="{FF2B5EF4-FFF2-40B4-BE49-F238E27FC236}">
                              <a16:creationId xmlns:a16="http://schemas.microsoft.com/office/drawing/2014/main" id="{01A9A5AF-367F-A1D5-0812-A9C9255EAC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483421" y="1663168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1" name="Object 240">
              <a:extLst>
                <a:ext uri="{FF2B5EF4-FFF2-40B4-BE49-F238E27FC236}">
                  <a16:creationId xmlns:a16="http://schemas.microsoft.com/office/drawing/2014/main" id="{FBFE994A-21A2-1FA5-7087-B2079E1BDC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0442" y="2251448"/>
            <a:ext cx="6604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60240" imgH="241200" progId="Equation.DSMT4">
                    <p:embed/>
                  </p:oleObj>
                </mc:Choice>
                <mc:Fallback>
                  <p:oleObj name="Equation" r:id="rId12" imgW="660240" imgH="241200" progId="Equation.DSMT4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B1D05A41-84D0-BA51-565C-5108B1485D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480442" y="2251448"/>
                          <a:ext cx="6604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2" name="Object 241">
              <a:extLst>
                <a:ext uri="{FF2B5EF4-FFF2-40B4-BE49-F238E27FC236}">
                  <a16:creationId xmlns:a16="http://schemas.microsoft.com/office/drawing/2014/main" id="{1B0BF866-1BE7-F634-FCE3-A89163389D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4004" y="2158412"/>
            <a:ext cx="5842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83920" imgH="495000" progId="Equation.DSMT4">
                    <p:embed/>
                  </p:oleObj>
                </mc:Choice>
                <mc:Fallback>
                  <p:oleObj name="Equation" r:id="rId14" imgW="583920" imgH="495000" progId="Equation.DSMT4">
                    <p:embed/>
                    <p:pic>
                      <p:nvPicPr>
                        <p:cNvPr id="19" name="Object 18">
                          <a:extLst>
                            <a:ext uri="{FF2B5EF4-FFF2-40B4-BE49-F238E27FC236}">
                              <a16:creationId xmlns:a16="http://schemas.microsoft.com/office/drawing/2014/main" id="{6905B0DF-2051-7138-60A3-F62A3154B7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394004" y="2158412"/>
                          <a:ext cx="5842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6BE5BCE-89AD-364F-523C-20BF1962666E}"/>
              </a:ext>
            </a:extLst>
          </p:cNvPr>
          <p:cNvSpPr/>
          <p:nvPr/>
        </p:nvSpPr>
        <p:spPr>
          <a:xfrm>
            <a:off x="452825" y="2676074"/>
            <a:ext cx="69342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latin typeface="Century Gothic" panose="020B0502020202020204" pitchFamily="34" charset="0"/>
                <a:ea typeface="Calibri" panose="020F0502020204030204" pitchFamily="34" charset="0"/>
              </a:rPr>
              <a:t>For questions 23-30, solve each equation.  Round to the nearest ten-thousandths place when necessary.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7E451E5-2628-3C1A-45F9-CC57EF96030D}"/>
              </a:ext>
            </a:extLst>
          </p:cNvPr>
          <p:cNvSpPr/>
          <p:nvPr/>
        </p:nvSpPr>
        <p:spPr>
          <a:xfrm>
            <a:off x="427967" y="2911364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CA4F1DB4-77C5-5DCF-1854-4D30F6CD83A7}"/>
              </a:ext>
            </a:extLst>
          </p:cNvPr>
          <p:cNvSpPr/>
          <p:nvPr/>
        </p:nvSpPr>
        <p:spPr>
          <a:xfrm>
            <a:off x="3859906" y="295531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24.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9B96FA96-F65E-55A4-84EE-8616B99EF5B1}"/>
              </a:ext>
            </a:extLst>
          </p:cNvPr>
          <p:cNvSpPr/>
          <p:nvPr/>
        </p:nvSpPr>
        <p:spPr>
          <a:xfrm>
            <a:off x="445448" y="5158642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25.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5279DA93-851C-F95F-9A08-01CA3245591F}"/>
              </a:ext>
            </a:extLst>
          </p:cNvPr>
          <p:cNvSpPr/>
          <p:nvPr/>
        </p:nvSpPr>
        <p:spPr>
          <a:xfrm>
            <a:off x="3885941" y="5158642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26.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620856F-3473-5F15-90CC-9B42FB0386B9}"/>
              </a:ext>
            </a:extLst>
          </p:cNvPr>
          <p:cNvSpPr/>
          <p:nvPr/>
        </p:nvSpPr>
        <p:spPr>
          <a:xfrm>
            <a:off x="441281" y="749471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27.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CBF8AE5F-B637-2CD5-A264-454C69A5D15C}"/>
              </a:ext>
            </a:extLst>
          </p:cNvPr>
          <p:cNvSpPr/>
          <p:nvPr/>
        </p:nvSpPr>
        <p:spPr>
          <a:xfrm>
            <a:off x="3865904" y="7419481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28.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50" name="Text Box 608">
            <a:extLst>
              <a:ext uri="{FF2B5EF4-FFF2-40B4-BE49-F238E27FC236}">
                <a16:creationId xmlns:a16="http://schemas.microsoft.com/office/drawing/2014/main" id="{FB5843CC-BC31-0007-780D-9AFA6A2D8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360" y="4697969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51" name="Text Box 608">
            <a:extLst>
              <a:ext uri="{FF2B5EF4-FFF2-40B4-BE49-F238E27FC236}">
                <a16:creationId xmlns:a16="http://schemas.microsoft.com/office/drawing/2014/main" id="{49C1F097-0F75-7414-E77F-FA649E1D7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127" y="4697969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52" name="Text Box 608">
            <a:extLst>
              <a:ext uri="{FF2B5EF4-FFF2-40B4-BE49-F238E27FC236}">
                <a16:creationId xmlns:a16="http://schemas.microsoft.com/office/drawing/2014/main" id="{44981FF6-9ECA-55C4-5832-B553E0872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360" y="6954588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53" name="Text Box 608">
            <a:extLst>
              <a:ext uri="{FF2B5EF4-FFF2-40B4-BE49-F238E27FC236}">
                <a16:creationId xmlns:a16="http://schemas.microsoft.com/office/drawing/2014/main" id="{797A8462-5538-D5C6-DD53-154D601A6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127" y="6954588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54" name="Text Box 608">
            <a:extLst>
              <a:ext uri="{FF2B5EF4-FFF2-40B4-BE49-F238E27FC236}">
                <a16:creationId xmlns:a16="http://schemas.microsoft.com/office/drawing/2014/main" id="{879FA7E6-9F43-0029-D526-31CC93EF6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360" y="9214976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55" name="Text Box 608">
            <a:extLst>
              <a:ext uri="{FF2B5EF4-FFF2-40B4-BE49-F238E27FC236}">
                <a16:creationId xmlns:a16="http://schemas.microsoft.com/office/drawing/2014/main" id="{E9F34E4D-D881-D3E4-FFE9-1589F0E5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127" y="9214976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256" name="Object 255">
            <a:extLst>
              <a:ext uri="{FF2B5EF4-FFF2-40B4-BE49-F238E27FC236}">
                <a16:creationId xmlns:a16="http://schemas.microsoft.com/office/drawing/2014/main" id="{818420B9-3A9F-33E5-4160-B63177296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813036"/>
              </p:ext>
            </p:extLst>
          </p:nvPr>
        </p:nvGraphicFramePr>
        <p:xfrm>
          <a:off x="802910" y="2951928"/>
          <a:ext cx="1803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03240" imgH="215640" progId="Equation.DSMT4">
                  <p:embed/>
                </p:oleObj>
              </mc:Choice>
              <mc:Fallback>
                <p:oleObj name="Equation" r:id="rId16" imgW="1803240" imgH="21564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E88B49DD-036E-FF78-4AC2-A25343231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2910" y="2951928"/>
                        <a:ext cx="1803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" name="Object 256">
            <a:extLst>
              <a:ext uri="{FF2B5EF4-FFF2-40B4-BE49-F238E27FC236}">
                <a16:creationId xmlns:a16="http://schemas.microsoft.com/office/drawing/2014/main" id="{3464BDBB-A646-C1AF-4E01-2C0735904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111613"/>
              </p:ext>
            </p:extLst>
          </p:nvPr>
        </p:nvGraphicFramePr>
        <p:xfrm>
          <a:off x="4189380" y="2904910"/>
          <a:ext cx="153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480" imgH="368280" progId="Equation.DSMT4">
                  <p:embed/>
                </p:oleObj>
              </mc:Choice>
              <mc:Fallback>
                <p:oleObj name="Equation" r:id="rId18" imgW="1536480" imgH="36828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A2D3D985-D9DE-E2DF-EB7A-B84CEA0A7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89380" y="2904910"/>
                        <a:ext cx="1536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" name="Object 257">
            <a:extLst>
              <a:ext uri="{FF2B5EF4-FFF2-40B4-BE49-F238E27FC236}">
                <a16:creationId xmlns:a16="http://schemas.microsoft.com/office/drawing/2014/main" id="{44F77A9F-7BD1-B6AD-465C-C17DAD456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626549"/>
              </p:ext>
            </p:extLst>
          </p:nvPr>
        </p:nvGraphicFramePr>
        <p:xfrm>
          <a:off x="802910" y="5196071"/>
          <a:ext cx="1803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03240" imgH="215640" progId="Equation.DSMT4">
                  <p:embed/>
                </p:oleObj>
              </mc:Choice>
              <mc:Fallback>
                <p:oleObj name="Equation" r:id="rId20" imgW="1803240" imgH="2156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7EE28628-FE56-C4BF-5343-44788AA75D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02910" y="5196071"/>
                        <a:ext cx="1803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" name="Object 258">
            <a:extLst>
              <a:ext uri="{FF2B5EF4-FFF2-40B4-BE49-F238E27FC236}">
                <a16:creationId xmlns:a16="http://schemas.microsoft.com/office/drawing/2014/main" id="{54EC152F-22B6-1B10-A71C-3968945516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21056"/>
              </p:ext>
            </p:extLst>
          </p:nvPr>
        </p:nvGraphicFramePr>
        <p:xfrm>
          <a:off x="4240755" y="5202421"/>
          <a:ext cx="927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27000" imgH="203040" progId="Equation.DSMT4">
                  <p:embed/>
                </p:oleObj>
              </mc:Choice>
              <mc:Fallback>
                <p:oleObj name="Equation" r:id="rId22" imgW="927000" imgH="2030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AB6CDEFD-9424-C514-209F-EF76733AA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40755" y="5202421"/>
                        <a:ext cx="927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" name="Object 259">
            <a:extLst>
              <a:ext uri="{FF2B5EF4-FFF2-40B4-BE49-F238E27FC236}">
                <a16:creationId xmlns:a16="http://schemas.microsoft.com/office/drawing/2014/main" id="{84DE47A0-FE3C-53E6-5643-B0045237E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177438"/>
              </p:ext>
            </p:extLst>
          </p:nvPr>
        </p:nvGraphicFramePr>
        <p:xfrm>
          <a:off x="823533" y="7376437"/>
          <a:ext cx="81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12520" imgH="469800" progId="Equation.DSMT4">
                  <p:embed/>
                </p:oleObj>
              </mc:Choice>
              <mc:Fallback>
                <p:oleObj name="Equation" r:id="rId24" imgW="812520" imgH="46980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29102878-9A52-57A1-5731-30A244375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23533" y="7376437"/>
                        <a:ext cx="812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" name="Object 260">
            <a:extLst>
              <a:ext uri="{FF2B5EF4-FFF2-40B4-BE49-F238E27FC236}">
                <a16:creationId xmlns:a16="http://schemas.microsoft.com/office/drawing/2014/main" id="{304E0382-F962-CF20-FFD8-6E90B54BF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29415"/>
              </p:ext>
            </p:extLst>
          </p:nvPr>
        </p:nvGraphicFramePr>
        <p:xfrm>
          <a:off x="4204433" y="7419481"/>
          <a:ext cx="825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25480" imgH="215640" progId="Equation.DSMT4">
                  <p:embed/>
                </p:oleObj>
              </mc:Choice>
              <mc:Fallback>
                <p:oleObj name="Equation" r:id="rId26" imgW="825480" imgH="2156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3E9D9300-2985-85B9-4081-74EB37B0DF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204433" y="7419481"/>
                        <a:ext cx="825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2" name="Group 261">
            <a:extLst>
              <a:ext uri="{FF2B5EF4-FFF2-40B4-BE49-F238E27FC236}">
                <a16:creationId xmlns:a16="http://schemas.microsoft.com/office/drawing/2014/main" id="{4FDBCF51-952D-F9CB-DBF5-C88A7FCE7E02}"/>
              </a:ext>
            </a:extLst>
          </p:cNvPr>
          <p:cNvGrpSpPr/>
          <p:nvPr/>
        </p:nvGrpSpPr>
        <p:grpSpPr>
          <a:xfrm>
            <a:off x="677825" y="1460742"/>
            <a:ext cx="1375102" cy="1123315"/>
            <a:chOff x="683395" y="1476520"/>
            <a:chExt cx="1375102" cy="1123315"/>
          </a:xfrm>
        </p:grpSpPr>
        <p:graphicFrame>
          <p:nvGraphicFramePr>
            <p:cNvPr id="263" name="Object 262">
              <a:extLst>
                <a:ext uri="{FF2B5EF4-FFF2-40B4-BE49-F238E27FC236}">
                  <a16:creationId xmlns:a16="http://schemas.microsoft.com/office/drawing/2014/main" id="{15859075-87B6-3598-0EBA-AB513DDF62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097" y="1586894"/>
            <a:ext cx="1041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041120" imgH="203040" progId="Equation.DSMT4">
                    <p:embed/>
                  </p:oleObj>
                </mc:Choice>
                <mc:Fallback>
                  <p:oleObj name="Equation" r:id="rId28" imgW="1041120" imgH="20304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E182306D-C789-611F-5C84-C6726BE74A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1017097" y="1586894"/>
                          <a:ext cx="1041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4" name="Object 263">
              <a:extLst>
                <a:ext uri="{FF2B5EF4-FFF2-40B4-BE49-F238E27FC236}">
                  <a16:creationId xmlns:a16="http://schemas.microsoft.com/office/drawing/2014/main" id="{B5DF3FDA-FFC9-E538-76C4-BC2D84C3D5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097" y="1855060"/>
            <a:ext cx="8509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850680" imgH="203040" progId="Equation.DSMT4">
                    <p:embed/>
                  </p:oleObj>
                </mc:Choice>
                <mc:Fallback>
                  <p:oleObj name="Equation" r:id="rId30" imgW="850680" imgH="20304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17EFF616-B057-BA3C-5A10-392D41EAFC0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017097" y="1855060"/>
                          <a:ext cx="8509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5" name="Object 264">
              <a:extLst>
                <a:ext uri="{FF2B5EF4-FFF2-40B4-BE49-F238E27FC236}">
                  <a16:creationId xmlns:a16="http://schemas.microsoft.com/office/drawing/2014/main" id="{720D7621-EFF8-5442-7803-45266C56EB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097" y="2114289"/>
            <a:ext cx="927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927000" imgH="203040" progId="Equation.DSMT4">
                    <p:embed/>
                  </p:oleObj>
                </mc:Choice>
                <mc:Fallback>
                  <p:oleObj name="Equation" r:id="rId32" imgW="927000" imgH="203040" progId="Equation.DSMT4">
                    <p:embed/>
                    <p:pic>
                      <p:nvPicPr>
                        <p:cNvPr id="12" name="Object 11">
                          <a:extLst>
                            <a:ext uri="{FF2B5EF4-FFF2-40B4-BE49-F238E27FC236}">
                              <a16:creationId xmlns:a16="http://schemas.microsoft.com/office/drawing/2014/main" id="{5CA41913-ED25-1BB1-8724-BB008B9BC0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017097" y="2114289"/>
                          <a:ext cx="927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" name="Object 265">
              <a:extLst>
                <a:ext uri="{FF2B5EF4-FFF2-40B4-BE49-F238E27FC236}">
                  <a16:creationId xmlns:a16="http://schemas.microsoft.com/office/drawing/2014/main" id="{4018F266-9CF7-6F33-A808-C49943F79A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097" y="2385434"/>
            <a:ext cx="939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939600" imgH="203040" progId="Equation.DSMT4">
                    <p:embed/>
                  </p:oleObj>
                </mc:Choice>
                <mc:Fallback>
                  <p:oleObj name="Equation" r:id="rId34" imgW="939600" imgH="203040" progId="Equation.DSMT4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E82A1289-443F-8220-BFF2-FF03AB8696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1017097" y="2385434"/>
                          <a:ext cx="939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7" name="Text Box 807">
              <a:extLst>
                <a:ext uri="{FF2B5EF4-FFF2-40B4-BE49-F238E27FC236}">
                  <a16:creationId xmlns:a16="http://schemas.microsoft.com/office/drawing/2014/main" id="{9DBE3BA7-272A-7155-4D45-7637DFF67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395" y="1476520"/>
              <a:ext cx="395053" cy="112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6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57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08">
            <a:extLst>
              <a:ext uri="{FF2B5EF4-FFF2-40B4-BE49-F238E27FC236}">
                <a16:creationId xmlns:a16="http://schemas.microsoft.com/office/drawing/2014/main" id="{EF760B1A-A3D0-C812-24C7-358515B71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311" y="2273931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" name="Text Box 608">
            <a:extLst>
              <a:ext uri="{FF2B5EF4-FFF2-40B4-BE49-F238E27FC236}">
                <a16:creationId xmlns:a16="http://schemas.microsoft.com/office/drawing/2014/main" id="{92EDCBB1-47ED-C6AE-A857-A69798A2B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0311" y="2273931"/>
            <a:ext cx="139319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2A42C-BE3F-99E4-B7BE-99E28ED199D2}"/>
              </a:ext>
            </a:extLst>
          </p:cNvPr>
          <p:cNvSpPr/>
          <p:nvPr/>
        </p:nvSpPr>
        <p:spPr>
          <a:xfrm>
            <a:off x="425899" y="46628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29.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49230-55EA-5949-54C4-5C8ADF7B5CCE}"/>
              </a:ext>
            </a:extLst>
          </p:cNvPr>
          <p:cNvSpPr/>
          <p:nvPr/>
        </p:nvSpPr>
        <p:spPr>
          <a:xfrm>
            <a:off x="3862275" y="469747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30.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C1BD0B6-2AFE-06D0-C2C6-F7377C53FD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417" y="472651"/>
          <a:ext cx="1041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215640" progId="Equation.DSMT4">
                  <p:embed/>
                </p:oleObj>
              </mc:Choice>
              <mc:Fallback>
                <p:oleObj name="Equation" r:id="rId4" imgW="1041120" imgH="2156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A33E59-EE68-593F-945F-480F08372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4417" y="472651"/>
                        <a:ext cx="1041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7D1E663-D661-AE83-93A9-68CE34C53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4464" y="460673"/>
          <a:ext cx="8636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15640" progId="Equation.DSMT4">
                  <p:embed/>
                </p:oleObj>
              </mc:Choice>
              <mc:Fallback>
                <p:oleObj name="Equation" r:id="rId6" imgW="863280" imgH="2156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7EAF4D2-A4C1-7930-D26A-D49DC5ACD6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4464" y="460673"/>
                        <a:ext cx="863600" cy="217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0275192-8110-19D2-CF64-65A33B57ADD5}"/>
              </a:ext>
            </a:extLst>
          </p:cNvPr>
          <p:cNvSpPr/>
          <p:nvPr/>
        </p:nvSpPr>
        <p:spPr>
          <a:xfrm>
            <a:off x="433275" y="2705752"/>
            <a:ext cx="6858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Jack bought a new car in 2014 for $28,000.  If the value of the car decreases by 14% each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year, write an exponential model for the value of the car. Then, estimate the year the car will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have a value of $5,000.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DFBE9E-8872-8173-E231-40DC55F3A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075049"/>
              </p:ext>
            </p:extLst>
          </p:nvPr>
        </p:nvGraphicFramePr>
        <p:xfrm>
          <a:off x="422668" y="4609898"/>
          <a:ext cx="6868608" cy="561150"/>
        </p:xfrm>
        <a:graphic>
          <a:graphicData uri="http://schemas.openxmlformats.org/drawingml/2006/table">
            <a:tbl>
              <a:tblPr/>
              <a:tblGrid>
                <a:gridCol w="686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Logan inherited $8,000 from his grandmother.  He split the money evenly and placed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amounts in the two accounts below.  Find the total amount of money he will have in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accounts combined after 5 years.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3E237FF-0078-D583-BDA6-6340FD07F115}"/>
              </a:ext>
            </a:extLst>
          </p:cNvPr>
          <p:cNvGrpSpPr/>
          <p:nvPr/>
        </p:nvGrpSpPr>
        <p:grpSpPr>
          <a:xfrm>
            <a:off x="2316538" y="4100647"/>
            <a:ext cx="2707052" cy="411446"/>
            <a:chOff x="1781243" y="5416"/>
            <a:chExt cx="2707861" cy="411480"/>
          </a:xfrm>
        </p:grpSpPr>
        <p:sp>
          <p:nvSpPr>
            <p:cNvPr id="11" name="Text Box 456">
              <a:extLst>
                <a:ext uri="{FF2B5EF4-FFF2-40B4-BE49-F238E27FC236}">
                  <a16:creationId xmlns:a16="http://schemas.microsoft.com/office/drawing/2014/main" id="{005006DD-F1F0-AA5A-6849-C80C3557D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9508" y="5416"/>
              <a:ext cx="1919596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2" name="Text Box 457">
              <a:extLst>
                <a:ext uri="{FF2B5EF4-FFF2-40B4-BE49-F238E27FC236}">
                  <a16:creationId xmlns:a16="http://schemas.microsoft.com/office/drawing/2014/main" id="{771A26D9-342B-B1DB-A71B-03058CC60316}"/>
                </a:ext>
              </a:extLst>
            </p:cNvPr>
            <p:cNvSpPr txBox="1"/>
            <p:nvPr/>
          </p:nvSpPr>
          <p:spPr>
            <a:xfrm>
              <a:off x="1781243" y="104013"/>
              <a:ext cx="809625" cy="284271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Equation: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7163DE-EA6F-FE37-5467-BFEB2B74AE57}"/>
              </a:ext>
            </a:extLst>
          </p:cNvPr>
          <p:cNvGrpSpPr/>
          <p:nvPr/>
        </p:nvGrpSpPr>
        <p:grpSpPr>
          <a:xfrm>
            <a:off x="5225808" y="4100647"/>
            <a:ext cx="2017693" cy="411446"/>
            <a:chOff x="-87398" y="5416"/>
            <a:chExt cx="2018445" cy="411480"/>
          </a:xfrm>
        </p:grpSpPr>
        <p:sp>
          <p:nvSpPr>
            <p:cNvPr id="14" name="Text Box 459">
              <a:extLst>
                <a:ext uri="{FF2B5EF4-FFF2-40B4-BE49-F238E27FC236}">
                  <a16:creationId xmlns:a16="http://schemas.microsoft.com/office/drawing/2014/main" id="{9E1A0885-164F-F2B6-9D56-ECF2CA61B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40" y="5416"/>
              <a:ext cx="1330007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Text Box 460">
              <a:extLst>
                <a:ext uri="{FF2B5EF4-FFF2-40B4-BE49-F238E27FC236}">
                  <a16:creationId xmlns:a16="http://schemas.microsoft.com/office/drawing/2014/main" id="{F6C081D6-B4BD-48C4-7B21-280E23939C90}"/>
                </a:ext>
              </a:extLst>
            </p:cNvPr>
            <p:cNvSpPr txBox="1"/>
            <p:nvPr/>
          </p:nvSpPr>
          <p:spPr>
            <a:xfrm>
              <a:off x="-87398" y="74130"/>
              <a:ext cx="1000126" cy="284271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Answer: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F5C39F-C7CA-FF79-C9D3-79CD4FC12944}"/>
              </a:ext>
            </a:extLst>
          </p:cNvPr>
          <p:cNvGraphicFramePr>
            <a:graphicFrameLocks noGrp="1"/>
          </p:cNvGraphicFramePr>
          <p:nvPr/>
        </p:nvGraphicFramePr>
        <p:xfrm>
          <a:off x="1780969" y="5337282"/>
          <a:ext cx="4267194" cy="397574"/>
        </p:xfrm>
        <a:graphic>
          <a:graphicData uri="http://schemas.openxmlformats.org/drawingml/2006/table">
            <a:tbl>
              <a:tblPr/>
              <a:tblGrid>
                <a:gridCol w="4267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22860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Account A: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earns 7% interest compounded quarterly</a:t>
                      </a:r>
                    </a:p>
                    <a:p>
                      <a:pPr marL="342900" marR="0" lvl="0" indent="-22860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Account B: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earns 5.5% interest compounded annually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D1488DBC-080F-31C0-45F7-D0683EDA6AFD}"/>
              </a:ext>
            </a:extLst>
          </p:cNvPr>
          <p:cNvGrpSpPr/>
          <p:nvPr/>
        </p:nvGrpSpPr>
        <p:grpSpPr>
          <a:xfrm>
            <a:off x="5188528" y="7315836"/>
            <a:ext cx="2017693" cy="411446"/>
            <a:chOff x="-87398" y="5416"/>
            <a:chExt cx="2018445" cy="411480"/>
          </a:xfrm>
        </p:grpSpPr>
        <p:sp>
          <p:nvSpPr>
            <p:cNvPr id="18" name="Text Box 459">
              <a:extLst>
                <a:ext uri="{FF2B5EF4-FFF2-40B4-BE49-F238E27FC236}">
                  <a16:creationId xmlns:a16="http://schemas.microsoft.com/office/drawing/2014/main" id="{5FE1CF7B-68C7-E988-37E1-65798786E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40" y="5416"/>
              <a:ext cx="1330007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9" name="Text Box 460">
              <a:extLst>
                <a:ext uri="{FF2B5EF4-FFF2-40B4-BE49-F238E27FC236}">
                  <a16:creationId xmlns:a16="http://schemas.microsoft.com/office/drawing/2014/main" id="{98454813-621F-6A63-8AB5-4541B45865A8}"/>
                </a:ext>
              </a:extLst>
            </p:cNvPr>
            <p:cNvSpPr txBox="1"/>
            <p:nvPr/>
          </p:nvSpPr>
          <p:spPr>
            <a:xfrm>
              <a:off x="-87398" y="74130"/>
              <a:ext cx="1000126" cy="284271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Answer: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7263-DD5E-E695-BF3D-A55B3BB4C42D}"/>
              </a:ext>
            </a:extLst>
          </p:cNvPr>
          <p:cNvGrpSpPr/>
          <p:nvPr/>
        </p:nvGrpSpPr>
        <p:grpSpPr>
          <a:xfrm>
            <a:off x="5188528" y="9124122"/>
            <a:ext cx="2017693" cy="411446"/>
            <a:chOff x="-87398" y="5416"/>
            <a:chExt cx="2018445" cy="411480"/>
          </a:xfrm>
        </p:grpSpPr>
        <p:sp>
          <p:nvSpPr>
            <p:cNvPr id="21" name="Text Box 459">
              <a:extLst>
                <a:ext uri="{FF2B5EF4-FFF2-40B4-BE49-F238E27FC236}">
                  <a16:creationId xmlns:a16="http://schemas.microsoft.com/office/drawing/2014/main" id="{749526C7-91C7-9CD6-478B-13B05FEFC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40" y="5416"/>
              <a:ext cx="1330007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22" name="Text Box 460">
              <a:extLst>
                <a:ext uri="{FF2B5EF4-FFF2-40B4-BE49-F238E27FC236}">
                  <a16:creationId xmlns:a16="http://schemas.microsoft.com/office/drawing/2014/main" id="{7503C6C9-012F-698F-1232-6DF8B7E673EF}"/>
                </a:ext>
              </a:extLst>
            </p:cNvPr>
            <p:cNvSpPr txBox="1"/>
            <p:nvPr/>
          </p:nvSpPr>
          <p:spPr>
            <a:xfrm>
              <a:off x="-87398" y="69020"/>
              <a:ext cx="1000126" cy="284271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Answer: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218841-D67E-68F2-E43C-EF3E42A02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74100"/>
              </p:ext>
            </p:extLst>
          </p:nvPr>
        </p:nvGraphicFramePr>
        <p:xfrm>
          <a:off x="425413" y="7824380"/>
          <a:ext cx="6868608" cy="578676"/>
        </p:xfrm>
        <a:graphic>
          <a:graphicData uri="http://schemas.openxmlformats.org/drawingml/2006/table">
            <a:tbl>
              <a:tblPr/>
              <a:tblGrid>
                <a:gridCol w="686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bacteria culture begins with 500 bacteria and is growing exponentially.  The number of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bacteria after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hours can be modeled by the function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4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= 500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100" b="1" baseline="30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sz="1200" b="1" i="1" baseline="30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 Find the number of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bacteria after 4 hours.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24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774303-34E1-8BF1-C7D2-02944E55CBB1}"/>
              </a:ext>
            </a:extLst>
          </p:cNvPr>
          <p:cNvSpPr/>
          <p:nvPr/>
        </p:nvSpPr>
        <p:spPr>
          <a:xfrm>
            <a:off x="417140" y="427704"/>
            <a:ext cx="699073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34.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table below shows the number of new restaurants in a fast-food chain that opened during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the years of 1988 through 1992. Using an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exponential model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write an equation for the curve of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best fit, then estimate the number of new restaurants that opened in 2005.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807FFA-E1EE-5ABB-8A9C-E8CD9050603B}"/>
              </a:ext>
            </a:extLst>
          </p:cNvPr>
          <p:cNvGrpSpPr/>
          <p:nvPr/>
        </p:nvGrpSpPr>
        <p:grpSpPr>
          <a:xfrm>
            <a:off x="2332704" y="2617840"/>
            <a:ext cx="4838064" cy="425450"/>
            <a:chOff x="1869565" y="0"/>
            <a:chExt cx="4840114" cy="4260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7AC1AD-CA0E-8DBB-DE5A-AFBBFF5BE03F}"/>
                </a:ext>
              </a:extLst>
            </p:cNvPr>
            <p:cNvGrpSpPr/>
            <p:nvPr/>
          </p:nvGrpSpPr>
          <p:grpSpPr>
            <a:xfrm>
              <a:off x="1869565" y="14575"/>
              <a:ext cx="2717787" cy="411480"/>
              <a:chOff x="1869565" y="5050"/>
              <a:chExt cx="2717787" cy="411480"/>
            </a:xfrm>
          </p:grpSpPr>
          <p:sp>
            <p:nvSpPr>
              <p:cNvPr id="8" name="Text Box 23">
                <a:extLst>
                  <a:ext uri="{FF2B5EF4-FFF2-40B4-BE49-F238E27FC236}">
                    <a16:creationId xmlns:a16="http://schemas.microsoft.com/office/drawing/2014/main" id="{08A7662A-3569-55F1-C85D-3CFC800316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7756" y="5050"/>
                <a:ext cx="1919596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9" name="Text Box 24">
                <a:extLst>
                  <a:ext uri="{FF2B5EF4-FFF2-40B4-BE49-F238E27FC236}">
                    <a16:creationId xmlns:a16="http://schemas.microsoft.com/office/drawing/2014/main" id="{308FC12A-AB10-343E-AD8D-51C497A98BC9}"/>
                  </a:ext>
                </a:extLst>
              </p:cNvPr>
              <p:cNvSpPr txBox="1"/>
              <p:nvPr/>
            </p:nvSpPr>
            <p:spPr>
              <a:xfrm>
                <a:off x="1869565" y="89555"/>
                <a:ext cx="809625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Equation: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F5D46CA-4BF6-B9BF-5011-EB0D0A72A23F}"/>
                </a:ext>
              </a:extLst>
            </p:cNvPr>
            <p:cNvGrpSpPr/>
            <p:nvPr/>
          </p:nvGrpSpPr>
          <p:grpSpPr>
            <a:xfrm>
              <a:off x="4691383" y="0"/>
              <a:ext cx="2018296" cy="411480"/>
              <a:chOff x="-87398" y="-9525"/>
              <a:chExt cx="2018445" cy="411480"/>
            </a:xfrm>
          </p:grpSpPr>
          <p:sp>
            <p:nvSpPr>
              <p:cNvPr id="6" name="Text Box 26">
                <a:extLst>
                  <a:ext uri="{FF2B5EF4-FFF2-40B4-BE49-F238E27FC236}">
                    <a16:creationId xmlns:a16="http://schemas.microsoft.com/office/drawing/2014/main" id="{65664167-1FE0-5DE6-B33A-FC3D0EA2F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040" y="-9525"/>
                <a:ext cx="1330007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7" name="Text Box 27">
                <a:extLst>
                  <a:ext uri="{FF2B5EF4-FFF2-40B4-BE49-F238E27FC236}">
                    <a16:creationId xmlns:a16="http://schemas.microsoft.com/office/drawing/2014/main" id="{117A8C5A-40B6-CC44-5C6F-964303A48D84}"/>
                  </a:ext>
                </a:extLst>
              </p:cNvPr>
              <p:cNvSpPr txBox="1"/>
              <p:nvPr/>
            </p:nvSpPr>
            <p:spPr>
              <a:xfrm>
                <a:off x="-87398" y="74130"/>
                <a:ext cx="1000126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Answer: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</p:grp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11BD5DB-6D8D-43DC-5061-16FC2BA77C4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371600"/>
          <a:ext cx="1540764" cy="15636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Year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8255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2235" indent="266700">
                        <a:lnSpc>
                          <a:spcPts val="133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New  </a:t>
                      </a:r>
                      <a:r>
                        <a:rPr sz="1100" b="1" spc="10" dirty="0">
                          <a:latin typeface="Century Gothic" panose="020B0502020202020204" pitchFamily="34" charset="0"/>
                          <a:cs typeface="Tahoma"/>
                        </a:rPr>
                        <a:t>Re</a:t>
                      </a: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st</a:t>
                      </a:r>
                      <a:r>
                        <a:rPr sz="1100" b="1" spc="5" dirty="0">
                          <a:latin typeface="Century Gothic" panose="020B0502020202020204" pitchFamily="34" charset="0"/>
                          <a:cs typeface="Tahoma"/>
                        </a:rPr>
                        <a:t>au</a:t>
                      </a:r>
                      <a:r>
                        <a:rPr sz="1100" b="1" spc="-5" dirty="0">
                          <a:latin typeface="Century Gothic" panose="020B0502020202020204" pitchFamily="34" charset="0"/>
                          <a:cs typeface="Tahoma"/>
                        </a:rPr>
                        <a:t>r</a:t>
                      </a:r>
                      <a:r>
                        <a:rPr sz="1100" b="1" spc="5" dirty="0">
                          <a:latin typeface="Century Gothic" panose="020B0502020202020204" pitchFamily="34" charset="0"/>
                          <a:cs typeface="Tahoma"/>
                        </a:rPr>
                        <a:t>an</a:t>
                      </a: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ts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17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1988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40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49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1989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40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81</a:t>
                      </a: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112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150</a:t>
                      </a: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361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1992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262</a:t>
                      </a:r>
                    </a:p>
                  </a:txBody>
                  <a:tcPr marL="0" marR="0" marT="3365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C4284522-59DE-3E4A-3E46-2E31FB29EED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86200"/>
          <a:ext cx="1254249" cy="152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5" dirty="0">
                          <a:latin typeface="Century Gothic" panose="020B0502020202020204" pitchFamily="34" charset="0"/>
                          <a:cs typeface="Tahoma"/>
                        </a:rPr>
                        <a:t>Depth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(ft)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Temp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spc="-7" baseline="31746" dirty="0">
                          <a:latin typeface="Tahoma"/>
                          <a:cs typeface="Tahoma"/>
                        </a:rPr>
                        <a:t>°</a:t>
                      </a:r>
                      <a:r>
                        <a:rPr sz="1100" i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)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R="2362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2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86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98"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12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78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3"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14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75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45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71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68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68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82965CE-033A-3C99-5E0F-1DE4984654D1}"/>
              </a:ext>
            </a:extLst>
          </p:cNvPr>
          <p:cNvSpPr/>
          <p:nvPr/>
        </p:nvSpPr>
        <p:spPr>
          <a:xfrm>
            <a:off x="417140" y="3114368"/>
            <a:ext cx="68199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35.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The table below shows the water temperature at certain depths of a lake. Using an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logarithmic model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write an equation for the curve of best fit, then estimate the depth of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water at a temperature of 50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</a:rPr>
              <a:t> F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7E0645-ADF4-2B4C-C696-6F9F95917460}"/>
              </a:ext>
            </a:extLst>
          </p:cNvPr>
          <p:cNvGrpSpPr/>
          <p:nvPr/>
        </p:nvGrpSpPr>
        <p:grpSpPr>
          <a:xfrm>
            <a:off x="2362200" y="5122608"/>
            <a:ext cx="4838064" cy="425450"/>
            <a:chOff x="1869565" y="0"/>
            <a:chExt cx="4840114" cy="42605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CDE677C-0CCD-A9AB-C3C9-7CB78B7BC160}"/>
                </a:ext>
              </a:extLst>
            </p:cNvPr>
            <p:cNvGrpSpPr/>
            <p:nvPr/>
          </p:nvGrpSpPr>
          <p:grpSpPr>
            <a:xfrm>
              <a:off x="1869565" y="14575"/>
              <a:ext cx="2717787" cy="411480"/>
              <a:chOff x="1869565" y="5050"/>
              <a:chExt cx="2717787" cy="411480"/>
            </a:xfrm>
          </p:grpSpPr>
          <p:sp>
            <p:nvSpPr>
              <p:cNvPr id="18" name="Text Box 72">
                <a:extLst>
                  <a:ext uri="{FF2B5EF4-FFF2-40B4-BE49-F238E27FC236}">
                    <a16:creationId xmlns:a16="http://schemas.microsoft.com/office/drawing/2014/main" id="{68A42645-C1CD-1705-D526-0205DC4C00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7756" y="5050"/>
                <a:ext cx="1919596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9" name="Text Box 73">
                <a:extLst>
                  <a:ext uri="{FF2B5EF4-FFF2-40B4-BE49-F238E27FC236}">
                    <a16:creationId xmlns:a16="http://schemas.microsoft.com/office/drawing/2014/main" id="{E55E7D64-8159-F98F-E550-62A4EDAF2151}"/>
                  </a:ext>
                </a:extLst>
              </p:cNvPr>
              <p:cNvSpPr txBox="1"/>
              <p:nvPr/>
            </p:nvSpPr>
            <p:spPr>
              <a:xfrm>
                <a:off x="1869565" y="89555"/>
                <a:ext cx="809625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Equation: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DE9475D-6997-6F4B-3EE6-69CB588D92DC}"/>
                </a:ext>
              </a:extLst>
            </p:cNvPr>
            <p:cNvGrpSpPr/>
            <p:nvPr/>
          </p:nvGrpSpPr>
          <p:grpSpPr>
            <a:xfrm>
              <a:off x="4691383" y="0"/>
              <a:ext cx="2018296" cy="411480"/>
              <a:chOff x="-87398" y="-9525"/>
              <a:chExt cx="2018445" cy="411480"/>
            </a:xfrm>
          </p:grpSpPr>
          <p:sp>
            <p:nvSpPr>
              <p:cNvPr id="16" name="Text Box 75">
                <a:extLst>
                  <a:ext uri="{FF2B5EF4-FFF2-40B4-BE49-F238E27FC236}">
                    <a16:creationId xmlns:a16="http://schemas.microsoft.com/office/drawing/2014/main" id="{65EB1E6F-5016-3E5A-4350-F38134720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040" y="-9525"/>
                <a:ext cx="1330007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7" name="Text Box 76">
                <a:extLst>
                  <a:ext uri="{FF2B5EF4-FFF2-40B4-BE49-F238E27FC236}">
                    <a16:creationId xmlns:a16="http://schemas.microsoft.com/office/drawing/2014/main" id="{CA6B9CA8-4527-CEA1-8819-416739E613DD}"/>
                  </a:ext>
                </a:extLst>
              </p:cNvPr>
              <p:cNvSpPr txBox="1"/>
              <p:nvPr/>
            </p:nvSpPr>
            <p:spPr>
              <a:xfrm>
                <a:off x="-87398" y="74130"/>
                <a:ext cx="1000126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Answer: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</p:grpSp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BD804998-519E-EC13-2D1A-08C5BED223C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6629400"/>
          <a:ext cx="1426463" cy="149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Year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603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spc="-5" dirty="0">
                          <a:latin typeface="Century Gothic" panose="020B0502020202020204" pitchFamily="34" charset="0"/>
                          <a:cs typeface="Tahoma"/>
                        </a:rPr>
                        <a:t>Population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6034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1960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50.6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1970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55.5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1980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683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64.0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6830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80.3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9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2000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102.9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38735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0226692-81A4-F945-0978-B104A42EA611}"/>
              </a:ext>
            </a:extLst>
          </p:cNvPr>
          <p:cNvSpPr/>
          <p:nvPr/>
        </p:nvSpPr>
        <p:spPr>
          <a:xfrm>
            <a:off x="417140" y="5628968"/>
            <a:ext cx="6914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36.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population (in thousands) of a town during certain years is given in the table below.  Which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model would best fit this data: </a:t>
            </a:r>
            <a:r>
              <a:rPr lang="en-US" sz="1100" u="sng" dirty="0">
                <a:latin typeface="Century Gothic" panose="020B0502020202020204" pitchFamily="34" charset="0"/>
                <a:ea typeface="Calibri" panose="020F0502020204030204" pitchFamily="34" charset="0"/>
              </a:rPr>
              <a:t>linear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100" u="sng" dirty="0">
                <a:latin typeface="Century Gothic" panose="020B0502020202020204" pitchFamily="34" charset="0"/>
                <a:ea typeface="Calibri" panose="020F0502020204030204" pitchFamily="34" charset="0"/>
              </a:rPr>
              <a:t>quadratic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or </a:t>
            </a:r>
            <a:r>
              <a:rPr lang="en-US" sz="1100" u="sng" dirty="0">
                <a:latin typeface="Century Gothic" panose="020B0502020202020204" pitchFamily="34" charset="0"/>
                <a:ea typeface="Calibri" panose="020F0502020204030204" pitchFamily="34" charset="0"/>
              </a:rPr>
              <a:t>exponential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?  Choose the model that best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fits the data, write an equation to model the data, then predict the approximate population in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2020. 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149C88-5D47-F83F-ED97-F09748D3999D}"/>
              </a:ext>
            </a:extLst>
          </p:cNvPr>
          <p:cNvGrpSpPr/>
          <p:nvPr/>
        </p:nvGrpSpPr>
        <p:grpSpPr>
          <a:xfrm>
            <a:off x="3352800" y="6705600"/>
            <a:ext cx="3763010" cy="1488441"/>
            <a:chOff x="97391" y="0"/>
            <a:chExt cx="3330010" cy="148899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FA42CA-6A2D-C3C6-1478-1AD25668E6A6}"/>
                </a:ext>
              </a:extLst>
            </p:cNvPr>
            <p:cNvGrpSpPr/>
            <p:nvPr/>
          </p:nvGrpSpPr>
          <p:grpSpPr>
            <a:xfrm>
              <a:off x="97391" y="537131"/>
              <a:ext cx="3330010" cy="951865"/>
              <a:chOff x="1992597" y="14575"/>
              <a:chExt cx="3331800" cy="95441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6B3686A-008C-7472-579A-957AA2C376BF}"/>
                  </a:ext>
                </a:extLst>
              </p:cNvPr>
              <p:cNvGrpSpPr/>
              <p:nvPr/>
            </p:nvGrpSpPr>
            <p:grpSpPr>
              <a:xfrm>
                <a:off x="1992597" y="14575"/>
                <a:ext cx="3331800" cy="411480"/>
                <a:chOff x="1992597" y="5050"/>
                <a:chExt cx="3331800" cy="411480"/>
              </a:xfrm>
            </p:grpSpPr>
            <p:sp>
              <p:nvSpPr>
                <p:cNvPr id="30" name="Text Box 82">
                  <a:extLst>
                    <a:ext uri="{FF2B5EF4-FFF2-40B4-BE49-F238E27FC236}">
                      <a16:creationId xmlns:a16="http://schemas.microsoft.com/office/drawing/2014/main" id="{86584987-9989-365A-17CB-37E3E004EE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7702" y="5050"/>
                  <a:ext cx="2656695" cy="41148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1" name="Text Box 83">
                  <a:extLst>
                    <a:ext uri="{FF2B5EF4-FFF2-40B4-BE49-F238E27FC236}">
                      <a16:creationId xmlns:a16="http://schemas.microsoft.com/office/drawing/2014/main" id="{36F70372-0038-C671-9510-8B191C4ADA26}"/>
                    </a:ext>
                  </a:extLst>
                </p:cNvPr>
                <p:cNvSpPr txBox="1"/>
                <p:nvPr/>
              </p:nvSpPr>
              <p:spPr>
                <a:xfrm>
                  <a:off x="1992597" y="81063"/>
                  <a:ext cx="644623" cy="284271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0" tIns="45720" rIns="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 </a:t>
                  </a:r>
                  <a:r>
                    <a:rPr kumimoji="0" lang="en-US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Equation:</a:t>
                  </a: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    </a:t>
                  </a: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0B22785-0454-5C83-AE3E-084C53B97144}"/>
                  </a:ext>
                </a:extLst>
              </p:cNvPr>
              <p:cNvGrpSpPr/>
              <p:nvPr/>
            </p:nvGrpSpPr>
            <p:grpSpPr>
              <a:xfrm>
                <a:off x="2067594" y="557514"/>
                <a:ext cx="2130782" cy="411480"/>
                <a:chOff x="-2711379" y="547989"/>
                <a:chExt cx="2130938" cy="411480"/>
              </a:xfrm>
            </p:grpSpPr>
            <p:sp>
              <p:nvSpPr>
                <p:cNvPr id="28" name="Text Box 85">
                  <a:extLst>
                    <a:ext uri="{FF2B5EF4-FFF2-40B4-BE49-F238E27FC236}">
                      <a16:creationId xmlns:a16="http://schemas.microsoft.com/office/drawing/2014/main" id="{467AEE4B-885E-00EA-C9BD-63C4187898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2099738" y="547989"/>
                  <a:ext cx="1519297" cy="41148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9" name="Text Box 86">
                  <a:extLst>
                    <a:ext uri="{FF2B5EF4-FFF2-40B4-BE49-F238E27FC236}">
                      <a16:creationId xmlns:a16="http://schemas.microsoft.com/office/drawing/2014/main" id="{CE6F7628-2EB9-34B5-5CC4-FE7552393A94}"/>
                    </a:ext>
                  </a:extLst>
                </p:cNvPr>
                <p:cNvSpPr txBox="1"/>
                <p:nvPr/>
              </p:nvSpPr>
              <p:spPr>
                <a:xfrm>
                  <a:off x="-2711379" y="633536"/>
                  <a:ext cx="607571" cy="284271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0" tIns="45720" rIns="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 </a:t>
                  </a:r>
                  <a:r>
                    <a:rPr kumimoji="0" lang="en-US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Answer:</a:t>
                  </a:r>
                  <a:r>
                    <a:rPr kumimoji="0" 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4" name="Text Box 87">
              <a:extLst>
                <a:ext uri="{FF2B5EF4-FFF2-40B4-BE49-F238E27FC236}">
                  <a16:creationId xmlns:a16="http://schemas.microsoft.com/office/drawing/2014/main" id="{7068B839-0F5A-3081-1A58-F9D36C4FE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723" y="0"/>
              <a:ext cx="1778609" cy="41064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25" name="Text Box 88">
              <a:extLst>
                <a:ext uri="{FF2B5EF4-FFF2-40B4-BE49-F238E27FC236}">
                  <a16:creationId xmlns:a16="http://schemas.microsoft.com/office/drawing/2014/main" id="{D726FCFD-B215-C05D-4FB4-EF870820830E}"/>
                </a:ext>
              </a:extLst>
            </p:cNvPr>
            <p:cNvSpPr txBox="1"/>
            <p:nvPr/>
          </p:nvSpPr>
          <p:spPr>
            <a:xfrm>
              <a:off x="231016" y="68936"/>
              <a:ext cx="510656" cy="283693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Model: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47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1640</TotalTime>
  <Words>1083</Words>
  <Application>Microsoft Office PowerPoint</Application>
  <PresentationFormat>Custom</PresentationFormat>
  <Paragraphs>198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Century Gothic</vt:lpstr>
      <vt:lpstr>Symbol</vt:lpstr>
      <vt:lpstr>Tahoma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- 29 - Unit 7 Test</dc:title>
  <dc:creator>allth</dc:creator>
  <cp:lastModifiedBy>Gina Wilson</cp:lastModifiedBy>
  <cp:revision>74</cp:revision>
  <dcterms:created xsi:type="dcterms:W3CDTF">2017-11-12T11:39:45Z</dcterms:created>
  <dcterms:modified xsi:type="dcterms:W3CDTF">2025-01-27T23:32:15Z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2017-11-12T00:00:00Z</vt:filetime>
  </property>
</Properties>
</file>