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02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</a:t>
            </a:r>
            <a:r>
              <a:rPr spc="5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</a:t>
            </a:r>
            <a:r>
              <a:rPr spc="5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</a:t>
            </a:r>
            <a:r>
              <a:rPr spc="5" dirty="0"/>
              <a:t> </a:t>
            </a:r>
            <a:r>
              <a:rPr dirty="0"/>
              <a:t>2015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</a:t>
            </a:r>
            <a:r>
              <a:rPr spc="5" dirty="0"/>
              <a:t> </a:t>
            </a:r>
            <a:r>
              <a:rPr dirty="0"/>
              <a:t>2015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</a:t>
            </a:r>
            <a:r>
              <a:rPr spc="5" dirty="0"/>
              <a:t> </a:t>
            </a:r>
            <a:r>
              <a:rPr dirty="0"/>
              <a:t>2015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46978" y="9760215"/>
            <a:ext cx="1412875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</a:t>
            </a:r>
            <a:r>
              <a:rPr spc="5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26" Type="http://schemas.openxmlformats.org/officeDocument/2006/relationships/image" Target="../media/image13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image" Target="../media/image1.JPG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29" Type="http://schemas.openxmlformats.org/officeDocument/2006/relationships/oleObject" Target="../embeddings/oleObject14.bin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4.wmf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Relationship Id="rId22" Type="http://schemas.openxmlformats.org/officeDocument/2006/relationships/image" Target="../media/image11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5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oleObject" Target="../embeddings/oleObject20.bin"/><Relationship Id="rId18" Type="http://schemas.openxmlformats.org/officeDocument/2006/relationships/oleObject" Target="../embeddings/oleObject23.bin"/><Relationship Id="rId26" Type="http://schemas.openxmlformats.org/officeDocument/2006/relationships/image" Target="../media/image26.wmf"/><Relationship Id="rId3" Type="http://schemas.openxmlformats.org/officeDocument/2006/relationships/oleObject" Target="../embeddings/oleObject15.bin"/><Relationship Id="rId21" Type="http://schemas.openxmlformats.org/officeDocument/2006/relationships/image" Target="../media/image25.wmf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22.bin"/><Relationship Id="rId25" Type="http://schemas.openxmlformats.org/officeDocument/2006/relationships/oleObject" Target="../embeddings/oleObject28.bin"/><Relationship Id="rId2" Type="http://schemas.openxmlformats.org/officeDocument/2006/relationships/image" Target="../media/image16.JPG"/><Relationship Id="rId16" Type="http://schemas.openxmlformats.org/officeDocument/2006/relationships/image" Target="../media/image23.wmf"/><Relationship Id="rId20" Type="http://schemas.openxmlformats.org/officeDocument/2006/relationships/oleObject" Target="../embeddings/oleObject24.bin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19.bin"/><Relationship Id="rId24" Type="http://schemas.openxmlformats.org/officeDocument/2006/relationships/oleObject" Target="../embeddings/oleObject27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23" Type="http://schemas.openxmlformats.org/officeDocument/2006/relationships/oleObject" Target="../embeddings/oleObject26.bin"/><Relationship Id="rId10" Type="http://schemas.openxmlformats.org/officeDocument/2006/relationships/image" Target="../media/image20.wmf"/><Relationship Id="rId19" Type="http://schemas.openxmlformats.org/officeDocument/2006/relationships/image" Target="../media/image24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2.wmf"/><Relationship Id="rId22" Type="http://schemas.openxmlformats.org/officeDocument/2006/relationships/oleObject" Target="../embeddings/oleObject25.bin"/><Relationship Id="rId27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0437FB-0512-E0C1-4143-27CC98C6A200}"/>
              </a:ext>
            </a:extLst>
          </p:cNvPr>
          <p:cNvSpPr/>
          <p:nvPr/>
        </p:nvSpPr>
        <p:spPr>
          <a:xfrm>
            <a:off x="627454" y="1963444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7B4D8B79-AA75-EF24-8718-FEEA36EB9E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2463" y="2005440"/>
          <a:ext cx="6731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72840" imgH="215640" progId="Equation.DSMT4">
                  <p:embed/>
                </p:oleObj>
              </mc:Choice>
              <mc:Fallback>
                <p:oleObj name="Equation" r:id="rId3" imgW="672840" imgH="215640" progId="Equation.DSMT4">
                  <p:embed/>
                  <p:pic>
                    <p:nvPicPr>
                      <p:cNvPr id="51" name="Object 5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2463" y="2005440"/>
                        <a:ext cx="6731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4D8746D-6040-DD81-7E74-9B54B8B7D8CF}"/>
              </a:ext>
            </a:extLst>
          </p:cNvPr>
          <p:cNvSpPr/>
          <p:nvPr/>
        </p:nvSpPr>
        <p:spPr>
          <a:xfrm>
            <a:off x="2829145" y="1981200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9437E75-2D1B-8573-9632-C3810E5BD8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93876" y="1936810"/>
          <a:ext cx="647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47640" imgH="368280" progId="Equation.DSMT4">
                  <p:embed/>
                </p:oleObj>
              </mc:Choice>
              <mc:Fallback>
                <p:oleObj name="Equation" r:id="rId5" imgW="647640" imgH="368280" progId="Equation.DSMT4">
                  <p:embed/>
                  <p:pic>
                    <p:nvPicPr>
                      <p:cNvPr id="53" name="Object 5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93876" y="1936810"/>
                        <a:ext cx="647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FF81B121-7491-2B9F-9B90-FA22B242BE2C}"/>
              </a:ext>
            </a:extLst>
          </p:cNvPr>
          <p:cNvSpPr/>
          <p:nvPr/>
        </p:nvSpPr>
        <p:spPr>
          <a:xfrm>
            <a:off x="627454" y="2828278"/>
            <a:ext cx="304602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Write each expression in logarithmic form.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1CF5AE-C186-5445-4858-95DCD3889589}"/>
              </a:ext>
            </a:extLst>
          </p:cNvPr>
          <p:cNvSpPr/>
          <p:nvPr/>
        </p:nvSpPr>
        <p:spPr>
          <a:xfrm>
            <a:off x="627454" y="3106444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3.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E8A82D-E8D4-C0CB-2644-8BE20E897DC4}"/>
              </a:ext>
            </a:extLst>
          </p:cNvPr>
          <p:cNvSpPr/>
          <p:nvPr/>
        </p:nvSpPr>
        <p:spPr>
          <a:xfrm>
            <a:off x="2829145" y="3065756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4.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97CFBDEE-F8EF-0199-1362-DFBB0D74CB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7541" y="3088446"/>
          <a:ext cx="4953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95000" imgH="203040" progId="Equation.DSMT4">
                  <p:embed/>
                </p:oleObj>
              </mc:Choice>
              <mc:Fallback>
                <p:oleObj name="Equation" r:id="rId7" imgW="495000" imgH="203040" progId="Equation.DSMT4">
                  <p:embed/>
                  <p:pic>
                    <p:nvPicPr>
                      <p:cNvPr id="60" name="Object 5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77541" y="3088446"/>
                        <a:ext cx="4953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D54B3CF0-F356-E10A-BFE1-B9B5A72191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2748" y="3058586"/>
          <a:ext cx="495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95000" imgH="368280" progId="Equation.DSMT4">
                  <p:embed/>
                </p:oleObj>
              </mc:Choice>
              <mc:Fallback>
                <p:oleObj name="Equation" r:id="rId9" imgW="495000" imgH="368280" progId="Equation.DSMT4">
                  <p:embed/>
                  <p:pic>
                    <p:nvPicPr>
                      <p:cNvPr id="61" name="Object 6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82748" y="3058586"/>
                        <a:ext cx="4953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2F6A58AC-34D6-8D08-E72B-38EE977A30E4}"/>
              </a:ext>
            </a:extLst>
          </p:cNvPr>
          <p:cNvSpPr/>
          <p:nvPr/>
        </p:nvSpPr>
        <p:spPr>
          <a:xfrm>
            <a:off x="627454" y="4217634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5.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00B9E9-EA5E-5A53-E75A-3ACE1E923E84}"/>
              </a:ext>
            </a:extLst>
          </p:cNvPr>
          <p:cNvSpPr/>
          <p:nvPr/>
        </p:nvSpPr>
        <p:spPr>
          <a:xfrm>
            <a:off x="2829145" y="4226512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6.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D89A9E-1279-71A8-5DCD-CD78D133C022}"/>
              </a:ext>
            </a:extLst>
          </p:cNvPr>
          <p:cNvSpPr/>
          <p:nvPr/>
        </p:nvSpPr>
        <p:spPr>
          <a:xfrm>
            <a:off x="627454" y="5064712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7.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24EEB4-EE25-F236-509F-A4FB388B1431}"/>
              </a:ext>
            </a:extLst>
          </p:cNvPr>
          <p:cNvSpPr/>
          <p:nvPr/>
        </p:nvSpPr>
        <p:spPr>
          <a:xfrm>
            <a:off x="2829145" y="5064712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8.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13A512-BD28-2652-867A-041C2371074C}"/>
              </a:ext>
            </a:extLst>
          </p:cNvPr>
          <p:cNvSpPr/>
          <p:nvPr/>
        </p:nvSpPr>
        <p:spPr>
          <a:xfrm>
            <a:off x="627454" y="5979112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9.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4B63E6-D87B-4BE2-18C5-CAFAE1FA3BA5}"/>
              </a:ext>
            </a:extLst>
          </p:cNvPr>
          <p:cNvSpPr/>
          <p:nvPr/>
        </p:nvSpPr>
        <p:spPr>
          <a:xfrm>
            <a:off x="2769834" y="5979112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10.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9246B249-1863-F95F-C981-97C85D2A59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6253" y="4265794"/>
          <a:ext cx="5461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45760" imgH="215640" progId="Equation.DSMT4">
                  <p:embed/>
                </p:oleObj>
              </mc:Choice>
              <mc:Fallback>
                <p:oleObj name="Equation" r:id="rId11" imgW="545760" imgH="215640" progId="Equation.DSMT4">
                  <p:embed/>
                  <p:pic>
                    <p:nvPicPr>
                      <p:cNvPr id="68" name="Object 6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06253" y="4265794"/>
                        <a:ext cx="5461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C039E23F-A5E4-D974-5198-759681C9AB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137" y="4175952"/>
          <a:ext cx="431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31640" imgH="368280" progId="Equation.DSMT4">
                  <p:embed/>
                </p:oleObj>
              </mc:Choice>
              <mc:Fallback>
                <p:oleObj name="Equation" r:id="rId13" imgW="431640" imgH="368280" progId="Equation.DSMT4">
                  <p:embed/>
                  <p:pic>
                    <p:nvPicPr>
                      <p:cNvPr id="69" name="Object 6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124137" y="4175952"/>
                        <a:ext cx="431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00E605F6-26B9-1A9C-4201-B9CAB63DCC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6253" y="5106542"/>
          <a:ext cx="3556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55320" imgH="215640" progId="Equation.DSMT4">
                  <p:embed/>
                </p:oleObj>
              </mc:Choice>
              <mc:Fallback>
                <p:oleObj name="Equation" r:id="rId15" imgW="355320" imgH="215640" progId="Equation.DSMT4">
                  <p:embed/>
                  <p:pic>
                    <p:nvPicPr>
                      <p:cNvPr id="70" name="Object 6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06253" y="5106542"/>
                        <a:ext cx="3556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16471DC8-F005-A809-FB5E-47110C26FB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137" y="5113678"/>
          <a:ext cx="4699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69800" imgH="215640" progId="Equation.DSMT4">
                  <p:embed/>
                </p:oleObj>
              </mc:Choice>
              <mc:Fallback>
                <p:oleObj name="Equation" r:id="rId17" imgW="469800" imgH="215640" progId="Equation.DSMT4">
                  <p:embed/>
                  <p:pic>
                    <p:nvPicPr>
                      <p:cNvPr id="71" name="Object 7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124137" y="5113678"/>
                        <a:ext cx="4699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7219CC0E-4B9D-6F2E-FDAC-987EC7C05D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6253" y="6013410"/>
          <a:ext cx="4699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69800" imgH="215640" progId="Equation.DSMT4">
                  <p:embed/>
                </p:oleObj>
              </mc:Choice>
              <mc:Fallback>
                <p:oleObj name="Equation" r:id="rId19" imgW="469800" imgH="215640" progId="Equation.DSMT4">
                  <p:embed/>
                  <p:pic>
                    <p:nvPicPr>
                      <p:cNvPr id="72" name="Object 71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06253" y="6013410"/>
                        <a:ext cx="4699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C67260FC-A419-568E-5122-2C3ECCEFF3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137" y="6021722"/>
          <a:ext cx="5080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507960" imgH="215640" progId="Equation.DSMT4">
                  <p:embed/>
                </p:oleObj>
              </mc:Choice>
              <mc:Fallback>
                <p:oleObj name="Equation" r:id="rId21" imgW="507960" imgH="215640" progId="Equation.DSMT4">
                  <p:embed/>
                  <p:pic>
                    <p:nvPicPr>
                      <p:cNvPr id="73" name="Object 72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124137" y="6021722"/>
                        <a:ext cx="5080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26">
            <a:extLst>
              <a:ext uri="{FF2B5EF4-FFF2-40B4-BE49-F238E27FC236}">
                <a16:creationId xmlns:a16="http://schemas.microsoft.com/office/drawing/2014/main" id="{CC5AF935-52CA-647A-184A-53F98F74B464}"/>
              </a:ext>
            </a:extLst>
          </p:cNvPr>
          <p:cNvSpPr/>
          <p:nvPr/>
        </p:nvSpPr>
        <p:spPr>
          <a:xfrm>
            <a:off x="627454" y="7180556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11.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36D827-60A6-F37B-B5E5-1F76706A6340}"/>
              </a:ext>
            </a:extLst>
          </p:cNvPr>
          <p:cNvSpPr/>
          <p:nvPr/>
        </p:nvSpPr>
        <p:spPr>
          <a:xfrm>
            <a:off x="2846034" y="7189434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12.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75FE07-4CCA-61B4-BEB7-DCD2D5844C9C}"/>
              </a:ext>
            </a:extLst>
          </p:cNvPr>
          <p:cNvSpPr/>
          <p:nvPr/>
        </p:nvSpPr>
        <p:spPr>
          <a:xfrm>
            <a:off x="609600" y="8569912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13.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B049112-65D8-B5DD-02F1-BB1BD2E6F574}"/>
              </a:ext>
            </a:extLst>
          </p:cNvPr>
          <p:cNvSpPr/>
          <p:nvPr/>
        </p:nvSpPr>
        <p:spPr>
          <a:xfrm>
            <a:off x="2846034" y="8561034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14.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D1C2C3BB-FC53-EAC1-B2F8-E98B7C03D9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6235" y="7226266"/>
          <a:ext cx="11811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180800" imgH="215640" progId="Equation.DSMT4">
                  <p:embed/>
                </p:oleObj>
              </mc:Choice>
              <mc:Fallback>
                <p:oleObj name="Equation" r:id="rId23" imgW="1180800" imgH="215640" progId="Equation.DSMT4">
                  <p:embed/>
                  <p:pic>
                    <p:nvPicPr>
                      <p:cNvPr id="78" name="Object 77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956235" y="7226266"/>
                        <a:ext cx="11811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2">
            <a:extLst>
              <a:ext uri="{FF2B5EF4-FFF2-40B4-BE49-F238E27FC236}">
                <a16:creationId xmlns:a16="http://schemas.microsoft.com/office/drawing/2014/main" id="{AAB71150-5C52-D546-472D-8C9C6D8D26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86863" y="7143847"/>
          <a:ext cx="1270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269720" imgH="368280" progId="Equation.DSMT4">
                  <p:embed/>
                </p:oleObj>
              </mc:Choice>
              <mc:Fallback>
                <p:oleObj name="Equation" r:id="rId25" imgW="1269720" imgH="368280" progId="Equation.DSMT4">
                  <p:embed/>
                  <p:pic>
                    <p:nvPicPr>
                      <p:cNvPr id="79" name="Object 78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186863" y="7143847"/>
                        <a:ext cx="12700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3">
            <a:extLst>
              <a:ext uri="{FF2B5EF4-FFF2-40B4-BE49-F238E27FC236}">
                <a16:creationId xmlns:a16="http://schemas.microsoft.com/office/drawing/2014/main" id="{72DF00D1-7806-9B18-993B-F1314C5AEE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9482" y="8606976"/>
          <a:ext cx="1104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104840" imgH="203040" progId="Equation.DSMT4">
                  <p:embed/>
                </p:oleObj>
              </mc:Choice>
              <mc:Fallback>
                <p:oleObj name="Equation" r:id="rId27" imgW="1104840" imgH="203040" progId="Equation.DSMT4">
                  <p:embed/>
                  <p:pic>
                    <p:nvPicPr>
                      <p:cNvPr id="80" name="Object 79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949482" y="8606976"/>
                        <a:ext cx="11049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4">
            <a:extLst>
              <a:ext uri="{FF2B5EF4-FFF2-40B4-BE49-F238E27FC236}">
                <a16:creationId xmlns:a16="http://schemas.microsoft.com/office/drawing/2014/main" id="{01F6A904-42B6-AE46-94F4-41E819D354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96358" y="8516567"/>
          <a:ext cx="1308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307880" imgH="368280" progId="Equation.DSMT4">
                  <p:embed/>
                </p:oleObj>
              </mc:Choice>
              <mc:Fallback>
                <p:oleObj name="Equation" r:id="rId29" imgW="1307880" imgH="368280" progId="Equation.DSMT4">
                  <p:embed/>
                  <p:pic>
                    <p:nvPicPr>
                      <p:cNvPr id="81" name="Object 80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196358" y="8516567"/>
                        <a:ext cx="13081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35">
            <a:extLst>
              <a:ext uri="{FF2B5EF4-FFF2-40B4-BE49-F238E27FC236}">
                <a16:creationId xmlns:a16="http://schemas.microsoft.com/office/drawing/2014/main" id="{6B442AA5-D5C8-F889-7EBD-68A11B6ABFD9}"/>
              </a:ext>
            </a:extLst>
          </p:cNvPr>
          <p:cNvSpPr/>
          <p:nvPr/>
        </p:nvSpPr>
        <p:spPr>
          <a:xfrm>
            <a:off x="627454" y="1734844"/>
            <a:ext cx="308770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Write each expression in exponential form.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3A41625-B0F6-276A-5A84-133CFA530E0D}"/>
              </a:ext>
            </a:extLst>
          </p:cNvPr>
          <p:cNvSpPr/>
          <p:nvPr/>
        </p:nvSpPr>
        <p:spPr>
          <a:xfrm>
            <a:off x="627454" y="3974824"/>
            <a:ext cx="425501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Evaluate.  Use the change </a:t>
            </a:r>
            <a:r>
              <a:rPr lang="en-US" sz="1100" b="1" dirty="0">
                <a:latin typeface="Century Gothic" panose="020B0502020202020204" pitchFamily="34" charset="0"/>
                <a:cs typeface="Tahoma"/>
              </a:rPr>
              <a:t>of </a:t>
            </a: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base formula when</a:t>
            </a:r>
            <a:r>
              <a:rPr lang="en-US" sz="1100" b="1" spc="80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necessary.</a:t>
            </a:r>
            <a:endParaRPr lang="en-US"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0FF5C6-8942-0D51-B6B6-6E24723FB5CA}"/>
              </a:ext>
            </a:extLst>
          </p:cNvPr>
          <p:cNvSpPr/>
          <p:nvPr/>
        </p:nvSpPr>
        <p:spPr>
          <a:xfrm>
            <a:off x="623308" y="6951713"/>
            <a:ext cx="448456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Condense each log into </a:t>
            </a:r>
            <a:r>
              <a:rPr lang="en-US" sz="1100" b="1" dirty="0">
                <a:latin typeface="Century Gothic" panose="020B0502020202020204" pitchFamily="34" charset="0"/>
                <a:cs typeface="Tahoma"/>
              </a:rPr>
              <a:t>a </a:t>
            </a: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single logarithm.  </a:t>
            </a:r>
            <a:r>
              <a:rPr lang="en-US" sz="1100" b="1" dirty="0">
                <a:latin typeface="Century Gothic" panose="020B0502020202020204" pitchFamily="34" charset="0"/>
                <a:cs typeface="Tahoma"/>
              </a:rPr>
              <a:t>DO </a:t>
            </a: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NOT</a:t>
            </a:r>
            <a:r>
              <a:rPr lang="en-US" sz="1100" b="1" spc="50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EVALUATE.</a:t>
            </a:r>
            <a:endParaRPr lang="en-US" sz="1100" dirty="0">
              <a:latin typeface="Century Gothic" panose="020B0502020202020204" pitchFamily="34" charset="0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7EB560-2F5F-E660-A308-226EAFC8878E}"/>
              </a:ext>
            </a:extLst>
          </p:cNvPr>
          <p:cNvSpPr/>
          <p:nvPr/>
        </p:nvSpPr>
        <p:spPr>
          <a:xfrm>
            <a:off x="582904" y="914400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15.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F3ADF9-BA39-D40A-1B05-8FFF3CF644D9}"/>
              </a:ext>
            </a:extLst>
          </p:cNvPr>
          <p:cNvSpPr/>
          <p:nvPr/>
        </p:nvSpPr>
        <p:spPr>
          <a:xfrm>
            <a:off x="2846034" y="985424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16.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456541-703C-D321-5238-C47B9FDB3777}"/>
              </a:ext>
            </a:extLst>
          </p:cNvPr>
          <p:cNvSpPr/>
          <p:nvPr/>
        </p:nvSpPr>
        <p:spPr>
          <a:xfrm>
            <a:off x="582904" y="2608556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17.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709EB49-C618-591F-D416-E7BFA0CA93D7}"/>
              </a:ext>
            </a:extLst>
          </p:cNvPr>
          <p:cNvSpPr/>
          <p:nvPr/>
        </p:nvSpPr>
        <p:spPr>
          <a:xfrm>
            <a:off x="2846034" y="2608556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18.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6E0A0912-EBD5-C5B3-6286-50CF956DA6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36625" y="923925"/>
          <a:ext cx="7239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23600" imgH="241200" progId="Equation.DSMT4">
                  <p:embed/>
                </p:oleObj>
              </mc:Choice>
              <mc:Fallback>
                <p:oleObj name="Equation" r:id="rId3" imgW="723600" imgH="241200" progId="Equation.DSMT4">
                  <p:embed/>
                  <p:pic>
                    <p:nvPicPr>
                      <p:cNvPr id="954" name="Object 95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36625" y="923925"/>
                        <a:ext cx="7239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5">
            <a:extLst>
              <a:ext uri="{FF2B5EF4-FFF2-40B4-BE49-F238E27FC236}">
                <a16:creationId xmlns:a16="http://schemas.microsoft.com/office/drawing/2014/main" id="{CF79CC3C-568B-E49A-0F03-CAB5EA842A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95284" y="862403"/>
          <a:ext cx="660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60240" imgH="507960" progId="Equation.DSMT4">
                  <p:embed/>
                </p:oleObj>
              </mc:Choice>
              <mc:Fallback>
                <p:oleObj name="Equation" r:id="rId5" imgW="660240" imgH="507960" progId="Equation.DSMT4">
                  <p:embed/>
                  <p:pic>
                    <p:nvPicPr>
                      <p:cNvPr id="955" name="Object 95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95284" y="862403"/>
                        <a:ext cx="6604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" name="Object 920">
            <a:extLst>
              <a:ext uri="{FF2B5EF4-FFF2-40B4-BE49-F238E27FC236}">
                <a16:creationId xmlns:a16="http://schemas.microsoft.com/office/drawing/2014/main" id="{6918C2C5-4D31-2C37-D454-CAC2B4176A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3613" y="2600325"/>
          <a:ext cx="6350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34680" imgH="266400" progId="Equation.DSMT4">
                  <p:embed/>
                </p:oleObj>
              </mc:Choice>
              <mc:Fallback>
                <p:oleObj name="Equation" r:id="rId7" imgW="634680" imgH="266400" progId="Equation.DSMT4">
                  <p:embed/>
                  <p:pic>
                    <p:nvPicPr>
                      <p:cNvPr id="956" name="Object 95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63613" y="2600325"/>
                        <a:ext cx="6350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" name="Object 924">
            <a:extLst>
              <a:ext uri="{FF2B5EF4-FFF2-40B4-BE49-F238E27FC236}">
                <a16:creationId xmlns:a16="http://schemas.microsoft.com/office/drawing/2014/main" id="{323D3489-D6F7-636B-E8D8-7CD31EDE8F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2899" y="2606363"/>
          <a:ext cx="7620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61760" imgH="266400" progId="Equation.DSMT4">
                  <p:embed/>
                </p:oleObj>
              </mc:Choice>
              <mc:Fallback>
                <p:oleObj name="Equation" r:id="rId9" imgW="761760" imgH="266400" progId="Equation.DSMT4">
                  <p:embed/>
                  <p:pic>
                    <p:nvPicPr>
                      <p:cNvPr id="957" name="Object 95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12899" y="2606363"/>
                        <a:ext cx="7620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6" name="Rectangle 925">
            <a:extLst>
              <a:ext uri="{FF2B5EF4-FFF2-40B4-BE49-F238E27FC236}">
                <a16:creationId xmlns:a16="http://schemas.microsoft.com/office/drawing/2014/main" id="{FCFB388A-8062-D4A4-50BB-213009EFFB7B}"/>
              </a:ext>
            </a:extLst>
          </p:cNvPr>
          <p:cNvSpPr/>
          <p:nvPr/>
        </p:nvSpPr>
        <p:spPr>
          <a:xfrm>
            <a:off x="582904" y="4282795"/>
            <a:ext cx="53721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Graph each function and identify its key characteristics.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927" name="Rectangle 926">
            <a:extLst>
              <a:ext uri="{FF2B5EF4-FFF2-40B4-BE49-F238E27FC236}">
                <a16:creationId xmlns:a16="http://schemas.microsoft.com/office/drawing/2014/main" id="{E62332E4-E244-9C98-1274-86B703D240D6}"/>
              </a:ext>
            </a:extLst>
          </p:cNvPr>
          <p:cNvSpPr/>
          <p:nvPr/>
        </p:nvSpPr>
        <p:spPr>
          <a:xfrm>
            <a:off x="582904" y="4589756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19.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928" name="Object 927">
            <a:extLst>
              <a:ext uri="{FF2B5EF4-FFF2-40B4-BE49-F238E27FC236}">
                <a16:creationId xmlns:a16="http://schemas.microsoft.com/office/drawing/2014/main" id="{0BF077E0-1BDD-09D7-208B-B4DE0D840B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36625" y="4623836"/>
          <a:ext cx="13081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07880" imgH="215640" progId="Equation.DSMT4">
                  <p:embed/>
                </p:oleObj>
              </mc:Choice>
              <mc:Fallback>
                <p:oleObj name="Equation" r:id="rId11" imgW="1307880" imgH="215640" progId="Equation.DSMT4">
                  <p:embed/>
                  <p:pic>
                    <p:nvPicPr>
                      <p:cNvPr id="960" name="Object 95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36625" y="4623836"/>
                        <a:ext cx="13081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9" name="Rectangle 928">
            <a:extLst>
              <a:ext uri="{FF2B5EF4-FFF2-40B4-BE49-F238E27FC236}">
                <a16:creationId xmlns:a16="http://schemas.microsoft.com/office/drawing/2014/main" id="{E60D162D-D048-55D9-A7F3-42BB24BEDCE3}"/>
              </a:ext>
            </a:extLst>
          </p:cNvPr>
          <p:cNvSpPr/>
          <p:nvPr/>
        </p:nvSpPr>
        <p:spPr>
          <a:xfrm>
            <a:off x="582904" y="7086600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20.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930" name="Object 929">
            <a:extLst>
              <a:ext uri="{FF2B5EF4-FFF2-40B4-BE49-F238E27FC236}">
                <a16:creationId xmlns:a16="http://schemas.microsoft.com/office/drawing/2014/main" id="{4588AB77-F2C9-0A56-B543-D60A41E879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9352" y="7124701"/>
          <a:ext cx="1168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68200" imgH="342720" progId="Equation.DSMT4">
                  <p:embed/>
                </p:oleObj>
              </mc:Choice>
              <mc:Fallback>
                <p:oleObj name="Equation" r:id="rId13" imgW="1168200" imgH="342720" progId="Equation.DSMT4">
                  <p:embed/>
                  <p:pic>
                    <p:nvPicPr>
                      <p:cNvPr id="964" name="Object 96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19352" y="7124701"/>
                        <a:ext cx="1168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31" name="Group 930">
            <a:extLst>
              <a:ext uri="{FF2B5EF4-FFF2-40B4-BE49-F238E27FC236}">
                <a16:creationId xmlns:a16="http://schemas.microsoft.com/office/drawing/2014/main" id="{FC5305CD-DB4D-7AAF-5595-7E3038321617}"/>
              </a:ext>
            </a:extLst>
          </p:cNvPr>
          <p:cNvGrpSpPr/>
          <p:nvPr/>
        </p:nvGrpSpPr>
        <p:grpSpPr>
          <a:xfrm>
            <a:off x="5410200" y="7139475"/>
            <a:ext cx="2362200" cy="2256387"/>
            <a:chOff x="5410200" y="7239000"/>
            <a:chExt cx="2362200" cy="2256387"/>
          </a:xfrm>
        </p:grpSpPr>
        <p:sp>
          <p:nvSpPr>
            <p:cNvPr id="932" name="Rectangle 931">
              <a:extLst>
                <a:ext uri="{FF2B5EF4-FFF2-40B4-BE49-F238E27FC236}">
                  <a16:creationId xmlns:a16="http://schemas.microsoft.com/office/drawing/2014/main" id="{1E065FA2-BCD7-32A9-E3E0-3A63044B0ECE}"/>
                </a:ext>
              </a:extLst>
            </p:cNvPr>
            <p:cNvSpPr/>
            <p:nvPr/>
          </p:nvSpPr>
          <p:spPr>
            <a:xfrm>
              <a:off x="5410200" y="7239000"/>
              <a:ext cx="2362200" cy="22563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5000"/>
                </a:lnSpc>
              </a:pP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Domain:</a:t>
              </a:r>
              <a: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Range: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____________________</a:t>
              </a:r>
              <a:endPara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End Behavior:</a:t>
              </a:r>
              <a: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</a:t>
              </a:r>
              <a:b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As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,   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As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,  </a:t>
              </a:r>
              <a:endPara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br>
                <a:rPr lang="en-US" sz="100" b="1" i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i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50" b="1" i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x</a:t>
              </a: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-intercept: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         </a:t>
              </a:r>
              <a:endPara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Asymptote: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 </a:t>
              </a:r>
              <a:endParaRPr lang="en-US" dirty="0"/>
            </a:p>
          </p:txBody>
        </p:sp>
        <p:graphicFrame>
          <p:nvGraphicFramePr>
            <p:cNvPr id="933" name="Object 932">
              <a:extLst>
                <a:ext uri="{FF2B5EF4-FFF2-40B4-BE49-F238E27FC236}">
                  <a16:creationId xmlns:a16="http://schemas.microsoft.com/office/drawing/2014/main" id="{7E86A393-9545-7E65-C7E6-EC43AB86CC8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15000" y="8297091"/>
            <a:ext cx="279400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279360" imgH="139680" progId="Equation.DSMT4">
                    <p:embed/>
                  </p:oleObj>
                </mc:Choice>
                <mc:Fallback>
                  <p:oleObj name="Equation" r:id="rId15" imgW="279360" imgH="139680" progId="Equation.DSMT4">
                    <p:embed/>
                    <p:pic>
                      <p:nvPicPr>
                        <p:cNvPr id="969" name="Object 968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715000" y="8297091"/>
                          <a:ext cx="279400" cy="139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4" name="Object 933">
              <a:extLst>
                <a:ext uri="{FF2B5EF4-FFF2-40B4-BE49-F238E27FC236}">
                  <a16:creationId xmlns:a16="http://schemas.microsoft.com/office/drawing/2014/main" id="{416944B2-4565-EA44-235D-39828F4B313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15000" y="8577945"/>
            <a:ext cx="279400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79360" imgH="139680" progId="Equation.DSMT4">
                    <p:embed/>
                  </p:oleObj>
                </mc:Choice>
                <mc:Fallback>
                  <p:oleObj name="Equation" r:id="rId17" imgW="279360" imgH="139680" progId="Equation.DSMT4">
                    <p:embed/>
                    <p:pic>
                      <p:nvPicPr>
                        <p:cNvPr id="970" name="Object 969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715000" y="8577945"/>
                          <a:ext cx="279400" cy="139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5" name="Object 934">
              <a:extLst>
                <a:ext uri="{FF2B5EF4-FFF2-40B4-BE49-F238E27FC236}">
                  <a16:creationId xmlns:a16="http://schemas.microsoft.com/office/drawing/2014/main" id="{F9BC6DB6-151D-B109-C7FE-021904F2EA9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502400" y="8277225"/>
            <a:ext cx="6350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634680" imgH="203040" progId="Equation.DSMT4">
                    <p:embed/>
                  </p:oleObj>
                </mc:Choice>
                <mc:Fallback>
                  <p:oleObj name="Equation" r:id="rId18" imgW="634680" imgH="203040" progId="Equation.DSMT4">
                    <p:embed/>
                    <p:pic>
                      <p:nvPicPr>
                        <p:cNvPr id="972" name="Object 971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6502400" y="8277225"/>
                          <a:ext cx="6350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6" name="Object 935">
              <a:extLst>
                <a:ext uri="{FF2B5EF4-FFF2-40B4-BE49-F238E27FC236}">
                  <a16:creationId xmlns:a16="http://schemas.microsoft.com/office/drawing/2014/main" id="{854BEEFF-5886-D2F7-AE40-5496E6ECA4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488113" y="8555038"/>
            <a:ext cx="7239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723600" imgH="203040" progId="Equation.DSMT4">
                    <p:embed/>
                  </p:oleObj>
                </mc:Choice>
                <mc:Fallback>
                  <p:oleObj name="Equation" r:id="rId20" imgW="723600" imgH="203040" progId="Equation.DSMT4">
                    <p:embed/>
                    <p:pic>
                      <p:nvPicPr>
                        <p:cNvPr id="973" name="Object 972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6488113" y="8555038"/>
                          <a:ext cx="7239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37" name="Group 936">
            <a:extLst>
              <a:ext uri="{FF2B5EF4-FFF2-40B4-BE49-F238E27FC236}">
                <a16:creationId xmlns:a16="http://schemas.microsoft.com/office/drawing/2014/main" id="{55BDEC35-03EE-2206-1665-C1F517125B3C}"/>
              </a:ext>
            </a:extLst>
          </p:cNvPr>
          <p:cNvGrpSpPr/>
          <p:nvPr/>
        </p:nvGrpSpPr>
        <p:grpSpPr>
          <a:xfrm>
            <a:off x="5410200" y="4548675"/>
            <a:ext cx="2362200" cy="2256387"/>
            <a:chOff x="5410200" y="4648200"/>
            <a:chExt cx="2362200" cy="2256387"/>
          </a:xfrm>
        </p:grpSpPr>
        <p:sp>
          <p:nvSpPr>
            <p:cNvPr id="938" name="Rectangle 937">
              <a:extLst>
                <a:ext uri="{FF2B5EF4-FFF2-40B4-BE49-F238E27FC236}">
                  <a16:creationId xmlns:a16="http://schemas.microsoft.com/office/drawing/2014/main" id="{35FA0F0C-0671-D9BB-A2A7-6F84E3481C02}"/>
                </a:ext>
              </a:extLst>
            </p:cNvPr>
            <p:cNvSpPr/>
            <p:nvPr/>
          </p:nvSpPr>
          <p:spPr>
            <a:xfrm>
              <a:off x="5410200" y="4648200"/>
              <a:ext cx="2362200" cy="22563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5000"/>
                </a:lnSpc>
              </a:pP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Domain:</a:t>
              </a:r>
              <a: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Range: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____________________</a:t>
              </a:r>
              <a:endPara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End Behavior:</a:t>
              </a:r>
              <a: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</a:t>
              </a:r>
              <a:b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As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,   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As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,  </a:t>
              </a:r>
              <a:endPara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br>
                <a:rPr lang="en-US" sz="100" b="1" i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i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50" b="1" i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x</a:t>
              </a: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-intercept: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         </a:t>
              </a:r>
              <a:endPara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Asymptote: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 </a:t>
              </a:r>
              <a:endParaRPr lang="en-US" dirty="0"/>
            </a:p>
          </p:txBody>
        </p:sp>
        <p:graphicFrame>
          <p:nvGraphicFramePr>
            <p:cNvPr id="939" name="Object 938">
              <a:extLst>
                <a:ext uri="{FF2B5EF4-FFF2-40B4-BE49-F238E27FC236}">
                  <a16:creationId xmlns:a16="http://schemas.microsoft.com/office/drawing/2014/main" id="{C0188228-5DEB-CED9-A026-FADE818C0A6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15000" y="5715000"/>
            <a:ext cx="279400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279360" imgH="139680" progId="Equation.DSMT4">
                    <p:embed/>
                  </p:oleObj>
                </mc:Choice>
                <mc:Fallback>
                  <p:oleObj name="Equation" r:id="rId22" imgW="279360" imgH="139680" progId="Equation.DSMT4">
                    <p:embed/>
                    <p:pic>
                      <p:nvPicPr>
                        <p:cNvPr id="967" name="Object 966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715000" y="5715000"/>
                          <a:ext cx="279400" cy="139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40" name="Object 939">
              <a:extLst>
                <a:ext uri="{FF2B5EF4-FFF2-40B4-BE49-F238E27FC236}">
                  <a16:creationId xmlns:a16="http://schemas.microsoft.com/office/drawing/2014/main" id="{E05AC127-34A3-BC83-B82F-14402F2831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06291" y="5993673"/>
            <a:ext cx="279400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279360" imgH="139680" progId="Equation.DSMT4">
                    <p:embed/>
                  </p:oleObj>
                </mc:Choice>
                <mc:Fallback>
                  <p:oleObj name="Equation" r:id="rId23" imgW="279360" imgH="139680" progId="Equation.DSMT4">
                    <p:embed/>
                    <p:pic>
                      <p:nvPicPr>
                        <p:cNvPr id="968" name="Object 967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706291" y="5993673"/>
                          <a:ext cx="279400" cy="139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41" name="Object 940">
              <a:extLst>
                <a:ext uri="{FF2B5EF4-FFF2-40B4-BE49-F238E27FC236}">
                  <a16:creationId xmlns:a16="http://schemas.microsoft.com/office/drawing/2014/main" id="{0900BBCC-B36C-452F-E21C-839B1563B61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477000" y="5694363"/>
            <a:ext cx="6350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634680" imgH="203040" progId="Equation.DSMT4">
                    <p:embed/>
                  </p:oleObj>
                </mc:Choice>
                <mc:Fallback>
                  <p:oleObj name="Equation" r:id="rId24" imgW="634680" imgH="203040" progId="Equation.DSMT4">
                    <p:embed/>
                    <p:pic>
                      <p:nvPicPr>
                        <p:cNvPr id="971" name="Object 970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6477000" y="5694363"/>
                          <a:ext cx="6350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42" name="Object 941">
              <a:extLst>
                <a:ext uri="{FF2B5EF4-FFF2-40B4-BE49-F238E27FC236}">
                  <a16:creationId xmlns:a16="http://schemas.microsoft.com/office/drawing/2014/main" id="{CBAE26C2-2817-0522-0481-B90C2BAA9A3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470650" y="5956300"/>
            <a:ext cx="7239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723600" imgH="203040" progId="Equation.DSMT4">
                    <p:embed/>
                  </p:oleObj>
                </mc:Choice>
                <mc:Fallback>
                  <p:oleObj name="Equation" r:id="rId25" imgW="723600" imgH="203040" progId="Equation.DSMT4">
                    <p:embed/>
                    <p:pic>
                      <p:nvPicPr>
                        <p:cNvPr id="974" name="Object 973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6470650" y="5956300"/>
                          <a:ext cx="7239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760C01D5-9664-7474-26D0-F56CC3CA367B}"/>
              </a:ext>
            </a:extLst>
          </p:cNvPr>
          <p:cNvSpPr/>
          <p:nvPr/>
        </p:nvSpPr>
        <p:spPr>
          <a:xfrm>
            <a:off x="582904" y="641612"/>
            <a:ext cx="53721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Expand each logarithm.</a:t>
            </a:r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1049" name="Picture 1048">
            <a:extLst>
              <a:ext uri="{FF2B5EF4-FFF2-40B4-BE49-F238E27FC236}">
                <a16:creationId xmlns:a16="http://schemas.microsoft.com/office/drawing/2014/main" id="{3080BC95-92E0-A253-B496-80AA64A95536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573258" y="4643527"/>
            <a:ext cx="2499577" cy="2499577"/>
          </a:xfrm>
          <a:prstGeom prst="rect">
            <a:avLst/>
          </a:prstGeom>
        </p:spPr>
      </p:pic>
      <p:pic>
        <p:nvPicPr>
          <p:cNvPr id="1050" name="Picture 1049">
            <a:extLst>
              <a:ext uri="{FF2B5EF4-FFF2-40B4-BE49-F238E27FC236}">
                <a16:creationId xmlns:a16="http://schemas.microsoft.com/office/drawing/2014/main" id="{1475BDA2-5ABD-8167-A5E9-7CBC8531A3A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573258" y="7217405"/>
            <a:ext cx="2499577" cy="24995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Words>182</Words>
  <Application>Microsoft Office PowerPoint</Application>
  <PresentationFormat>Custom</PresentationFormat>
  <Paragraphs>38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Calibri</vt:lpstr>
      <vt:lpstr>Century Gothic</vt:lpstr>
      <vt:lpstr>Times New Roman</vt:lpstr>
      <vt:lpstr>Office Theme</vt:lpstr>
      <vt:lpstr>Equation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- 14 - Quiz 7-2</dc:title>
  <dc:creator>allth</dc:creator>
  <cp:lastModifiedBy>Gina Wilson</cp:lastModifiedBy>
  <cp:revision>30</cp:revision>
  <dcterms:created xsi:type="dcterms:W3CDTF">2017-11-12T11:39:18Z</dcterms:created>
  <dcterms:modified xsi:type="dcterms:W3CDTF">2023-08-03T14:04:45Z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2015-11-06T00:00:00Z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2017-11-12T00:00:00Z</vt:filetime>
  </property>
</Properties>
</file>