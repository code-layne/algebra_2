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8" r:id="rId2"/>
    <p:sldId id="269" r:id="rId3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343" autoAdjust="0"/>
    <p:restoredTop sz="94660"/>
  </p:normalViewPr>
  <p:slideViewPr>
    <p:cSldViewPr snapToGrid="0">
      <p:cViewPr varScale="1">
        <p:scale>
          <a:sx n="46" d="100"/>
          <a:sy n="46" d="100"/>
        </p:scale>
        <p:origin x="187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18" Type="http://schemas.openxmlformats.org/officeDocument/2006/relationships/image" Target="../media/image18.wmf"/><Relationship Id="rId3" Type="http://schemas.openxmlformats.org/officeDocument/2006/relationships/image" Target="../media/image3.wmf"/><Relationship Id="rId21" Type="http://schemas.openxmlformats.org/officeDocument/2006/relationships/image" Target="../media/image21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17" Type="http://schemas.openxmlformats.org/officeDocument/2006/relationships/image" Target="../media/image17.wmf"/><Relationship Id="rId2" Type="http://schemas.openxmlformats.org/officeDocument/2006/relationships/image" Target="../media/image2.wmf"/><Relationship Id="rId16" Type="http://schemas.openxmlformats.org/officeDocument/2006/relationships/image" Target="../media/image16.wmf"/><Relationship Id="rId20" Type="http://schemas.openxmlformats.org/officeDocument/2006/relationships/image" Target="../media/image20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5" Type="http://schemas.openxmlformats.org/officeDocument/2006/relationships/image" Target="../media/image15.wmf"/><Relationship Id="rId10" Type="http://schemas.openxmlformats.org/officeDocument/2006/relationships/image" Target="../media/image10.wmf"/><Relationship Id="rId19" Type="http://schemas.openxmlformats.org/officeDocument/2006/relationships/image" Target="../media/image19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image" Target="../media/image25.wmf"/><Relationship Id="rId7" Type="http://schemas.openxmlformats.org/officeDocument/2006/relationships/image" Target="../media/image29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10" Type="http://schemas.openxmlformats.org/officeDocument/2006/relationships/image" Target="../media/image32.wmf"/><Relationship Id="rId4" Type="http://schemas.openxmlformats.org/officeDocument/2006/relationships/image" Target="../media/image26.wmf"/><Relationship Id="rId9" Type="http://schemas.openxmlformats.org/officeDocument/2006/relationships/image" Target="../media/image3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20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422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447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07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693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320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71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193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697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788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811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8F020-01A7-4B9B-B8AB-895AE4ABE3F7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550EB-CD81-45D9-9C87-DEFD4EAB4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820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5.wmf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2.bin"/><Relationship Id="rId39" Type="http://schemas.openxmlformats.org/officeDocument/2006/relationships/image" Target="../media/image18.wmf"/><Relationship Id="rId3" Type="http://schemas.openxmlformats.org/officeDocument/2006/relationships/image" Target="../media/image22.PNG"/><Relationship Id="rId21" Type="http://schemas.openxmlformats.org/officeDocument/2006/relationships/image" Target="../media/image9.wmf"/><Relationship Id="rId34" Type="http://schemas.openxmlformats.org/officeDocument/2006/relationships/oleObject" Target="../embeddings/oleObject16.bin"/><Relationship Id="rId42" Type="http://schemas.openxmlformats.org/officeDocument/2006/relationships/oleObject" Target="../embeddings/oleObject20.bin"/><Relationship Id="rId7" Type="http://schemas.openxmlformats.org/officeDocument/2006/relationships/image" Target="../media/image2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7.wmf"/><Relationship Id="rId25" Type="http://schemas.openxmlformats.org/officeDocument/2006/relationships/image" Target="../media/image11.wmf"/><Relationship Id="rId33" Type="http://schemas.openxmlformats.org/officeDocument/2006/relationships/image" Target="../media/image15.wmf"/><Relationship Id="rId38" Type="http://schemas.openxmlformats.org/officeDocument/2006/relationships/oleObject" Target="../embeddings/oleObject18.bin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29" Type="http://schemas.openxmlformats.org/officeDocument/2006/relationships/image" Target="../media/image13.wmf"/><Relationship Id="rId41" Type="http://schemas.openxmlformats.org/officeDocument/2006/relationships/image" Target="../media/image19.wmf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24" Type="http://schemas.openxmlformats.org/officeDocument/2006/relationships/oleObject" Target="../embeddings/oleObject11.bin"/><Relationship Id="rId32" Type="http://schemas.openxmlformats.org/officeDocument/2006/relationships/oleObject" Target="../embeddings/oleObject15.bin"/><Relationship Id="rId37" Type="http://schemas.openxmlformats.org/officeDocument/2006/relationships/image" Target="../media/image17.wmf"/><Relationship Id="rId40" Type="http://schemas.openxmlformats.org/officeDocument/2006/relationships/oleObject" Target="../embeddings/oleObject19.bin"/><Relationship Id="rId45" Type="http://schemas.openxmlformats.org/officeDocument/2006/relationships/image" Target="../media/image21.wmf"/><Relationship Id="rId5" Type="http://schemas.openxmlformats.org/officeDocument/2006/relationships/image" Target="../media/image1.wmf"/><Relationship Id="rId15" Type="http://schemas.openxmlformats.org/officeDocument/2006/relationships/image" Target="../media/image6.wmf"/><Relationship Id="rId23" Type="http://schemas.openxmlformats.org/officeDocument/2006/relationships/image" Target="../media/image10.wmf"/><Relationship Id="rId28" Type="http://schemas.openxmlformats.org/officeDocument/2006/relationships/oleObject" Target="../embeddings/oleObject13.bin"/><Relationship Id="rId36" Type="http://schemas.openxmlformats.org/officeDocument/2006/relationships/oleObject" Target="../embeddings/oleObject17.bin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8.wmf"/><Relationship Id="rId31" Type="http://schemas.openxmlformats.org/officeDocument/2006/relationships/image" Target="../media/image14.wmf"/><Relationship Id="rId44" Type="http://schemas.openxmlformats.org/officeDocument/2006/relationships/oleObject" Target="../embeddings/oleObject21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2.wmf"/><Relationship Id="rId30" Type="http://schemas.openxmlformats.org/officeDocument/2006/relationships/oleObject" Target="../embeddings/oleObject14.bin"/><Relationship Id="rId35" Type="http://schemas.openxmlformats.org/officeDocument/2006/relationships/image" Target="../media/image16.wmf"/><Relationship Id="rId43" Type="http://schemas.openxmlformats.org/officeDocument/2006/relationships/image" Target="../media/image20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27.wmf"/><Relationship Id="rId18" Type="http://schemas.openxmlformats.org/officeDocument/2006/relationships/oleObject" Target="../embeddings/oleObject29.bin"/><Relationship Id="rId3" Type="http://schemas.openxmlformats.org/officeDocument/2006/relationships/image" Target="../media/image33.PNG"/><Relationship Id="rId21" Type="http://schemas.openxmlformats.org/officeDocument/2006/relationships/image" Target="../media/image31.wmf"/><Relationship Id="rId7" Type="http://schemas.openxmlformats.org/officeDocument/2006/relationships/image" Target="../media/image24.wmf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29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28.bin"/><Relationship Id="rId20" Type="http://schemas.openxmlformats.org/officeDocument/2006/relationships/oleObject" Target="../embeddings/oleObject30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6.wmf"/><Relationship Id="rId5" Type="http://schemas.openxmlformats.org/officeDocument/2006/relationships/image" Target="../media/image23.wmf"/><Relationship Id="rId15" Type="http://schemas.openxmlformats.org/officeDocument/2006/relationships/image" Target="../media/image28.wmf"/><Relationship Id="rId23" Type="http://schemas.openxmlformats.org/officeDocument/2006/relationships/image" Target="../media/image32.wmf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30.w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5.wmf"/><Relationship Id="rId14" Type="http://schemas.openxmlformats.org/officeDocument/2006/relationships/oleObject" Target="../embeddings/oleObject27.bin"/><Relationship Id="rId22" Type="http://schemas.openxmlformats.org/officeDocument/2006/relationships/oleObject" Target="../embeddings/oleObject3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9BBFCF6B-A52B-409B-A415-7012B55666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71734"/>
              </p:ext>
            </p:extLst>
          </p:nvPr>
        </p:nvGraphicFramePr>
        <p:xfrm>
          <a:off x="411822" y="2625904"/>
          <a:ext cx="3505200" cy="403098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  Which formula can be used to find the </a:t>
                      </a:r>
                      <a:r>
                        <a:rPr lang="en-US" sz="1200" b="1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1100" b="1" baseline="30000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 </a:t>
                      </a:r>
                      <a:br>
                        <a:rPr lang="en-US" sz="1100" b="1" baseline="30000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baseline="30000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</a:t>
                      </a: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term in the sequence below?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" name="Object 49">
            <a:extLst>
              <a:ext uri="{FF2B5EF4-FFF2-40B4-BE49-F238E27FC236}">
                <a16:creationId xmlns:a16="http://schemas.microsoft.com/office/drawing/2014/main" id="{AD5A0511-90CD-4495-B0D7-706D9DA0B5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2582463"/>
              </p:ext>
            </p:extLst>
          </p:nvPr>
        </p:nvGraphicFramePr>
        <p:xfrm>
          <a:off x="1295400" y="3124200"/>
          <a:ext cx="1473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71" name="Equation" r:id="rId4" imgW="1473120" imgH="406080" progId="Equation.DSMT4">
                  <p:embed/>
                </p:oleObj>
              </mc:Choice>
              <mc:Fallback>
                <p:oleObj name="Equation" r:id="rId4" imgW="1473120" imgH="40608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83B86FB8-8914-4755-BF82-A33622FA4C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95400" y="3124200"/>
                        <a:ext cx="14732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 Box 5">
            <a:extLst>
              <a:ext uri="{FF2B5EF4-FFF2-40B4-BE49-F238E27FC236}">
                <a16:creationId xmlns:a16="http://schemas.microsoft.com/office/drawing/2014/main" id="{F239B94D-84C1-4078-B86A-17DC9CEF0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962400"/>
            <a:ext cx="287274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       C.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       D.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Box 5">
            <a:extLst>
              <a:ext uri="{FF2B5EF4-FFF2-40B4-BE49-F238E27FC236}">
                <a16:creationId xmlns:a16="http://schemas.microsoft.com/office/drawing/2014/main" id="{77FC238B-151F-4802-9501-D8C8156DB6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962400"/>
            <a:ext cx="287274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       C.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       D.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Box 5">
            <a:extLst>
              <a:ext uri="{FF2B5EF4-FFF2-40B4-BE49-F238E27FC236}">
                <a16:creationId xmlns:a16="http://schemas.microsoft.com/office/drawing/2014/main" id="{F879C017-6883-47E9-B352-489F700795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6248401"/>
            <a:ext cx="287274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      C.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      D.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640E6FF7-0C95-4094-AB4A-3FA5BCDD19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606992"/>
              </p:ext>
            </p:extLst>
          </p:nvPr>
        </p:nvGraphicFramePr>
        <p:xfrm>
          <a:off x="401548" y="4967556"/>
          <a:ext cx="3497262" cy="385572"/>
        </p:xfrm>
        <a:graphic>
          <a:graphicData uri="http://schemas.openxmlformats.org/drawingml/2006/table">
            <a:tbl>
              <a:tblPr/>
              <a:tblGrid>
                <a:gridCol w="3497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  What is the seventh term of the sequence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defined below?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D9735509-DD1C-48DE-BBE6-0BC109ABB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246526"/>
              </p:ext>
            </p:extLst>
          </p:nvPr>
        </p:nvGraphicFramePr>
        <p:xfrm>
          <a:off x="381000" y="7239000"/>
          <a:ext cx="3573462" cy="385572"/>
        </p:xfrm>
        <a:graphic>
          <a:graphicData uri="http://schemas.openxmlformats.org/drawingml/2006/table">
            <a:tbl>
              <a:tblPr/>
              <a:tblGrid>
                <a:gridCol w="3573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   Identify the formula for the sequence given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below.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" name="Object 55">
            <a:extLst>
              <a:ext uri="{FF2B5EF4-FFF2-40B4-BE49-F238E27FC236}">
                <a16:creationId xmlns:a16="http://schemas.microsoft.com/office/drawing/2014/main" id="{998ED6E2-BAF8-48C2-9F63-E7596D4BDE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7289264"/>
              </p:ext>
            </p:extLst>
          </p:nvPr>
        </p:nvGraphicFramePr>
        <p:xfrm>
          <a:off x="1219200" y="5410200"/>
          <a:ext cx="1282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72" name="Equation" r:id="rId6" imgW="1282680" imgH="368280" progId="Equation.DSMT4">
                  <p:embed/>
                </p:oleObj>
              </mc:Choice>
              <mc:Fallback>
                <p:oleObj name="Equation" r:id="rId6" imgW="1282680" imgH="368280" progId="Equation.DSMT4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9536ED33-56E8-4C34-B89B-5F63E1D3D7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19200" y="5410200"/>
                        <a:ext cx="1282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5401595E-E989-488C-9595-2302BD5E5F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21385"/>
              </p:ext>
            </p:extLst>
          </p:nvPr>
        </p:nvGraphicFramePr>
        <p:xfrm>
          <a:off x="2286000" y="5511230"/>
          <a:ext cx="1295400" cy="192786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(for          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" name="Object 57">
            <a:extLst>
              <a:ext uri="{FF2B5EF4-FFF2-40B4-BE49-F238E27FC236}">
                <a16:creationId xmlns:a16="http://schemas.microsoft.com/office/drawing/2014/main" id="{52F3CC7E-29BB-4C02-B841-D75457A1DD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1132878"/>
              </p:ext>
            </p:extLst>
          </p:nvPr>
        </p:nvGraphicFramePr>
        <p:xfrm>
          <a:off x="2864778" y="5511230"/>
          <a:ext cx="3429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73" name="Equation" r:id="rId8" imgW="342720" imgH="177480" progId="Equation.DSMT4">
                  <p:embed/>
                </p:oleObj>
              </mc:Choice>
              <mc:Fallback>
                <p:oleObj name="Equation" r:id="rId8" imgW="342720" imgH="177480" progId="Equation.DSMT4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10629759-D125-446E-92FF-A0C317FBCB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864778" y="5511230"/>
                        <a:ext cx="3429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58">
            <a:extLst>
              <a:ext uri="{FF2B5EF4-FFF2-40B4-BE49-F238E27FC236}">
                <a16:creationId xmlns:a16="http://schemas.microsoft.com/office/drawing/2014/main" id="{3E041452-09E9-413F-AD46-7A516FAE6C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6542322"/>
              </p:ext>
            </p:extLst>
          </p:nvPr>
        </p:nvGraphicFramePr>
        <p:xfrm>
          <a:off x="1371600" y="7696200"/>
          <a:ext cx="1270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74" name="Equation" r:id="rId10" imgW="1269720" imgH="406080" progId="Equation.DSMT4">
                  <p:embed/>
                </p:oleObj>
              </mc:Choice>
              <mc:Fallback>
                <p:oleObj name="Equation" r:id="rId10" imgW="1269720" imgH="40608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6220F71C-92BB-45CA-AF85-C64A668331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371600" y="7696200"/>
                        <a:ext cx="1270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C7FEFCBA-6E68-4475-8F1A-F2B738FC5C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94404"/>
              </p:ext>
            </p:extLst>
          </p:nvPr>
        </p:nvGraphicFramePr>
        <p:xfrm>
          <a:off x="3906748" y="2615630"/>
          <a:ext cx="3352800" cy="578358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  What is the 9</a:t>
                      </a:r>
                      <a:r>
                        <a:rPr lang="en-US" sz="1100" b="1" baseline="30000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term of a geometric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sequence with a first term of 12 and a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common ratio of -3?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C08CD705-9641-4C64-B9F5-E8C1FE22E2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566248"/>
              </p:ext>
            </p:extLst>
          </p:nvPr>
        </p:nvGraphicFramePr>
        <p:xfrm>
          <a:off x="3896474" y="4967556"/>
          <a:ext cx="3573462" cy="1156716"/>
        </p:xfrm>
        <a:graphic>
          <a:graphicData uri="http://schemas.openxmlformats.org/drawingml/2006/table">
            <a:tbl>
              <a:tblPr/>
              <a:tblGrid>
                <a:gridCol w="3573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 Allie used the $1,200 she got from her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graduation party to open a savings account. 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If the account earns 1% interest each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month and she makes no additional deposits,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how much money will be in the account in 5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years?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Text Box 13">
            <a:extLst>
              <a:ext uri="{FF2B5EF4-FFF2-40B4-BE49-F238E27FC236}">
                <a16:creationId xmlns:a16="http://schemas.microsoft.com/office/drawing/2014/main" id="{ADF4EFF3-E194-4B46-8750-C3EE070E8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6248400"/>
            <a:ext cx="1137285" cy="1132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$1,312.42</a:t>
            </a: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b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$3,112.49</a:t>
            </a: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b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$2,180.04</a:t>
            </a: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b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$2,158.45</a:t>
            </a: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b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137DA9D-025A-4F11-82DF-817503E181DA}"/>
              </a:ext>
            </a:extLst>
          </p:cNvPr>
          <p:cNvSpPr/>
          <p:nvPr/>
        </p:nvSpPr>
        <p:spPr>
          <a:xfrm>
            <a:off x="3917022" y="7609726"/>
            <a:ext cx="184056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7.  Evaluate the series: </a:t>
            </a:r>
            <a:endParaRPr lang="en-US" dirty="0"/>
          </a:p>
        </p:txBody>
      </p:sp>
      <p:graphicFrame>
        <p:nvGraphicFramePr>
          <p:cNvPr id="64" name="Object 63">
            <a:extLst>
              <a:ext uri="{FF2B5EF4-FFF2-40B4-BE49-F238E27FC236}">
                <a16:creationId xmlns:a16="http://schemas.microsoft.com/office/drawing/2014/main" id="{1AD6B0F9-2C92-4785-86CE-EDA6D09C2E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122403"/>
              </p:ext>
            </p:extLst>
          </p:nvPr>
        </p:nvGraphicFramePr>
        <p:xfrm>
          <a:off x="5684178" y="7529244"/>
          <a:ext cx="774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75" name="Equation" r:id="rId12" imgW="774360" imgH="406080" progId="Equation.DSMT4">
                  <p:embed/>
                </p:oleObj>
              </mc:Choice>
              <mc:Fallback>
                <p:oleObj name="Equation" r:id="rId12" imgW="774360" imgH="406080" progId="Equation.DSMT4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8ED37B22-F3E8-47AC-AAF4-7C49F267A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684178" y="7529244"/>
                        <a:ext cx="774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64">
            <a:extLst>
              <a:ext uri="{FF2B5EF4-FFF2-40B4-BE49-F238E27FC236}">
                <a16:creationId xmlns:a16="http://schemas.microsoft.com/office/drawing/2014/main" id="{03818639-2266-45EB-A41D-48491F5EA9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8331037"/>
              </p:ext>
            </p:extLst>
          </p:nvPr>
        </p:nvGraphicFramePr>
        <p:xfrm>
          <a:off x="1066800" y="3952126"/>
          <a:ext cx="596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76" name="Equation" r:id="rId14" imgW="596880" imgH="368280" progId="Equation.DSMT4">
                  <p:embed/>
                </p:oleObj>
              </mc:Choice>
              <mc:Fallback>
                <p:oleObj name="Equation" r:id="rId14" imgW="596880" imgH="368280" progId="Equation.DSMT4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8B7C0BB4-56E6-406E-AE0A-7271F6F761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066800" y="3952126"/>
                        <a:ext cx="596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65">
            <a:extLst>
              <a:ext uri="{FF2B5EF4-FFF2-40B4-BE49-F238E27FC236}">
                <a16:creationId xmlns:a16="http://schemas.microsoft.com/office/drawing/2014/main" id="{CD151ACE-D7C1-46F1-A42F-019C0E0A24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7562119"/>
              </p:ext>
            </p:extLst>
          </p:nvPr>
        </p:nvGraphicFramePr>
        <p:xfrm>
          <a:off x="990600" y="4495800"/>
          <a:ext cx="838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77" name="Equation" r:id="rId16" imgW="838080" imgH="368280" progId="Equation.DSMT4">
                  <p:embed/>
                </p:oleObj>
              </mc:Choice>
              <mc:Fallback>
                <p:oleObj name="Equation" r:id="rId16" imgW="838080" imgH="368280" progId="Equation.DSMT4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E94B4C22-A4AF-4858-BB3F-10CC452B02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90600" y="4495800"/>
                        <a:ext cx="8382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66">
            <a:extLst>
              <a:ext uri="{FF2B5EF4-FFF2-40B4-BE49-F238E27FC236}">
                <a16:creationId xmlns:a16="http://schemas.microsoft.com/office/drawing/2014/main" id="{2B2575A4-13EF-4815-A015-227FBE1E1E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2196862"/>
              </p:ext>
            </p:extLst>
          </p:nvPr>
        </p:nvGraphicFramePr>
        <p:xfrm>
          <a:off x="2407578" y="3952126"/>
          <a:ext cx="609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78" name="Equation" r:id="rId18" imgW="609480" imgH="368280" progId="Equation.DSMT4">
                  <p:embed/>
                </p:oleObj>
              </mc:Choice>
              <mc:Fallback>
                <p:oleObj name="Equation" r:id="rId18" imgW="609480" imgH="368280" progId="Equation.DSMT4">
                  <p:embed/>
                  <p:pic>
                    <p:nvPicPr>
                      <p:cNvPr id="29" name="Object 28">
                        <a:extLst>
                          <a:ext uri="{FF2B5EF4-FFF2-40B4-BE49-F238E27FC236}">
                            <a16:creationId xmlns:a16="http://schemas.microsoft.com/office/drawing/2014/main" id="{381B5BA5-B9B5-4D0F-846C-65837A9D7D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407578" y="3952126"/>
                        <a:ext cx="6096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67">
            <a:extLst>
              <a:ext uri="{FF2B5EF4-FFF2-40B4-BE49-F238E27FC236}">
                <a16:creationId xmlns:a16="http://schemas.microsoft.com/office/drawing/2014/main" id="{683045D9-DABA-45DA-A8FA-1FE0D7ADF0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7875680"/>
              </p:ext>
            </p:extLst>
          </p:nvPr>
        </p:nvGraphicFramePr>
        <p:xfrm>
          <a:off x="2438400" y="4495800"/>
          <a:ext cx="482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79" name="Equation" r:id="rId20" imgW="482400" imgH="368280" progId="Equation.DSMT4">
                  <p:embed/>
                </p:oleObj>
              </mc:Choice>
              <mc:Fallback>
                <p:oleObj name="Equation" r:id="rId20" imgW="482400" imgH="368280" progId="Equation.DSMT4">
                  <p:embed/>
                  <p:pic>
                    <p:nvPicPr>
                      <p:cNvPr id="30" name="Object 29">
                        <a:extLst>
                          <a:ext uri="{FF2B5EF4-FFF2-40B4-BE49-F238E27FC236}">
                            <a16:creationId xmlns:a16="http://schemas.microsoft.com/office/drawing/2014/main" id="{3AFAE24E-258E-44E4-93EC-63F0FF4635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438400" y="4495800"/>
                        <a:ext cx="4826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68">
            <a:extLst>
              <a:ext uri="{FF2B5EF4-FFF2-40B4-BE49-F238E27FC236}">
                <a16:creationId xmlns:a16="http://schemas.microsoft.com/office/drawing/2014/main" id="{CC9DDF67-5F53-481A-9A84-C8B0CB2199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8741872"/>
              </p:ext>
            </p:extLst>
          </p:nvPr>
        </p:nvGraphicFramePr>
        <p:xfrm>
          <a:off x="4561726" y="3941852"/>
          <a:ext cx="406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80" name="Equation" r:id="rId22" imgW="406080" imgH="393480" progId="Equation.DSMT4">
                  <p:embed/>
                </p:oleObj>
              </mc:Choice>
              <mc:Fallback>
                <p:oleObj name="Equation" r:id="rId22" imgW="406080" imgH="393480" progId="Equation.DSMT4">
                  <p:embed/>
                  <p:pic>
                    <p:nvPicPr>
                      <p:cNvPr id="31" name="Object 30">
                        <a:extLst>
                          <a:ext uri="{FF2B5EF4-FFF2-40B4-BE49-F238E27FC236}">
                            <a16:creationId xmlns:a16="http://schemas.microsoft.com/office/drawing/2014/main" id="{EBC408E3-AC27-4558-BD8B-B48E067052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561726" y="3941852"/>
                        <a:ext cx="4064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69">
            <a:extLst>
              <a:ext uri="{FF2B5EF4-FFF2-40B4-BE49-F238E27FC236}">
                <a16:creationId xmlns:a16="http://schemas.microsoft.com/office/drawing/2014/main" id="{3F17B85B-579A-4BC5-B86F-87BFD7B733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589188"/>
              </p:ext>
            </p:extLst>
          </p:nvPr>
        </p:nvGraphicFramePr>
        <p:xfrm>
          <a:off x="4572000" y="4582274"/>
          <a:ext cx="4699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81" name="Equation" r:id="rId24" imgW="469800" imgH="190440" progId="Equation.DSMT4">
                  <p:embed/>
                </p:oleObj>
              </mc:Choice>
              <mc:Fallback>
                <p:oleObj name="Equation" r:id="rId24" imgW="469800" imgH="190440" progId="Equation.DSMT4">
                  <p:embed/>
                  <p:pic>
                    <p:nvPicPr>
                      <p:cNvPr id="32" name="Object 31">
                        <a:extLst>
                          <a:ext uri="{FF2B5EF4-FFF2-40B4-BE49-F238E27FC236}">
                            <a16:creationId xmlns:a16="http://schemas.microsoft.com/office/drawing/2014/main" id="{3408C925-EB8C-4B10-B256-CB488D9EA7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572000" y="4582274"/>
                        <a:ext cx="4699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70">
            <a:extLst>
              <a:ext uri="{FF2B5EF4-FFF2-40B4-BE49-F238E27FC236}">
                <a16:creationId xmlns:a16="http://schemas.microsoft.com/office/drawing/2014/main" id="{F0619764-8175-418E-AE58-AB0DABD336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419201"/>
              </p:ext>
            </p:extLst>
          </p:nvPr>
        </p:nvGraphicFramePr>
        <p:xfrm>
          <a:off x="5943600" y="3962400"/>
          <a:ext cx="495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82" name="Equation" r:id="rId26" imgW="495000" imgH="393480" progId="Equation.DSMT4">
                  <p:embed/>
                </p:oleObj>
              </mc:Choice>
              <mc:Fallback>
                <p:oleObj name="Equation" r:id="rId26" imgW="495000" imgH="393480" progId="Equation.DSMT4">
                  <p:embed/>
                  <p:pic>
                    <p:nvPicPr>
                      <p:cNvPr id="33" name="Object 32">
                        <a:extLst>
                          <a:ext uri="{FF2B5EF4-FFF2-40B4-BE49-F238E27FC236}">
                            <a16:creationId xmlns:a16="http://schemas.microsoft.com/office/drawing/2014/main" id="{C0D2122A-A852-4B82-B530-BED0322223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943600" y="3962400"/>
                        <a:ext cx="4953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71">
            <a:extLst>
              <a:ext uri="{FF2B5EF4-FFF2-40B4-BE49-F238E27FC236}">
                <a16:creationId xmlns:a16="http://schemas.microsoft.com/office/drawing/2014/main" id="{C97B8BD7-D688-40FE-AD2A-FA33874EB5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4774501"/>
              </p:ext>
            </p:extLst>
          </p:nvPr>
        </p:nvGraphicFramePr>
        <p:xfrm>
          <a:off x="5943600" y="4582274"/>
          <a:ext cx="5461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83" name="Equation" r:id="rId28" imgW="545760" imgH="190440" progId="Equation.DSMT4">
                  <p:embed/>
                </p:oleObj>
              </mc:Choice>
              <mc:Fallback>
                <p:oleObj name="Equation" r:id="rId28" imgW="545760" imgH="190440" progId="Equation.DSMT4">
                  <p:embed/>
                  <p:pic>
                    <p:nvPicPr>
                      <p:cNvPr id="34" name="Object 33">
                        <a:extLst>
                          <a:ext uri="{FF2B5EF4-FFF2-40B4-BE49-F238E27FC236}">
                            <a16:creationId xmlns:a16="http://schemas.microsoft.com/office/drawing/2014/main" id="{0CA1332D-B322-46D4-B3B9-E0FC1CDFA8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943600" y="4582274"/>
                        <a:ext cx="5461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72">
            <a:extLst>
              <a:ext uri="{FF2B5EF4-FFF2-40B4-BE49-F238E27FC236}">
                <a16:creationId xmlns:a16="http://schemas.microsoft.com/office/drawing/2014/main" id="{4F9F917C-5CFC-43AA-BD14-E2A627E88D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489654"/>
              </p:ext>
            </p:extLst>
          </p:nvPr>
        </p:nvGraphicFramePr>
        <p:xfrm>
          <a:off x="1066800" y="6248400"/>
          <a:ext cx="215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84" name="Equation" r:id="rId30" imgW="215640" imgH="368280" progId="Equation.DSMT4">
                  <p:embed/>
                </p:oleObj>
              </mc:Choice>
              <mc:Fallback>
                <p:oleObj name="Equation" r:id="rId30" imgW="215640" imgH="368280" progId="Equation.DSMT4">
                  <p:embed/>
                  <p:pic>
                    <p:nvPicPr>
                      <p:cNvPr id="35" name="Object 34">
                        <a:extLst>
                          <a:ext uri="{FF2B5EF4-FFF2-40B4-BE49-F238E27FC236}">
                            <a16:creationId xmlns:a16="http://schemas.microsoft.com/office/drawing/2014/main" id="{A7EFA848-2A23-43B2-966B-9B0DB6955A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066800" y="6248400"/>
                        <a:ext cx="215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73">
            <a:extLst>
              <a:ext uri="{FF2B5EF4-FFF2-40B4-BE49-F238E27FC236}">
                <a16:creationId xmlns:a16="http://schemas.microsoft.com/office/drawing/2014/main" id="{67E6F9FA-6397-4BC5-93FC-BA73C7C889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0455960"/>
              </p:ext>
            </p:extLst>
          </p:nvPr>
        </p:nvGraphicFramePr>
        <p:xfrm>
          <a:off x="1066800" y="6781800"/>
          <a:ext cx="228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85" name="Equation" r:id="rId32" imgW="228600" imgH="368280" progId="Equation.DSMT4">
                  <p:embed/>
                </p:oleObj>
              </mc:Choice>
              <mc:Fallback>
                <p:oleObj name="Equation" r:id="rId32" imgW="228600" imgH="368280" progId="Equation.DSMT4">
                  <p:embed/>
                  <p:pic>
                    <p:nvPicPr>
                      <p:cNvPr id="36" name="Object 35">
                        <a:extLst>
                          <a:ext uri="{FF2B5EF4-FFF2-40B4-BE49-F238E27FC236}">
                            <a16:creationId xmlns:a16="http://schemas.microsoft.com/office/drawing/2014/main" id="{3B359E19-A1FD-41B5-9A20-72D2C0FEAE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066800" y="6781800"/>
                        <a:ext cx="2286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74">
            <a:extLst>
              <a:ext uri="{FF2B5EF4-FFF2-40B4-BE49-F238E27FC236}">
                <a16:creationId xmlns:a16="http://schemas.microsoft.com/office/drawing/2014/main" id="{8BE1A6BB-C483-4821-B2E2-00AAAAA185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2777427"/>
              </p:ext>
            </p:extLst>
          </p:nvPr>
        </p:nvGraphicFramePr>
        <p:xfrm>
          <a:off x="2393022" y="6248400"/>
          <a:ext cx="215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86" name="Equation" r:id="rId34" imgW="215640" imgH="368280" progId="Equation.DSMT4">
                  <p:embed/>
                </p:oleObj>
              </mc:Choice>
              <mc:Fallback>
                <p:oleObj name="Equation" r:id="rId34" imgW="215640" imgH="368280" progId="Equation.DSMT4">
                  <p:embed/>
                  <p:pic>
                    <p:nvPicPr>
                      <p:cNvPr id="37" name="Object 36">
                        <a:extLst>
                          <a:ext uri="{FF2B5EF4-FFF2-40B4-BE49-F238E27FC236}">
                            <a16:creationId xmlns:a16="http://schemas.microsoft.com/office/drawing/2014/main" id="{05519920-7AA2-470F-BC8A-9D567E44B7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2393022" y="6248400"/>
                        <a:ext cx="215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75">
            <a:extLst>
              <a:ext uri="{FF2B5EF4-FFF2-40B4-BE49-F238E27FC236}">
                <a16:creationId xmlns:a16="http://schemas.microsoft.com/office/drawing/2014/main" id="{7DC5450F-9645-49DB-9F74-EA3DC545D2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4357822"/>
              </p:ext>
            </p:extLst>
          </p:nvPr>
        </p:nvGraphicFramePr>
        <p:xfrm>
          <a:off x="2362200" y="6781800"/>
          <a:ext cx="279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87" name="Equation" r:id="rId36" imgW="279360" imgH="368280" progId="Equation.DSMT4">
                  <p:embed/>
                </p:oleObj>
              </mc:Choice>
              <mc:Fallback>
                <p:oleObj name="Equation" r:id="rId36" imgW="279360" imgH="368280" progId="Equation.DSMT4">
                  <p:embed/>
                  <p:pic>
                    <p:nvPicPr>
                      <p:cNvPr id="38" name="Object 37">
                        <a:extLst>
                          <a:ext uri="{FF2B5EF4-FFF2-40B4-BE49-F238E27FC236}">
                            <a16:creationId xmlns:a16="http://schemas.microsoft.com/office/drawing/2014/main" id="{5E9BC859-48CB-4645-9DFC-18153868E6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2362200" y="6781800"/>
                        <a:ext cx="2794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76">
            <a:extLst>
              <a:ext uri="{FF2B5EF4-FFF2-40B4-BE49-F238E27FC236}">
                <a16:creationId xmlns:a16="http://schemas.microsoft.com/office/drawing/2014/main" id="{0CB0A353-D98D-449C-BE2D-74258CD2C7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2561384"/>
              </p:ext>
            </p:extLst>
          </p:nvPr>
        </p:nvGraphicFramePr>
        <p:xfrm>
          <a:off x="990600" y="8631148"/>
          <a:ext cx="990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88" name="Equation" r:id="rId38" imgW="990360" imgH="431640" progId="Equation.DSMT4">
                  <p:embed/>
                </p:oleObj>
              </mc:Choice>
              <mc:Fallback>
                <p:oleObj name="Equation" r:id="rId38" imgW="990360" imgH="431640" progId="Equation.DSMT4">
                  <p:embed/>
                  <p:pic>
                    <p:nvPicPr>
                      <p:cNvPr id="39" name="Object 38">
                        <a:extLst>
                          <a:ext uri="{FF2B5EF4-FFF2-40B4-BE49-F238E27FC236}">
                            <a16:creationId xmlns:a16="http://schemas.microsoft.com/office/drawing/2014/main" id="{E3C24E9E-B30C-4664-95F1-901252BE2A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990600" y="8631148"/>
                        <a:ext cx="9906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77">
            <a:extLst>
              <a:ext uri="{FF2B5EF4-FFF2-40B4-BE49-F238E27FC236}">
                <a16:creationId xmlns:a16="http://schemas.microsoft.com/office/drawing/2014/main" id="{374F853C-A99A-49BA-9AA6-075BBF00A3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2006411"/>
              </p:ext>
            </p:extLst>
          </p:nvPr>
        </p:nvGraphicFramePr>
        <p:xfrm>
          <a:off x="2362200" y="8641422"/>
          <a:ext cx="901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89" name="Equation" r:id="rId40" imgW="901440" imgH="431640" progId="Equation.DSMT4">
                  <p:embed/>
                </p:oleObj>
              </mc:Choice>
              <mc:Fallback>
                <p:oleObj name="Equation" r:id="rId40" imgW="901440" imgH="431640" progId="Equation.DSMT4">
                  <p:embed/>
                  <p:pic>
                    <p:nvPicPr>
                      <p:cNvPr id="41" name="Object 40">
                        <a:extLst>
                          <a:ext uri="{FF2B5EF4-FFF2-40B4-BE49-F238E27FC236}">
                            <a16:creationId xmlns:a16="http://schemas.microsoft.com/office/drawing/2014/main" id="{026C3BBC-7629-482E-9FE6-B97A57D172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2362200" y="8641422"/>
                        <a:ext cx="9017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24E646F-9F1A-45AB-938A-50111801F900}"/>
              </a:ext>
            </a:extLst>
          </p:cNvPr>
          <p:cNvCxnSpPr>
            <a:cxnSpLocks/>
          </p:cNvCxnSpPr>
          <p:nvPr/>
        </p:nvCxnSpPr>
        <p:spPr>
          <a:xfrm>
            <a:off x="464970" y="4947811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B9D8FC9-2109-4E76-8397-2C2A359BFA0F}"/>
              </a:ext>
            </a:extLst>
          </p:cNvPr>
          <p:cNvCxnSpPr>
            <a:cxnSpLocks/>
          </p:cNvCxnSpPr>
          <p:nvPr/>
        </p:nvCxnSpPr>
        <p:spPr>
          <a:xfrm>
            <a:off x="3959350" y="2613643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A08AF69A-0223-48E3-A230-C8F8711EAABB}"/>
              </a:ext>
            </a:extLst>
          </p:cNvPr>
          <p:cNvCxnSpPr>
            <a:cxnSpLocks/>
          </p:cNvCxnSpPr>
          <p:nvPr/>
        </p:nvCxnSpPr>
        <p:spPr>
          <a:xfrm>
            <a:off x="3969244" y="4947602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B2F30A7-ABF2-48B6-8C7E-075251EE5A71}"/>
              </a:ext>
            </a:extLst>
          </p:cNvPr>
          <p:cNvCxnSpPr>
            <a:cxnSpLocks/>
          </p:cNvCxnSpPr>
          <p:nvPr/>
        </p:nvCxnSpPr>
        <p:spPr>
          <a:xfrm>
            <a:off x="3953876" y="7459001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9ACFB80-558F-434E-B120-2C26FEE5A841}"/>
              </a:ext>
            </a:extLst>
          </p:cNvPr>
          <p:cNvCxnSpPr>
            <a:cxnSpLocks/>
          </p:cNvCxnSpPr>
          <p:nvPr/>
        </p:nvCxnSpPr>
        <p:spPr>
          <a:xfrm>
            <a:off x="480252" y="7197104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FF05DA5F-7182-4044-B3C8-250C20F9AE04}"/>
              </a:ext>
            </a:extLst>
          </p:cNvPr>
          <p:cNvSpPr/>
          <p:nvPr/>
        </p:nvSpPr>
        <p:spPr>
          <a:xfrm>
            <a:off x="3908460" y="440934"/>
            <a:ext cx="348294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4.  What is the 25</a:t>
            </a:r>
            <a:r>
              <a:rPr lang="en-US" sz="1100" b="1" baseline="30000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th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term of an arithmetic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sequence with a first term of 3 and a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common difference of 7?</a:t>
            </a:r>
            <a:endParaRPr lang="en-US" dirty="0"/>
          </a:p>
        </p:txBody>
      </p:sp>
      <p:sp>
        <p:nvSpPr>
          <p:cNvPr id="85" name="Text Box 39">
            <a:extLst>
              <a:ext uri="{FF2B5EF4-FFF2-40B4-BE49-F238E27FC236}">
                <a16:creationId xmlns:a16="http://schemas.microsoft.com/office/drawing/2014/main" id="{AFFAA32A-3048-4263-B0BE-3399940C6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1371600"/>
            <a:ext cx="1007745" cy="1132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76</a:t>
            </a: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b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171</a:t>
            </a: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b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-158</a:t>
            </a: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b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-178</a:t>
            </a: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b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 Box 5">
            <a:extLst>
              <a:ext uri="{FF2B5EF4-FFF2-40B4-BE49-F238E27FC236}">
                <a16:creationId xmlns:a16="http://schemas.microsoft.com/office/drawing/2014/main" id="{557FA63D-BAFD-4D56-A110-990D49104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8686801"/>
            <a:ext cx="287274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      C.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      D.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 Box 15">
            <a:extLst>
              <a:ext uri="{FF2B5EF4-FFF2-40B4-BE49-F238E27FC236}">
                <a16:creationId xmlns:a16="http://schemas.microsoft.com/office/drawing/2014/main" id="{D46EBCFD-D068-4BE0-8F6E-EB945FC6A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8458200"/>
            <a:ext cx="1137285" cy="1132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567</a:t>
            </a:r>
            <a:b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b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825</a:t>
            </a: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b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370</a:t>
            </a:r>
            <a:b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8" name="Object 87">
            <a:extLst>
              <a:ext uri="{FF2B5EF4-FFF2-40B4-BE49-F238E27FC236}">
                <a16:creationId xmlns:a16="http://schemas.microsoft.com/office/drawing/2014/main" id="{0037735F-8621-4379-8A31-63D21DC229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8655737"/>
              </p:ext>
            </p:extLst>
          </p:nvPr>
        </p:nvGraphicFramePr>
        <p:xfrm>
          <a:off x="990600" y="9220200"/>
          <a:ext cx="800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90" name="Equation" r:id="rId42" imgW="799920" imgH="368280" progId="Equation.DSMT4">
                  <p:embed/>
                </p:oleObj>
              </mc:Choice>
              <mc:Fallback>
                <p:oleObj name="Equation" r:id="rId42" imgW="799920" imgH="368280" progId="Equation.DSMT4">
                  <p:embed/>
                  <p:pic>
                    <p:nvPicPr>
                      <p:cNvPr id="40" name="Object 39">
                        <a:extLst>
                          <a:ext uri="{FF2B5EF4-FFF2-40B4-BE49-F238E27FC236}">
                            <a16:creationId xmlns:a16="http://schemas.microsoft.com/office/drawing/2014/main" id="{88AFCCC8-D7A9-4A30-882E-7039987520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990600" y="9220200"/>
                        <a:ext cx="8001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Object 88">
            <a:extLst>
              <a:ext uri="{FF2B5EF4-FFF2-40B4-BE49-F238E27FC236}">
                <a16:creationId xmlns:a16="http://schemas.microsoft.com/office/drawing/2014/main" id="{F8B4220E-B14E-4194-9494-568FF5CFAE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2614282"/>
              </p:ext>
            </p:extLst>
          </p:nvPr>
        </p:nvGraphicFramePr>
        <p:xfrm>
          <a:off x="2362200" y="9230474"/>
          <a:ext cx="762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91" name="Equation" r:id="rId44" imgW="761760" imgH="368280" progId="Equation.DSMT4">
                  <p:embed/>
                </p:oleObj>
              </mc:Choice>
              <mc:Fallback>
                <p:oleObj name="Equation" r:id="rId44" imgW="761760" imgH="368280" progId="Equation.DSMT4">
                  <p:embed/>
                  <p:pic>
                    <p:nvPicPr>
                      <p:cNvPr id="42" name="Object 41">
                        <a:extLst>
                          <a:ext uri="{FF2B5EF4-FFF2-40B4-BE49-F238E27FC236}">
                            <a16:creationId xmlns:a16="http://schemas.microsoft.com/office/drawing/2014/main" id="{EBCCBB7A-9864-4DC7-B201-B2EADD214A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2362200" y="9230474"/>
                        <a:ext cx="7620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4071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10C404ED-F70E-474A-9360-D777A5440717}"/>
              </a:ext>
            </a:extLst>
          </p:cNvPr>
          <p:cNvSpPr/>
          <p:nvPr/>
        </p:nvSpPr>
        <p:spPr>
          <a:xfrm>
            <a:off x="990600" y="9220200"/>
            <a:ext cx="2286000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136C87F-EF60-424C-92D9-345DB435F20B}"/>
              </a:ext>
            </a:extLst>
          </p:cNvPr>
          <p:cNvSpPr/>
          <p:nvPr/>
        </p:nvSpPr>
        <p:spPr>
          <a:xfrm>
            <a:off x="2362200" y="7848600"/>
            <a:ext cx="3048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A3E1B1A-E891-48BE-B7F3-552D79D0A478}"/>
              </a:ext>
            </a:extLst>
          </p:cNvPr>
          <p:cNvSpPr/>
          <p:nvPr/>
        </p:nvSpPr>
        <p:spPr>
          <a:xfrm>
            <a:off x="838200" y="1905000"/>
            <a:ext cx="2514600" cy="76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865F315-6731-4DE2-AFB9-2E52FC22E8A7}"/>
              </a:ext>
            </a:extLst>
          </p:cNvPr>
          <p:cNvSpPr/>
          <p:nvPr/>
        </p:nvSpPr>
        <p:spPr>
          <a:xfrm>
            <a:off x="1371600" y="990600"/>
            <a:ext cx="11430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2D23CE10-F850-42DE-9181-8EA8CC562F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242570"/>
              </p:ext>
            </p:extLst>
          </p:nvPr>
        </p:nvGraphicFramePr>
        <p:xfrm>
          <a:off x="391274" y="471756"/>
          <a:ext cx="3505200" cy="385572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  What is the sum of the first 20 terms of the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series below?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1" name="Text Box 17">
            <a:extLst>
              <a:ext uri="{FF2B5EF4-FFF2-40B4-BE49-F238E27FC236}">
                <a16:creationId xmlns:a16="http://schemas.microsoft.com/office/drawing/2014/main" id="{3986FF54-76ED-4B2D-A368-474353328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752600"/>
            <a:ext cx="300418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                                C.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             D.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DC83B1C9-3E5F-4FD3-83B2-E5AFEA5B5D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460751"/>
              </p:ext>
            </p:extLst>
          </p:nvPr>
        </p:nvGraphicFramePr>
        <p:xfrm>
          <a:off x="3881918" y="467474"/>
          <a:ext cx="3581400" cy="771144"/>
        </p:xfrm>
        <a:graphic>
          <a:graphicData uri="http://schemas.openxmlformats.org/drawingml/2006/table">
            <a:tbl>
              <a:tblPr/>
              <a:tblGrid>
                <a:gridCol w="3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7114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  Mrs. Hartley gave her students a choice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board with 16 projects in which they each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had to pick three.  How many ways could a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student choose three projects?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" name="Text Box 22">
            <a:extLst>
              <a:ext uri="{FF2B5EF4-FFF2-40B4-BE49-F238E27FC236}">
                <a16:creationId xmlns:a16="http://schemas.microsoft.com/office/drawing/2014/main" id="{9B8B9510-BBD8-432A-93E1-41AEB97D9A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1295400"/>
            <a:ext cx="2599055" cy="532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560                        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2,304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48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D.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3,360 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3AAE9B1-830F-4D45-AF86-C4BF40ECE265}"/>
              </a:ext>
            </a:extLst>
          </p:cNvPr>
          <p:cNvSpPr/>
          <p:nvPr/>
        </p:nvSpPr>
        <p:spPr>
          <a:xfrm>
            <a:off x="3883631" y="1905000"/>
            <a:ext cx="3583969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13. How many different 5-letter passwords can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be made using the letters in the word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“TRAPEZOID”?</a:t>
            </a:r>
            <a:endParaRPr lang="en-US" dirty="0"/>
          </a:p>
        </p:txBody>
      </p:sp>
      <p:sp>
        <p:nvSpPr>
          <p:cNvPr id="55" name="Text Box 23">
            <a:extLst>
              <a:ext uri="{FF2B5EF4-FFF2-40B4-BE49-F238E27FC236}">
                <a16:creationId xmlns:a16="http://schemas.microsoft.com/office/drawing/2014/main" id="{F9A95A1D-39B8-4692-B9AF-2AAA0CE0C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2667000"/>
            <a:ext cx="2692400" cy="611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125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C.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12,280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524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D.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15,120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7B1DE41-09B6-4727-AB3F-50874A74C365}"/>
              </a:ext>
            </a:extLst>
          </p:cNvPr>
          <p:cNvSpPr/>
          <p:nvPr/>
        </p:nvSpPr>
        <p:spPr>
          <a:xfrm>
            <a:off x="3902467" y="3352800"/>
            <a:ext cx="3565133" cy="1215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14.  The heights of 150 oak trees are normally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distributed with a mean of 84 feet and a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standard deviation of 3 feet.  About how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many trees fall within two standard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deviations of the mean?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57" name="Text Box 28">
            <a:extLst>
              <a:ext uri="{FF2B5EF4-FFF2-40B4-BE49-F238E27FC236}">
                <a16:creationId xmlns:a16="http://schemas.microsoft.com/office/drawing/2014/main" id="{85D6CA74-E7C0-4B97-B1E0-29C4759A1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4800600"/>
            <a:ext cx="2692400" cy="532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102 trees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C.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143 trees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125 trees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D.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148 trees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A994992-9CC2-4A6B-A635-B6F26DC74034}"/>
              </a:ext>
            </a:extLst>
          </p:cNvPr>
          <p:cNvSpPr/>
          <p:nvPr/>
        </p:nvSpPr>
        <p:spPr>
          <a:xfrm>
            <a:off x="3912741" y="5552326"/>
            <a:ext cx="355485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Use for questions 15-16:  The wait time of various rides at the amusement park is normally distributed with a mean of 15 minutes and a standard deviation of 4 minutes. </a:t>
            </a:r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906A05A-6D0C-4C8E-A187-4D2308332CC1}"/>
              </a:ext>
            </a:extLst>
          </p:cNvPr>
          <p:cNvSpPr/>
          <p:nvPr/>
        </p:nvSpPr>
        <p:spPr>
          <a:xfrm>
            <a:off x="3887056" y="6339156"/>
            <a:ext cx="358054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15.  What is the probability that someone will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wait for at least 20 minutes?</a:t>
            </a:r>
            <a:endParaRPr lang="en-US" dirty="0"/>
          </a:p>
        </p:txBody>
      </p:sp>
      <p:sp>
        <p:nvSpPr>
          <p:cNvPr id="60" name="Text Box 33">
            <a:extLst>
              <a:ext uri="{FF2B5EF4-FFF2-40B4-BE49-F238E27FC236}">
                <a16:creationId xmlns:a16="http://schemas.microsoft.com/office/drawing/2014/main" id="{EC4C18B2-D04C-41DC-96B5-FA61F4D366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7239000"/>
            <a:ext cx="2692400" cy="611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89.4%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C.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82.1%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10.6%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D.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17.9%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7C90CAF-C8E4-4914-B9A3-B100B88318EC}"/>
              </a:ext>
            </a:extLst>
          </p:cNvPr>
          <p:cNvSpPr/>
          <p:nvPr/>
        </p:nvSpPr>
        <p:spPr>
          <a:xfrm>
            <a:off x="3887056" y="7959904"/>
            <a:ext cx="358054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16.  What is the probability that someone will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 wait between 8 and 18 minutes?</a:t>
            </a:r>
            <a:endParaRPr lang="en-US" dirty="0"/>
          </a:p>
        </p:txBody>
      </p:sp>
      <p:sp>
        <p:nvSpPr>
          <p:cNvPr id="62" name="Text Box 35">
            <a:extLst>
              <a:ext uri="{FF2B5EF4-FFF2-40B4-BE49-F238E27FC236}">
                <a16:creationId xmlns:a16="http://schemas.microsoft.com/office/drawing/2014/main" id="{C6110B64-069A-4B2E-BB3A-675BC30FE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8915400"/>
            <a:ext cx="2692400" cy="611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68.1%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C.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59.4%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73.3%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D.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79.5%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3" name="Object 62">
            <a:extLst>
              <a:ext uri="{FF2B5EF4-FFF2-40B4-BE49-F238E27FC236}">
                <a16:creationId xmlns:a16="http://schemas.microsoft.com/office/drawing/2014/main" id="{FC8DE095-E4CA-4126-B7A5-A535FF1F2E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9136968"/>
              </p:ext>
            </p:extLst>
          </p:nvPr>
        </p:nvGraphicFramePr>
        <p:xfrm>
          <a:off x="990600" y="1767156"/>
          <a:ext cx="292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8" name="Equation" r:id="rId4" imgW="291960" imgH="368280" progId="Equation.DSMT4">
                  <p:embed/>
                </p:oleObj>
              </mc:Choice>
              <mc:Fallback>
                <p:oleObj name="Equation" r:id="rId4" imgW="291960" imgH="368280" progId="Equation.DSMT4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9CE22F9B-C020-4122-8F5C-4E15CCCA55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90600" y="1767156"/>
                        <a:ext cx="2921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63">
            <a:extLst>
              <a:ext uri="{FF2B5EF4-FFF2-40B4-BE49-F238E27FC236}">
                <a16:creationId xmlns:a16="http://schemas.microsoft.com/office/drawing/2014/main" id="{4B5E6BD0-03FB-49C2-BCAB-93D059B43B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855067"/>
              </p:ext>
            </p:extLst>
          </p:nvPr>
        </p:nvGraphicFramePr>
        <p:xfrm>
          <a:off x="970052" y="2255178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9" name="Equation" r:id="rId6" imgW="304560" imgH="368280" progId="Equation.DSMT4">
                  <p:embed/>
                </p:oleObj>
              </mc:Choice>
              <mc:Fallback>
                <p:oleObj name="Equation" r:id="rId6" imgW="304560" imgH="368280" progId="Equation.DSMT4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8D0C1EDD-EB0A-4E45-9FC1-94A8095A6C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70052" y="2255178"/>
                        <a:ext cx="3048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64">
            <a:extLst>
              <a:ext uri="{FF2B5EF4-FFF2-40B4-BE49-F238E27FC236}">
                <a16:creationId xmlns:a16="http://schemas.microsoft.com/office/drawing/2014/main" id="{EFC58380-CCD5-4392-9CC0-3AB6E7614E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6040970"/>
              </p:ext>
            </p:extLst>
          </p:nvPr>
        </p:nvGraphicFramePr>
        <p:xfrm>
          <a:off x="2590800" y="175260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0" name="Equation" r:id="rId8" imgW="304560" imgH="368280" progId="Equation.DSMT4">
                  <p:embed/>
                </p:oleObj>
              </mc:Choice>
              <mc:Fallback>
                <p:oleObj name="Equation" r:id="rId8" imgW="304560" imgH="368280" progId="Equation.DSMT4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8A973A19-D731-42DD-A00D-8ED3E9C143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590800" y="1752600"/>
                        <a:ext cx="3048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65">
            <a:extLst>
              <a:ext uri="{FF2B5EF4-FFF2-40B4-BE49-F238E27FC236}">
                <a16:creationId xmlns:a16="http://schemas.microsoft.com/office/drawing/2014/main" id="{945D5A8D-E1A6-4E5B-823B-C373177E68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5997422"/>
              </p:ext>
            </p:extLst>
          </p:nvPr>
        </p:nvGraphicFramePr>
        <p:xfrm>
          <a:off x="2590800" y="2341652"/>
          <a:ext cx="266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1" name="Equation" r:id="rId10" imgW="266400" imgH="177480" progId="Equation.DSMT4">
                  <p:embed/>
                </p:oleObj>
              </mc:Choice>
              <mc:Fallback>
                <p:oleObj name="Equation" r:id="rId10" imgW="266400" imgH="177480" progId="Equation.DSMT4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66125FD1-ABDB-4E28-A3FA-48DF21B9A3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590800" y="2341652"/>
                        <a:ext cx="266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DBCEDA60-BE0D-4DCC-881F-D71E5860FF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998877"/>
              </p:ext>
            </p:extLst>
          </p:nvPr>
        </p:nvGraphicFramePr>
        <p:xfrm>
          <a:off x="401548" y="2768030"/>
          <a:ext cx="3421062" cy="385572"/>
        </p:xfrm>
        <a:graphic>
          <a:graphicData uri="http://schemas.openxmlformats.org/drawingml/2006/table">
            <a:tbl>
              <a:tblPr/>
              <a:tblGrid>
                <a:gridCol w="3421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  What is the sum of the first 8 terms of the </a:t>
                      </a:r>
                      <a:b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series below?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8" name="Text Box 21">
            <a:extLst>
              <a:ext uri="{FF2B5EF4-FFF2-40B4-BE49-F238E27FC236}">
                <a16:creationId xmlns:a16="http://schemas.microsoft.com/office/drawing/2014/main" id="{B49427D8-2A8B-410C-AC5D-87BB1CD8D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810000"/>
            <a:ext cx="1137285" cy="1132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394,540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408,620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479,890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671,846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FB04138-EB33-45B9-8C2E-E8B1E04F4815}"/>
              </a:ext>
            </a:extLst>
          </p:cNvPr>
          <p:cNvSpPr/>
          <p:nvPr/>
        </p:nvSpPr>
        <p:spPr>
          <a:xfrm>
            <a:off x="401548" y="5029200"/>
            <a:ext cx="35052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10.  Ryan ran 0.5 miles on July 1</a:t>
            </a:r>
            <a:r>
              <a:rPr lang="en-US" sz="1100" b="1" baseline="30000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st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.  Each day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thereafter, he ran 0.3 miles more than the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previous day.  Find the total number of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       miles ran in the month of July.</a:t>
            </a:r>
            <a:endParaRPr lang="en-US" dirty="0"/>
          </a:p>
        </p:txBody>
      </p:sp>
      <p:sp>
        <p:nvSpPr>
          <p:cNvPr id="70" name="Text Box 18">
            <a:extLst>
              <a:ext uri="{FF2B5EF4-FFF2-40B4-BE49-F238E27FC236}">
                <a16:creationId xmlns:a16="http://schemas.microsoft.com/office/drawing/2014/main" id="{A9E9F35B-B4D9-418A-88A3-462B0E78C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6172200"/>
            <a:ext cx="1576705" cy="1132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244.9 miles</a:t>
            </a: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b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145.5 miles</a:t>
            </a: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b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176.2 miles</a:t>
            </a:r>
            <a:b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155.0 miles</a:t>
            </a: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b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1" name="Table 70">
            <a:extLst>
              <a:ext uri="{FF2B5EF4-FFF2-40B4-BE49-F238E27FC236}">
                <a16:creationId xmlns:a16="http://schemas.microsoft.com/office/drawing/2014/main" id="{8DBEC19D-B720-4A80-9244-21A7CA7E57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741529"/>
              </p:ext>
            </p:extLst>
          </p:nvPr>
        </p:nvGraphicFramePr>
        <p:xfrm>
          <a:off x="386992" y="7381126"/>
          <a:ext cx="3581400" cy="192786"/>
        </p:xfrm>
        <a:graphic>
          <a:graphicData uri="http://schemas.openxmlformats.org/drawingml/2006/table">
            <a:tbl>
              <a:tblPr/>
              <a:tblGrid>
                <a:gridCol w="3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11.  Find the sum of the infinite series below.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2" name="Text Box 19">
            <a:extLst>
              <a:ext uri="{FF2B5EF4-FFF2-40B4-BE49-F238E27FC236}">
                <a16:creationId xmlns:a16="http://schemas.microsoft.com/office/drawing/2014/main" id="{2A42D707-D2B9-43FD-BBE0-4A83EEEA52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8733888"/>
            <a:ext cx="3004185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sum</a:t>
            </a: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C. </a:t>
            </a:r>
            <a:b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                                      D. </a:t>
            </a: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1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3" name="Object 72">
            <a:extLst>
              <a:ext uri="{FF2B5EF4-FFF2-40B4-BE49-F238E27FC236}">
                <a16:creationId xmlns:a16="http://schemas.microsoft.com/office/drawing/2014/main" id="{27BC9F27-6472-4D06-A716-9D8A9F427C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9963879"/>
              </p:ext>
            </p:extLst>
          </p:nvPr>
        </p:nvGraphicFramePr>
        <p:xfrm>
          <a:off x="1046252" y="9185096"/>
          <a:ext cx="228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2" name="Equation" r:id="rId12" imgW="228600" imgH="368280" progId="Equation.DSMT4">
                  <p:embed/>
                </p:oleObj>
              </mc:Choice>
              <mc:Fallback>
                <p:oleObj name="Equation" r:id="rId12" imgW="228600" imgH="368280" progId="Equation.DSMT4">
                  <p:embed/>
                  <p:pic>
                    <p:nvPicPr>
                      <p:cNvPr id="31" name="Object 30">
                        <a:extLst>
                          <a:ext uri="{FF2B5EF4-FFF2-40B4-BE49-F238E27FC236}">
                            <a16:creationId xmlns:a16="http://schemas.microsoft.com/office/drawing/2014/main" id="{DFBD0884-3FF2-437B-9AA2-F251A262AA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46252" y="9185096"/>
                        <a:ext cx="2286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73">
            <a:extLst>
              <a:ext uri="{FF2B5EF4-FFF2-40B4-BE49-F238E27FC236}">
                <a16:creationId xmlns:a16="http://schemas.microsoft.com/office/drawing/2014/main" id="{652269D0-070C-4856-8418-32EFCD5A0A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5761563"/>
              </p:ext>
            </p:extLst>
          </p:nvPr>
        </p:nvGraphicFramePr>
        <p:xfrm>
          <a:off x="2763748" y="8818652"/>
          <a:ext cx="2032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3" name="Equation" r:id="rId14" imgW="203040" imgH="177480" progId="Equation.DSMT4">
                  <p:embed/>
                </p:oleObj>
              </mc:Choice>
              <mc:Fallback>
                <p:oleObj name="Equation" r:id="rId14" imgW="203040" imgH="177480" progId="Equation.DSMT4">
                  <p:embed/>
                  <p:pic>
                    <p:nvPicPr>
                      <p:cNvPr id="32" name="Object 31">
                        <a:extLst>
                          <a:ext uri="{FF2B5EF4-FFF2-40B4-BE49-F238E27FC236}">
                            <a16:creationId xmlns:a16="http://schemas.microsoft.com/office/drawing/2014/main" id="{5E93A959-424E-4E71-B66F-BE6407F465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763748" y="8818652"/>
                        <a:ext cx="2032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74">
            <a:extLst>
              <a:ext uri="{FF2B5EF4-FFF2-40B4-BE49-F238E27FC236}">
                <a16:creationId xmlns:a16="http://schemas.microsoft.com/office/drawing/2014/main" id="{4C421497-34DF-47AA-A2E6-522F261500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0120290"/>
              </p:ext>
            </p:extLst>
          </p:nvPr>
        </p:nvGraphicFramePr>
        <p:xfrm>
          <a:off x="2753474" y="9164548"/>
          <a:ext cx="228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4" name="Equation" r:id="rId16" imgW="228600" imgH="368280" progId="Equation.DSMT4">
                  <p:embed/>
                </p:oleObj>
              </mc:Choice>
              <mc:Fallback>
                <p:oleObj name="Equation" r:id="rId16" imgW="228600" imgH="368280" progId="Equation.DSMT4">
                  <p:embed/>
                  <p:pic>
                    <p:nvPicPr>
                      <p:cNvPr id="33" name="Object 32">
                        <a:extLst>
                          <a:ext uri="{FF2B5EF4-FFF2-40B4-BE49-F238E27FC236}">
                            <a16:creationId xmlns:a16="http://schemas.microsoft.com/office/drawing/2014/main" id="{A15D9558-E9A1-4C9A-B2DC-027154B49D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753474" y="9164548"/>
                        <a:ext cx="2286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75">
            <a:extLst>
              <a:ext uri="{FF2B5EF4-FFF2-40B4-BE49-F238E27FC236}">
                <a16:creationId xmlns:a16="http://schemas.microsoft.com/office/drawing/2014/main" id="{B533B0AC-BA6C-4F42-ABD7-EBFD2693A1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1967506"/>
              </p:ext>
            </p:extLst>
          </p:nvPr>
        </p:nvGraphicFramePr>
        <p:xfrm>
          <a:off x="1219200" y="7696200"/>
          <a:ext cx="1460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5" name="Equation" r:id="rId18" imgW="1460160" imgH="406080" progId="Equation.DSMT4">
                  <p:embed/>
                </p:oleObj>
              </mc:Choice>
              <mc:Fallback>
                <p:oleObj name="Equation" r:id="rId18" imgW="1460160" imgH="406080" progId="Equation.DSMT4">
                  <p:embed/>
                  <p:pic>
                    <p:nvPicPr>
                      <p:cNvPr id="34" name="Object 33">
                        <a:extLst>
                          <a:ext uri="{FF2B5EF4-FFF2-40B4-BE49-F238E27FC236}">
                            <a16:creationId xmlns:a16="http://schemas.microsoft.com/office/drawing/2014/main" id="{122DCFBD-B229-4C35-B9F0-6A2B1ABCAD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219200" y="7696200"/>
                        <a:ext cx="14605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76">
            <a:extLst>
              <a:ext uri="{FF2B5EF4-FFF2-40B4-BE49-F238E27FC236}">
                <a16:creationId xmlns:a16="http://schemas.microsoft.com/office/drawing/2014/main" id="{6B0EABD0-16EB-45B8-92F3-2B0B0EC4AA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5302218"/>
              </p:ext>
            </p:extLst>
          </p:nvPr>
        </p:nvGraphicFramePr>
        <p:xfrm>
          <a:off x="1219200" y="3276600"/>
          <a:ext cx="1587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6" name="Equation" r:id="rId20" imgW="1587240" imgH="228600" progId="Equation.DSMT4">
                  <p:embed/>
                </p:oleObj>
              </mc:Choice>
              <mc:Fallback>
                <p:oleObj name="Equation" r:id="rId20" imgW="1587240" imgH="228600" progId="Equation.DSMT4">
                  <p:embed/>
                  <p:pic>
                    <p:nvPicPr>
                      <p:cNvPr id="35" name="Object 34">
                        <a:extLst>
                          <a:ext uri="{FF2B5EF4-FFF2-40B4-BE49-F238E27FC236}">
                            <a16:creationId xmlns:a16="http://schemas.microsoft.com/office/drawing/2014/main" id="{830D4A82-2B4E-4A66-800A-69C146E948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219200" y="3276600"/>
                        <a:ext cx="1587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77">
            <a:extLst>
              <a:ext uri="{FF2B5EF4-FFF2-40B4-BE49-F238E27FC236}">
                <a16:creationId xmlns:a16="http://schemas.microsoft.com/office/drawing/2014/main" id="{F2B8FDA2-93F4-42ED-A1E9-16A499C369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0895295"/>
              </p:ext>
            </p:extLst>
          </p:nvPr>
        </p:nvGraphicFramePr>
        <p:xfrm>
          <a:off x="1295400" y="990600"/>
          <a:ext cx="1460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7" name="Equation" r:id="rId22" imgW="1460160" imgH="406080" progId="Equation.DSMT4">
                  <p:embed/>
                </p:oleObj>
              </mc:Choice>
              <mc:Fallback>
                <p:oleObj name="Equation" r:id="rId22" imgW="1460160" imgH="406080" progId="Equation.DSMT4">
                  <p:embed/>
                  <p:pic>
                    <p:nvPicPr>
                      <p:cNvPr id="36" name="Object 35">
                        <a:extLst>
                          <a:ext uri="{FF2B5EF4-FFF2-40B4-BE49-F238E27FC236}">
                            <a16:creationId xmlns:a16="http://schemas.microsoft.com/office/drawing/2014/main" id="{8D4ACDF6-E57F-47CB-B485-04E9CB51CF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295400" y="990600"/>
                        <a:ext cx="14605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85E369E-8401-4A94-99F2-4FE0902F42C0}"/>
              </a:ext>
            </a:extLst>
          </p:cNvPr>
          <p:cNvCxnSpPr>
            <a:cxnSpLocks/>
          </p:cNvCxnSpPr>
          <p:nvPr/>
        </p:nvCxnSpPr>
        <p:spPr>
          <a:xfrm>
            <a:off x="437525" y="7354930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F021E91-30E4-46C9-A8AB-F4F64362C720}"/>
              </a:ext>
            </a:extLst>
          </p:cNvPr>
          <p:cNvCxnSpPr>
            <a:cxnSpLocks/>
          </p:cNvCxnSpPr>
          <p:nvPr/>
        </p:nvCxnSpPr>
        <p:spPr>
          <a:xfrm>
            <a:off x="456912" y="5045838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8D68D3E-8C7E-4CCF-81DE-F0778C5894B8}"/>
              </a:ext>
            </a:extLst>
          </p:cNvPr>
          <p:cNvCxnSpPr>
            <a:cxnSpLocks/>
          </p:cNvCxnSpPr>
          <p:nvPr/>
        </p:nvCxnSpPr>
        <p:spPr>
          <a:xfrm>
            <a:off x="3951838" y="7982528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096AD1E-2182-47F4-A6C8-C8EEF0885C2C}"/>
              </a:ext>
            </a:extLst>
          </p:cNvPr>
          <p:cNvCxnSpPr>
            <a:cxnSpLocks/>
          </p:cNvCxnSpPr>
          <p:nvPr/>
        </p:nvCxnSpPr>
        <p:spPr>
          <a:xfrm>
            <a:off x="3943692" y="6357628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AAB9CD9C-AB78-48EB-AF25-FD3419D94919}"/>
              </a:ext>
            </a:extLst>
          </p:cNvPr>
          <p:cNvCxnSpPr>
            <a:cxnSpLocks/>
          </p:cNvCxnSpPr>
          <p:nvPr/>
        </p:nvCxnSpPr>
        <p:spPr>
          <a:xfrm>
            <a:off x="3968392" y="5543090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54C3E488-B2B1-4F04-AB3E-FB080D3C2B64}"/>
              </a:ext>
            </a:extLst>
          </p:cNvPr>
          <p:cNvCxnSpPr>
            <a:cxnSpLocks/>
          </p:cNvCxnSpPr>
          <p:nvPr/>
        </p:nvCxnSpPr>
        <p:spPr>
          <a:xfrm>
            <a:off x="3949920" y="3366655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7C10277-4EE1-4AE9-9883-98C8344CE918}"/>
              </a:ext>
            </a:extLst>
          </p:cNvPr>
          <p:cNvCxnSpPr>
            <a:cxnSpLocks/>
          </p:cNvCxnSpPr>
          <p:nvPr/>
        </p:nvCxnSpPr>
        <p:spPr>
          <a:xfrm>
            <a:off x="3959350" y="1932708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2E9C9842-0E29-4033-9525-8D8396E06103}"/>
              </a:ext>
            </a:extLst>
          </p:cNvPr>
          <p:cNvCxnSpPr>
            <a:cxnSpLocks/>
          </p:cNvCxnSpPr>
          <p:nvPr/>
        </p:nvCxnSpPr>
        <p:spPr>
          <a:xfrm>
            <a:off x="432212" y="2749558"/>
            <a:ext cx="34930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677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276</Words>
  <Application>Microsoft Office PowerPoint</Application>
  <PresentationFormat>Custom</PresentationFormat>
  <Paragraphs>34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Tahoma</vt:lpstr>
      <vt:lpstr>Times New Roman</vt:lpstr>
      <vt:lpstr>Office Theme</vt:lpstr>
      <vt:lpstr>Equation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Gina Wilson</dc:creator>
  <cp:lastModifiedBy>Gina Wilson</cp:lastModifiedBy>
  <cp:revision>16</cp:revision>
  <dcterms:created xsi:type="dcterms:W3CDTF">2018-02-20T16:18:51Z</dcterms:created>
  <dcterms:modified xsi:type="dcterms:W3CDTF">2018-02-20T16:47:23Z</dcterms:modified>
</cp:coreProperties>
</file>