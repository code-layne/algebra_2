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6" r:id="rId2"/>
    <p:sldId id="267" r:id="rId3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343" autoAdjust="0"/>
    <p:restoredTop sz="94660"/>
  </p:normalViewPr>
  <p:slideViewPr>
    <p:cSldViewPr snapToGrid="0">
      <p:cViewPr varScale="1">
        <p:scale>
          <a:sx n="46" d="100"/>
          <a:sy n="46" d="100"/>
        </p:scale>
        <p:origin x="187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0" d="100"/>
        <a:sy n="3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image" Target="../media/image13.w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12" Type="http://schemas.openxmlformats.org/officeDocument/2006/relationships/image" Target="../media/image12.wmf"/><Relationship Id="rId17" Type="http://schemas.openxmlformats.org/officeDocument/2006/relationships/image" Target="../media/image17.wmf"/><Relationship Id="rId2" Type="http://schemas.openxmlformats.org/officeDocument/2006/relationships/image" Target="../media/image2.wmf"/><Relationship Id="rId16" Type="http://schemas.openxmlformats.org/officeDocument/2006/relationships/image" Target="../media/image16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11" Type="http://schemas.openxmlformats.org/officeDocument/2006/relationships/image" Target="../media/image11.wmf"/><Relationship Id="rId5" Type="http://schemas.openxmlformats.org/officeDocument/2006/relationships/image" Target="../media/image5.wmf"/><Relationship Id="rId15" Type="http://schemas.openxmlformats.org/officeDocument/2006/relationships/image" Target="../media/image15.wmf"/><Relationship Id="rId10" Type="http://schemas.openxmlformats.org/officeDocument/2006/relationships/image" Target="../media/image10.wmf"/><Relationship Id="rId4" Type="http://schemas.openxmlformats.org/officeDocument/2006/relationships/image" Target="../media/image4.wmf"/><Relationship Id="rId9" Type="http://schemas.openxmlformats.org/officeDocument/2006/relationships/image" Target="../media/image9.wmf"/><Relationship Id="rId14" Type="http://schemas.openxmlformats.org/officeDocument/2006/relationships/image" Target="../media/image14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13" Type="http://schemas.openxmlformats.org/officeDocument/2006/relationships/image" Target="../media/image35.wmf"/><Relationship Id="rId18" Type="http://schemas.openxmlformats.org/officeDocument/2006/relationships/image" Target="../media/image40.wmf"/><Relationship Id="rId3" Type="http://schemas.openxmlformats.org/officeDocument/2006/relationships/image" Target="../media/image25.wmf"/><Relationship Id="rId21" Type="http://schemas.openxmlformats.org/officeDocument/2006/relationships/image" Target="../media/image43.wmf"/><Relationship Id="rId7" Type="http://schemas.openxmlformats.org/officeDocument/2006/relationships/image" Target="../media/image29.wmf"/><Relationship Id="rId12" Type="http://schemas.openxmlformats.org/officeDocument/2006/relationships/image" Target="../media/image34.wmf"/><Relationship Id="rId17" Type="http://schemas.openxmlformats.org/officeDocument/2006/relationships/image" Target="../media/image39.wmf"/><Relationship Id="rId25" Type="http://schemas.openxmlformats.org/officeDocument/2006/relationships/image" Target="../media/image47.wmf"/><Relationship Id="rId2" Type="http://schemas.openxmlformats.org/officeDocument/2006/relationships/image" Target="../media/image24.wmf"/><Relationship Id="rId16" Type="http://schemas.openxmlformats.org/officeDocument/2006/relationships/image" Target="../media/image38.wmf"/><Relationship Id="rId20" Type="http://schemas.openxmlformats.org/officeDocument/2006/relationships/image" Target="../media/image42.wmf"/><Relationship Id="rId1" Type="http://schemas.openxmlformats.org/officeDocument/2006/relationships/image" Target="../media/image23.wmf"/><Relationship Id="rId6" Type="http://schemas.openxmlformats.org/officeDocument/2006/relationships/image" Target="../media/image28.wmf"/><Relationship Id="rId11" Type="http://schemas.openxmlformats.org/officeDocument/2006/relationships/image" Target="../media/image33.wmf"/><Relationship Id="rId24" Type="http://schemas.openxmlformats.org/officeDocument/2006/relationships/image" Target="../media/image46.wmf"/><Relationship Id="rId5" Type="http://schemas.openxmlformats.org/officeDocument/2006/relationships/image" Target="../media/image27.wmf"/><Relationship Id="rId15" Type="http://schemas.openxmlformats.org/officeDocument/2006/relationships/image" Target="../media/image37.wmf"/><Relationship Id="rId23" Type="http://schemas.openxmlformats.org/officeDocument/2006/relationships/image" Target="../media/image45.wmf"/><Relationship Id="rId10" Type="http://schemas.openxmlformats.org/officeDocument/2006/relationships/image" Target="../media/image32.wmf"/><Relationship Id="rId19" Type="http://schemas.openxmlformats.org/officeDocument/2006/relationships/image" Target="../media/image41.wmf"/><Relationship Id="rId4" Type="http://schemas.openxmlformats.org/officeDocument/2006/relationships/image" Target="../media/image26.wmf"/><Relationship Id="rId9" Type="http://schemas.openxmlformats.org/officeDocument/2006/relationships/image" Target="../media/image31.wmf"/><Relationship Id="rId14" Type="http://schemas.openxmlformats.org/officeDocument/2006/relationships/image" Target="../media/image36.wmf"/><Relationship Id="rId22" Type="http://schemas.openxmlformats.org/officeDocument/2006/relationships/image" Target="../media/image44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2/20/2018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20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2/20/2018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422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2/20/2018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447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2/20/2018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007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2/20/2018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693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2/20/2018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320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2/20/2018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71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2/20/2018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193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2/20/2018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697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2/20/2018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788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2/20/2018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811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58F020-01A7-4B9B-B8AB-895AE4ABE3F7}" type="datetimeFigureOut">
              <a:rPr lang="en-US" smtClean="0"/>
              <a:t>2/20/2018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820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13" Type="http://schemas.openxmlformats.org/officeDocument/2006/relationships/image" Target="../media/image3.wmf"/><Relationship Id="rId18" Type="http://schemas.openxmlformats.org/officeDocument/2006/relationships/oleObject" Target="../embeddings/oleObject6.bin"/><Relationship Id="rId26" Type="http://schemas.openxmlformats.org/officeDocument/2006/relationships/oleObject" Target="../embeddings/oleObject10.bin"/><Relationship Id="rId39" Type="http://schemas.openxmlformats.org/officeDocument/2006/relationships/image" Target="../media/image16.wmf"/><Relationship Id="rId3" Type="http://schemas.openxmlformats.org/officeDocument/2006/relationships/image" Target="../media/image18.PNG"/><Relationship Id="rId21" Type="http://schemas.openxmlformats.org/officeDocument/2006/relationships/image" Target="../media/image7.wmf"/><Relationship Id="rId34" Type="http://schemas.openxmlformats.org/officeDocument/2006/relationships/oleObject" Target="../embeddings/oleObject14.bin"/><Relationship Id="rId7" Type="http://schemas.openxmlformats.org/officeDocument/2006/relationships/image" Target="../media/image22.png"/><Relationship Id="rId12" Type="http://schemas.openxmlformats.org/officeDocument/2006/relationships/oleObject" Target="../embeddings/oleObject3.bin"/><Relationship Id="rId17" Type="http://schemas.openxmlformats.org/officeDocument/2006/relationships/image" Target="../media/image5.wmf"/><Relationship Id="rId25" Type="http://schemas.openxmlformats.org/officeDocument/2006/relationships/image" Target="../media/image9.wmf"/><Relationship Id="rId33" Type="http://schemas.openxmlformats.org/officeDocument/2006/relationships/image" Target="../media/image13.wmf"/><Relationship Id="rId38" Type="http://schemas.openxmlformats.org/officeDocument/2006/relationships/oleObject" Target="../embeddings/oleObject16.bin"/><Relationship Id="rId2" Type="http://schemas.openxmlformats.org/officeDocument/2006/relationships/slideLayout" Target="../slideLayouts/slideLayout1.xml"/><Relationship Id="rId16" Type="http://schemas.openxmlformats.org/officeDocument/2006/relationships/oleObject" Target="../embeddings/oleObject5.bin"/><Relationship Id="rId20" Type="http://schemas.openxmlformats.org/officeDocument/2006/relationships/oleObject" Target="../embeddings/oleObject7.bin"/><Relationship Id="rId29" Type="http://schemas.openxmlformats.org/officeDocument/2006/relationships/image" Target="../media/image11.wmf"/><Relationship Id="rId41" Type="http://schemas.openxmlformats.org/officeDocument/2006/relationships/image" Target="../media/image17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21.png"/><Relationship Id="rId11" Type="http://schemas.openxmlformats.org/officeDocument/2006/relationships/image" Target="../media/image2.wmf"/><Relationship Id="rId24" Type="http://schemas.openxmlformats.org/officeDocument/2006/relationships/oleObject" Target="../embeddings/oleObject9.bin"/><Relationship Id="rId32" Type="http://schemas.openxmlformats.org/officeDocument/2006/relationships/oleObject" Target="../embeddings/oleObject13.bin"/><Relationship Id="rId37" Type="http://schemas.openxmlformats.org/officeDocument/2006/relationships/image" Target="../media/image15.wmf"/><Relationship Id="rId40" Type="http://schemas.openxmlformats.org/officeDocument/2006/relationships/oleObject" Target="../embeddings/oleObject17.bin"/><Relationship Id="rId5" Type="http://schemas.openxmlformats.org/officeDocument/2006/relationships/image" Target="../media/image20.png"/><Relationship Id="rId15" Type="http://schemas.openxmlformats.org/officeDocument/2006/relationships/image" Target="../media/image4.wmf"/><Relationship Id="rId23" Type="http://schemas.openxmlformats.org/officeDocument/2006/relationships/image" Target="../media/image8.wmf"/><Relationship Id="rId28" Type="http://schemas.openxmlformats.org/officeDocument/2006/relationships/oleObject" Target="../embeddings/oleObject11.bin"/><Relationship Id="rId36" Type="http://schemas.openxmlformats.org/officeDocument/2006/relationships/oleObject" Target="../embeddings/oleObject15.bin"/><Relationship Id="rId10" Type="http://schemas.openxmlformats.org/officeDocument/2006/relationships/oleObject" Target="../embeddings/oleObject2.bin"/><Relationship Id="rId19" Type="http://schemas.openxmlformats.org/officeDocument/2006/relationships/image" Target="../media/image6.wmf"/><Relationship Id="rId31" Type="http://schemas.openxmlformats.org/officeDocument/2006/relationships/image" Target="../media/image12.wmf"/><Relationship Id="rId4" Type="http://schemas.openxmlformats.org/officeDocument/2006/relationships/image" Target="../media/image19.png"/><Relationship Id="rId9" Type="http://schemas.openxmlformats.org/officeDocument/2006/relationships/image" Target="../media/image1.wmf"/><Relationship Id="rId14" Type="http://schemas.openxmlformats.org/officeDocument/2006/relationships/oleObject" Target="../embeddings/oleObject4.bin"/><Relationship Id="rId22" Type="http://schemas.openxmlformats.org/officeDocument/2006/relationships/oleObject" Target="../embeddings/oleObject8.bin"/><Relationship Id="rId27" Type="http://schemas.openxmlformats.org/officeDocument/2006/relationships/image" Target="../media/image10.wmf"/><Relationship Id="rId30" Type="http://schemas.openxmlformats.org/officeDocument/2006/relationships/oleObject" Target="../embeddings/oleObject12.bin"/><Relationship Id="rId35" Type="http://schemas.openxmlformats.org/officeDocument/2006/relationships/image" Target="../media/image14.wmf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7.wmf"/><Relationship Id="rId18" Type="http://schemas.openxmlformats.org/officeDocument/2006/relationships/oleObject" Target="../embeddings/oleObject25.bin"/><Relationship Id="rId26" Type="http://schemas.openxmlformats.org/officeDocument/2006/relationships/oleObject" Target="../embeddings/oleObject29.bin"/><Relationship Id="rId39" Type="http://schemas.openxmlformats.org/officeDocument/2006/relationships/image" Target="../media/image40.wmf"/><Relationship Id="rId21" Type="http://schemas.openxmlformats.org/officeDocument/2006/relationships/image" Target="../media/image31.wmf"/><Relationship Id="rId34" Type="http://schemas.openxmlformats.org/officeDocument/2006/relationships/oleObject" Target="../embeddings/oleObject33.bin"/><Relationship Id="rId42" Type="http://schemas.openxmlformats.org/officeDocument/2006/relationships/oleObject" Target="../embeddings/oleObject37.bin"/><Relationship Id="rId47" Type="http://schemas.openxmlformats.org/officeDocument/2006/relationships/image" Target="../media/image52.png"/><Relationship Id="rId50" Type="http://schemas.openxmlformats.org/officeDocument/2006/relationships/oleObject" Target="../embeddings/oleObject39.bin"/><Relationship Id="rId55" Type="http://schemas.openxmlformats.org/officeDocument/2006/relationships/image" Target="../media/image46.wmf"/><Relationship Id="rId7" Type="http://schemas.openxmlformats.org/officeDocument/2006/relationships/image" Target="../media/image24.wmf"/><Relationship Id="rId12" Type="http://schemas.openxmlformats.org/officeDocument/2006/relationships/oleObject" Target="../embeddings/oleObject22.bin"/><Relationship Id="rId17" Type="http://schemas.openxmlformats.org/officeDocument/2006/relationships/image" Target="../media/image29.wmf"/><Relationship Id="rId25" Type="http://schemas.openxmlformats.org/officeDocument/2006/relationships/image" Target="../media/image33.wmf"/><Relationship Id="rId33" Type="http://schemas.openxmlformats.org/officeDocument/2006/relationships/image" Target="../media/image37.wmf"/><Relationship Id="rId38" Type="http://schemas.openxmlformats.org/officeDocument/2006/relationships/oleObject" Target="../embeddings/oleObject35.bin"/><Relationship Id="rId46" Type="http://schemas.openxmlformats.org/officeDocument/2006/relationships/image" Target="../media/image51.png"/><Relationship Id="rId2" Type="http://schemas.openxmlformats.org/officeDocument/2006/relationships/slideLayout" Target="../slideLayouts/slideLayout1.xml"/><Relationship Id="rId16" Type="http://schemas.openxmlformats.org/officeDocument/2006/relationships/oleObject" Target="../embeddings/oleObject24.bin"/><Relationship Id="rId20" Type="http://schemas.openxmlformats.org/officeDocument/2006/relationships/oleObject" Target="../embeddings/oleObject26.bin"/><Relationship Id="rId29" Type="http://schemas.openxmlformats.org/officeDocument/2006/relationships/image" Target="../media/image35.wmf"/><Relationship Id="rId41" Type="http://schemas.openxmlformats.org/officeDocument/2006/relationships/image" Target="../media/image41.wmf"/><Relationship Id="rId54" Type="http://schemas.openxmlformats.org/officeDocument/2006/relationships/oleObject" Target="../embeddings/oleObject41.bin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19.bin"/><Relationship Id="rId11" Type="http://schemas.openxmlformats.org/officeDocument/2006/relationships/image" Target="../media/image26.wmf"/><Relationship Id="rId24" Type="http://schemas.openxmlformats.org/officeDocument/2006/relationships/oleObject" Target="../embeddings/oleObject28.bin"/><Relationship Id="rId32" Type="http://schemas.openxmlformats.org/officeDocument/2006/relationships/oleObject" Target="../embeddings/oleObject32.bin"/><Relationship Id="rId37" Type="http://schemas.openxmlformats.org/officeDocument/2006/relationships/image" Target="../media/image39.wmf"/><Relationship Id="rId40" Type="http://schemas.openxmlformats.org/officeDocument/2006/relationships/oleObject" Target="../embeddings/oleObject36.bin"/><Relationship Id="rId45" Type="http://schemas.openxmlformats.org/officeDocument/2006/relationships/image" Target="../media/image50.png"/><Relationship Id="rId53" Type="http://schemas.openxmlformats.org/officeDocument/2006/relationships/image" Target="../media/image45.wmf"/><Relationship Id="rId5" Type="http://schemas.openxmlformats.org/officeDocument/2006/relationships/image" Target="../media/image23.wmf"/><Relationship Id="rId15" Type="http://schemas.openxmlformats.org/officeDocument/2006/relationships/image" Target="../media/image28.wmf"/><Relationship Id="rId23" Type="http://schemas.openxmlformats.org/officeDocument/2006/relationships/image" Target="../media/image32.wmf"/><Relationship Id="rId28" Type="http://schemas.openxmlformats.org/officeDocument/2006/relationships/oleObject" Target="../embeddings/oleObject30.bin"/><Relationship Id="rId36" Type="http://schemas.openxmlformats.org/officeDocument/2006/relationships/oleObject" Target="../embeddings/oleObject34.bin"/><Relationship Id="rId49" Type="http://schemas.openxmlformats.org/officeDocument/2006/relationships/image" Target="../media/image43.wmf"/><Relationship Id="rId57" Type="http://schemas.openxmlformats.org/officeDocument/2006/relationships/image" Target="../media/image47.wmf"/><Relationship Id="rId10" Type="http://schemas.openxmlformats.org/officeDocument/2006/relationships/oleObject" Target="../embeddings/oleObject21.bin"/><Relationship Id="rId19" Type="http://schemas.openxmlformats.org/officeDocument/2006/relationships/image" Target="../media/image30.wmf"/><Relationship Id="rId31" Type="http://schemas.openxmlformats.org/officeDocument/2006/relationships/image" Target="../media/image36.wmf"/><Relationship Id="rId44" Type="http://schemas.openxmlformats.org/officeDocument/2006/relationships/image" Target="../media/image49.png"/><Relationship Id="rId52" Type="http://schemas.openxmlformats.org/officeDocument/2006/relationships/oleObject" Target="../embeddings/oleObject40.bin"/><Relationship Id="rId4" Type="http://schemas.openxmlformats.org/officeDocument/2006/relationships/oleObject" Target="../embeddings/oleObject18.bin"/><Relationship Id="rId9" Type="http://schemas.openxmlformats.org/officeDocument/2006/relationships/image" Target="../media/image25.wmf"/><Relationship Id="rId14" Type="http://schemas.openxmlformats.org/officeDocument/2006/relationships/oleObject" Target="../embeddings/oleObject23.bin"/><Relationship Id="rId22" Type="http://schemas.openxmlformats.org/officeDocument/2006/relationships/oleObject" Target="../embeddings/oleObject27.bin"/><Relationship Id="rId27" Type="http://schemas.openxmlformats.org/officeDocument/2006/relationships/image" Target="../media/image34.wmf"/><Relationship Id="rId30" Type="http://schemas.openxmlformats.org/officeDocument/2006/relationships/oleObject" Target="../embeddings/oleObject31.bin"/><Relationship Id="rId35" Type="http://schemas.openxmlformats.org/officeDocument/2006/relationships/image" Target="../media/image38.wmf"/><Relationship Id="rId43" Type="http://schemas.openxmlformats.org/officeDocument/2006/relationships/image" Target="../media/image42.wmf"/><Relationship Id="rId48" Type="http://schemas.openxmlformats.org/officeDocument/2006/relationships/oleObject" Target="../embeddings/oleObject38.bin"/><Relationship Id="rId56" Type="http://schemas.openxmlformats.org/officeDocument/2006/relationships/oleObject" Target="../embeddings/oleObject42.bin"/><Relationship Id="rId8" Type="http://schemas.openxmlformats.org/officeDocument/2006/relationships/oleObject" Target="../embeddings/oleObject20.bin"/><Relationship Id="rId51" Type="http://schemas.openxmlformats.org/officeDocument/2006/relationships/image" Target="../media/image44.wmf"/><Relationship Id="rId3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51">
            <a:extLst>
              <a:ext uri="{FF2B5EF4-FFF2-40B4-BE49-F238E27FC236}">
                <a16:creationId xmlns:a16="http://schemas.microsoft.com/office/drawing/2014/main" id="{A2067221-F55C-409B-9F0B-9276062B59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276600"/>
            <a:ext cx="1485900" cy="1419225"/>
          </a:xfrm>
          <a:prstGeom prst="rect">
            <a:avLst/>
          </a:prstGeom>
        </p:spPr>
      </p:pic>
      <p:graphicFrame>
        <p:nvGraphicFramePr>
          <p:cNvPr id="53" name="Table 52">
            <a:extLst>
              <a:ext uri="{FF2B5EF4-FFF2-40B4-BE49-F238E27FC236}">
                <a16:creationId xmlns:a16="http://schemas.microsoft.com/office/drawing/2014/main" id="{127AEF1D-CF2B-414D-A0AB-EB2994ED9D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8409174"/>
              </p:ext>
            </p:extLst>
          </p:nvPr>
        </p:nvGraphicFramePr>
        <p:xfrm>
          <a:off x="381000" y="2667000"/>
          <a:ext cx="3573462" cy="578358"/>
        </p:xfrm>
        <a:graphic>
          <a:graphicData uri="http://schemas.openxmlformats.org/drawingml/2006/table">
            <a:tbl>
              <a:tblPr/>
              <a:tblGrid>
                <a:gridCol w="35734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  For which set of data would the equation for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the curve of best fit most likely be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logarithmic?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4" name="Picture 53">
            <a:extLst>
              <a:ext uri="{FF2B5EF4-FFF2-40B4-BE49-F238E27FC236}">
                <a16:creationId xmlns:a16="http://schemas.microsoft.com/office/drawing/2014/main" id="{5C27DFE6-6BFC-4A16-9F4D-93D179CF53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8400" y="3276600"/>
            <a:ext cx="1476375" cy="14097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E989F2B0-9F7A-4AA5-9CFA-03AF6316A7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4876800"/>
            <a:ext cx="1495425" cy="146685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233C4BE6-857D-48D9-84EF-6D1AA98E69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38400" y="4876800"/>
            <a:ext cx="1504950" cy="1514475"/>
          </a:xfrm>
          <a:prstGeom prst="rect">
            <a:avLst/>
          </a:prstGeom>
        </p:spPr>
      </p:pic>
      <p:sp>
        <p:nvSpPr>
          <p:cNvPr id="57" name="Rectangle 56">
            <a:extLst>
              <a:ext uri="{FF2B5EF4-FFF2-40B4-BE49-F238E27FC236}">
                <a16:creationId xmlns:a16="http://schemas.microsoft.com/office/drawing/2014/main" id="{267D2536-8E4C-4B6F-A35F-4047DBAF6FC9}"/>
              </a:ext>
            </a:extLst>
          </p:cNvPr>
          <p:cNvSpPr/>
          <p:nvPr/>
        </p:nvSpPr>
        <p:spPr>
          <a:xfrm>
            <a:off x="457200" y="3276600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A.</a:t>
            </a:r>
            <a:endParaRPr lang="en-US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991CD9C-FACE-4AB0-A798-01293336728F}"/>
              </a:ext>
            </a:extLst>
          </p:cNvPr>
          <p:cNvSpPr/>
          <p:nvPr/>
        </p:nvSpPr>
        <p:spPr>
          <a:xfrm>
            <a:off x="2133600" y="3287110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B.</a:t>
            </a:r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89F8F46-A0C3-4BD8-B911-203C67AFF196}"/>
              </a:ext>
            </a:extLst>
          </p:cNvPr>
          <p:cNvSpPr/>
          <p:nvPr/>
        </p:nvSpPr>
        <p:spPr>
          <a:xfrm>
            <a:off x="457200" y="4953000"/>
            <a:ext cx="32412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C.</a:t>
            </a:r>
            <a:endParaRPr lang="en-US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9BBA5E6-DE1E-4859-8E6E-59325D2C0665}"/>
              </a:ext>
            </a:extLst>
          </p:cNvPr>
          <p:cNvSpPr/>
          <p:nvPr/>
        </p:nvSpPr>
        <p:spPr>
          <a:xfrm>
            <a:off x="2209800" y="4953000"/>
            <a:ext cx="33695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D.</a:t>
            </a:r>
            <a:endParaRPr lang="en-US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FF0EFA4F-ACBA-4361-A292-0A9289E6F4A4}"/>
              </a:ext>
            </a:extLst>
          </p:cNvPr>
          <p:cNvSpPr/>
          <p:nvPr/>
        </p:nvSpPr>
        <p:spPr>
          <a:xfrm>
            <a:off x="415160" y="6445470"/>
            <a:ext cx="3581400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2. The data below shows the cooling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    temperatures of a hot cup of tea after it is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    poured into a cup.  Assuming the relationship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    is exponential, find the approximate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    temperature after 40 minutes.</a:t>
            </a:r>
            <a:endParaRPr lang="en-US" dirty="0"/>
          </a:p>
        </p:txBody>
      </p:sp>
      <p:graphicFrame>
        <p:nvGraphicFramePr>
          <p:cNvPr id="62" name="Table 61">
            <a:extLst>
              <a:ext uri="{FF2B5EF4-FFF2-40B4-BE49-F238E27FC236}">
                <a16:creationId xmlns:a16="http://schemas.microsoft.com/office/drawing/2014/main" id="{602217C7-6980-485C-87EE-272A6EAA3F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164473"/>
              </p:ext>
            </p:extLst>
          </p:nvPr>
        </p:nvGraphicFramePr>
        <p:xfrm>
          <a:off x="762000" y="7772400"/>
          <a:ext cx="1368425" cy="1703832"/>
        </p:xfrm>
        <a:graphic>
          <a:graphicData uri="http://schemas.openxmlformats.org/drawingml/2006/table">
            <a:tbl>
              <a:tblPr firstRow="1" firstCol="1" bandRow="1"/>
              <a:tblGrid>
                <a:gridCol w="760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7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97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Time</a:t>
                      </a:r>
                      <a:br>
                        <a:rPr lang="en-US" sz="1000" b="1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000" b="1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(Minutes)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Temp (</a:t>
                      </a:r>
                      <a:r>
                        <a:rPr lang="en-US" sz="120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ahoma" panose="020B0604030504040204" pitchFamily="34" charset="0"/>
                          <a:sym typeface="Symbol" panose="05050102010706020507" pitchFamily="18" charset="2"/>
                        </a:rPr>
                        <a:t></a:t>
                      </a:r>
                      <a:r>
                        <a:rPr lang="en-US" sz="1000" b="1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7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7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166.32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7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150.34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7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135.9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7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122.84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7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111.04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3" name="Text Box 39">
            <a:extLst>
              <a:ext uri="{FF2B5EF4-FFF2-40B4-BE49-F238E27FC236}">
                <a16:creationId xmlns:a16="http://schemas.microsoft.com/office/drawing/2014/main" id="{F9E65B69-8802-415D-AA28-C123B4C40C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7696200"/>
            <a:ext cx="735330" cy="1132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82</a:t>
            </a:r>
            <a:r>
              <a:rPr lang="en-US" sz="12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</a:t>
            </a: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87</a:t>
            </a:r>
            <a:r>
              <a:rPr lang="en-US" sz="12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</a:t>
            </a: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90</a:t>
            </a:r>
            <a:r>
              <a:rPr lang="en-US" sz="12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</a:t>
            </a: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95</a:t>
            </a:r>
            <a:r>
              <a:rPr lang="en-US" sz="12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</a:t>
            </a: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135640C-8C6D-4C5A-9875-59110EB6B551}"/>
              </a:ext>
            </a:extLst>
          </p:cNvPr>
          <p:cNvSpPr/>
          <p:nvPr/>
        </p:nvSpPr>
        <p:spPr>
          <a:xfrm>
            <a:off x="3962400" y="3886200"/>
            <a:ext cx="342433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Use the following functions for questions 4-6:</a:t>
            </a:r>
            <a:endParaRPr lang="en-US" dirty="0"/>
          </a:p>
        </p:txBody>
      </p:sp>
      <p:graphicFrame>
        <p:nvGraphicFramePr>
          <p:cNvPr id="65" name="Object 64">
            <a:extLst>
              <a:ext uri="{FF2B5EF4-FFF2-40B4-BE49-F238E27FC236}">
                <a16:creationId xmlns:a16="http://schemas.microsoft.com/office/drawing/2014/main" id="{085F52A3-A597-4A7E-8FA9-8DB5C6F8DF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419256"/>
              </p:ext>
            </p:extLst>
          </p:nvPr>
        </p:nvGraphicFramePr>
        <p:xfrm>
          <a:off x="4267200" y="4114800"/>
          <a:ext cx="29591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21" name="Equation" r:id="rId8" imgW="2958840" imgH="228600" progId="Equation.DSMT4">
                  <p:embed/>
                </p:oleObj>
              </mc:Choice>
              <mc:Fallback>
                <p:oleObj name="Equation" r:id="rId8" imgW="2958840" imgH="228600" progId="Equation.DSMT4">
                  <p:embed/>
                  <p:pic>
                    <p:nvPicPr>
                      <p:cNvPr id="23" name="Object 22">
                        <a:extLst>
                          <a:ext uri="{FF2B5EF4-FFF2-40B4-BE49-F238E27FC236}">
                            <a16:creationId xmlns:a16="http://schemas.microsoft.com/office/drawing/2014/main" id="{4E8807CF-5958-46B9-8972-6A81BD0E9A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267200" y="4114800"/>
                        <a:ext cx="29591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" name="Rectangle 65">
            <a:extLst>
              <a:ext uri="{FF2B5EF4-FFF2-40B4-BE49-F238E27FC236}">
                <a16:creationId xmlns:a16="http://schemas.microsoft.com/office/drawing/2014/main" id="{927C96E6-B74E-4C11-896B-17EB095BF1BA}"/>
              </a:ext>
            </a:extLst>
          </p:cNvPr>
          <p:cNvSpPr/>
          <p:nvPr/>
        </p:nvSpPr>
        <p:spPr>
          <a:xfrm>
            <a:off x="3909850" y="4474780"/>
            <a:ext cx="21336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4.  Find                .</a:t>
            </a:r>
            <a:endParaRPr lang="en-US" dirty="0"/>
          </a:p>
        </p:txBody>
      </p:sp>
      <p:graphicFrame>
        <p:nvGraphicFramePr>
          <p:cNvPr id="67" name="Object 66">
            <a:extLst>
              <a:ext uri="{FF2B5EF4-FFF2-40B4-BE49-F238E27FC236}">
                <a16:creationId xmlns:a16="http://schemas.microsoft.com/office/drawing/2014/main" id="{2BFAF324-97B5-4CCC-875A-D2798CD313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5330455"/>
              </p:ext>
            </p:extLst>
          </p:nvPr>
        </p:nvGraphicFramePr>
        <p:xfrm>
          <a:off x="4519450" y="4495800"/>
          <a:ext cx="6731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22" name="Equation" r:id="rId10" imgW="672840" imgH="228600" progId="Equation.DSMT4">
                  <p:embed/>
                </p:oleObj>
              </mc:Choice>
              <mc:Fallback>
                <p:oleObj name="Equation" r:id="rId10" imgW="672840" imgH="228600" progId="Equation.DSMT4">
                  <p:embed/>
                  <p:pic>
                    <p:nvPicPr>
                      <p:cNvPr id="25" name="Object 24">
                        <a:extLst>
                          <a:ext uri="{FF2B5EF4-FFF2-40B4-BE49-F238E27FC236}">
                            <a16:creationId xmlns:a16="http://schemas.microsoft.com/office/drawing/2014/main" id="{753EAA61-DAAB-4E77-B50D-747FC24ECB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519450" y="4495800"/>
                        <a:ext cx="6731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" name="Text Box 44">
            <a:extLst>
              <a:ext uri="{FF2B5EF4-FFF2-40B4-BE49-F238E27FC236}">
                <a16:creationId xmlns:a16="http://schemas.microsoft.com/office/drawing/2014/main" id="{C6565EF4-5D81-4E76-A5A8-39B8BEE870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4953000"/>
            <a:ext cx="2584450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6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                           C.        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                           D.        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9" name="Object 68">
            <a:extLst>
              <a:ext uri="{FF2B5EF4-FFF2-40B4-BE49-F238E27FC236}">
                <a16:creationId xmlns:a16="http://schemas.microsoft.com/office/drawing/2014/main" id="{EA7D5B90-1F53-4F35-97A7-22ACF6D364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8292275"/>
              </p:ext>
            </p:extLst>
          </p:nvPr>
        </p:nvGraphicFramePr>
        <p:xfrm>
          <a:off x="4506310" y="5050220"/>
          <a:ext cx="7239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23" name="Equation" r:id="rId12" imgW="723600" imgH="190440" progId="Equation.DSMT4">
                  <p:embed/>
                </p:oleObj>
              </mc:Choice>
              <mc:Fallback>
                <p:oleObj name="Equation" r:id="rId12" imgW="723600" imgH="190440" progId="Equation.DSMT4">
                  <p:embed/>
                  <p:pic>
                    <p:nvPicPr>
                      <p:cNvPr id="27" name="Object 26">
                        <a:extLst>
                          <a:ext uri="{FF2B5EF4-FFF2-40B4-BE49-F238E27FC236}">
                            <a16:creationId xmlns:a16="http://schemas.microsoft.com/office/drawing/2014/main" id="{AE4DF613-6880-4EEC-ABE3-C7AAD2F2DF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506310" y="5050220"/>
                        <a:ext cx="7239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Object 69">
            <a:extLst>
              <a:ext uri="{FF2B5EF4-FFF2-40B4-BE49-F238E27FC236}">
                <a16:creationId xmlns:a16="http://schemas.microsoft.com/office/drawing/2014/main" id="{359D77AA-9219-461D-996D-06E577AF4C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8539485"/>
              </p:ext>
            </p:extLst>
          </p:nvPr>
        </p:nvGraphicFramePr>
        <p:xfrm>
          <a:off x="4495800" y="5399690"/>
          <a:ext cx="7366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24" name="Equation" r:id="rId14" imgW="736560" imgH="190440" progId="Equation.DSMT4">
                  <p:embed/>
                </p:oleObj>
              </mc:Choice>
              <mc:Fallback>
                <p:oleObj name="Equation" r:id="rId14" imgW="736560" imgH="190440" progId="Equation.DSMT4">
                  <p:embed/>
                  <p:pic>
                    <p:nvPicPr>
                      <p:cNvPr id="28" name="Object 27">
                        <a:extLst>
                          <a:ext uri="{FF2B5EF4-FFF2-40B4-BE49-F238E27FC236}">
                            <a16:creationId xmlns:a16="http://schemas.microsoft.com/office/drawing/2014/main" id="{67E2B222-A972-4F9B-83C1-2A9B7CCCF7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495800" y="5399690"/>
                        <a:ext cx="7366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" name="Object 70">
            <a:extLst>
              <a:ext uri="{FF2B5EF4-FFF2-40B4-BE49-F238E27FC236}">
                <a16:creationId xmlns:a16="http://schemas.microsoft.com/office/drawing/2014/main" id="{E26FE4E0-F025-4DDF-9937-38D2C0543C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9251220"/>
              </p:ext>
            </p:extLst>
          </p:nvPr>
        </p:nvGraphicFramePr>
        <p:xfrm>
          <a:off x="5791200" y="5050220"/>
          <a:ext cx="6477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25" name="Equation" r:id="rId16" imgW="647640" imgH="190440" progId="Equation.DSMT4">
                  <p:embed/>
                </p:oleObj>
              </mc:Choice>
              <mc:Fallback>
                <p:oleObj name="Equation" r:id="rId16" imgW="647640" imgH="190440" progId="Equation.DSMT4">
                  <p:embed/>
                  <p:pic>
                    <p:nvPicPr>
                      <p:cNvPr id="29" name="Object 28">
                        <a:extLst>
                          <a:ext uri="{FF2B5EF4-FFF2-40B4-BE49-F238E27FC236}">
                            <a16:creationId xmlns:a16="http://schemas.microsoft.com/office/drawing/2014/main" id="{6E437C06-7AC6-4A99-B010-8401739BAA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791200" y="5050220"/>
                        <a:ext cx="6477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" name="Object 71">
            <a:extLst>
              <a:ext uri="{FF2B5EF4-FFF2-40B4-BE49-F238E27FC236}">
                <a16:creationId xmlns:a16="http://schemas.microsoft.com/office/drawing/2014/main" id="{C9844514-AD66-4B2B-B588-A904D57897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5921800"/>
              </p:ext>
            </p:extLst>
          </p:nvPr>
        </p:nvGraphicFramePr>
        <p:xfrm>
          <a:off x="5791200" y="5399690"/>
          <a:ext cx="6604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26" name="Equation" r:id="rId18" imgW="660240" imgH="190440" progId="Equation.DSMT4">
                  <p:embed/>
                </p:oleObj>
              </mc:Choice>
              <mc:Fallback>
                <p:oleObj name="Equation" r:id="rId18" imgW="660240" imgH="190440" progId="Equation.DSMT4">
                  <p:embed/>
                  <p:pic>
                    <p:nvPicPr>
                      <p:cNvPr id="30" name="Object 29">
                        <a:extLst>
                          <a:ext uri="{FF2B5EF4-FFF2-40B4-BE49-F238E27FC236}">
                            <a16:creationId xmlns:a16="http://schemas.microsoft.com/office/drawing/2014/main" id="{90F37B65-3139-49FC-AE85-B42BE87816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791200" y="5399690"/>
                        <a:ext cx="6604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" name="Rectangle 72">
            <a:extLst>
              <a:ext uri="{FF2B5EF4-FFF2-40B4-BE49-F238E27FC236}">
                <a16:creationId xmlns:a16="http://schemas.microsoft.com/office/drawing/2014/main" id="{7F56D053-65E0-46A9-91A6-83345B2C106C}"/>
              </a:ext>
            </a:extLst>
          </p:cNvPr>
          <p:cNvSpPr/>
          <p:nvPr/>
        </p:nvSpPr>
        <p:spPr>
          <a:xfrm>
            <a:off x="3920360" y="5814850"/>
            <a:ext cx="177165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5.  Find                .   </a:t>
            </a:r>
            <a:endParaRPr lang="en-US" dirty="0"/>
          </a:p>
        </p:txBody>
      </p:sp>
      <p:graphicFrame>
        <p:nvGraphicFramePr>
          <p:cNvPr id="74" name="Object 73">
            <a:extLst>
              <a:ext uri="{FF2B5EF4-FFF2-40B4-BE49-F238E27FC236}">
                <a16:creationId xmlns:a16="http://schemas.microsoft.com/office/drawing/2014/main" id="{AD1981FF-A8EE-4483-BD10-96756F3B96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4775698"/>
              </p:ext>
            </p:extLst>
          </p:nvPr>
        </p:nvGraphicFramePr>
        <p:xfrm>
          <a:off x="4538500" y="5835870"/>
          <a:ext cx="6477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27" name="Equation" r:id="rId20" imgW="647640" imgH="228600" progId="Equation.DSMT4">
                  <p:embed/>
                </p:oleObj>
              </mc:Choice>
              <mc:Fallback>
                <p:oleObj name="Equation" r:id="rId20" imgW="647640" imgH="228600" progId="Equation.DSMT4">
                  <p:embed/>
                  <p:pic>
                    <p:nvPicPr>
                      <p:cNvPr id="32" name="Object 31">
                        <a:extLst>
                          <a:ext uri="{FF2B5EF4-FFF2-40B4-BE49-F238E27FC236}">
                            <a16:creationId xmlns:a16="http://schemas.microsoft.com/office/drawing/2014/main" id="{BF516494-3C80-4E2B-A0FC-B825C9E339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538500" y="5835870"/>
                        <a:ext cx="6477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Text Box 36">
            <a:extLst>
              <a:ext uri="{FF2B5EF4-FFF2-40B4-BE49-F238E27FC236}">
                <a16:creationId xmlns:a16="http://schemas.microsoft.com/office/drawing/2014/main" id="{1ACA27B4-7DA8-4D00-801E-8A3076F28F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8305800"/>
            <a:ext cx="2019300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           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  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                 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         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Text Box 36">
            <a:extLst>
              <a:ext uri="{FF2B5EF4-FFF2-40B4-BE49-F238E27FC236}">
                <a16:creationId xmlns:a16="http://schemas.microsoft.com/office/drawing/2014/main" id="{C6CD48ED-F760-4CFC-982D-F4AA6A9648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6324600"/>
            <a:ext cx="2019300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           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  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                 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         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7" name="Object 76">
            <a:extLst>
              <a:ext uri="{FF2B5EF4-FFF2-40B4-BE49-F238E27FC236}">
                <a16:creationId xmlns:a16="http://schemas.microsoft.com/office/drawing/2014/main" id="{EEC0C728-3948-41B1-9601-D66172DEA8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6826458"/>
              </p:ext>
            </p:extLst>
          </p:nvPr>
        </p:nvGraphicFramePr>
        <p:xfrm>
          <a:off x="4419600" y="6400800"/>
          <a:ext cx="12192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28" name="Equation" r:id="rId22" imgW="1218960" imgH="190440" progId="Equation.DSMT4">
                  <p:embed/>
                </p:oleObj>
              </mc:Choice>
              <mc:Fallback>
                <p:oleObj name="Equation" r:id="rId22" imgW="1218960" imgH="190440" progId="Equation.DSMT4">
                  <p:embed/>
                  <p:pic>
                    <p:nvPicPr>
                      <p:cNvPr id="35" name="Object 34">
                        <a:extLst>
                          <a:ext uri="{FF2B5EF4-FFF2-40B4-BE49-F238E27FC236}">
                            <a16:creationId xmlns:a16="http://schemas.microsoft.com/office/drawing/2014/main" id="{7D7303F1-DFB1-4753-B33A-01848EBAA9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4419600" y="6400800"/>
                        <a:ext cx="12192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" name="Object 77">
            <a:extLst>
              <a:ext uri="{FF2B5EF4-FFF2-40B4-BE49-F238E27FC236}">
                <a16:creationId xmlns:a16="http://schemas.microsoft.com/office/drawing/2014/main" id="{4B7AC774-8B79-4BC5-88B1-1D79EE9669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7428910"/>
              </p:ext>
            </p:extLst>
          </p:nvPr>
        </p:nvGraphicFramePr>
        <p:xfrm>
          <a:off x="4419600" y="6695090"/>
          <a:ext cx="12827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29" name="Equation" r:id="rId24" imgW="1282680" imgH="190440" progId="Equation.DSMT4">
                  <p:embed/>
                </p:oleObj>
              </mc:Choice>
              <mc:Fallback>
                <p:oleObj name="Equation" r:id="rId24" imgW="1282680" imgH="190440" progId="Equation.DSMT4">
                  <p:embed/>
                  <p:pic>
                    <p:nvPicPr>
                      <p:cNvPr id="36" name="Object 35">
                        <a:extLst>
                          <a:ext uri="{FF2B5EF4-FFF2-40B4-BE49-F238E27FC236}">
                            <a16:creationId xmlns:a16="http://schemas.microsoft.com/office/drawing/2014/main" id="{F7906EED-BA74-472A-A78A-EF7BE3B0BE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4419600" y="6695090"/>
                        <a:ext cx="12827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" name="Object 78">
            <a:extLst>
              <a:ext uri="{FF2B5EF4-FFF2-40B4-BE49-F238E27FC236}">
                <a16:creationId xmlns:a16="http://schemas.microsoft.com/office/drawing/2014/main" id="{C4C21236-6C97-429A-A0F2-DFD4A52343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2470078"/>
              </p:ext>
            </p:extLst>
          </p:nvPr>
        </p:nvGraphicFramePr>
        <p:xfrm>
          <a:off x="4419600" y="6989380"/>
          <a:ext cx="12319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30" name="Equation" r:id="rId26" imgW="1231560" imgH="190440" progId="Equation.DSMT4">
                  <p:embed/>
                </p:oleObj>
              </mc:Choice>
              <mc:Fallback>
                <p:oleObj name="Equation" r:id="rId26" imgW="1231560" imgH="190440" progId="Equation.DSMT4">
                  <p:embed/>
                  <p:pic>
                    <p:nvPicPr>
                      <p:cNvPr id="37" name="Object 36">
                        <a:extLst>
                          <a:ext uri="{FF2B5EF4-FFF2-40B4-BE49-F238E27FC236}">
                            <a16:creationId xmlns:a16="http://schemas.microsoft.com/office/drawing/2014/main" id="{8A4323AD-DAC1-4F6E-97C0-25AEF086B2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4419600" y="6989380"/>
                        <a:ext cx="12319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" name="Object 79">
            <a:extLst>
              <a:ext uri="{FF2B5EF4-FFF2-40B4-BE49-F238E27FC236}">
                <a16:creationId xmlns:a16="http://schemas.microsoft.com/office/drawing/2014/main" id="{A74A59CD-B0B9-44D0-B8C2-A04514533C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243759"/>
              </p:ext>
            </p:extLst>
          </p:nvPr>
        </p:nvGraphicFramePr>
        <p:xfrm>
          <a:off x="4419600" y="7270530"/>
          <a:ext cx="12700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31" name="Equation" r:id="rId28" imgW="1269720" imgH="190440" progId="Equation.DSMT4">
                  <p:embed/>
                </p:oleObj>
              </mc:Choice>
              <mc:Fallback>
                <p:oleObj name="Equation" r:id="rId28" imgW="1269720" imgH="190440" progId="Equation.DSMT4">
                  <p:embed/>
                  <p:pic>
                    <p:nvPicPr>
                      <p:cNvPr id="38" name="Object 37">
                        <a:extLst>
                          <a:ext uri="{FF2B5EF4-FFF2-40B4-BE49-F238E27FC236}">
                            <a16:creationId xmlns:a16="http://schemas.microsoft.com/office/drawing/2014/main" id="{AEED0B02-E385-4206-8996-5660D969E6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4419600" y="7270530"/>
                        <a:ext cx="12700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" name="Rectangle 80">
            <a:extLst>
              <a:ext uri="{FF2B5EF4-FFF2-40B4-BE49-F238E27FC236}">
                <a16:creationId xmlns:a16="http://schemas.microsoft.com/office/drawing/2014/main" id="{F191A3C0-B0A5-4124-BF03-8B92274757CA}"/>
              </a:ext>
            </a:extLst>
          </p:cNvPr>
          <p:cNvSpPr/>
          <p:nvPr/>
        </p:nvSpPr>
        <p:spPr>
          <a:xfrm>
            <a:off x="3920360" y="7675180"/>
            <a:ext cx="21336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6.  Find                 . </a:t>
            </a:r>
            <a:endParaRPr lang="en-US" dirty="0"/>
          </a:p>
        </p:txBody>
      </p:sp>
      <p:graphicFrame>
        <p:nvGraphicFramePr>
          <p:cNvPr id="82" name="Object 81">
            <a:extLst>
              <a:ext uri="{FF2B5EF4-FFF2-40B4-BE49-F238E27FC236}">
                <a16:creationId xmlns:a16="http://schemas.microsoft.com/office/drawing/2014/main" id="{0238921D-19EA-41FC-A484-078D678198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1998244"/>
              </p:ext>
            </p:extLst>
          </p:nvPr>
        </p:nvGraphicFramePr>
        <p:xfrm>
          <a:off x="3829050" y="4946650"/>
          <a:ext cx="1143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32" name="Equation" r:id="rId30" imgW="114120" imgH="164880" progId="Equation.DSMT4">
                  <p:embed/>
                </p:oleObj>
              </mc:Choice>
              <mc:Fallback>
                <p:oleObj name="Equation" r:id="rId30" imgW="114120" imgH="164880" progId="Equation.DSMT4">
                  <p:embed/>
                  <p:pic>
                    <p:nvPicPr>
                      <p:cNvPr id="40" name="Object 39">
                        <a:extLst>
                          <a:ext uri="{FF2B5EF4-FFF2-40B4-BE49-F238E27FC236}">
                            <a16:creationId xmlns:a16="http://schemas.microsoft.com/office/drawing/2014/main" id="{19BFE261-E85D-46FF-A483-220B2F4658A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3829050" y="4946650"/>
                        <a:ext cx="114300" cy="16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" name="Object 82">
            <a:extLst>
              <a:ext uri="{FF2B5EF4-FFF2-40B4-BE49-F238E27FC236}">
                <a16:creationId xmlns:a16="http://schemas.microsoft.com/office/drawing/2014/main" id="{72BE7551-9ED8-4E83-A169-17762EFE2F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6524145"/>
              </p:ext>
            </p:extLst>
          </p:nvPr>
        </p:nvGraphicFramePr>
        <p:xfrm>
          <a:off x="4529960" y="7675180"/>
          <a:ext cx="6731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33" name="Equation" r:id="rId32" imgW="672840" imgH="228600" progId="Equation.DSMT4">
                  <p:embed/>
                </p:oleObj>
              </mc:Choice>
              <mc:Fallback>
                <p:oleObj name="Equation" r:id="rId32" imgW="672840" imgH="228600" progId="Equation.DSMT4">
                  <p:embed/>
                  <p:pic>
                    <p:nvPicPr>
                      <p:cNvPr id="41" name="Object 40">
                        <a:extLst>
                          <a:ext uri="{FF2B5EF4-FFF2-40B4-BE49-F238E27FC236}">
                            <a16:creationId xmlns:a16="http://schemas.microsoft.com/office/drawing/2014/main" id="{51CBF5A3-1A33-4DC0-8C06-0AA8CE051F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4529960" y="7675180"/>
                        <a:ext cx="6731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" name="Object 83">
            <a:extLst>
              <a:ext uri="{FF2B5EF4-FFF2-40B4-BE49-F238E27FC236}">
                <a16:creationId xmlns:a16="http://schemas.microsoft.com/office/drawing/2014/main" id="{F1383D4C-04F4-4FCF-9C1C-F3D407032A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2609160"/>
              </p:ext>
            </p:extLst>
          </p:nvPr>
        </p:nvGraphicFramePr>
        <p:xfrm>
          <a:off x="4495800" y="8382000"/>
          <a:ext cx="7874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34" name="Equation" r:id="rId34" imgW="787320" imgH="190440" progId="Equation.DSMT4">
                  <p:embed/>
                </p:oleObj>
              </mc:Choice>
              <mc:Fallback>
                <p:oleObj name="Equation" r:id="rId34" imgW="787320" imgH="190440" progId="Equation.DSMT4">
                  <p:embed/>
                  <p:pic>
                    <p:nvPicPr>
                      <p:cNvPr id="42" name="Object 41">
                        <a:extLst>
                          <a:ext uri="{FF2B5EF4-FFF2-40B4-BE49-F238E27FC236}">
                            <a16:creationId xmlns:a16="http://schemas.microsoft.com/office/drawing/2014/main" id="{6B62AB4F-BDAE-4CC9-986E-E92B2AC4D5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4495800" y="8382000"/>
                        <a:ext cx="7874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" name="Object 84">
            <a:extLst>
              <a:ext uri="{FF2B5EF4-FFF2-40B4-BE49-F238E27FC236}">
                <a16:creationId xmlns:a16="http://schemas.microsoft.com/office/drawing/2014/main" id="{25907517-5F60-4FBF-B7A7-CB4E368F43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9381804"/>
              </p:ext>
            </p:extLst>
          </p:nvPr>
        </p:nvGraphicFramePr>
        <p:xfrm>
          <a:off x="4485290" y="8676290"/>
          <a:ext cx="8001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35" name="Equation" r:id="rId36" imgW="799920" imgH="190440" progId="Equation.DSMT4">
                  <p:embed/>
                </p:oleObj>
              </mc:Choice>
              <mc:Fallback>
                <p:oleObj name="Equation" r:id="rId36" imgW="799920" imgH="190440" progId="Equation.DSMT4">
                  <p:embed/>
                  <p:pic>
                    <p:nvPicPr>
                      <p:cNvPr id="43" name="Object 42">
                        <a:extLst>
                          <a:ext uri="{FF2B5EF4-FFF2-40B4-BE49-F238E27FC236}">
                            <a16:creationId xmlns:a16="http://schemas.microsoft.com/office/drawing/2014/main" id="{6C07D8AA-363E-4C55-BE18-4C1505DF3F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4485290" y="8676290"/>
                        <a:ext cx="8001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" name="Object 85">
            <a:extLst>
              <a:ext uri="{FF2B5EF4-FFF2-40B4-BE49-F238E27FC236}">
                <a16:creationId xmlns:a16="http://schemas.microsoft.com/office/drawing/2014/main" id="{BEE959A6-6EAE-4522-BBB2-3CC6702ADB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1558399"/>
              </p:ext>
            </p:extLst>
          </p:nvPr>
        </p:nvGraphicFramePr>
        <p:xfrm>
          <a:off x="4493170" y="8970580"/>
          <a:ext cx="7239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36" name="Equation" r:id="rId38" imgW="723600" imgH="190440" progId="Equation.DSMT4">
                  <p:embed/>
                </p:oleObj>
              </mc:Choice>
              <mc:Fallback>
                <p:oleObj name="Equation" r:id="rId38" imgW="723600" imgH="190440" progId="Equation.DSMT4">
                  <p:embed/>
                  <p:pic>
                    <p:nvPicPr>
                      <p:cNvPr id="44" name="Object 43">
                        <a:extLst>
                          <a:ext uri="{FF2B5EF4-FFF2-40B4-BE49-F238E27FC236}">
                            <a16:creationId xmlns:a16="http://schemas.microsoft.com/office/drawing/2014/main" id="{C20C7288-8881-4B37-A949-6C55EC7429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4493170" y="8970580"/>
                        <a:ext cx="7239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" name="Object 86">
            <a:extLst>
              <a:ext uri="{FF2B5EF4-FFF2-40B4-BE49-F238E27FC236}">
                <a16:creationId xmlns:a16="http://schemas.microsoft.com/office/drawing/2014/main" id="{9BED309D-4727-4AB4-9813-DDA8C9F47D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2052138"/>
              </p:ext>
            </p:extLst>
          </p:nvPr>
        </p:nvGraphicFramePr>
        <p:xfrm>
          <a:off x="4495800" y="9241220"/>
          <a:ext cx="7366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37" name="Equation" r:id="rId40" imgW="736560" imgH="190440" progId="Equation.DSMT4">
                  <p:embed/>
                </p:oleObj>
              </mc:Choice>
              <mc:Fallback>
                <p:oleObj name="Equation" r:id="rId40" imgW="736560" imgH="190440" progId="Equation.DSMT4">
                  <p:embed/>
                  <p:pic>
                    <p:nvPicPr>
                      <p:cNvPr id="45" name="Object 44">
                        <a:extLst>
                          <a:ext uri="{FF2B5EF4-FFF2-40B4-BE49-F238E27FC236}">
                            <a16:creationId xmlns:a16="http://schemas.microsoft.com/office/drawing/2014/main" id="{02CB8F3D-E7CF-479D-A5DC-B96350DED5A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4495800" y="9241220"/>
                        <a:ext cx="7366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12EAE036-F3BD-4817-9096-484C37417CAF}"/>
              </a:ext>
            </a:extLst>
          </p:cNvPr>
          <p:cNvCxnSpPr>
            <a:cxnSpLocks/>
          </p:cNvCxnSpPr>
          <p:nvPr/>
        </p:nvCxnSpPr>
        <p:spPr>
          <a:xfrm>
            <a:off x="3970806" y="3858490"/>
            <a:ext cx="3493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73BE9CDD-F20B-4A8C-998B-1ED2A8FC9259}"/>
              </a:ext>
            </a:extLst>
          </p:cNvPr>
          <p:cNvCxnSpPr>
            <a:cxnSpLocks/>
          </p:cNvCxnSpPr>
          <p:nvPr/>
        </p:nvCxnSpPr>
        <p:spPr>
          <a:xfrm>
            <a:off x="3954995" y="4495562"/>
            <a:ext cx="3493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8F3D20AD-969D-44B4-A63E-F02B8667A0E8}"/>
              </a:ext>
            </a:extLst>
          </p:cNvPr>
          <p:cNvCxnSpPr>
            <a:cxnSpLocks/>
          </p:cNvCxnSpPr>
          <p:nvPr/>
        </p:nvCxnSpPr>
        <p:spPr>
          <a:xfrm>
            <a:off x="3982705" y="5828705"/>
            <a:ext cx="3493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6B966518-32B6-4A2F-9436-6F6535AA8768}"/>
              </a:ext>
            </a:extLst>
          </p:cNvPr>
          <p:cNvCxnSpPr>
            <a:cxnSpLocks/>
          </p:cNvCxnSpPr>
          <p:nvPr/>
        </p:nvCxnSpPr>
        <p:spPr>
          <a:xfrm>
            <a:off x="3936522" y="7689035"/>
            <a:ext cx="3493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BA8B12FD-C89B-4181-8900-1F3A48C7B509}"/>
              </a:ext>
            </a:extLst>
          </p:cNvPr>
          <p:cNvCxnSpPr>
            <a:cxnSpLocks/>
          </p:cNvCxnSpPr>
          <p:nvPr/>
        </p:nvCxnSpPr>
        <p:spPr>
          <a:xfrm>
            <a:off x="458407" y="6445232"/>
            <a:ext cx="3493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3" name="Table 92">
            <a:extLst>
              <a:ext uri="{FF2B5EF4-FFF2-40B4-BE49-F238E27FC236}">
                <a16:creationId xmlns:a16="http://schemas.microsoft.com/office/drawing/2014/main" id="{E98D7DBB-F7E1-4188-9FFD-E9D1956C74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6254982"/>
              </p:ext>
            </p:extLst>
          </p:nvPr>
        </p:nvGraphicFramePr>
        <p:xfrm>
          <a:off x="3886200" y="488730"/>
          <a:ext cx="3581400" cy="1349502"/>
        </p:xfrm>
        <a:graphic>
          <a:graphicData uri="http://schemas.openxmlformats.org/drawingml/2006/table">
            <a:tbl>
              <a:tblPr/>
              <a:tblGrid>
                <a:gridCol w="358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  The data in the table below gives the engine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speed of a boat (in hundreds of revolutions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per minute, or RPMs) for several different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boat speeds (in knots). Using a cubic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equation to best fit the data, determine the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boat speed for an engine speed of 2500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RPMs.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4" name="Table 93">
            <a:extLst>
              <a:ext uri="{FF2B5EF4-FFF2-40B4-BE49-F238E27FC236}">
                <a16:creationId xmlns:a16="http://schemas.microsoft.com/office/drawing/2014/main" id="{DF6452C9-C63B-4065-A7E4-095A8DBAD6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4616937"/>
              </p:ext>
            </p:extLst>
          </p:nvPr>
        </p:nvGraphicFramePr>
        <p:xfrm>
          <a:off x="4191000" y="1905000"/>
          <a:ext cx="1597025" cy="1844040"/>
        </p:xfrm>
        <a:graphic>
          <a:graphicData uri="http://schemas.openxmlformats.org/drawingml/2006/table">
            <a:tbl>
              <a:tblPr firstRow="1" firstCol="1" bandRow="1"/>
              <a:tblGrid>
                <a:gridCol w="798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8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97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Engine Speed (RPMs)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Boat Speed (Knots)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7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5.59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7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6.88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7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7.63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7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8.04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7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8.29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7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9.4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5" name="Rectangle 94">
            <a:extLst>
              <a:ext uri="{FF2B5EF4-FFF2-40B4-BE49-F238E27FC236}">
                <a16:creationId xmlns:a16="http://schemas.microsoft.com/office/drawing/2014/main" id="{DB16DB43-DA4E-42B3-8543-5ECC24E8801E}"/>
              </a:ext>
            </a:extLst>
          </p:cNvPr>
          <p:cNvSpPr/>
          <p:nvPr/>
        </p:nvSpPr>
        <p:spPr>
          <a:xfrm>
            <a:off x="5867400" y="1905000"/>
            <a:ext cx="1219200" cy="9079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A.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10.72 knots</a:t>
            </a: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            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B.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11.16</a:t>
            </a: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knots  </a:t>
            </a: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        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C.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11.87</a:t>
            </a: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knots</a:t>
            </a: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         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D.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12.23</a:t>
            </a: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knots</a:t>
            </a: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7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>
            <a:extLst>
              <a:ext uri="{FF2B5EF4-FFF2-40B4-BE49-F238E27FC236}">
                <a16:creationId xmlns:a16="http://schemas.microsoft.com/office/drawing/2014/main" id="{0AAB8C99-A9DB-4824-9BFD-D209C406E0F1}"/>
              </a:ext>
            </a:extLst>
          </p:cNvPr>
          <p:cNvSpPr/>
          <p:nvPr/>
        </p:nvSpPr>
        <p:spPr>
          <a:xfrm>
            <a:off x="1219200" y="8153400"/>
            <a:ext cx="6096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332ABDA-55DE-4315-88DC-8B780DC7B353}"/>
              </a:ext>
            </a:extLst>
          </p:cNvPr>
          <p:cNvSpPr/>
          <p:nvPr/>
        </p:nvSpPr>
        <p:spPr>
          <a:xfrm>
            <a:off x="838200" y="838200"/>
            <a:ext cx="3048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E465D35-E743-474A-BE52-2755FFAE15CF}"/>
              </a:ext>
            </a:extLst>
          </p:cNvPr>
          <p:cNvSpPr/>
          <p:nvPr/>
        </p:nvSpPr>
        <p:spPr>
          <a:xfrm>
            <a:off x="990600" y="1371600"/>
            <a:ext cx="1524000" cy="685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C5C0A80C-39CA-4197-86AB-BC43113EFB0C}"/>
              </a:ext>
            </a:extLst>
          </p:cNvPr>
          <p:cNvSpPr/>
          <p:nvPr/>
        </p:nvSpPr>
        <p:spPr>
          <a:xfrm>
            <a:off x="425670" y="459830"/>
            <a:ext cx="3536730" cy="8156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7.  If                         and                       , find          </a:t>
            </a: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.                        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                 </a:t>
            </a: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            </a:t>
            </a:r>
            <a:endParaRPr lang="en-US" dirty="0"/>
          </a:p>
        </p:txBody>
      </p:sp>
      <p:graphicFrame>
        <p:nvGraphicFramePr>
          <p:cNvPr id="65" name="Object 64">
            <a:extLst>
              <a:ext uri="{FF2B5EF4-FFF2-40B4-BE49-F238E27FC236}">
                <a16:creationId xmlns:a16="http://schemas.microsoft.com/office/drawing/2014/main" id="{EFA7EBB9-8271-444D-A712-BCB2D878CC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0458565"/>
              </p:ext>
            </p:extLst>
          </p:nvPr>
        </p:nvGraphicFramePr>
        <p:xfrm>
          <a:off x="903890" y="488730"/>
          <a:ext cx="9652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65" name="Equation" r:id="rId4" imgW="965160" imgH="228600" progId="Equation.DSMT4">
                  <p:embed/>
                </p:oleObj>
              </mc:Choice>
              <mc:Fallback>
                <p:oleObj name="Equation" r:id="rId4" imgW="965160" imgH="22860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76B844AF-3CA4-45F2-BE5F-CA86D2C2E2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03890" y="488730"/>
                        <a:ext cx="9652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Object 65">
            <a:extLst>
              <a:ext uri="{FF2B5EF4-FFF2-40B4-BE49-F238E27FC236}">
                <a16:creationId xmlns:a16="http://schemas.microsoft.com/office/drawing/2014/main" id="{FFB454FC-4B70-45AA-B4B2-964BF86E8C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1975084"/>
              </p:ext>
            </p:extLst>
          </p:nvPr>
        </p:nvGraphicFramePr>
        <p:xfrm>
          <a:off x="2199290" y="478220"/>
          <a:ext cx="8763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66" name="Equation" r:id="rId6" imgW="876240" imgH="228600" progId="Equation.DSMT4">
                  <p:embed/>
                </p:oleObj>
              </mc:Choice>
              <mc:Fallback>
                <p:oleObj name="Equation" r:id="rId6" imgW="876240" imgH="228600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BAD433F2-2E4F-4555-B11E-CCDFD5C17C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199290" y="478220"/>
                        <a:ext cx="8763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Object 66">
            <a:extLst>
              <a:ext uri="{FF2B5EF4-FFF2-40B4-BE49-F238E27FC236}">
                <a16:creationId xmlns:a16="http://schemas.microsoft.com/office/drawing/2014/main" id="{B66DA5BE-5AE8-47E9-A90C-3AE3959F33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7377763"/>
              </p:ext>
            </p:extLst>
          </p:nvPr>
        </p:nvGraphicFramePr>
        <p:xfrm>
          <a:off x="685800" y="685800"/>
          <a:ext cx="533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67" name="Equation" r:id="rId8" imgW="533160" imgH="431640" progId="Equation.DSMT4">
                  <p:embed/>
                </p:oleObj>
              </mc:Choice>
              <mc:Fallback>
                <p:oleObj name="Equation" r:id="rId8" imgW="533160" imgH="431640" progId="Equation.DSMT4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AA0AED06-9B38-4C48-9661-B3D1AD4B14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85800" y="685800"/>
                        <a:ext cx="5334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id="{C6ADC856-1282-4DB3-825E-F81F496627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6196582"/>
              </p:ext>
            </p:extLst>
          </p:nvPr>
        </p:nvGraphicFramePr>
        <p:xfrm>
          <a:off x="3886200" y="467710"/>
          <a:ext cx="3497262" cy="630936"/>
        </p:xfrm>
        <a:graphic>
          <a:graphicData uri="http://schemas.openxmlformats.org/drawingml/2006/table">
            <a:tbl>
              <a:tblPr/>
              <a:tblGrid>
                <a:gridCol w="3497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11.  Which equation represents “</a:t>
                      </a:r>
                      <a:r>
                        <a:rPr lang="en-US" sz="1200" b="1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varies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   inversely with </a:t>
                      </a:r>
                      <a:r>
                        <a:rPr lang="en-US" sz="1200" b="1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squared and directly with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   </a:t>
                      </a:r>
                      <a:r>
                        <a:rPr lang="en-US" sz="1200" b="1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?”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9" name="Text Box 40">
            <a:extLst>
              <a:ext uri="{FF2B5EF4-FFF2-40B4-BE49-F238E27FC236}">
                <a16:creationId xmlns:a16="http://schemas.microsoft.com/office/drawing/2014/main" id="{62E4D35D-049B-47B7-BCE3-9D682EFE6F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1295400"/>
            <a:ext cx="2438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6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                         C.       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                         D.            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Text Box 40">
            <a:extLst>
              <a:ext uri="{FF2B5EF4-FFF2-40B4-BE49-F238E27FC236}">
                <a16:creationId xmlns:a16="http://schemas.microsoft.com/office/drawing/2014/main" id="{4FFFDAB4-8CD7-4F72-8C32-1849BD1DE3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020" y="1219200"/>
            <a:ext cx="22860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6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                        C.       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                         D.            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1" name="Object 70">
            <a:extLst>
              <a:ext uri="{FF2B5EF4-FFF2-40B4-BE49-F238E27FC236}">
                <a16:creationId xmlns:a16="http://schemas.microsoft.com/office/drawing/2014/main" id="{8D503ACE-7E65-44F6-BD6B-9E28EFB642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1929732"/>
              </p:ext>
            </p:extLst>
          </p:nvPr>
        </p:nvGraphicFramePr>
        <p:xfrm>
          <a:off x="990600" y="1219200"/>
          <a:ext cx="2413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68" name="Equation" r:id="rId10" imgW="241200" imgH="368280" progId="Equation.DSMT4">
                  <p:embed/>
                </p:oleObj>
              </mc:Choice>
              <mc:Fallback>
                <p:oleObj name="Equation" r:id="rId10" imgW="241200" imgH="368280" progId="Equation.DSMT4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9FA654E1-0EB5-4D25-867F-64F7EC4100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990600" y="1219200"/>
                        <a:ext cx="2413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" name="Object 71">
            <a:extLst>
              <a:ext uri="{FF2B5EF4-FFF2-40B4-BE49-F238E27FC236}">
                <a16:creationId xmlns:a16="http://schemas.microsoft.com/office/drawing/2014/main" id="{D321E188-4AA0-4A12-AF57-87B92B60E3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4692723"/>
              </p:ext>
            </p:extLst>
          </p:nvPr>
        </p:nvGraphicFramePr>
        <p:xfrm>
          <a:off x="1066800" y="1752600"/>
          <a:ext cx="1397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69" name="Equation" r:id="rId12" imgW="139680" imgH="368280" progId="Equation.DSMT4">
                  <p:embed/>
                </p:oleObj>
              </mc:Choice>
              <mc:Fallback>
                <p:oleObj name="Equation" r:id="rId12" imgW="139680" imgH="368280" progId="Equation.DSMT4">
                  <p:embed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959654D5-F4A4-4BEB-ABDD-29C3E2209F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066800" y="1752600"/>
                        <a:ext cx="1397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" name="Object 72">
            <a:extLst>
              <a:ext uri="{FF2B5EF4-FFF2-40B4-BE49-F238E27FC236}">
                <a16:creationId xmlns:a16="http://schemas.microsoft.com/office/drawing/2014/main" id="{972804BA-3FCB-4AAF-9B77-FA4C13FD83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4840260"/>
              </p:ext>
            </p:extLst>
          </p:nvPr>
        </p:nvGraphicFramePr>
        <p:xfrm>
          <a:off x="2209800" y="1219200"/>
          <a:ext cx="2413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70" name="Equation" r:id="rId14" imgW="241200" imgH="368280" progId="Equation.DSMT4">
                  <p:embed/>
                </p:oleObj>
              </mc:Choice>
              <mc:Fallback>
                <p:oleObj name="Equation" r:id="rId14" imgW="241200" imgH="368280" progId="Equation.DSMT4">
                  <p:embed/>
                  <p:pic>
                    <p:nvPicPr>
                      <p:cNvPr id="16" name="Object 15">
                        <a:extLst>
                          <a:ext uri="{FF2B5EF4-FFF2-40B4-BE49-F238E27FC236}">
                            <a16:creationId xmlns:a16="http://schemas.microsoft.com/office/drawing/2014/main" id="{C5076C79-8253-421F-BB08-27232B053F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209800" y="1219200"/>
                        <a:ext cx="2413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" name="Object 73">
            <a:extLst>
              <a:ext uri="{FF2B5EF4-FFF2-40B4-BE49-F238E27FC236}">
                <a16:creationId xmlns:a16="http://schemas.microsoft.com/office/drawing/2014/main" id="{4DC0D3FF-575A-464A-9D80-D3637AB1CC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978542"/>
              </p:ext>
            </p:extLst>
          </p:nvPr>
        </p:nvGraphicFramePr>
        <p:xfrm>
          <a:off x="2286000" y="1752600"/>
          <a:ext cx="1397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71" name="Equation" r:id="rId16" imgW="139680" imgH="368280" progId="Equation.DSMT4">
                  <p:embed/>
                </p:oleObj>
              </mc:Choice>
              <mc:Fallback>
                <p:oleObj name="Equation" r:id="rId16" imgW="139680" imgH="368280" progId="Equation.DSMT4">
                  <p:embed/>
                  <p:pic>
                    <p:nvPicPr>
                      <p:cNvPr id="17" name="Object 16">
                        <a:extLst>
                          <a:ext uri="{FF2B5EF4-FFF2-40B4-BE49-F238E27FC236}">
                            <a16:creationId xmlns:a16="http://schemas.microsoft.com/office/drawing/2014/main" id="{29B14B38-17B9-471F-A290-417C4B6C8D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286000" y="1752600"/>
                        <a:ext cx="1397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" name="Object 74">
            <a:extLst>
              <a:ext uri="{FF2B5EF4-FFF2-40B4-BE49-F238E27FC236}">
                <a16:creationId xmlns:a16="http://schemas.microsoft.com/office/drawing/2014/main" id="{42C17631-4AD2-4AC0-A7FB-7DCF971545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0452240"/>
              </p:ext>
            </p:extLst>
          </p:nvPr>
        </p:nvGraphicFramePr>
        <p:xfrm>
          <a:off x="4508940" y="1392620"/>
          <a:ext cx="5715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72" name="Equation" r:id="rId18" imgW="571320" imgH="241200" progId="Equation.DSMT4">
                  <p:embed/>
                </p:oleObj>
              </mc:Choice>
              <mc:Fallback>
                <p:oleObj name="Equation" r:id="rId18" imgW="571320" imgH="241200" progId="Equation.DSMT4">
                  <p:embed/>
                  <p:pic>
                    <p:nvPicPr>
                      <p:cNvPr id="18" name="Object 17">
                        <a:extLst>
                          <a:ext uri="{FF2B5EF4-FFF2-40B4-BE49-F238E27FC236}">
                            <a16:creationId xmlns:a16="http://schemas.microsoft.com/office/drawing/2014/main" id="{F13993CE-68CF-4A9B-AF28-96D2EE2D8A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508940" y="1392620"/>
                        <a:ext cx="5715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" name="Object 75">
            <a:extLst>
              <a:ext uri="{FF2B5EF4-FFF2-40B4-BE49-F238E27FC236}">
                <a16:creationId xmlns:a16="http://schemas.microsoft.com/office/drawing/2014/main" id="{0E336E9B-0C70-4665-978D-F505AF229C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1545772"/>
              </p:ext>
            </p:extLst>
          </p:nvPr>
        </p:nvGraphicFramePr>
        <p:xfrm>
          <a:off x="4485290" y="1794640"/>
          <a:ext cx="419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73" name="Equation" r:id="rId20" imgW="419040" imgH="406080" progId="Equation.DSMT4">
                  <p:embed/>
                </p:oleObj>
              </mc:Choice>
              <mc:Fallback>
                <p:oleObj name="Equation" r:id="rId20" imgW="419040" imgH="406080" progId="Equation.DSMT4">
                  <p:embed/>
                  <p:pic>
                    <p:nvPicPr>
                      <p:cNvPr id="19" name="Object 18">
                        <a:extLst>
                          <a:ext uri="{FF2B5EF4-FFF2-40B4-BE49-F238E27FC236}">
                            <a16:creationId xmlns:a16="http://schemas.microsoft.com/office/drawing/2014/main" id="{C245C618-2A4B-40EA-8D4A-27304CEF63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485290" y="1794640"/>
                        <a:ext cx="4191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" name="Object 76">
            <a:extLst>
              <a:ext uri="{FF2B5EF4-FFF2-40B4-BE49-F238E27FC236}">
                <a16:creationId xmlns:a16="http://schemas.microsoft.com/office/drawing/2014/main" id="{F96447ED-80FE-441F-9974-A9AA7C334D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301125"/>
              </p:ext>
            </p:extLst>
          </p:nvPr>
        </p:nvGraphicFramePr>
        <p:xfrm>
          <a:off x="5725510" y="1305910"/>
          <a:ext cx="469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74" name="Equation" r:id="rId22" imgW="469800" imgH="380880" progId="Equation.DSMT4">
                  <p:embed/>
                </p:oleObj>
              </mc:Choice>
              <mc:Fallback>
                <p:oleObj name="Equation" r:id="rId22" imgW="469800" imgH="380880" progId="Equation.DSMT4">
                  <p:embed/>
                  <p:pic>
                    <p:nvPicPr>
                      <p:cNvPr id="20" name="Object 19">
                        <a:extLst>
                          <a:ext uri="{FF2B5EF4-FFF2-40B4-BE49-F238E27FC236}">
                            <a16:creationId xmlns:a16="http://schemas.microsoft.com/office/drawing/2014/main" id="{4EDF1DBC-0E07-403D-91B8-526A188DE8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5725510" y="1305910"/>
                        <a:ext cx="4699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" name="Object 77">
            <a:extLst>
              <a:ext uri="{FF2B5EF4-FFF2-40B4-BE49-F238E27FC236}">
                <a16:creationId xmlns:a16="http://schemas.microsoft.com/office/drawing/2014/main" id="{027D2ECB-E60D-4322-9FCC-88220C2B04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7830148"/>
              </p:ext>
            </p:extLst>
          </p:nvPr>
        </p:nvGraphicFramePr>
        <p:xfrm>
          <a:off x="5715000" y="1786760"/>
          <a:ext cx="469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75" name="Equation" r:id="rId24" imgW="469800" imgH="406080" progId="Equation.DSMT4">
                  <p:embed/>
                </p:oleObj>
              </mc:Choice>
              <mc:Fallback>
                <p:oleObj name="Equation" r:id="rId24" imgW="469800" imgH="406080" progId="Equation.DSMT4">
                  <p:embed/>
                  <p:pic>
                    <p:nvPicPr>
                      <p:cNvPr id="21" name="Object 20">
                        <a:extLst>
                          <a:ext uri="{FF2B5EF4-FFF2-40B4-BE49-F238E27FC236}">
                            <a16:creationId xmlns:a16="http://schemas.microsoft.com/office/drawing/2014/main" id="{9E413C17-1CF3-42C6-9581-B243112FAB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5715000" y="1786760"/>
                        <a:ext cx="4699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" name="Rectangle 78">
            <a:extLst>
              <a:ext uri="{FF2B5EF4-FFF2-40B4-BE49-F238E27FC236}">
                <a16:creationId xmlns:a16="http://schemas.microsoft.com/office/drawing/2014/main" id="{57182C0C-491C-4C4E-8F3A-D55892E182BC}"/>
              </a:ext>
            </a:extLst>
          </p:cNvPr>
          <p:cNvSpPr/>
          <p:nvPr/>
        </p:nvSpPr>
        <p:spPr>
          <a:xfrm>
            <a:off x="436180" y="2212430"/>
            <a:ext cx="2971800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buAutoNum type="arabicPeriod" startAt="8"/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If                        and                   find   </a:t>
            </a: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                                                        </a:t>
            </a: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80" name="Object 79">
            <a:extLst>
              <a:ext uri="{FF2B5EF4-FFF2-40B4-BE49-F238E27FC236}">
                <a16:creationId xmlns:a16="http://schemas.microsoft.com/office/drawing/2014/main" id="{5AEBADE2-438E-4F01-8D82-339C4F9F57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645874"/>
              </p:ext>
            </p:extLst>
          </p:nvPr>
        </p:nvGraphicFramePr>
        <p:xfrm>
          <a:off x="3429000" y="4933950"/>
          <a:ext cx="9144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76" name="Equation" r:id="rId26" imgW="914400" imgH="190080" progId="Equation.DSMT4">
                  <p:embed/>
                </p:oleObj>
              </mc:Choice>
              <mc:Fallback>
                <p:oleObj name="Equation" r:id="rId26" imgW="914400" imgH="190080" progId="Equation.DSMT4">
                  <p:embed/>
                  <p:pic>
                    <p:nvPicPr>
                      <p:cNvPr id="23" name="Object 22">
                        <a:extLst>
                          <a:ext uri="{FF2B5EF4-FFF2-40B4-BE49-F238E27FC236}">
                            <a16:creationId xmlns:a16="http://schemas.microsoft.com/office/drawing/2014/main" id="{675F2C34-1DE8-455A-9D4C-AABB40C8D2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3429000" y="4933950"/>
                        <a:ext cx="9144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" name="Object 80">
            <a:extLst>
              <a:ext uri="{FF2B5EF4-FFF2-40B4-BE49-F238E27FC236}">
                <a16:creationId xmlns:a16="http://schemas.microsoft.com/office/drawing/2014/main" id="{DF63135C-8857-44E5-A90E-1CAB09C7A8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9744131"/>
              </p:ext>
            </p:extLst>
          </p:nvPr>
        </p:nvGraphicFramePr>
        <p:xfrm>
          <a:off x="882870" y="2246590"/>
          <a:ext cx="9779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77" name="Equation" r:id="rId28" imgW="977760" imgH="228600" progId="Equation.DSMT4">
                  <p:embed/>
                </p:oleObj>
              </mc:Choice>
              <mc:Fallback>
                <p:oleObj name="Equation" r:id="rId28" imgW="977760" imgH="228600" progId="Equation.DSMT4">
                  <p:embed/>
                  <p:pic>
                    <p:nvPicPr>
                      <p:cNvPr id="24" name="Object 23">
                        <a:extLst>
                          <a:ext uri="{FF2B5EF4-FFF2-40B4-BE49-F238E27FC236}">
                            <a16:creationId xmlns:a16="http://schemas.microsoft.com/office/drawing/2014/main" id="{3F430FF9-80A0-405B-B9DE-EDA5DEEEF3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882870" y="2246590"/>
                        <a:ext cx="9779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" name="Object 81">
            <a:extLst>
              <a:ext uri="{FF2B5EF4-FFF2-40B4-BE49-F238E27FC236}">
                <a16:creationId xmlns:a16="http://schemas.microsoft.com/office/drawing/2014/main" id="{311F00A7-3F40-410B-BBC2-D7BB301933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157799"/>
              </p:ext>
            </p:extLst>
          </p:nvPr>
        </p:nvGraphicFramePr>
        <p:xfrm>
          <a:off x="2167760" y="2243960"/>
          <a:ext cx="7239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78" name="Equation" r:id="rId30" imgW="723600" imgH="228600" progId="Equation.DSMT4">
                  <p:embed/>
                </p:oleObj>
              </mc:Choice>
              <mc:Fallback>
                <p:oleObj name="Equation" r:id="rId30" imgW="723600" imgH="228600" progId="Equation.DSMT4">
                  <p:embed/>
                  <p:pic>
                    <p:nvPicPr>
                      <p:cNvPr id="25" name="Object 24">
                        <a:extLst>
                          <a:ext uri="{FF2B5EF4-FFF2-40B4-BE49-F238E27FC236}">
                            <a16:creationId xmlns:a16="http://schemas.microsoft.com/office/drawing/2014/main" id="{2A3519F2-15A1-40F1-964E-B87765ABF3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2167760" y="2243960"/>
                        <a:ext cx="7239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" name="Object 82">
            <a:extLst>
              <a:ext uri="{FF2B5EF4-FFF2-40B4-BE49-F238E27FC236}">
                <a16:creationId xmlns:a16="http://schemas.microsoft.com/office/drawing/2014/main" id="{9CD47A95-D6D6-4971-B78C-F3D1BC5442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685807"/>
              </p:ext>
            </p:extLst>
          </p:nvPr>
        </p:nvGraphicFramePr>
        <p:xfrm>
          <a:off x="740980" y="2441030"/>
          <a:ext cx="6731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79" name="Equation" r:id="rId32" imgW="672840" imgH="253800" progId="Equation.DSMT4">
                  <p:embed/>
                </p:oleObj>
              </mc:Choice>
              <mc:Fallback>
                <p:oleObj name="Equation" r:id="rId32" imgW="672840" imgH="253800" progId="Equation.DSMT4">
                  <p:embed/>
                  <p:pic>
                    <p:nvPicPr>
                      <p:cNvPr id="26" name="Object 25">
                        <a:extLst>
                          <a:ext uri="{FF2B5EF4-FFF2-40B4-BE49-F238E27FC236}">
                            <a16:creationId xmlns:a16="http://schemas.microsoft.com/office/drawing/2014/main" id="{4DEEA984-0CC3-4586-917A-9F0793433E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740980" y="2441030"/>
                        <a:ext cx="6731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" name="Text Box 42">
            <a:extLst>
              <a:ext uri="{FF2B5EF4-FFF2-40B4-BE49-F238E27FC236}">
                <a16:creationId xmlns:a16="http://schemas.microsoft.com/office/drawing/2014/main" id="{EA17767D-08CF-43F4-8AF3-79A84CD98C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895600"/>
            <a:ext cx="735330" cy="1132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-72</a:t>
            </a: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-48</a:t>
            </a: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48</a:t>
            </a: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5" name="Table 84">
            <a:extLst>
              <a:ext uri="{FF2B5EF4-FFF2-40B4-BE49-F238E27FC236}">
                <a16:creationId xmlns:a16="http://schemas.microsoft.com/office/drawing/2014/main" id="{CFF6CA0F-4B1F-4460-8B10-A51A7D35D2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8281579"/>
              </p:ext>
            </p:extLst>
          </p:nvPr>
        </p:nvGraphicFramePr>
        <p:xfrm>
          <a:off x="3873060" y="2220310"/>
          <a:ext cx="3657600" cy="630936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12.  If </a:t>
                      </a:r>
                      <a:r>
                        <a:rPr lang="en-US" sz="1200" b="1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varies jointly with </a:t>
                      </a:r>
                      <a:r>
                        <a:rPr lang="en-US" sz="1200" b="1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and </a:t>
                      </a:r>
                      <a:r>
                        <a:rPr lang="en-US" sz="1200" b="1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what is the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  constant of proportionality when </a:t>
                      </a:r>
                      <a:r>
                        <a:rPr lang="en-US" sz="1200" b="1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= 32,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  </a:t>
                      </a:r>
                      <a:r>
                        <a:rPr lang="en-US" sz="1200" b="1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= 3, and </a:t>
                      </a:r>
                      <a:r>
                        <a:rPr lang="en-US" sz="1200" b="1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= 8?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6" name="Text Box 53">
            <a:extLst>
              <a:ext uri="{FF2B5EF4-FFF2-40B4-BE49-F238E27FC236}">
                <a16:creationId xmlns:a16="http://schemas.microsoft.com/office/drawing/2014/main" id="{1EDD9463-06DF-413B-9CEA-88EACDD570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3048000"/>
            <a:ext cx="1976755" cy="87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6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                          C.        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                          D.      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7" name="Object 86">
            <a:extLst>
              <a:ext uri="{FF2B5EF4-FFF2-40B4-BE49-F238E27FC236}">
                <a16:creationId xmlns:a16="http://schemas.microsoft.com/office/drawing/2014/main" id="{219735D4-AA0B-4776-BBDA-12B2859AAA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6437057"/>
              </p:ext>
            </p:extLst>
          </p:nvPr>
        </p:nvGraphicFramePr>
        <p:xfrm>
          <a:off x="4540470" y="3158360"/>
          <a:ext cx="1270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80" name="Equation" r:id="rId34" imgW="126720" imgH="177480" progId="Equation.DSMT4">
                  <p:embed/>
                </p:oleObj>
              </mc:Choice>
              <mc:Fallback>
                <p:oleObj name="Equation" r:id="rId34" imgW="126720" imgH="177480" progId="Equation.DSMT4">
                  <p:embed/>
                  <p:pic>
                    <p:nvPicPr>
                      <p:cNvPr id="30" name="Object 29">
                        <a:extLst>
                          <a:ext uri="{FF2B5EF4-FFF2-40B4-BE49-F238E27FC236}">
                            <a16:creationId xmlns:a16="http://schemas.microsoft.com/office/drawing/2014/main" id="{2D67C736-B0F0-4205-B01E-2869C933FC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4540470" y="3158360"/>
                        <a:ext cx="1270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" name="Object 87">
            <a:extLst>
              <a:ext uri="{FF2B5EF4-FFF2-40B4-BE49-F238E27FC236}">
                <a16:creationId xmlns:a16="http://schemas.microsoft.com/office/drawing/2014/main" id="{84B34716-F9CA-4088-8114-D259A3A769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4069521"/>
              </p:ext>
            </p:extLst>
          </p:nvPr>
        </p:nvGraphicFramePr>
        <p:xfrm>
          <a:off x="5780690" y="3158360"/>
          <a:ext cx="2667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81" name="Equation" r:id="rId36" imgW="266400" imgH="177480" progId="Equation.DSMT4">
                  <p:embed/>
                </p:oleObj>
              </mc:Choice>
              <mc:Fallback>
                <p:oleObj name="Equation" r:id="rId36" imgW="266400" imgH="177480" progId="Equation.DSMT4">
                  <p:embed/>
                  <p:pic>
                    <p:nvPicPr>
                      <p:cNvPr id="31" name="Object 30">
                        <a:extLst>
                          <a:ext uri="{FF2B5EF4-FFF2-40B4-BE49-F238E27FC236}">
                            <a16:creationId xmlns:a16="http://schemas.microsoft.com/office/drawing/2014/main" id="{91E46B7F-65C5-4323-8312-0AEFA3947C0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5780690" y="3158360"/>
                        <a:ext cx="2667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" name="Object 88">
            <a:extLst>
              <a:ext uri="{FF2B5EF4-FFF2-40B4-BE49-F238E27FC236}">
                <a16:creationId xmlns:a16="http://schemas.microsoft.com/office/drawing/2014/main" id="{C505C1D3-9625-465E-8CD3-F6269D543E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8936567"/>
              </p:ext>
            </p:extLst>
          </p:nvPr>
        </p:nvGraphicFramePr>
        <p:xfrm>
          <a:off x="4561490" y="3539360"/>
          <a:ext cx="1524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82" name="Equation" r:id="rId38" imgW="152280" imgH="368280" progId="Equation.DSMT4">
                  <p:embed/>
                </p:oleObj>
              </mc:Choice>
              <mc:Fallback>
                <p:oleObj name="Equation" r:id="rId38" imgW="152280" imgH="368280" progId="Equation.DSMT4">
                  <p:embed/>
                  <p:pic>
                    <p:nvPicPr>
                      <p:cNvPr id="32" name="Object 31">
                        <a:extLst>
                          <a:ext uri="{FF2B5EF4-FFF2-40B4-BE49-F238E27FC236}">
                            <a16:creationId xmlns:a16="http://schemas.microsoft.com/office/drawing/2014/main" id="{F5947FAC-8E84-4FF2-9E46-A695581699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4561490" y="3539360"/>
                        <a:ext cx="1524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" name="Object 89">
            <a:extLst>
              <a:ext uri="{FF2B5EF4-FFF2-40B4-BE49-F238E27FC236}">
                <a16:creationId xmlns:a16="http://schemas.microsoft.com/office/drawing/2014/main" id="{A0EA1CF9-BC02-40C6-A17A-2C79818FAB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56322"/>
              </p:ext>
            </p:extLst>
          </p:nvPr>
        </p:nvGraphicFramePr>
        <p:xfrm>
          <a:off x="5791200" y="3549870"/>
          <a:ext cx="1524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83" name="Equation" r:id="rId40" imgW="152280" imgH="368280" progId="Equation.DSMT4">
                  <p:embed/>
                </p:oleObj>
              </mc:Choice>
              <mc:Fallback>
                <p:oleObj name="Equation" r:id="rId40" imgW="152280" imgH="368280" progId="Equation.DSMT4">
                  <p:embed/>
                  <p:pic>
                    <p:nvPicPr>
                      <p:cNvPr id="33" name="Object 32">
                        <a:extLst>
                          <a:ext uri="{FF2B5EF4-FFF2-40B4-BE49-F238E27FC236}">
                            <a16:creationId xmlns:a16="http://schemas.microsoft.com/office/drawing/2014/main" id="{A00C364C-24A7-4AEA-A9FB-D1B3AEE892B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5791200" y="3549870"/>
                        <a:ext cx="1524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" name="Table 90">
            <a:extLst>
              <a:ext uri="{FF2B5EF4-FFF2-40B4-BE49-F238E27FC236}">
                <a16:creationId xmlns:a16="http://schemas.microsoft.com/office/drawing/2014/main" id="{6A11718E-D7FD-49F5-BD9E-F2BCCF392E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2138987"/>
              </p:ext>
            </p:extLst>
          </p:nvPr>
        </p:nvGraphicFramePr>
        <p:xfrm>
          <a:off x="402020" y="4062250"/>
          <a:ext cx="3344862" cy="385572"/>
        </p:xfrm>
        <a:graphic>
          <a:graphicData uri="http://schemas.openxmlformats.org/drawingml/2006/table">
            <a:tbl>
              <a:tblPr/>
              <a:tblGrid>
                <a:gridCol w="3344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  Which graph shows the inverse of the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function                      ?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2" name="Object 91">
            <a:extLst>
              <a:ext uri="{FF2B5EF4-FFF2-40B4-BE49-F238E27FC236}">
                <a16:creationId xmlns:a16="http://schemas.microsoft.com/office/drawing/2014/main" id="{BC83A450-F7A2-49F5-8984-2919615DA5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6196699"/>
              </p:ext>
            </p:extLst>
          </p:nvPr>
        </p:nvGraphicFramePr>
        <p:xfrm>
          <a:off x="1316420" y="4246180"/>
          <a:ext cx="9017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84" name="Equation" r:id="rId42" imgW="901440" imgH="228600" progId="Equation.DSMT4">
                  <p:embed/>
                </p:oleObj>
              </mc:Choice>
              <mc:Fallback>
                <p:oleObj name="Equation" r:id="rId42" imgW="901440" imgH="228600" progId="Equation.DSMT4">
                  <p:embed/>
                  <p:pic>
                    <p:nvPicPr>
                      <p:cNvPr id="35" name="Object 34">
                        <a:extLst>
                          <a:ext uri="{FF2B5EF4-FFF2-40B4-BE49-F238E27FC236}">
                            <a16:creationId xmlns:a16="http://schemas.microsoft.com/office/drawing/2014/main" id="{3E21F067-021D-441D-9A3E-2871AB497C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1316420" y="4246180"/>
                        <a:ext cx="9017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" name="Table 92">
            <a:extLst>
              <a:ext uri="{FF2B5EF4-FFF2-40B4-BE49-F238E27FC236}">
                <a16:creationId xmlns:a16="http://schemas.microsoft.com/office/drawing/2014/main" id="{84B8417F-49C2-421A-9847-8D3C370A13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3586099"/>
              </p:ext>
            </p:extLst>
          </p:nvPr>
        </p:nvGraphicFramePr>
        <p:xfrm>
          <a:off x="3891450" y="4030720"/>
          <a:ext cx="3649661" cy="823722"/>
        </p:xfrm>
        <a:graphic>
          <a:graphicData uri="http://schemas.openxmlformats.org/drawingml/2006/table">
            <a:tbl>
              <a:tblPr/>
              <a:tblGrid>
                <a:gridCol w="36496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13. If </a:t>
                      </a:r>
                      <a:r>
                        <a:rPr lang="en-US" sz="1200" b="1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varies directly as the square root of </a:t>
                      </a:r>
                      <a:r>
                        <a:rPr lang="en-US" sz="1200" b="1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  and inversely as </a:t>
                      </a:r>
                      <a:r>
                        <a:rPr lang="en-US" sz="1200" b="1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cubed, and </a:t>
                      </a:r>
                      <a:r>
                        <a:rPr lang="en-US" sz="1200" b="1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= 2.5 when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  </a:t>
                      </a:r>
                      <a:r>
                        <a:rPr lang="en-US" sz="1200" b="1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 </a:t>
                      </a: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= 16 and </a:t>
                      </a:r>
                      <a:r>
                        <a:rPr lang="en-US" sz="1200" b="1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z </a:t>
                      </a: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= 2, find </a:t>
                      </a:r>
                      <a:r>
                        <a:rPr lang="en-US" sz="1200" b="1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when </a:t>
                      </a:r>
                      <a:r>
                        <a:rPr lang="en-US" sz="1200" b="1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is 64 and </a:t>
                      </a:r>
                      <a:r>
                        <a:rPr lang="en-US" sz="1200" b="1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  is 0.625.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4" name="Text Box 56">
            <a:extLst>
              <a:ext uri="{FF2B5EF4-FFF2-40B4-BE49-F238E27FC236}">
                <a16:creationId xmlns:a16="http://schemas.microsoft.com/office/drawing/2014/main" id="{7C911669-2B06-4D3C-BFAD-2A66306388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5334000"/>
            <a:ext cx="1128395" cy="1132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 </a:t>
            </a:r>
            <a:r>
              <a:rPr lang="en-US" sz="11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b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 </a:t>
            </a:r>
            <a:r>
              <a:rPr lang="en-US" sz="11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br>
              <a:rPr lang="en-US" sz="11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 </a:t>
            </a:r>
            <a:r>
              <a:rPr lang="en-US" sz="11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b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 </a:t>
            </a:r>
            <a:r>
              <a:rPr lang="en-US" sz="11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64</a:t>
            </a:r>
            <a: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sz="11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b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10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F88BEBC5-E49D-45A5-8A73-4D0E0E1D33E1}"/>
              </a:ext>
            </a:extLst>
          </p:cNvPr>
          <p:cNvSpPr/>
          <p:nvPr/>
        </p:nvSpPr>
        <p:spPr>
          <a:xfrm>
            <a:off x="3909848" y="6597870"/>
            <a:ext cx="3568262" cy="12772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14.  The volume of a gas varies directly with its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        temperature and inversely with its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        pressure.  When the temperature is 125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        Kelvin and the pressure is 15 lb/cm</a:t>
            </a:r>
            <a:r>
              <a:rPr lang="en-US" sz="1100" b="1" baseline="30000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2</a:t>
            </a: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, the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        volume is 100 m</a:t>
            </a:r>
            <a:r>
              <a:rPr lang="en-US" sz="1100" b="1" baseline="30000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3</a:t>
            </a: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. What is the volume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        when the temperature is 275 Kelvin and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        the pressure is 25 lb/cm</a:t>
            </a:r>
            <a:r>
              <a:rPr lang="en-US" sz="1100" b="1" baseline="30000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2</a:t>
            </a: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?</a:t>
            </a:r>
            <a:endParaRPr lang="en-US" dirty="0"/>
          </a:p>
        </p:txBody>
      </p:sp>
      <p:sp>
        <p:nvSpPr>
          <p:cNvPr id="96" name="Text Box 61">
            <a:extLst>
              <a:ext uri="{FF2B5EF4-FFF2-40B4-BE49-F238E27FC236}">
                <a16:creationId xmlns:a16="http://schemas.microsoft.com/office/drawing/2014/main" id="{81633AED-28AE-43E0-8CF4-C946BEAA62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8458200"/>
            <a:ext cx="1128395" cy="1070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 </a:t>
            </a:r>
            <a:r>
              <a:rPr lang="en-US" sz="11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118 m</a:t>
            </a:r>
            <a:r>
              <a:rPr lang="en-US" sz="1100" baseline="300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b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 </a:t>
            </a:r>
            <a:r>
              <a:rPr lang="en-US" sz="11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125 m</a:t>
            </a:r>
            <a:r>
              <a:rPr lang="en-US" sz="1100" baseline="300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br>
              <a:rPr lang="en-US" sz="11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 </a:t>
            </a:r>
            <a:r>
              <a:rPr lang="en-US" sz="11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132 m</a:t>
            </a:r>
            <a:r>
              <a:rPr lang="en-US" sz="1100" baseline="300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b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 </a:t>
            </a:r>
            <a:r>
              <a:rPr lang="en-US" sz="11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148 m</a:t>
            </a:r>
            <a:r>
              <a:rPr lang="en-US" sz="1100" baseline="300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sz="11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b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10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7" name="Picture 96">
            <a:extLst>
              <a:ext uri="{FF2B5EF4-FFF2-40B4-BE49-F238E27FC236}">
                <a16:creationId xmlns:a16="http://schemas.microsoft.com/office/drawing/2014/main" id="{33653FD5-6BDD-4019-B3B4-AF69A410731B}"/>
              </a:ext>
            </a:extLst>
          </p:cNvPr>
          <p:cNvPicPr/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4724400"/>
            <a:ext cx="1521460" cy="1521460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22E331E0-11B8-42B1-8318-0A7771347BCC}"/>
              </a:ext>
            </a:extLst>
          </p:cNvPr>
          <p:cNvPicPr/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4724400"/>
            <a:ext cx="1521460" cy="1521460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0F64E6D7-3D15-4D06-8F94-F6ECFAC6B1E3}"/>
              </a:ext>
            </a:extLst>
          </p:cNvPr>
          <p:cNvPicPr/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6293070"/>
            <a:ext cx="1521460" cy="1521460"/>
          </a:xfrm>
          <a:prstGeom prst="rect">
            <a:avLst/>
          </a:prstGeom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98C94F6B-4B42-478E-B1EB-2568D7315A65}"/>
              </a:ext>
            </a:extLst>
          </p:cNvPr>
          <p:cNvPicPr/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6282560"/>
            <a:ext cx="1521460" cy="1521460"/>
          </a:xfrm>
          <a:prstGeom prst="rect">
            <a:avLst/>
          </a:prstGeom>
        </p:spPr>
      </p:pic>
      <p:sp>
        <p:nvSpPr>
          <p:cNvPr id="101" name="Rectangle 100">
            <a:extLst>
              <a:ext uri="{FF2B5EF4-FFF2-40B4-BE49-F238E27FC236}">
                <a16:creationId xmlns:a16="http://schemas.microsoft.com/office/drawing/2014/main" id="{64C322A7-BCD4-41C0-ABB8-17D7A9E183AE}"/>
              </a:ext>
            </a:extLst>
          </p:cNvPr>
          <p:cNvSpPr/>
          <p:nvPr/>
        </p:nvSpPr>
        <p:spPr>
          <a:xfrm>
            <a:off x="457200" y="4648200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A.</a:t>
            </a:r>
            <a:endParaRPr lang="en-US" dirty="0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8D5B1059-E17B-41BC-B933-76BDED90737B}"/>
              </a:ext>
            </a:extLst>
          </p:cNvPr>
          <p:cNvSpPr/>
          <p:nvPr/>
        </p:nvSpPr>
        <p:spPr>
          <a:xfrm>
            <a:off x="2209800" y="4648200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B.</a:t>
            </a:r>
            <a:endParaRPr lang="en-US" dirty="0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9470D1DF-CF8E-4146-9445-697DDC878CC3}"/>
              </a:ext>
            </a:extLst>
          </p:cNvPr>
          <p:cNvSpPr/>
          <p:nvPr/>
        </p:nvSpPr>
        <p:spPr>
          <a:xfrm>
            <a:off x="457200" y="6248400"/>
            <a:ext cx="32412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C.</a:t>
            </a:r>
            <a:endParaRPr lang="en-US" dirty="0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E6099293-FE5C-46D3-A1E6-82FDFEA0DD06}"/>
              </a:ext>
            </a:extLst>
          </p:cNvPr>
          <p:cNvSpPr/>
          <p:nvPr/>
        </p:nvSpPr>
        <p:spPr>
          <a:xfrm>
            <a:off x="2209800" y="6248400"/>
            <a:ext cx="33695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D.</a:t>
            </a:r>
            <a:endParaRPr lang="en-US" dirty="0"/>
          </a:p>
        </p:txBody>
      </p:sp>
      <p:graphicFrame>
        <p:nvGraphicFramePr>
          <p:cNvPr id="105" name="Table 104">
            <a:extLst>
              <a:ext uri="{FF2B5EF4-FFF2-40B4-BE49-F238E27FC236}">
                <a16:creationId xmlns:a16="http://schemas.microsoft.com/office/drawing/2014/main" id="{A1E2F32F-B222-4B7B-8B4D-FFD89A8523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5296534"/>
              </p:ext>
            </p:extLst>
          </p:nvPr>
        </p:nvGraphicFramePr>
        <p:xfrm>
          <a:off x="402020" y="7851230"/>
          <a:ext cx="3344862" cy="385572"/>
        </p:xfrm>
        <a:graphic>
          <a:graphicData uri="http://schemas.openxmlformats.org/drawingml/2006/table">
            <a:tbl>
              <a:tblPr/>
              <a:tblGrid>
                <a:gridCol w="3344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  Which function is the inverse of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 </a:t>
                      </a:r>
                      <a:r>
                        <a:rPr lang="en-US" sz="100" b="1" baseline="0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          </a: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6" name="Object 105">
            <a:extLst>
              <a:ext uri="{FF2B5EF4-FFF2-40B4-BE49-F238E27FC236}">
                <a16:creationId xmlns:a16="http://schemas.microsoft.com/office/drawing/2014/main" id="{DEFE991C-43FA-4F24-B0F0-DECA5E818E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7464810"/>
              </p:ext>
            </p:extLst>
          </p:nvPr>
        </p:nvGraphicFramePr>
        <p:xfrm>
          <a:off x="783020" y="8024650"/>
          <a:ext cx="9398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85" name="Equation" r:id="rId48" imgW="939600" imgH="241200" progId="Equation.DSMT4">
                  <p:embed/>
                </p:oleObj>
              </mc:Choice>
              <mc:Fallback>
                <p:oleObj name="Equation" r:id="rId48" imgW="939600" imgH="241200" progId="Equation.DSMT4">
                  <p:embed/>
                  <p:pic>
                    <p:nvPicPr>
                      <p:cNvPr id="49" name="Object 48">
                        <a:extLst>
                          <a:ext uri="{FF2B5EF4-FFF2-40B4-BE49-F238E27FC236}">
                            <a16:creationId xmlns:a16="http://schemas.microsoft.com/office/drawing/2014/main" id="{634DA52C-39B4-42D9-9341-43B90D8710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783020" y="8024650"/>
                        <a:ext cx="9398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" name="Text Box 50">
            <a:extLst>
              <a:ext uri="{FF2B5EF4-FFF2-40B4-BE49-F238E27FC236}">
                <a16:creationId xmlns:a16="http://schemas.microsoft.com/office/drawing/2014/main" id="{E598BD12-ABFA-4707-A652-2AFDB135D1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8763000"/>
            <a:ext cx="3162935" cy="815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                                  C.             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                                  D.  </a:t>
            </a: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8" name="Object 107">
            <a:extLst>
              <a:ext uri="{FF2B5EF4-FFF2-40B4-BE49-F238E27FC236}">
                <a16:creationId xmlns:a16="http://schemas.microsoft.com/office/drawing/2014/main" id="{DC89FA99-70CD-4911-A1D9-596FBECEF0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1437466"/>
              </p:ext>
            </p:extLst>
          </p:nvPr>
        </p:nvGraphicFramePr>
        <p:xfrm>
          <a:off x="914400" y="8801912"/>
          <a:ext cx="10160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86" name="Equation" r:id="rId50" imgW="1015920" imgH="253800" progId="Equation.DSMT4">
                  <p:embed/>
                </p:oleObj>
              </mc:Choice>
              <mc:Fallback>
                <p:oleObj name="Equation" r:id="rId50" imgW="1015920" imgH="253800" progId="Equation.DSMT4">
                  <p:embed/>
                  <p:pic>
                    <p:nvPicPr>
                      <p:cNvPr id="51" name="Object 50">
                        <a:extLst>
                          <a:ext uri="{FF2B5EF4-FFF2-40B4-BE49-F238E27FC236}">
                            <a16:creationId xmlns:a16="http://schemas.microsoft.com/office/drawing/2014/main" id="{8884630F-326D-46DF-A1A0-90FD955406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914400" y="8801912"/>
                        <a:ext cx="10160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" name="Object 108">
            <a:extLst>
              <a:ext uri="{FF2B5EF4-FFF2-40B4-BE49-F238E27FC236}">
                <a16:creationId xmlns:a16="http://schemas.microsoft.com/office/drawing/2014/main" id="{E4F2DA44-EA78-49C5-950C-069890E50A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1468299"/>
              </p:ext>
            </p:extLst>
          </p:nvPr>
        </p:nvGraphicFramePr>
        <p:xfrm>
          <a:off x="904672" y="9182912"/>
          <a:ext cx="965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87" name="Equation" r:id="rId52" imgW="965160" imgH="368280" progId="Equation.DSMT4">
                  <p:embed/>
                </p:oleObj>
              </mc:Choice>
              <mc:Fallback>
                <p:oleObj name="Equation" r:id="rId52" imgW="965160" imgH="368280" progId="Equation.DSMT4">
                  <p:embed/>
                  <p:pic>
                    <p:nvPicPr>
                      <p:cNvPr id="52" name="Object 51">
                        <a:extLst>
                          <a:ext uri="{FF2B5EF4-FFF2-40B4-BE49-F238E27FC236}">
                            <a16:creationId xmlns:a16="http://schemas.microsoft.com/office/drawing/2014/main" id="{2D07C115-6262-4127-8DB3-70DF8F3FDB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3"/>
                      <a:stretch>
                        <a:fillRect/>
                      </a:stretch>
                    </p:blipFill>
                    <p:spPr>
                      <a:xfrm>
                        <a:off x="904672" y="9182912"/>
                        <a:ext cx="9652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" name="Object 109">
            <a:extLst>
              <a:ext uri="{FF2B5EF4-FFF2-40B4-BE49-F238E27FC236}">
                <a16:creationId xmlns:a16="http://schemas.microsoft.com/office/drawing/2014/main" id="{089A5D55-14BB-4154-B9FC-44AE0D613C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6354615"/>
              </p:ext>
            </p:extLst>
          </p:nvPr>
        </p:nvGraphicFramePr>
        <p:xfrm>
          <a:off x="2514600" y="8829472"/>
          <a:ext cx="9144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88" name="Equation" r:id="rId54" imgW="914400" imgH="228600" progId="Equation.DSMT4">
                  <p:embed/>
                </p:oleObj>
              </mc:Choice>
              <mc:Fallback>
                <p:oleObj name="Equation" r:id="rId54" imgW="914400" imgH="228600" progId="Equation.DSMT4">
                  <p:embed/>
                  <p:pic>
                    <p:nvPicPr>
                      <p:cNvPr id="53" name="Object 52">
                        <a:extLst>
                          <a:ext uri="{FF2B5EF4-FFF2-40B4-BE49-F238E27FC236}">
                            <a16:creationId xmlns:a16="http://schemas.microsoft.com/office/drawing/2014/main" id="{B6ABD746-7687-44DE-81CE-CAC89885BB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5"/>
                      <a:stretch>
                        <a:fillRect/>
                      </a:stretch>
                    </p:blipFill>
                    <p:spPr>
                      <a:xfrm>
                        <a:off x="2514600" y="8829472"/>
                        <a:ext cx="9144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" name="Object 110">
            <a:extLst>
              <a:ext uri="{FF2B5EF4-FFF2-40B4-BE49-F238E27FC236}">
                <a16:creationId xmlns:a16="http://schemas.microsoft.com/office/drawing/2014/main" id="{165407E1-3C15-453A-A9F1-F3B397595F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8817629"/>
              </p:ext>
            </p:extLst>
          </p:nvPr>
        </p:nvGraphicFramePr>
        <p:xfrm>
          <a:off x="2504872" y="9267216"/>
          <a:ext cx="9017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89" name="Equation" r:id="rId56" imgW="901440" imgH="228600" progId="Equation.DSMT4">
                  <p:embed/>
                </p:oleObj>
              </mc:Choice>
              <mc:Fallback>
                <p:oleObj name="Equation" r:id="rId56" imgW="901440" imgH="228600" progId="Equation.DSMT4">
                  <p:embed/>
                  <p:pic>
                    <p:nvPicPr>
                      <p:cNvPr id="54" name="Object 53">
                        <a:extLst>
                          <a:ext uri="{FF2B5EF4-FFF2-40B4-BE49-F238E27FC236}">
                            <a16:creationId xmlns:a16="http://schemas.microsoft.com/office/drawing/2014/main" id="{E6CCEAC6-C621-4A5B-AD6F-E7A4458066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7"/>
                      <a:stretch>
                        <a:fillRect/>
                      </a:stretch>
                    </p:blipFill>
                    <p:spPr>
                      <a:xfrm>
                        <a:off x="2504872" y="9267216"/>
                        <a:ext cx="9017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6C7B4DD5-B6E5-4573-9D04-9F0B75F67E43}"/>
              </a:ext>
            </a:extLst>
          </p:cNvPr>
          <p:cNvCxnSpPr>
            <a:cxnSpLocks/>
          </p:cNvCxnSpPr>
          <p:nvPr/>
        </p:nvCxnSpPr>
        <p:spPr>
          <a:xfrm>
            <a:off x="462821" y="7851230"/>
            <a:ext cx="3493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8C205B78-E0EC-4E12-BCEC-06F114D64372}"/>
              </a:ext>
            </a:extLst>
          </p:cNvPr>
          <p:cNvCxnSpPr>
            <a:cxnSpLocks/>
          </p:cNvCxnSpPr>
          <p:nvPr/>
        </p:nvCxnSpPr>
        <p:spPr>
          <a:xfrm>
            <a:off x="3992977" y="6597870"/>
            <a:ext cx="3493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080E2909-9F18-4AAE-AB59-25BEC2F38B8B}"/>
              </a:ext>
            </a:extLst>
          </p:cNvPr>
          <p:cNvCxnSpPr>
            <a:cxnSpLocks/>
          </p:cNvCxnSpPr>
          <p:nvPr/>
        </p:nvCxnSpPr>
        <p:spPr>
          <a:xfrm>
            <a:off x="3955827" y="4037648"/>
            <a:ext cx="3493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D5CB8DD4-B4A5-442C-8BA3-15A822D4A5F8}"/>
              </a:ext>
            </a:extLst>
          </p:cNvPr>
          <p:cNvCxnSpPr>
            <a:cxnSpLocks/>
          </p:cNvCxnSpPr>
          <p:nvPr/>
        </p:nvCxnSpPr>
        <p:spPr>
          <a:xfrm>
            <a:off x="436180" y="4037648"/>
            <a:ext cx="3493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3B3AF32B-1B63-4523-9672-93FB9A32BD8A}"/>
              </a:ext>
            </a:extLst>
          </p:cNvPr>
          <p:cNvCxnSpPr>
            <a:cxnSpLocks/>
          </p:cNvCxnSpPr>
          <p:nvPr/>
        </p:nvCxnSpPr>
        <p:spPr>
          <a:xfrm>
            <a:off x="436180" y="2220310"/>
            <a:ext cx="3493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EAC6BE7A-F096-46B7-9B98-D91806C6E1AA}"/>
              </a:ext>
            </a:extLst>
          </p:cNvPr>
          <p:cNvCxnSpPr>
            <a:cxnSpLocks/>
          </p:cNvCxnSpPr>
          <p:nvPr/>
        </p:nvCxnSpPr>
        <p:spPr>
          <a:xfrm>
            <a:off x="3956898" y="2220310"/>
            <a:ext cx="3493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7278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</TotalTime>
  <Words>220</Words>
  <Application>Microsoft Office PowerPoint</Application>
  <PresentationFormat>Custom</PresentationFormat>
  <Paragraphs>64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Calibri</vt:lpstr>
      <vt:lpstr>Calibri Light</vt:lpstr>
      <vt:lpstr>Symbol</vt:lpstr>
      <vt:lpstr>Tahoma</vt:lpstr>
      <vt:lpstr>Times New Roman</vt:lpstr>
      <vt:lpstr>Office Theme</vt:lpstr>
      <vt:lpstr>Equation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Gina Wilson</dc:creator>
  <cp:lastModifiedBy>Gina Wilson</cp:lastModifiedBy>
  <cp:revision>15</cp:revision>
  <dcterms:created xsi:type="dcterms:W3CDTF">2018-02-20T16:18:51Z</dcterms:created>
  <dcterms:modified xsi:type="dcterms:W3CDTF">2018-02-20T16:47:11Z</dcterms:modified>
</cp:coreProperties>
</file>