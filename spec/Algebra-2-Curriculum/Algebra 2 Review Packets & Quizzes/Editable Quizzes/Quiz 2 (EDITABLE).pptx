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3" autoAdjust="0"/>
    <p:restoredTop sz="94660"/>
  </p:normalViewPr>
  <p:slideViewPr>
    <p:cSldViewPr snapToGrid="0">
      <p:cViewPr varScale="1">
        <p:scale>
          <a:sx n="46" d="100"/>
          <a:sy n="46" d="100"/>
        </p:scale>
        <p:origin x="1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40.wmf"/><Relationship Id="rId18" Type="http://schemas.openxmlformats.org/officeDocument/2006/relationships/image" Target="../media/image4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9.wmf"/><Relationship Id="rId17" Type="http://schemas.openxmlformats.org/officeDocument/2006/relationships/image" Target="../media/image44.wmf"/><Relationship Id="rId2" Type="http://schemas.openxmlformats.org/officeDocument/2006/relationships/image" Target="../media/image29.wmf"/><Relationship Id="rId16" Type="http://schemas.openxmlformats.org/officeDocument/2006/relationships/image" Target="../media/image43.wmf"/><Relationship Id="rId20" Type="http://schemas.openxmlformats.org/officeDocument/2006/relationships/image" Target="../media/image47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5" Type="http://schemas.openxmlformats.org/officeDocument/2006/relationships/image" Target="../media/image42.wmf"/><Relationship Id="rId10" Type="http://schemas.openxmlformats.org/officeDocument/2006/relationships/image" Target="../media/image37.wmf"/><Relationship Id="rId19" Type="http://schemas.openxmlformats.org/officeDocument/2006/relationships/image" Target="../media/image46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Relationship Id="rId14" Type="http://schemas.openxmlformats.org/officeDocument/2006/relationships/image" Target="../media/image4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image" Target="../media/image21.png"/><Relationship Id="rId39" Type="http://schemas.openxmlformats.org/officeDocument/2006/relationships/image" Target="../media/image15.wmf"/><Relationship Id="rId3" Type="http://schemas.openxmlformats.org/officeDocument/2006/relationships/image" Target="../media/image18.PNG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3.bin"/><Relationship Id="rId42" Type="http://schemas.openxmlformats.org/officeDocument/2006/relationships/image" Target="../media/image25.png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20.png"/><Relationship Id="rId33" Type="http://schemas.openxmlformats.org/officeDocument/2006/relationships/image" Target="../media/image12.wmf"/><Relationship Id="rId38" Type="http://schemas.openxmlformats.org/officeDocument/2006/relationships/oleObject" Target="../embeddings/oleObject15.bin"/><Relationship Id="rId46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24.png"/><Relationship Id="rId41" Type="http://schemas.openxmlformats.org/officeDocument/2006/relationships/image" Target="../media/image16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image" Target="../media/image19.png"/><Relationship Id="rId32" Type="http://schemas.openxmlformats.org/officeDocument/2006/relationships/oleObject" Target="../embeddings/oleObject12.bin"/><Relationship Id="rId37" Type="http://schemas.openxmlformats.org/officeDocument/2006/relationships/image" Target="../media/image14.wmf"/><Relationship Id="rId40" Type="http://schemas.openxmlformats.org/officeDocument/2006/relationships/oleObject" Target="../embeddings/oleObject16.bin"/><Relationship Id="rId45" Type="http://schemas.openxmlformats.org/officeDocument/2006/relationships/image" Target="../media/image26.png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image" Target="../media/image23.png"/><Relationship Id="rId36" Type="http://schemas.openxmlformats.org/officeDocument/2006/relationships/oleObject" Target="../embeddings/oleObject14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1.wmf"/><Relationship Id="rId44" Type="http://schemas.openxmlformats.org/officeDocument/2006/relationships/image" Target="../media/image17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22.png"/><Relationship Id="rId30" Type="http://schemas.openxmlformats.org/officeDocument/2006/relationships/oleObject" Target="../embeddings/oleObject11.bin"/><Relationship Id="rId35" Type="http://schemas.openxmlformats.org/officeDocument/2006/relationships/image" Target="../media/image13.wmf"/><Relationship Id="rId43" Type="http://schemas.openxmlformats.org/officeDocument/2006/relationships/oleObject" Target="../embeddings/oleObject1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25.bin"/><Relationship Id="rId26" Type="http://schemas.openxmlformats.org/officeDocument/2006/relationships/oleObject" Target="../embeddings/oleObject29.bin"/><Relationship Id="rId39" Type="http://schemas.openxmlformats.org/officeDocument/2006/relationships/image" Target="../media/image45.wmf"/><Relationship Id="rId3" Type="http://schemas.openxmlformats.org/officeDocument/2006/relationships/image" Target="../media/image48.PNG"/><Relationship Id="rId21" Type="http://schemas.openxmlformats.org/officeDocument/2006/relationships/image" Target="../media/image36.wmf"/><Relationship Id="rId34" Type="http://schemas.openxmlformats.org/officeDocument/2006/relationships/oleObject" Target="../embeddings/oleObject33.bin"/><Relationship Id="rId42" Type="http://schemas.openxmlformats.org/officeDocument/2006/relationships/oleObject" Target="../embeddings/oleObject37.bin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34.wmf"/><Relationship Id="rId25" Type="http://schemas.openxmlformats.org/officeDocument/2006/relationships/image" Target="../media/image38.wmf"/><Relationship Id="rId33" Type="http://schemas.openxmlformats.org/officeDocument/2006/relationships/image" Target="../media/image42.wmf"/><Relationship Id="rId38" Type="http://schemas.openxmlformats.org/officeDocument/2006/relationships/oleObject" Target="../embeddings/oleObject35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4.bin"/><Relationship Id="rId20" Type="http://schemas.openxmlformats.org/officeDocument/2006/relationships/oleObject" Target="../embeddings/oleObject26.bin"/><Relationship Id="rId29" Type="http://schemas.openxmlformats.org/officeDocument/2006/relationships/image" Target="../media/image40.wmf"/><Relationship Id="rId41" Type="http://schemas.openxmlformats.org/officeDocument/2006/relationships/image" Target="../media/image46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28.bin"/><Relationship Id="rId32" Type="http://schemas.openxmlformats.org/officeDocument/2006/relationships/oleObject" Target="../embeddings/oleObject32.bin"/><Relationship Id="rId37" Type="http://schemas.openxmlformats.org/officeDocument/2006/relationships/image" Target="../media/image44.wmf"/><Relationship Id="rId40" Type="http://schemas.openxmlformats.org/officeDocument/2006/relationships/oleObject" Target="../embeddings/oleObject36.bin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23" Type="http://schemas.openxmlformats.org/officeDocument/2006/relationships/image" Target="../media/image37.wmf"/><Relationship Id="rId28" Type="http://schemas.openxmlformats.org/officeDocument/2006/relationships/oleObject" Target="../embeddings/oleObject30.bin"/><Relationship Id="rId36" Type="http://schemas.openxmlformats.org/officeDocument/2006/relationships/oleObject" Target="../embeddings/oleObject34.bin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5.wmf"/><Relationship Id="rId31" Type="http://schemas.openxmlformats.org/officeDocument/2006/relationships/image" Target="../media/image4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27.bin"/><Relationship Id="rId27" Type="http://schemas.openxmlformats.org/officeDocument/2006/relationships/image" Target="../media/image39.wmf"/><Relationship Id="rId30" Type="http://schemas.openxmlformats.org/officeDocument/2006/relationships/oleObject" Target="../embeddings/oleObject31.bin"/><Relationship Id="rId35" Type="http://schemas.openxmlformats.org/officeDocument/2006/relationships/image" Target="../media/image43.wmf"/><Relationship Id="rId43" Type="http://schemas.openxmlformats.org/officeDocument/2006/relationships/image" Target="../media/image4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DADA49A-C978-403E-8F6B-1AFF87233BE1}"/>
              </a:ext>
            </a:extLst>
          </p:cNvPr>
          <p:cNvSpPr/>
          <p:nvPr/>
        </p:nvSpPr>
        <p:spPr>
          <a:xfrm>
            <a:off x="416625" y="2631375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1. What is the solution set for                           ?</a:t>
            </a:r>
            <a:endParaRPr lang="en-US" dirty="0"/>
          </a:p>
        </p:txBody>
      </p:sp>
      <p:sp>
        <p:nvSpPr>
          <p:cNvPr id="54" name="Text Box 27">
            <a:extLst>
              <a:ext uri="{FF2B5EF4-FFF2-40B4-BE49-F238E27FC236}">
                <a16:creationId xmlns:a16="http://schemas.microsoft.com/office/drawing/2014/main" id="{82C0DFE2-934C-4FA0-8EC8-E8BF94ED5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581400"/>
            <a:ext cx="1220470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C52D5293-C995-4672-9902-1D8389BC08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124803"/>
              </p:ext>
            </p:extLst>
          </p:nvPr>
        </p:nvGraphicFramePr>
        <p:xfrm>
          <a:off x="2626425" y="2643250"/>
          <a:ext cx="1016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Equation" r:id="rId4" imgW="1015920" imgH="228600" progId="Equation.DSMT4">
                  <p:embed/>
                </p:oleObj>
              </mc:Choice>
              <mc:Fallback>
                <p:oleObj name="Equation" r:id="rId4" imgW="1015920" imgH="2286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574BE6D-936C-4BBA-B71D-D98AB2F48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6425" y="2643250"/>
                        <a:ext cx="1016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15CA6336-4F3A-417F-A7F4-A3237272B5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976551"/>
              </p:ext>
            </p:extLst>
          </p:nvPr>
        </p:nvGraphicFramePr>
        <p:xfrm>
          <a:off x="950025" y="3630317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5AF005C-BF5C-459C-83FF-EF36E467B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0025" y="3630317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C676FC98-FA8A-4EE7-9374-B3A807AF7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735921"/>
              </p:ext>
            </p:extLst>
          </p:nvPr>
        </p:nvGraphicFramePr>
        <p:xfrm>
          <a:off x="957044" y="3886200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Equation" r:id="rId8" imgW="495000" imgH="228600" progId="Equation.DSMT4">
                  <p:embed/>
                </p:oleObj>
              </mc:Choice>
              <mc:Fallback>
                <p:oleObj name="Equation" r:id="rId8" imgW="49500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6F8EAD8-DF14-44FC-82B0-491F3E9527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7044" y="3886200"/>
                        <a:ext cx="495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104C231C-E674-4886-9389-480415B1F4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061784"/>
              </p:ext>
            </p:extLst>
          </p:nvPr>
        </p:nvGraphicFramePr>
        <p:xfrm>
          <a:off x="939567" y="4131578"/>
          <a:ext cx="57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Equation" r:id="rId10" imgW="571320" imgH="228600" progId="Equation.DSMT4">
                  <p:embed/>
                </p:oleObj>
              </mc:Choice>
              <mc:Fallback>
                <p:oleObj name="Equation" r:id="rId10" imgW="571320" imgH="2286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25B3349-0C76-4722-B95C-3062F46D3F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9567" y="4131578"/>
                        <a:ext cx="57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EE2CF287-EA35-49CD-A1D1-5A187D9E4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929652"/>
              </p:ext>
            </p:extLst>
          </p:nvPr>
        </p:nvGraphicFramePr>
        <p:xfrm>
          <a:off x="939567" y="4411211"/>
          <a:ext cx="57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Equation" r:id="rId12" imgW="571320" imgH="228600" progId="Equation.DSMT4">
                  <p:embed/>
                </p:oleObj>
              </mc:Choice>
              <mc:Fallback>
                <p:oleObj name="Equation" r:id="rId12" imgW="571320" imgH="2286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F9E32F7-595C-44E4-A1C4-CF9125309A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9567" y="4411211"/>
                        <a:ext cx="57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57878B0F-5233-44C6-B8C5-336230FC4E37}"/>
              </a:ext>
            </a:extLst>
          </p:cNvPr>
          <p:cNvSpPr/>
          <p:nvPr/>
        </p:nvSpPr>
        <p:spPr>
          <a:xfrm>
            <a:off x="423644" y="4800600"/>
            <a:ext cx="3429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2.  What is the solution set for                         ?</a:t>
            </a:r>
            <a:endParaRPr lang="en-US" dirty="0"/>
          </a:p>
        </p:txBody>
      </p:sp>
      <p:sp>
        <p:nvSpPr>
          <p:cNvPr id="61" name="Text Box 6">
            <a:extLst>
              <a:ext uri="{FF2B5EF4-FFF2-40B4-BE49-F238E27FC236}">
                <a16:creationId xmlns:a16="http://schemas.microsoft.com/office/drawing/2014/main" id="{25090F64-C63C-4CD3-B23E-64341F05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8589"/>
            <a:ext cx="122047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Solution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2C34291C-C32F-4110-986C-687F16803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530563"/>
              </p:ext>
            </p:extLst>
          </p:nvPr>
        </p:nvGraphicFramePr>
        <p:xfrm>
          <a:off x="990600" y="5774422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Equation" r:id="rId14" imgW="545760" imgH="406080" progId="Equation.DSMT4">
                  <p:embed/>
                </p:oleObj>
              </mc:Choice>
              <mc:Fallback>
                <p:oleObj name="Equation" r:id="rId14" imgW="545760" imgH="4060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CF5EAFC-7E63-493B-9770-1DE5895E1A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90600" y="5774422"/>
                        <a:ext cx="546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B732A536-8B4E-4548-A39E-494D46B04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670292"/>
              </p:ext>
            </p:extLst>
          </p:nvPr>
        </p:nvGraphicFramePr>
        <p:xfrm>
          <a:off x="998989" y="6197367"/>
          <a:ext cx="44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Equation" r:id="rId16" imgW="444240" imgH="406080" progId="Equation.DSMT4">
                  <p:embed/>
                </p:oleObj>
              </mc:Choice>
              <mc:Fallback>
                <p:oleObj name="Equation" r:id="rId16" imgW="444240" imgH="4060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E3DF2846-5FC9-405A-9078-4D2418033B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8989" y="6197367"/>
                        <a:ext cx="44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183AE236-57D8-4C34-97E4-C60853741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673668"/>
              </p:ext>
            </p:extLst>
          </p:nvPr>
        </p:nvGraphicFramePr>
        <p:xfrm>
          <a:off x="990600" y="6629400"/>
          <a:ext cx="292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Equation" r:id="rId18" imgW="291960" imgH="406080" progId="Equation.DSMT4">
                  <p:embed/>
                </p:oleObj>
              </mc:Choice>
              <mc:Fallback>
                <p:oleObj name="Equation" r:id="rId18" imgW="291960" imgH="40608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A19B3D6-8871-44C3-95D7-D27D8DAA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0600" y="6629400"/>
                        <a:ext cx="292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6A8F1FA1-AD77-4948-A37A-CF9DECD22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259439"/>
              </p:ext>
            </p:extLst>
          </p:nvPr>
        </p:nvGraphicFramePr>
        <p:xfrm>
          <a:off x="2667000" y="4834156"/>
          <a:ext cx="977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Equation" r:id="rId20" imgW="977760" imgH="228600" progId="Equation.DSMT4">
                  <p:embed/>
                </p:oleObj>
              </mc:Choice>
              <mc:Fallback>
                <p:oleObj name="Equation" r:id="rId20" imgW="977760" imgH="2286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2CEABD5F-805B-4081-8B9A-FD60C8AE4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67000" y="4834156"/>
                        <a:ext cx="977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01396EBC-B414-49ED-A22E-EFDFD2D51212}"/>
              </a:ext>
            </a:extLst>
          </p:cNvPr>
          <p:cNvSpPr/>
          <p:nvPr/>
        </p:nvSpPr>
        <p:spPr>
          <a:xfrm>
            <a:off x="412596" y="7095596"/>
            <a:ext cx="3549804" cy="435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3.  Which graph best represents the solutions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to the inequality                  ?</a:t>
            </a:r>
            <a:endParaRPr lang="en-US" dirty="0"/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BACCB3F3-8716-4851-AD5F-B6FAAA9493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726848"/>
              </p:ext>
            </p:extLst>
          </p:nvPr>
        </p:nvGraphicFramePr>
        <p:xfrm>
          <a:off x="1882698" y="7292898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Equation" r:id="rId22" imgW="711000" imgH="228600" progId="Equation.DSMT4">
                  <p:embed/>
                </p:oleObj>
              </mc:Choice>
              <mc:Fallback>
                <p:oleObj name="Equation" r:id="rId22" imgW="711000" imgH="22860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A663B4F7-85C8-4E28-8364-08D3669E1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882698" y="7292898"/>
                        <a:ext cx="71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807">
            <a:extLst>
              <a:ext uri="{FF2B5EF4-FFF2-40B4-BE49-F238E27FC236}">
                <a16:creationId xmlns:a16="http://schemas.microsoft.com/office/drawing/2014/main" id="{767FDB9A-2FEE-42A6-A9C8-52CC07736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001000"/>
            <a:ext cx="336550" cy="137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2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8DEAA0AE-8980-4841-8C75-42C781342E7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6800" y="8077200"/>
            <a:ext cx="1628775" cy="42862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D627ECF-97C5-42FA-B1EC-53970252D9A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00" y="8534400"/>
            <a:ext cx="1647825" cy="29527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65ECC54-DF0A-4E12-9186-FF8AA060A0B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9547" y="8839200"/>
            <a:ext cx="1628775" cy="3810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94AE1F7-C1B8-44BD-99F7-64BCE3A5651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9102" y="9220200"/>
            <a:ext cx="1600200" cy="33337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3F14207-EA15-47B6-8BB6-9518DF860EC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92804" y="2548053"/>
            <a:ext cx="1628775" cy="31432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0BE3D97-D7BA-4A56-BFDE-88D2DAC943A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90947" y="2819400"/>
            <a:ext cx="1600200" cy="371475"/>
          </a:xfrm>
          <a:prstGeom prst="rect">
            <a:avLst/>
          </a:prstGeom>
        </p:spPr>
      </p:pic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53CEDAD0-6040-42BB-8F4C-FC0254892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282294"/>
              </p:ext>
            </p:extLst>
          </p:nvPr>
        </p:nvGraphicFramePr>
        <p:xfrm>
          <a:off x="3876906" y="3384396"/>
          <a:ext cx="3573462" cy="385572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tabLst>
                          <a:tab pos="1588135" algn="ctr"/>
                        </a:tabLs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If the discriminant of a quadratic equation is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28, describe the roots.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Text Box 1489">
            <a:extLst>
              <a:ext uri="{FF2B5EF4-FFF2-40B4-BE49-F238E27FC236}">
                <a16:creationId xmlns:a16="http://schemas.microsoft.com/office/drawing/2014/main" id="{F44D909D-E159-4FD7-ADFD-566AC8664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886200"/>
            <a:ext cx="1778000" cy="98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Rational Root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Rational Roots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Irrational Roots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Complex Roots</a:t>
            </a: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E454482-6075-4447-A923-54334B5AD2E1}"/>
              </a:ext>
            </a:extLst>
          </p:cNvPr>
          <p:cNvSpPr/>
          <p:nvPr/>
        </p:nvSpPr>
        <p:spPr>
          <a:xfrm>
            <a:off x="3908502" y="4962294"/>
            <a:ext cx="30091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6. Describe the roots of                          .</a:t>
            </a:r>
            <a:endParaRPr lang="en-US" dirty="0"/>
          </a:p>
        </p:txBody>
      </p:sp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27E74FC7-1B95-4654-BDD6-89CC801BA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739438"/>
              </p:ext>
            </p:extLst>
          </p:nvPr>
        </p:nvGraphicFramePr>
        <p:xfrm>
          <a:off x="5681547" y="4986453"/>
          <a:ext cx="1028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Equation" r:id="rId30" imgW="1028520" imgH="190440" progId="Equation.DSMT4">
                  <p:embed/>
                </p:oleObj>
              </mc:Choice>
              <mc:Fallback>
                <p:oleObj name="Equation" r:id="rId30" imgW="1028520" imgH="19044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C2A43A2F-3DAB-4595-859F-D538E1C64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681547" y="4986453"/>
                        <a:ext cx="1028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1491">
            <a:extLst>
              <a:ext uri="{FF2B5EF4-FFF2-40B4-BE49-F238E27FC236}">
                <a16:creationId xmlns:a16="http://schemas.microsoft.com/office/drawing/2014/main" id="{8EBF1EFC-9583-4300-8B50-573010755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638800"/>
            <a:ext cx="1778000" cy="98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Rational Root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Rational Roots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Irrational Roots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Complex Roots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679F7BD-3A9D-42A6-A932-6B22BC638ED6}"/>
              </a:ext>
            </a:extLst>
          </p:cNvPr>
          <p:cNvSpPr/>
          <p:nvPr/>
        </p:nvSpPr>
        <p:spPr>
          <a:xfrm>
            <a:off x="3908502" y="6750204"/>
            <a:ext cx="34884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7.   What is the solution set for                         ?</a:t>
            </a:r>
            <a:endParaRPr lang="en-US" dirty="0"/>
          </a:p>
        </p:txBody>
      </p:sp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0E4894FE-65FD-4784-9FBA-33AE709FE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708311"/>
              </p:ext>
            </p:extLst>
          </p:nvPr>
        </p:nvGraphicFramePr>
        <p:xfrm>
          <a:off x="6205653" y="6770649"/>
          <a:ext cx="952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Equation" r:id="rId32" imgW="952200" imgH="190440" progId="Equation.DSMT4">
                  <p:embed/>
                </p:oleObj>
              </mc:Choice>
              <mc:Fallback>
                <p:oleObj name="Equation" r:id="rId32" imgW="952200" imgH="19044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93DE789D-3FBC-4B2E-8234-B165C2B24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205653" y="6770649"/>
                        <a:ext cx="952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1493">
            <a:extLst>
              <a:ext uri="{FF2B5EF4-FFF2-40B4-BE49-F238E27FC236}">
                <a16:creationId xmlns:a16="http://schemas.microsoft.com/office/drawing/2014/main" id="{F8EE25F1-AC12-4F89-AC93-6163DAAED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305800"/>
            <a:ext cx="122047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C64E674B-A274-41D2-9E8A-194CC4E34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878838"/>
              </p:ext>
            </p:extLst>
          </p:nvPr>
        </p:nvGraphicFramePr>
        <p:xfrm>
          <a:off x="4572000" y="8328102"/>
          <a:ext cx="609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Equation" r:id="rId34" imgW="609480" imgH="291960" progId="Equation.DSMT4">
                  <p:embed/>
                </p:oleObj>
              </mc:Choice>
              <mc:Fallback>
                <p:oleObj name="Equation" r:id="rId34" imgW="609480" imgH="29196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B1513478-2F94-4B7A-9370-88B7BBA78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572000" y="8328102"/>
                        <a:ext cx="609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18C348B8-BD5F-4189-9BEC-1939C9F1B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891070"/>
              </p:ext>
            </p:extLst>
          </p:nvPr>
        </p:nvGraphicFramePr>
        <p:xfrm>
          <a:off x="4572000" y="8610600"/>
          <a:ext cx="685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Equation" r:id="rId36" imgW="685800" imgH="291960" progId="Equation.DSMT4">
                  <p:embed/>
                </p:oleObj>
              </mc:Choice>
              <mc:Fallback>
                <p:oleObj name="Equation" r:id="rId36" imgW="685800" imgH="29196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FD8D4AC4-E709-4723-902F-9557F3E296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572000" y="8610600"/>
                        <a:ext cx="685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A7E5DEA8-D4EE-4608-A55A-B28FA9ED8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547566"/>
              </p:ext>
            </p:extLst>
          </p:nvPr>
        </p:nvGraphicFramePr>
        <p:xfrm>
          <a:off x="4572000" y="8872653"/>
          <a:ext cx="53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Equation" r:id="rId38" imgW="533160" imgH="291960" progId="Equation.DSMT4">
                  <p:embed/>
                </p:oleObj>
              </mc:Choice>
              <mc:Fallback>
                <p:oleObj name="Equation" r:id="rId38" imgW="533160" imgH="29196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18DD3317-4983-45FC-B831-04469659E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572000" y="8872653"/>
                        <a:ext cx="533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84490BCE-0089-4DBA-B60D-D6A2A3747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655941"/>
              </p:ext>
            </p:extLst>
          </p:nvPr>
        </p:nvGraphicFramePr>
        <p:xfrm>
          <a:off x="4572000" y="9144000"/>
          <a:ext cx="622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Equation" r:id="rId40" imgW="622080" imgH="291960" progId="Equation.DSMT4">
                  <p:embed/>
                </p:oleObj>
              </mc:Choice>
              <mc:Fallback>
                <p:oleObj name="Equation" r:id="rId40" imgW="622080" imgH="29196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1CA6A111-67A9-48A6-9736-E173B7E7E4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72000" y="9144000"/>
                        <a:ext cx="622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5EBF10C-B4EA-49DD-845C-9D4B810D28F2}"/>
              </a:ext>
            </a:extLst>
          </p:cNvPr>
          <p:cNvCxnSpPr>
            <a:cxnSpLocks/>
          </p:cNvCxnSpPr>
          <p:nvPr/>
        </p:nvCxnSpPr>
        <p:spPr>
          <a:xfrm>
            <a:off x="468142" y="481618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1FCDDEB-B4F1-4AA1-BF9D-CC6F7B4C8896}"/>
              </a:ext>
            </a:extLst>
          </p:cNvPr>
          <p:cNvCxnSpPr>
            <a:cxnSpLocks/>
          </p:cNvCxnSpPr>
          <p:nvPr/>
        </p:nvCxnSpPr>
        <p:spPr>
          <a:xfrm>
            <a:off x="442576" y="712557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B501587-61CC-445F-964C-2673871AD3E5}"/>
              </a:ext>
            </a:extLst>
          </p:cNvPr>
          <p:cNvCxnSpPr>
            <a:cxnSpLocks/>
          </p:cNvCxnSpPr>
          <p:nvPr/>
        </p:nvCxnSpPr>
        <p:spPr>
          <a:xfrm>
            <a:off x="3976140" y="675020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62BB4E7-0E00-4B5A-B6E3-49F4DD32CFA2}"/>
              </a:ext>
            </a:extLst>
          </p:cNvPr>
          <p:cNvCxnSpPr>
            <a:cxnSpLocks/>
          </p:cNvCxnSpPr>
          <p:nvPr/>
        </p:nvCxnSpPr>
        <p:spPr>
          <a:xfrm>
            <a:off x="3961150" y="496229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9A2B94A-B0AD-4FB6-AC8B-64C237C48206}"/>
              </a:ext>
            </a:extLst>
          </p:cNvPr>
          <p:cNvCxnSpPr>
            <a:cxnSpLocks/>
          </p:cNvCxnSpPr>
          <p:nvPr/>
        </p:nvCxnSpPr>
        <p:spPr>
          <a:xfrm>
            <a:off x="3951805" y="335746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bject 91">
            <a:extLst>
              <a:ext uri="{FF2B5EF4-FFF2-40B4-BE49-F238E27FC236}">
                <a16:creationId xmlns:a16="http://schemas.microsoft.com/office/drawing/2014/main" id="{A50F6933-B44B-47DC-B788-BF4BAA1E4415}"/>
              </a:ext>
            </a:extLst>
          </p:cNvPr>
          <p:cNvSpPr/>
          <p:nvPr/>
        </p:nvSpPr>
        <p:spPr>
          <a:xfrm>
            <a:off x="4142232" y="1901951"/>
            <a:ext cx="341375" cy="128930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D86AC5B-E7BA-48D6-88F2-7EF34DDA8FA1}"/>
              </a:ext>
            </a:extLst>
          </p:cNvPr>
          <p:cNvSpPr/>
          <p:nvPr/>
        </p:nvSpPr>
        <p:spPr>
          <a:xfrm>
            <a:off x="3908502" y="444192"/>
            <a:ext cx="3482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4.  Which graph best represents the solutions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to the inequality                               ?</a:t>
            </a:r>
            <a:endParaRPr lang="en-US" dirty="0"/>
          </a:p>
        </p:txBody>
      </p:sp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F561A731-6B30-4C85-9E76-1AAEC2AF4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189832"/>
              </p:ext>
            </p:extLst>
          </p:nvPr>
        </p:nvGraphicFramePr>
        <p:xfrm>
          <a:off x="5410200" y="652347"/>
          <a:ext cx="1219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Equation" r:id="rId43" imgW="1218960" imgH="228600" progId="Equation.DSMT4">
                  <p:embed/>
                </p:oleObj>
              </mc:Choice>
              <mc:Fallback>
                <p:oleObj name="Equation" r:id="rId43" imgW="1218960" imgH="22860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B443B1A-9BE2-40C8-B80C-EB631677F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410200" y="652347"/>
                        <a:ext cx="1219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Text Box 807">
            <a:extLst>
              <a:ext uri="{FF2B5EF4-FFF2-40B4-BE49-F238E27FC236}">
                <a16:creationId xmlns:a16="http://schemas.microsoft.com/office/drawing/2014/main" id="{94D5FA8C-4DF6-40DA-A488-98F637E4B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676400"/>
            <a:ext cx="336550" cy="137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21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A84AD3BC-D366-4223-B8DD-329FCC28799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648200" y="1806498"/>
            <a:ext cx="1695450" cy="34290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A2E58AD1-0E56-4BE9-BF24-EB394D0E0C1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70502" y="2176347"/>
            <a:ext cx="16668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70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FCB7A3B-BC07-4F2D-A792-3BBBBB1AC92F}"/>
              </a:ext>
            </a:extLst>
          </p:cNvPr>
          <p:cNvSpPr/>
          <p:nvPr/>
        </p:nvSpPr>
        <p:spPr>
          <a:xfrm>
            <a:off x="4724400" y="8763000"/>
            <a:ext cx="19812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C400F6-9C46-4C26-8840-714C80DA756D}"/>
              </a:ext>
            </a:extLst>
          </p:cNvPr>
          <p:cNvSpPr/>
          <p:nvPr/>
        </p:nvSpPr>
        <p:spPr>
          <a:xfrm>
            <a:off x="838200" y="5029200"/>
            <a:ext cx="7620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7D0995F-885E-421A-A202-9AA66A31DB9D}"/>
              </a:ext>
            </a:extLst>
          </p:cNvPr>
          <p:cNvSpPr/>
          <p:nvPr/>
        </p:nvSpPr>
        <p:spPr>
          <a:xfrm>
            <a:off x="1066800" y="2286000"/>
            <a:ext cx="21336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79BF994-C1CA-4E16-BB15-6945CA3869CB}"/>
              </a:ext>
            </a:extLst>
          </p:cNvPr>
          <p:cNvSpPr/>
          <p:nvPr/>
        </p:nvSpPr>
        <p:spPr>
          <a:xfrm>
            <a:off x="434898" y="457199"/>
            <a:ext cx="345130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8.  What is the solution set for                         ?</a:t>
            </a:r>
            <a:endParaRPr lang="en-US" dirty="0"/>
          </a:p>
        </p:txBody>
      </p:sp>
      <p:sp>
        <p:nvSpPr>
          <p:cNvPr id="45" name="Text Box 1494">
            <a:extLst>
              <a:ext uri="{FF2B5EF4-FFF2-40B4-BE49-F238E27FC236}">
                <a16:creationId xmlns:a16="http://schemas.microsoft.com/office/drawing/2014/main" id="{FBBBEE09-5B97-4E3B-A9A8-76411FD1E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362200"/>
            <a:ext cx="2653030" cy="103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5A588E7E-EDEF-43B9-9EB5-F0EBDDD113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542864"/>
              </p:ext>
            </p:extLst>
          </p:nvPr>
        </p:nvGraphicFramePr>
        <p:xfrm>
          <a:off x="990600" y="2404947"/>
          <a:ext cx="736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" name="Equation" r:id="rId4" imgW="736560" imgH="291960" progId="Equation.DSMT4">
                  <p:embed/>
                </p:oleObj>
              </mc:Choice>
              <mc:Fallback>
                <p:oleObj name="Equation" r:id="rId4" imgW="736560" imgH="2919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7DA9A6CE-7B6B-4E22-925E-D589BD88FF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2404947"/>
                        <a:ext cx="736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9FEF3FFA-DE8D-4B5A-B17F-0B330D5D23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400085"/>
              </p:ext>
            </p:extLst>
          </p:nvPr>
        </p:nvGraphicFramePr>
        <p:xfrm>
          <a:off x="990600" y="2884449"/>
          <a:ext cx="698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name="Equation" r:id="rId6" imgW="698400" imgH="291960" progId="Equation.DSMT4">
                  <p:embed/>
                </p:oleObj>
              </mc:Choice>
              <mc:Fallback>
                <p:oleObj name="Equation" r:id="rId6" imgW="698400" imgH="29196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4F7171C-F239-41AC-9A04-225F09FE2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0600" y="2884449"/>
                        <a:ext cx="6985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B22F129-3085-452E-9570-A70C3B31CC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974676"/>
              </p:ext>
            </p:extLst>
          </p:nvPr>
        </p:nvGraphicFramePr>
        <p:xfrm>
          <a:off x="2286000" y="2286000"/>
          <a:ext cx="800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" name="Equation" r:id="rId8" imgW="799920" imgH="469800" progId="Equation.DSMT4">
                  <p:embed/>
                </p:oleObj>
              </mc:Choice>
              <mc:Fallback>
                <p:oleObj name="Equation" r:id="rId8" imgW="799920" imgH="4698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97B7FEA-E687-47AA-BD35-D515C6469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86000" y="2286000"/>
                        <a:ext cx="800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02BB1632-63F7-4A49-B5C5-4AE9564E7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911253"/>
              </p:ext>
            </p:extLst>
          </p:nvPr>
        </p:nvGraphicFramePr>
        <p:xfrm>
          <a:off x="2362200" y="2819400"/>
          <a:ext cx="74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" name="Equation" r:id="rId10" imgW="749160" imgH="469800" progId="Equation.DSMT4">
                  <p:embed/>
                </p:oleObj>
              </mc:Choice>
              <mc:Fallback>
                <p:oleObj name="Equation" r:id="rId10" imgW="749160" imgH="4698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76F5E50A-9E1E-46F4-A77F-3CD4A33046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62200" y="2819400"/>
                        <a:ext cx="749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Rectangle 49">
            <a:extLst>
              <a:ext uri="{FF2B5EF4-FFF2-40B4-BE49-F238E27FC236}">
                <a16:creationId xmlns:a16="http://schemas.microsoft.com/office/drawing/2014/main" id="{E41A04CE-D8A9-44BA-9D8C-5297E23CC590}"/>
              </a:ext>
            </a:extLst>
          </p:cNvPr>
          <p:cNvSpPr/>
          <p:nvPr/>
        </p:nvSpPr>
        <p:spPr>
          <a:xfrm>
            <a:off x="434898" y="3373246"/>
            <a:ext cx="345130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9.  What is the solution set for                         ?</a:t>
            </a:r>
            <a:endParaRPr lang="en-US" dirty="0"/>
          </a:p>
        </p:txBody>
      </p:sp>
      <p:sp>
        <p:nvSpPr>
          <p:cNvPr id="51" name="Text Box 1496">
            <a:extLst>
              <a:ext uri="{FF2B5EF4-FFF2-40B4-BE49-F238E27FC236}">
                <a16:creationId xmlns:a16="http://schemas.microsoft.com/office/drawing/2014/main" id="{76CED22E-9298-48A3-8C48-CCD45810A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81600"/>
            <a:ext cx="1220470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1496">
            <a:extLst>
              <a:ext uri="{FF2B5EF4-FFF2-40B4-BE49-F238E27FC236}">
                <a16:creationId xmlns:a16="http://schemas.microsoft.com/office/drawing/2014/main" id="{6B4FA20F-4CF1-41B9-904C-F8DAE1AE4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733800"/>
            <a:ext cx="1220470" cy="116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51AC03BE-D3EF-4657-A4C7-6F042DE173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321010"/>
              </p:ext>
            </p:extLst>
          </p:nvPr>
        </p:nvGraphicFramePr>
        <p:xfrm>
          <a:off x="1066800" y="5205876"/>
          <a:ext cx="53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2" name="Equation" r:id="rId12" imgW="533160" imgH="291960" progId="Equation.DSMT4">
                  <p:embed/>
                </p:oleObj>
              </mc:Choice>
              <mc:Fallback>
                <p:oleObj name="Equation" r:id="rId12" imgW="533160" imgH="29196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F504FAA1-8C53-4B05-8FB8-EE8B8C6964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66800" y="5205876"/>
                        <a:ext cx="533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6B2FA3BA-8AD3-44CB-9F0C-988235325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912686"/>
              </p:ext>
            </p:extLst>
          </p:nvPr>
        </p:nvGraphicFramePr>
        <p:xfrm>
          <a:off x="1066800" y="5502584"/>
          <a:ext cx="482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" name="Equation" r:id="rId14" imgW="482400" imgH="291960" progId="Equation.DSMT4">
                  <p:embed/>
                </p:oleObj>
              </mc:Choice>
              <mc:Fallback>
                <p:oleObj name="Equation" r:id="rId14" imgW="482400" imgH="29196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B3D2A9FA-5AF5-4814-B70F-34067CB120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6800" y="5502584"/>
                        <a:ext cx="482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50ADD61D-13CF-4BB3-AD4B-84C0B65090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734627"/>
              </p:ext>
            </p:extLst>
          </p:nvPr>
        </p:nvGraphicFramePr>
        <p:xfrm>
          <a:off x="1066800" y="5791200"/>
          <a:ext cx="533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" name="Equation" r:id="rId16" imgW="533160" imgH="291960" progId="Equation.DSMT4">
                  <p:embed/>
                </p:oleObj>
              </mc:Choice>
              <mc:Fallback>
                <p:oleObj name="Equation" r:id="rId16" imgW="533160" imgH="29196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1AF6F71F-08D3-4C1A-BC1A-9595CA267E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66800" y="5791200"/>
                        <a:ext cx="533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628C97D1-17CF-4544-A08C-28A3085DEC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44288"/>
              </p:ext>
            </p:extLst>
          </p:nvPr>
        </p:nvGraphicFramePr>
        <p:xfrm>
          <a:off x="1066800" y="6096000"/>
          <a:ext cx="4953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" name="Equation" r:id="rId18" imgW="495000" imgH="291960" progId="Equation.DSMT4">
                  <p:embed/>
                </p:oleObj>
              </mc:Choice>
              <mc:Fallback>
                <p:oleObj name="Equation" r:id="rId18" imgW="495000" imgH="29196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7A5E912C-DDED-441D-9410-177769AC5B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66800" y="6096000"/>
                        <a:ext cx="4953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AC485D7B-2276-42C3-8EEB-ECE8C95C5C05}"/>
              </a:ext>
            </a:extLst>
          </p:cNvPr>
          <p:cNvSpPr/>
          <p:nvPr/>
        </p:nvSpPr>
        <p:spPr>
          <a:xfrm>
            <a:off x="397184" y="6610987"/>
            <a:ext cx="356521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10.  A rock is thrown from the top of a building. 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The height, 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, of the rock 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seconds after it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thrown is given by 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(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) = -16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100" b="1" baseline="30000" dirty="0">
                <a:latin typeface="Tahoma" panose="020B0604030504040204" pitchFamily="34" charset="0"/>
                <a:ea typeface="Times New Roman" panose="02020603050405020304" pitchFamily="18" charset="0"/>
              </a:rPr>
              <a:t>2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– 2</a:t>
            </a:r>
            <a:r>
              <a:rPr lang="en-US" sz="125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+ 240. 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How long will it take the rock to reach a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height of 180 feet?</a:t>
            </a:r>
            <a:endParaRPr lang="en-US" dirty="0"/>
          </a:p>
        </p:txBody>
      </p:sp>
      <p:sp>
        <p:nvSpPr>
          <p:cNvPr id="58" name="Text Box 3">
            <a:extLst>
              <a:ext uri="{FF2B5EF4-FFF2-40B4-BE49-F238E27FC236}">
                <a16:creationId xmlns:a16="http://schemas.microsoft.com/office/drawing/2014/main" id="{8F68B85E-3AE5-4078-AD27-B1EC2079F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458200"/>
            <a:ext cx="1431290" cy="96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1.875 seconds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seconds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2.125 seconds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2.625 seconds</a:t>
            </a: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CCAD10-0D2E-4388-A805-5B00961A2EC4}"/>
              </a:ext>
            </a:extLst>
          </p:cNvPr>
          <p:cNvSpPr/>
          <p:nvPr/>
        </p:nvSpPr>
        <p:spPr>
          <a:xfrm>
            <a:off x="3862754" y="410308"/>
            <a:ext cx="35286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11.  What is the solution set for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?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3AC799-5375-49D1-9E2D-F938DEEA3CC0}"/>
              </a:ext>
            </a:extLst>
          </p:cNvPr>
          <p:cNvSpPr/>
          <p:nvPr/>
        </p:nvSpPr>
        <p:spPr>
          <a:xfrm>
            <a:off x="3886200" y="5117123"/>
            <a:ext cx="3429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12.  What is the solution set for </a:t>
            </a:r>
            <a:b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?</a:t>
            </a:r>
            <a:endParaRPr lang="en-US" dirty="0"/>
          </a:p>
        </p:txBody>
      </p:sp>
      <p:sp>
        <p:nvSpPr>
          <p:cNvPr id="61" name="Text Box 7">
            <a:extLst>
              <a:ext uri="{FF2B5EF4-FFF2-40B4-BE49-F238E27FC236}">
                <a16:creationId xmlns:a16="http://schemas.microsoft.com/office/drawing/2014/main" id="{8A756E66-A790-429C-ACF0-39D92EBF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458200"/>
            <a:ext cx="2653030" cy="944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B0CE56A4-19E5-4C7C-B872-D4F7999918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589872"/>
              </p:ext>
            </p:extLst>
          </p:nvPr>
        </p:nvGraphicFramePr>
        <p:xfrm>
          <a:off x="4495800" y="3780692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6" name="Equation" r:id="rId20" imgW="634680" imgH="228600" progId="Equation.DSMT4">
                  <p:embed/>
                </p:oleObj>
              </mc:Choice>
              <mc:Fallback>
                <p:oleObj name="Equation" r:id="rId20" imgW="634680" imgH="2286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17E84115-810B-42C8-91F2-5F1429EA53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95800" y="3780692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79A06C2C-929A-48DE-9350-BFAD61F68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364054"/>
              </p:ext>
            </p:extLst>
          </p:nvPr>
        </p:nvGraphicFramePr>
        <p:xfrm>
          <a:off x="4495800" y="4079631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" name="Equation" r:id="rId22" imgW="711000" imgH="228600" progId="Equation.DSMT4">
                  <p:embed/>
                </p:oleObj>
              </mc:Choice>
              <mc:Fallback>
                <p:oleObj name="Equation" r:id="rId22" imgW="711000" imgH="2286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E4ED36D-F1CA-48EF-B9B4-C14A49F87A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95800" y="4079631"/>
                        <a:ext cx="71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4BB50DE9-C0D1-4E76-937C-193E0F8B3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914267"/>
              </p:ext>
            </p:extLst>
          </p:nvPr>
        </p:nvGraphicFramePr>
        <p:xfrm>
          <a:off x="4495800" y="4355123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" name="Equation" r:id="rId24" imgW="672840" imgH="228600" progId="Equation.DSMT4">
                  <p:embed/>
                </p:oleObj>
              </mc:Choice>
              <mc:Fallback>
                <p:oleObj name="Equation" r:id="rId24" imgW="672840" imgH="2286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AD0B6A7F-4207-4C79-82C5-8D41950D45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95800" y="4355123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4C3FE97D-DF38-46D1-8805-A4F9C9CBE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880030"/>
              </p:ext>
            </p:extLst>
          </p:nvPr>
        </p:nvGraphicFramePr>
        <p:xfrm>
          <a:off x="4495800" y="4648200"/>
          <a:ext cx="673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Equation" r:id="rId26" imgW="672840" imgH="228600" progId="Equation.DSMT4">
                  <p:embed/>
                </p:oleObj>
              </mc:Choice>
              <mc:Fallback>
                <p:oleObj name="Equation" r:id="rId26" imgW="672840" imgH="2286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22EC7B9D-F611-4D03-AAAB-E9294DF157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95800" y="4648200"/>
                        <a:ext cx="673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15312BDD-B31A-4CA8-B0C9-59B3B2D32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350151"/>
              </p:ext>
            </p:extLst>
          </p:nvPr>
        </p:nvGraphicFramePr>
        <p:xfrm>
          <a:off x="4572000" y="84582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0" name="Equation" r:id="rId28" imgW="736560" imgH="406080" progId="Equation.DSMT4">
                  <p:embed/>
                </p:oleObj>
              </mc:Choice>
              <mc:Fallback>
                <p:oleObj name="Equation" r:id="rId28" imgW="736560" imgH="4060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8DD38F30-22C4-4537-AD18-2EE5B5F71F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572000" y="8458200"/>
                        <a:ext cx="736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11AF891B-9DCA-48A4-A110-C9BCD01B4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538653"/>
              </p:ext>
            </p:extLst>
          </p:nvPr>
        </p:nvGraphicFramePr>
        <p:xfrm>
          <a:off x="4572000" y="8915400"/>
          <a:ext cx="68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" name="Equation" r:id="rId30" imgW="685800" imgH="406080" progId="Equation.DSMT4">
                  <p:embed/>
                </p:oleObj>
              </mc:Choice>
              <mc:Fallback>
                <p:oleObj name="Equation" r:id="rId30" imgW="685800" imgH="4060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92F7C244-46F4-45F9-8A6D-AC4AC6872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572000" y="8915400"/>
                        <a:ext cx="68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1412DABA-F418-434D-BE60-5DCBB4E665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387535"/>
              </p:ext>
            </p:extLst>
          </p:nvPr>
        </p:nvGraphicFramePr>
        <p:xfrm>
          <a:off x="5867400" y="8458200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" name="Equation" r:id="rId32" imgW="825480" imgH="406080" progId="Equation.DSMT4">
                  <p:embed/>
                </p:oleObj>
              </mc:Choice>
              <mc:Fallback>
                <p:oleObj name="Equation" r:id="rId32" imgW="825480" imgH="4060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08A253B7-52FE-4323-BEA7-17C211290F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867400" y="8458200"/>
                        <a:ext cx="825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8F121E52-ABC9-443F-98E5-B81944385E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807304"/>
              </p:ext>
            </p:extLst>
          </p:nvPr>
        </p:nvGraphicFramePr>
        <p:xfrm>
          <a:off x="5867400" y="8915400"/>
          <a:ext cx="78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3" name="Equation" r:id="rId34" imgW="787320" imgH="406080" progId="Equation.DSMT4">
                  <p:embed/>
                </p:oleObj>
              </mc:Choice>
              <mc:Fallback>
                <p:oleObj name="Equation" r:id="rId34" imgW="787320" imgH="4060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3BB6F6DB-6B1D-446C-9946-097BC8B9B1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867400" y="8915400"/>
                        <a:ext cx="787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31110045-DDF7-478E-9F11-7A2CC9237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176391"/>
              </p:ext>
            </p:extLst>
          </p:nvPr>
        </p:nvGraphicFramePr>
        <p:xfrm>
          <a:off x="2655277" y="480646"/>
          <a:ext cx="1054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" name="Equation" r:id="rId36" imgW="1054080" imgH="190440" progId="Equation.DSMT4">
                  <p:embed/>
                </p:oleObj>
              </mc:Choice>
              <mc:Fallback>
                <p:oleObj name="Equation" r:id="rId36" imgW="1054080" imgH="19044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711E2A85-7A95-4752-B8A6-FE1A4C0CF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655277" y="480646"/>
                        <a:ext cx="1054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DD0B9A12-E40C-4CEB-AFA4-BEA6BD071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194957"/>
              </p:ext>
            </p:extLst>
          </p:nvPr>
        </p:nvGraphicFramePr>
        <p:xfrm>
          <a:off x="2702169" y="3393831"/>
          <a:ext cx="990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5" name="Equation" r:id="rId38" imgW="990360" imgH="190440" progId="Equation.DSMT4">
                  <p:embed/>
                </p:oleObj>
              </mc:Choice>
              <mc:Fallback>
                <p:oleObj name="Equation" r:id="rId38" imgW="990360" imgH="19044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81C8F2D8-9B5D-457B-8478-99B6AA141A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702169" y="3393831"/>
                        <a:ext cx="990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6A39A0A8-7C2C-4273-A362-7EA9D3A39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006337"/>
              </p:ext>
            </p:extLst>
          </p:nvPr>
        </p:nvGraphicFramePr>
        <p:xfrm>
          <a:off x="4267200" y="609600"/>
          <a:ext cx="137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6" name="Equation" r:id="rId40" imgW="1371600" imgH="190440" progId="Equation.DSMT4">
                  <p:embed/>
                </p:oleObj>
              </mc:Choice>
              <mc:Fallback>
                <p:oleObj name="Equation" r:id="rId40" imgW="1371600" imgH="19044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7C8A9261-6ADE-4818-BB33-CAE6DB7186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267200" y="609600"/>
                        <a:ext cx="1371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A961C7C8-5EC5-40B2-B82C-953F0A9C2D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374813"/>
              </p:ext>
            </p:extLst>
          </p:nvPr>
        </p:nvGraphicFramePr>
        <p:xfrm>
          <a:off x="4267200" y="5334000"/>
          <a:ext cx="15240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" name="Equation" r:id="rId42" imgW="1523880" imgH="190440" progId="Equation.DSMT4">
                  <p:embed/>
                </p:oleObj>
              </mc:Choice>
              <mc:Fallback>
                <p:oleObj name="Equation" r:id="rId42" imgW="1523880" imgH="19044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B866690F-26FB-47CB-BA75-CD9B29E0AE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267200" y="5334000"/>
                        <a:ext cx="15240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D8FB24B-F118-4D53-A879-E47CA8F49995}"/>
              </a:ext>
            </a:extLst>
          </p:cNvPr>
          <p:cNvCxnSpPr>
            <a:cxnSpLocks/>
          </p:cNvCxnSpPr>
          <p:nvPr/>
        </p:nvCxnSpPr>
        <p:spPr>
          <a:xfrm>
            <a:off x="433113" y="337324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7FE7E6B-A382-4E45-9FB0-EE2BFCF48CCE}"/>
              </a:ext>
            </a:extLst>
          </p:cNvPr>
          <p:cNvCxnSpPr>
            <a:cxnSpLocks/>
          </p:cNvCxnSpPr>
          <p:nvPr/>
        </p:nvCxnSpPr>
        <p:spPr>
          <a:xfrm>
            <a:off x="3916180" y="5117123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F11C2FD-A6C6-4253-8517-AFD0A29A199B}"/>
              </a:ext>
            </a:extLst>
          </p:cNvPr>
          <p:cNvCxnSpPr>
            <a:cxnSpLocks/>
          </p:cNvCxnSpPr>
          <p:nvPr/>
        </p:nvCxnSpPr>
        <p:spPr>
          <a:xfrm>
            <a:off x="427164" y="6610987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64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145</Words>
  <Application>Microsoft Office PowerPoint</Application>
  <PresentationFormat>Custom</PresentationFormat>
  <Paragraphs>24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11</cp:revision>
  <dcterms:created xsi:type="dcterms:W3CDTF">2018-02-20T16:18:51Z</dcterms:created>
  <dcterms:modified xsi:type="dcterms:W3CDTF">2018-02-20T16:45:36Z</dcterms:modified>
</cp:coreProperties>
</file>