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3" r:id="rId4"/>
    <p:sldId id="264" r:id="rId5"/>
    <p:sldId id="259" r:id="rId6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9" d="100"/>
          <a:sy n="79" d="100"/>
        </p:scale>
        <p:origin x="1092" y="2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53C072-CB5F-4034-A009-9C83EF5910E9}" type="datetimeFigureOut">
              <a:rPr lang="en-US" smtClean="0"/>
              <a:t>6/13/2022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74925" y="1257300"/>
            <a:ext cx="262255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D0D6DD-35ED-4343-B0F4-02BC3D9B9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624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25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25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25" dirty="0"/>
              <a:t> </a:t>
            </a:r>
            <a:r>
              <a:rPr dirty="0"/>
              <a:t>2015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25" dirty="0"/>
              <a:t> </a:t>
            </a:r>
            <a:r>
              <a:rPr dirty="0"/>
              <a:t>2015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25" dirty="0"/>
              <a:t> </a:t>
            </a:r>
            <a:r>
              <a:rPr dirty="0"/>
              <a:t>2015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795645" y="9811273"/>
            <a:ext cx="1416684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25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26" Type="http://schemas.openxmlformats.org/officeDocument/2006/relationships/image" Target="../media/image13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image" Target="../media/image1.JPG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Relationship Id="rId22" Type="http://schemas.openxmlformats.org/officeDocument/2006/relationships/image" Target="../media/image11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20.wmf"/><Relationship Id="rId18" Type="http://schemas.openxmlformats.org/officeDocument/2006/relationships/oleObject" Target="../embeddings/oleObject20.bin"/><Relationship Id="rId26" Type="http://schemas.openxmlformats.org/officeDocument/2006/relationships/image" Target="../media/image29.png"/><Relationship Id="rId3" Type="http://schemas.openxmlformats.org/officeDocument/2006/relationships/image" Target="../media/image15.png"/><Relationship Id="rId21" Type="http://schemas.openxmlformats.org/officeDocument/2006/relationships/image" Target="../media/image24.wmf"/><Relationship Id="rId7" Type="http://schemas.openxmlformats.org/officeDocument/2006/relationships/image" Target="../media/image17.wmf"/><Relationship Id="rId12" Type="http://schemas.openxmlformats.org/officeDocument/2006/relationships/oleObject" Target="../embeddings/oleObject17.bin"/><Relationship Id="rId17" Type="http://schemas.openxmlformats.org/officeDocument/2006/relationships/image" Target="../media/image22.wmf"/><Relationship Id="rId25" Type="http://schemas.openxmlformats.org/officeDocument/2006/relationships/image" Target="../media/image28.png"/><Relationship Id="rId2" Type="http://schemas.openxmlformats.org/officeDocument/2006/relationships/image" Target="../media/image14.JPG"/><Relationship Id="rId16" Type="http://schemas.openxmlformats.org/officeDocument/2006/relationships/oleObject" Target="../embeddings/oleObject19.bin"/><Relationship Id="rId20" Type="http://schemas.openxmlformats.org/officeDocument/2006/relationships/oleObject" Target="../embeddings/oleObject21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9.wmf"/><Relationship Id="rId24" Type="http://schemas.openxmlformats.org/officeDocument/2006/relationships/image" Target="../media/image27.png"/><Relationship Id="rId5" Type="http://schemas.openxmlformats.org/officeDocument/2006/relationships/image" Target="../media/image16.wmf"/><Relationship Id="rId15" Type="http://schemas.openxmlformats.org/officeDocument/2006/relationships/image" Target="../media/image21.wmf"/><Relationship Id="rId23" Type="http://schemas.openxmlformats.org/officeDocument/2006/relationships/image" Target="../media/image26.png"/><Relationship Id="rId10" Type="http://schemas.openxmlformats.org/officeDocument/2006/relationships/oleObject" Target="../embeddings/oleObject16.bin"/><Relationship Id="rId19" Type="http://schemas.openxmlformats.org/officeDocument/2006/relationships/image" Target="../media/image23.w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18.bin"/><Relationship Id="rId22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36.wmf"/><Relationship Id="rId18" Type="http://schemas.openxmlformats.org/officeDocument/2006/relationships/oleObject" Target="../embeddings/oleObject29.bin"/><Relationship Id="rId3" Type="http://schemas.openxmlformats.org/officeDocument/2006/relationships/image" Target="../media/image31.png"/><Relationship Id="rId21" Type="http://schemas.openxmlformats.org/officeDocument/2006/relationships/image" Target="../media/image40.wmf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38.wmf"/><Relationship Id="rId2" Type="http://schemas.openxmlformats.org/officeDocument/2006/relationships/image" Target="../media/image30.JPG"/><Relationship Id="rId16" Type="http://schemas.openxmlformats.org/officeDocument/2006/relationships/oleObject" Target="../embeddings/oleObject28.bin"/><Relationship Id="rId20" Type="http://schemas.openxmlformats.org/officeDocument/2006/relationships/oleObject" Target="../embeddings/oleObject30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35.wmf"/><Relationship Id="rId5" Type="http://schemas.openxmlformats.org/officeDocument/2006/relationships/image" Target="../media/image32.wmf"/><Relationship Id="rId15" Type="http://schemas.openxmlformats.org/officeDocument/2006/relationships/image" Target="../media/image37.wmf"/><Relationship Id="rId23" Type="http://schemas.openxmlformats.org/officeDocument/2006/relationships/image" Target="../media/image41.wmf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39.w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34.wmf"/><Relationship Id="rId14" Type="http://schemas.openxmlformats.org/officeDocument/2006/relationships/oleObject" Target="../embeddings/oleObject27.bin"/><Relationship Id="rId22" Type="http://schemas.openxmlformats.org/officeDocument/2006/relationships/oleObject" Target="../embeddings/oleObject3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35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13" Type="http://schemas.openxmlformats.org/officeDocument/2006/relationships/oleObject" Target="../embeddings/oleObject41.bin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52.wmf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9.w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0" Type="http://schemas.openxmlformats.org/officeDocument/2006/relationships/image" Target="../media/image51.wmf"/><Relationship Id="rId4" Type="http://schemas.openxmlformats.org/officeDocument/2006/relationships/image" Target="../media/image48.wmf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5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47788A0A-2555-44B0-2FD5-282DD920E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668052"/>
              </p:ext>
            </p:extLst>
          </p:nvPr>
        </p:nvGraphicFramePr>
        <p:xfrm>
          <a:off x="399573" y="1157044"/>
          <a:ext cx="3268662" cy="175451"/>
        </p:xfrm>
        <a:graphic>
          <a:graphicData uri="http://schemas.openxmlformats.org/drawingml/2006/table">
            <a:tbl>
              <a:tblPr/>
              <a:tblGrid>
                <a:gridCol w="3268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Simplify the expression given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FD0D1CD4-7F21-0188-1B1E-2A97A4DDF3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261779"/>
              </p:ext>
            </p:extLst>
          </p:nvPr>
        </p:nvGraphicFramePr>
        <p:xfrm>
          <a:off x="3833740" y="1152084"/>
          <a:ext cx="3268662" cy="368364"/>
        </p:xfrm>
        <a:graphic>
          <a:graphicData uri="http://schemas.openxmlformats.org/drawingml/2006/table">
            <a:tbl>
              <a:tblPr/>
              <a:tblGrid>
                <a:gridCol w="3268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Simplify the expression below.  Give your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answer in standard form.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" name="Text Box 1">
            <a:extLst>
              <a:ext uri="{FF2B5EF4-FFF2-40B4-BE49-F238E27FC236}">
                <a16:creationId xmlns:a16="http://schemas.microsoft.com/office/drawing/2014/main" id="{21529ABE-F048-1975-9101-D359F1EAC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4770" y="4834305"/>
            <a:ext cx="2483485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5" name="Text Box 1">
            <a:extLst>
              <a:ext uri="{FF2B5EF4-FFF2-40B4-BE49-F238E27FC236}">
                <a16:creationId xmlns:a16="http://schemas.microsoft.com/office/drawing/2014/main" id="{9D7A0FCA-27EC-79DE-09A2-99FA0C907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1531" y="2741915"/>
            <a:ext cx="2483485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9" name="Text Box 1">
            <a:extLst>
              <a:ext uri="{FF2B5EF4-FFF2-40B4-BE49-F238E27FC236}">
                <a16:creationId xmlns:a16="http://schemas.microsoft.com/office/drawing/2014/main" id="{8CC49988-F583-D840-E699-968F9FBCC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1531" y="4794493"/>
            <a:ext cx="2483485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60" name="Text Box 6">
            <a:extLst>
              <a:ext uri="{FF2B5EF4-FFF2-40B4-BE49-F238E27FC236}">
                <a16:creationId xmlns:a16="http://schemas.microsoft.com/office/drawing/2014/main" id="{E184F52A-02AF-F927-1FC7-1CCE53B87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5005" y="2741915"/>
            <a:ext cx="603250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D1890BE1-8C8A-097A-8525-4BB2B1AF73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4539681"/>
              </p:ext>
            </p:extLst>
          </p:nvPr>
        </p:nvGraphicFramePr>
        <p:xfrm>
          <a:off x="1724342" y="1489353"/>
          <a:ext cx="812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12520" imgH="406080" progId="Equation.DSMT4">
                  <p:embed/>
                </p:oleObj>
              </mc:Choice>
              <mc:Fallback>
                <p:oleObj name="Equation" r:id="rId3" imgW="812520" imgH="406080" progId="Equation.DSMT4">
                  <p:embed/>
                  <p:pic>
                    <p:nvPicPr>
                      <p:cNvPr id="40" name="Object 3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4342" y="1489353"/>
                        <a:ext cx="812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62">
            <a:extLst>
              <a:ext uri="{FF2B5EF4-FFF2-40B4-BE49-F238E27FC236}">
                <a16:creationId xmlns:a16="http://schemas.microsoft.com/office/drawing/2014/main" id="{9EFE3315-1770-3FBE-3933-C61F18BA13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8989363"/>
              </p:ext>
            </p:extLst>
          </p:nvPr>
        </p:nvGraphicFramePr>
        <p:xfrm>
          <a:off x="4366258" y="1679853"/>
          <a:ext cx="23622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61960" imgH="215640" progId="Equation.DSMT4">
                  <p:embed/>
                </p:oleObj>
              </mc:Choice>
              <mc:Fallback>
                <p:oleObj name="Equation" r:id="rId5" imgW="2361960" imgH="215640" progId="Equation.DSMT4">
                  <p:embed/>
                  <p:pic>
                    <p:nvPicPr>
                      <p:cNvPr id="41" name="Object 4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66258" y="1679853"/>
                        <a:ext cx="23622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64">
            <a:extLst>
              <a:ext uri="{FF2B5EF4-FFF2-40B4-BE49-F238E27FC236}">
                <a16:creationId xmlns:a16="http://schemas.microsoft.com/office/drawing/2014/main" id="{90C69B0F-320A-B247-6E3B-1CCB1955D4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3056986"/>
              </p:ext>
            </p:extLst>
          </p:nvPr>
        </p:nvGraphicFramePr>
        <p:xfrm>
          <a:off x="1661707" y="3784012"/>
          <a:ext cx="622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22080" imgH="215640" progId="Equation.DSMT4">
                  <p:embed/>
                </p:oleObj>
              </mc:Choice>
              <mc:Fallback>
                <p:oleObj name="Equation" r:id="rId7" imgW="622080" imgH="215640" progId="Equation.DSMT4">
                  <p:embed/>
                  <p:pic>
                    <p:nvPicPr>
                      <p:cNvPr id="43" name="Object 4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61707" y="3784012"/>
                        <a:ext cx="622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67">
            <a:extLst>
              <a:ext uri="{FF2B5EF4-FFF2-40B4-BE49-F238E27FC236}">
                <a16:creationId xmlns:a16="http://schemas.microsoft.com/office/drawing/2014/main" id="{05AD5231-F837-5A23-901F-92F55A4210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351075"/>
              </p:ext>
            </p:extLst>
          </p:nvPr>
        </p:nvGraphicFramePr>
        <p:xfrm>
          <a:off x="4992988" y="3772206"/>
          <a:ext cx="1536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36480" imgH="380880" progId="Equation.DSMT4">
                  <p:embed/>
                </p:oleObj>
              </mc:Choice>
              <mc:Fallback>
                <p:oleObj name="Equation" r:id="rId9" imgW="1536480" imgH="380880" progId="Equation.DSMT4">
                  <p:embed/>
                  <p:pic>
                    <p:nvPicPr>
                      <p:cNvPr id="44" name="Object 4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92988" y="3772206"/>
                        <a:ext cx="15367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object 13">
            <a:extLst>
              <a:ext uri="{FF2B5EF4-FFF2-40B4-BE49-F238E27FC236}">
                <a16:creationId xmlns:a16="http://schemas.microsoft.com/office/drawing/2014/main" id="{E9228ED3-D8D2-B201-5F10-666DF6CFDB52}"/>
              </a:ext>
            </a:extLst>
          </p:cNvPr>
          <p:cNvSpPr txBox="1">
            <a:spLocks/>
          </p:cNvSpPr>
          <p:nvPr/>
        </p:nvSpPr>
        <p:spPr>
          <a:xfrm rot="16200000">
            <a:off x="-826594" y="4545465"/>
            <a:ext cx="1992284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pc="-5" dirty="0">
                <a:solidFill>
                  <a:schemeClr val="bg1"/>
                </a:solidFill>
              </a:rPr>
              <a:t>© Gina Wilson (All Things Algebra),</a:t>
            </a:r>
            <a:r>
              <a:rPr lang="en-US" spc="35" dirty="0">
                <a:solidFill>
                  <a:schemeClr val="bg1"/>
                </a:solidFill>
              </a:rPr>
              <a:t> </a:t>
            </a:r>
            <a:r>
              <a:rPr lang="en-US" spc="-5" dirty="0">
                <a:solidFill>
                  <a:schemeClr val="bg1"/>
                </a:solidFill>
              </a:rPr>
              <a:t>2012-2018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DD783E6-1C84-DF39-1F7F-CE4A727BA6D7}"/>
              </a:ext>
            </a:extLst>
          </p:cNvPr>
          <p:cNvSpPr/>
          <p:nvPr/>
        </p:nvSpPr>
        <p:spPr>
          <a:xfrm>
            <a:off x="432453" y="5283197"/>
            <a:ext cx="2791149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Factor each polynomial completely.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73" name="Text Box 807">
            <a:extLst>
              <a:ext uri="{FF2B5EF4-FFF2-40B4-BE49-F238E27FC236}">
                <a16:creationId xmlns:a16="http://schemas.microsoft.com/office/drawing/2014/main" id="{8E08F5F2-9D89-7810-7BFF-CFC3E030D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079" y="2351857"/>
            <a:ext cx="2129155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C. </a:t>
            </a: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D. 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0" name="Object 79">
            <a:extLst>
              <a:ext uri="{FF2B5EF4-FFF2-40B4-BE49-F238E27FC236}">
                <a16:creationId xmlns:a16="http://schemas.microsoft.com/office/drawing/2014/main" id="{4DE25709-5247-BFA1-33CD-7C78223CC5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7864740"/>
              </p:ext>
            </p:extLst>
          </p:nvPr>
        </p:nvGraphicFramePr>
        <p:xfrm>
          <a:off x="794471" y="2434669"/>
          <a:ext cx="342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42720" imgH="228600" progId="Equation.DSMT4">
                  <p:embed/>
                </p:oleObj>
              </mc:Choice>
              <mc:Fallback>
                <p:oleObj name="Equation" r:id="rId11" imgW="342720" imgH="228600" progId="Equation.DSMT4">
                  <p:embed/>
                  <p:pic>
                    <p:nvPicPr>
                      <p:cNvPr id="53" name="Object 52">
                        <a:extLst>
                          <a:ext uri="{FF2B5EF4-FFF2-40B4-BE49-F238E27FC236}">
                            <a16:creationId xmlns:a16="http://schemas.microsoft.com/office/drawing/2014/main" id="{E19D96FB-6BED-8FCF-5A86-5F68EE1D59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94471" y="2434669"/>
                        <a:ext cx="342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80">
            <a:extLst>
              <a:ext uri="{FF2B5EF4-FFF2-40B4-BE49-F238E27FC236}">
                <a16:creationId xmlns:a16="http://schemas.microsoft.com/office/drawing/2014/main" id="{384DA152-47AC-617E-5EF7-055316EA09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3588912"/>
              </p:ext>
            </p:extLst>
          </p:nvPr>
        </p:nvGraphicFramePr>
        <p:xfrm>
          <a:off x="794471" y="2891869"/>
          <a:ext cx="495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95000" imgH="228600" progId="Equation.DSMT4">
                  <p:embed/>
                </p:oleObj>
              </mc:Choice>
              <mc:Fallback>
                <p:oleObj name="Equation" r:id="rId13" imgW="495000" imgH="228600" progId="Equation.DSMT4">
                  <p:embed/>
                  <p:pic>
                    <p:nvPicPr>
                      <p:cNvPr id="54" name="Object 53">
                        <a:extLst>
                          <a:ext uri="{FF2B5EF4-FFF2-40B4-BE49-F238E27FC236}">
                            <a16:creationId xmlns:a16="http://schemas.microsoft.com/office/drawing/2014/main" id="{67DA71E7-3341-780B-84E8-0332438A3C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94471" y="2891869"/>
                        <a:ext cx="495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81">
            <a:extLst>
              <a:ext uri="{FF2B5EF4-FFF2-40B4-BE49-F238E27FC236}">
                <a16:creationId xmlns:a16="http://schemas.microsoft.com/office/drawing/2014/main" id="{A2A9117D-3C5E-BA2E-297B-3E479E6C88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2961229"/>
              </p:ext>
            </p:extLst>
          </p:nvPr>
        </p:nvGraphicFramePr>
        <p:xfrm>
          <a:off x="1936803" y="2348198"/>
          <a:ext cx="304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04560" imgH="380880" progId="Equation.DSMT4">
                  <p:embed/>
                </p:oleObj>
              </mc:Choice>
              <mc:Fallback>
                <p:oleObj name="Equation" r:id="rId15" imgW="304560" imgH="380880" progId="Equation.DSMT4">
                  <p:embed/>
                  <p:pic>
                    <p:nvPicPr>
                      <p:cNvPr id="55" name="Object 54">
                        <a:extLst>
                          <a:ext uri="{FF2B5EF4-FFF2-40B4-BE49-F238E27FC236}">
                            <a16:creationId xmlns:a16="http://schemas.microsoft.com/office/drawing/2014/main" id="{694B187C-A7D0-F013-A590-7AE1D9E7B8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936803" y="2348198"/>
                        <a:ext cx="304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Object 82">
            <a:extLst>
              <a:ext uri="{FF2B5EF4-FFF2-40B4-BE49-F238E27FC236}">
                <a16:creationId xmlns:a16="http://schemas.microsoft.com/office/drawing/2014/main" id="{EB77F507-67B5-CF77-96F8-735A4A37CE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9562934"/>
              </p:ext>
            </p:extLst>
          </p:nvPr>
        </p:nvGraphicFramePr>
        <p:xfrm>
          <a:off x="1972857" y="2812162"/>
          <a:ext cx="228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28600" imgH="380880" progId="Equation.DSMT4">
                  <p:embed/>
                </p:oleObj>
              </mc:Choice>
              <mc:Fallback>
                <p:oleObj name="Equation" r:id="rId17" imgW="228600" imgH="380880" progId="Equation.DSMT4">
                  <p:embed/>
                  <p:pic>
                    <p:nvPicPr>
                      <p:cNvPr id="56" name="Object 55">
                        <a:extLst>
                          <a:ext uri="{FF2B5EF4-FFF2-40B4-BE49-F238E27FC236}">
                            <a16:creationId xmlns:a16="http://schemas.microsoft.com/office/drawing/2014/main" id="{73FE6182-309F-CEFB-2204-E125A30B08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972857" y="2812162"/>
                        <a:ext cx="228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Table 83">
            <a:extLst>
              <a:ext uri="{FF2B5EF4-FFF2-40B4-BE49-F238E27FC236}">
                <a16:creationId xmlns:a16="http://schemas.microsoft.com/office/drawing/2014/main" id="{F96568BC-92CD-0851-9B96-02A67B89ED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857877"/>
              </p:ext>
            </p:extLst>
          </p:nvPr>
        </p:nvGraphicFramePr>
        <p:xfrm>
          <a:off x="399573" y="3236630"/>
          <a:ext cx="3268662" cy="368364"/>
        </p:xfrm>
        <a:graphic>
          <a:graphicData uri="http://schemas.openxmlformats.org/drawingml/2006/table">
            <a:tbl>
              <a:tblPr/>
              <a:tblGrid>
                <a:gridCol w="3268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Simplify the expression below.  Give your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answer in standard form.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5" name="Table 84">
            <a:extLst>
              <a:ext uri="{FF2B5EF4-FFF2-40B4-BE49-F238E27FC236}">
                <a16:creationId xmlns:a16="http://schemas.microsoft.com/office/drawing/2014/main" id="{D0F2BDA3-3FF3-1763-2B49-0CFA43066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876259"/>
              </p:ext>
            </p:extLst>
          </p:nvPr>
        </p:nvGraphicFramePr>
        <p:xfrm>
          <a:off x="3833740" y="3229382"/>
          <a:ext cx="3268662" cy="368364"/>
        </p:xfrm>
        <a:graphic>
          <a:graphicData uri="http://schemas.openxmlformats.org/drawingml/2006/table">
            <a:tbl>
              <a:tblPr/>
              <a:tblGrid>
                <a:gridCol w="3268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Simplify the expression below.  Give your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answer in standard form.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6" name="Text Box 140">
            <a:extLst>
              <a:ext uri="{FF2B5EF4-FFF2-40B4-BE49-F238E27FC236}">
                <a16:creationId xmlns:a16="http://schemas.microsoft.com/office/drawing/2014/main" id="{AA61E4AF-E212-C22C-851B-CF84CB5126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9761" y="7125968"/>
            <a:ext cx="2675255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87" name="Text Box 140">
            <a:extLst>
              <a:ext uri="{FF2B5EF4-FFF2-40B4-BE49-F238E27FC236}">
                <a16:creationId xmlns:a16="http://schemas.microsoft.com/office/drawing/2014/main" id="{E6681BD4-B11E-777D-6E5E-32DEE4CAF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7125968"/>
            <a:ext cx="2675255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3730099-6475-CB2A-7A52-3E96F573CC09}"/>
              </a:ext>
            </a:extLst>
          </p:cNvPr>
          <p:cNvSpPr/>
          <p:nvPr/>
        </p:nvSpPr>
        <p:spPr>
          <a:xfrm>
            <a:off x="418008" y="5522484"/>
            <a:ext cx="30328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5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55F0B95-EA6B-C561-26CB-1391D17E9883}"/>
              </a:ext>
            </a:extLst>
          </p:cNvPr>
          <p:cNvSpPr/>
          <p:nvPr/>
        </p:nvSpPr>
        <p:spPr>
          <a:xfrm>
            <a:off x="3872167" y="5509964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6.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90" name="Object 89">
            <a:extLst>
              <a:ext uri="{FF2B5EF4-FFF2-40B4-BE49-F238E27FC236}">
                <a16:creationId xmlns:a16="http://schemas.microsoft.com/office/drawing/2014/main" id="{C28DCFBB-1C0C-16BF-48AA-F955252EF1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579486"/>
              </p:ext>
            </p:extLst>
          </p:nvPr>
        </p:nvGraphicFramePr>
        <p:xfrm>
          <a:off x="698500" y="5558265"/>
          <a:ext cx="6858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685800" imgH="190440" progId="Equation.DSMT4">
                  <p:embed/>
                </p:oleObj>
              </mc:Choice>
              <mc:Fallback>
                <p:oleObj name="Equation" r:id="rId19" imgW="685800" imgH="190440" progId="Equation.DSMT4">
                  <p:embed/>
                  <p:pic>
                    <p:nvPicPr>
                      <p:cNvPr id="70" name="Object 69">
                        <a:extLst>
                          <a:ext uri="{FF2B5EF4-FFF2-40B4-BE49-F238E27FC236}">
                            <a16:creationId xmlns:a16="http://schemas.microsoft.com/office/drawing/2014/main" id="{EBE982C3-53AD-617B-4355-0F081BBF46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98500" y="5558265"/>
                        <a:ext cx="6858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Object 90">
            <a:extLst>
              <a:ext uri="{FF2B5EF4-FFF2-40B4-BE49-F238E27FC236}">
                <a16:creationId xmlns:a16="http://schemas.microsoft.com/office/drawing/2014/main" id="{5B0607CB-7344-617C-7A65-F08BCF27DE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0596733"/>
              </p:ext>
            </p:extLst>
          </p:nvPr>
        </p:nvGraphicFramePr>
        <p:xfrm>
          <a:off x="4136452" y="5545519"/>
          <a:ext cx="6223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622080" imgH="190440" progId="Equation.DSMT4">
                  <p:embed/>
                </p:oleObj>
              </mc:Choice>
              <mc:Fallback>
                <p:oleObj name="Equation" r:id="rId21" imgW="622080" imgH="190440" progId="Equation.DSMT4">
                  <p:embed/>
                  <p:pic>
                    <p:nvPicPr>
                      <p:cNvPr id="72" name="Object 71">
                        <a:extLst>
                          <a:ext uri="{FF2B5EF4-FFF2-40B4-BE49-F238E27FC236}">
                            <a16:creationId xmlns:a16="http://schemas.microsoft.com/office/drawing/2014/main" id="{6E05A0AE-F0F2-A2A6-A6B0-43889949B3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136452" y="5545519"/>
                        <a:ext cx="6223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" name="Text Box 140">
            <a:extLst>
              <a:ext uri="{FF2B5EF4-FFF2-40B4-BE49-F238E27FC236}">
                <a16:creationId xmlns:a16="http://schemas.microsoft.com/office/drawing/2014/main" id="{C0ED94D8-2FA1-9350-D42B-4E754C052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9761" y="9205027"/>
            <a:ext cx="2675255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93" name="Text Box 140">
            <a:extLst>
              <a:ext uri="{FF2B5EF4-FFF2-40B4-BE49-F238E27FC236}">
                <a16:creationId xmlns:a16="http://schemas.microsoft.com/office/drawing/2014/main" id="{B10B2751-894F-C934-1C65-662E4E192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9205027"/>
            <a:ext cx="2675255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48DEF53-43DC-585F-1AA8-E6486F228FC4}"/>
              </a:ext>
            </a:extLst>
          </p:cNvPr>
          <p:cNvSpPr/>
          <p:nvPr/>
        </p:nvSpPr>
        <p:spPr>
          <a:xfrm>
            <a:off x="448057" y="7591010"/>
            <a:ext cx="309700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latin typeface="Century Gothic" panose="020B0502020202020204" pitchFamily="34" charset="0"/>
                <a:ea typeface="Calibri" panose="020F0502020204030204" pitchFamily="34" charset="0"/>
              </a:rPr>
              <a:t>7</a:t>
            </a:r>
            <a:r>
              <a:rPr lang="en-US" sz="115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5480065-7444-470D-BB53-65B2B87E88C4}"/>
              </a:ext>
            </a:extLst>
          </p:cNvPr>
          <p:cNvSpPr/>
          <p:nvPr/>
        </p:nvSpPr>
        <p:spPr>
          <a:xfrm>
            <a:off x="3883152" y="7591010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8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96" name="Object 95">
            <a:extLst>
              <a:ext uri="{FF2B5EF4-FFF2-40B4-BE49-F238E27FC236}">
                <a16:creationId xmlns:a16="http://schemas.microsoft.com/office/drawing/2014/main" id="{29A95090-EEA0-CD19-BAC4-5B6649ECC8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954924"/>
              </p:ext>
            </p:extLst>
          </p:nvPr>
        </p:nvGraphicFramePr>
        <p:xfrm>
          <a:off x="731402" y="7619545"/>
          <a:ext cx="10795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079280" imgH="190440" progId="Equation.DSMT4">
                  <p:embed/>
                </p:oleObj>
              </mc:Choice>
              <mc:Fallback>
                <p:oleObj name="Equation" r:id="rId23" imgW="1079280" imgH="190440" progId="Equation.DSMT4">
                  <p:embed/>
                  <p:pic>
                    <p:nvPicPr>
                      <p:cNvPr id="78" name="Object 77">
                        <a:extLst>
                          <a:ext uri="{FF2B5EF4-FFF2-40B4-BE49-F238E27FC236}">
                            <a16:creationId xmlns:a16="http://schemas.microsoft.com/office/drawing/2014/main" id="{2A8D91E5-1B45-0F2A-A08F-A22273A9D2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31402" y="7619545"/>
                        <a:ext cx="10795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" name="Object 96">
            <a:extLst>
              <a:ext uri="{FF2B5EF4-FFF2-40B4-BE49-F238E27FC236}">
                <a16:creationId xmlns:a16="http://schemas.microsoft.com/office/drawing/2014/main" id="{0A6BEC50-B832-C90A-CC31-68EB0B8626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1418388"/>
              </p:ext>
            </p:extLst>
          </p:nvPr>
        </p:nvGraphicFramePr>
        <p:xfrm>
          <a:off x="4175045" y="7619545"/>
          <a:ext cx="9525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952200" imgH="190440" progId="Equation.DSMT4">
                  <p:embed/>
                </p:oleObj>
              </mc:Choice>
              <mc:Fallback>
                <p:oleObj name="Equation" r:id="rId25" imgW="952200" imgH="190440" progId="Equation.DSMT4">
                  <p:embed/>
                  <p:pic>
                    <p:nvPicPr>
                      <p:cNvPr id="79" name="Object 78">
                        <a:extLst>
                          <a:ext uri="{FF2B5EF4-FFF2-40B4-BE49-F238E27FC236}">
                            <a16:creationId xmlns:a16="http://schemas.microsoft.com/office/drawing/2014/main" id="{36A356FE-4618-3CF1-1364-40C4EA4D97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175045" y="7619545"/>
                        <a:ext cx="9525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582920C-43EE-C667-5A93-B50BBC851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585" y="5798101"/>
            <a:ext cx="3907875" cy="853514"/>
          </a:xfrm>
          <a:prstGeom prst="rect">
            <a:avLst/>
          </a:prstGeom>
        </p:spPr>
      </p:pic>
      <p:sp>
        <p:nvSpPr>
          <p:cNvPr id="145" name="Rectangle 144">
            <a:extLst>
              <a:ext uri="{FF2B5EF4-FFF2-40B4-BE49-F238E27FC236}">
                <a16:creationId xmlns:a16="http://schemas.microsoft.com/office/drawing/2014/main" id="{EF45CE85-CE8F-FC9B-C673-98C2794A6A0C}"/>
              </a:ext>
            </a:extLst>
          </p:cNvPr>
          <p:cNvSpPr/>
          <p:nvPr/>
        </p:nvSpPr>
        <p:spPr>
          <a:xfrm>
            <a:off x="448057" y="399472"/>
            <a:ext cx="420339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9.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Graph the function and identify all key characteristics: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146" name="Object 145">
            <a:extLst>
              <a:ext uri="{FF2B5EF4-FFF2-40B4-BE49-F238E27FC236}">
                <a16:creationId xmlns:a16="http://schemas.microsoft.com/office/drawing/2014/main" id="{15C901CE-A8A6-1A53-4724-4AD914A306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6791355"/>
              </p:ext>
            </p:extLst>
          </p:nvPr>
        </p:nvGraphicFramePr>
        <p:xfrm>
          <a:off x="4452485" y="420435"/>
          <a:ext cx="1939925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03240" imgH="215640" progId="Equation.DSMT4">
                  <p:embed/>
                </p:oleObj>
              </mc:Choice>
              <mc:Fallback>
                <p:oleObj name="Equation" r:id="rId4" imgW="1803240" imgH="215640" progId="Equation.DSMT4">
                  <p:embed/>
                  <p:pic>
                    <p:nvPicPr>
                      <p:cNvPr id="95" name="Object 94">
                        <a:extLst>
                          <a:ext uri="{FF2B5EF4-FFF2-40B4-BE49-F238E27FC236}">
                            <a16:creationId xmlns:a16="http://schemas.microsoft.com/office/drawing/2014/main" id="{CF9D8B4E-4FAC-24DC-B20F-F1062361C5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52485" y="420435"/>
                        <a:ext cx="1939925" cy="233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" name="Rectangle 231">
            <a:extLst>
              <a:ext uri="{FF2B5EF4-FFF2-40B4-BE49-F238E27FC236}">
                <a16:creationId xmlns:a16="http://schemas.microsoft.com/office/drawing/2014/main" id="{CC464E98-ADB0-E78E-2C8E-2BC8947113EB}"/>
              </a:ext>
            </a:extLst>
          </p:cNvPr>
          <p:cNvSpPr/>
          <p:nvPr/>
        </p:nvSpPr>
        <p:spPr>
          <a:xfrm>
            <a:off x="415119" y="3585200"/>
            <a:ext cx="683047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10.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If an even-degree polynomial function has a positive leading coefficient, which graph could 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      represent this function?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33" name="Text Box 72">
            <a:extLst>
              <a:ext uri="{FF2B5EF4-FFF2-40B4-BE49-F238E27FC236}">
                <a16:creationId xmlns:a16="http://schemas.microsoft.com/office/drawing/2014/main" id="{92FED35B-8ED9-7C0A-0476-D8D5A04227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2342" y="4952595"/>
            <a:ext cx="603250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237" name="Table 236">
            <a:extLst>
              <a:ext uri="{FF2B5EF4-FFF2-40B4-BE49-F238E27FC236}">
                <a16:creationId xmlns:a16="http://schemas.microsoft.com/office/drawing/2014/main" id="{581B100C-9BC5-0052-5510-072EACE76B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708147"/>
              </p:ext>
            </p:extLst>
          </p:nvPr>
        </p:nvGraphicFramePr>
        <p:xfrm>
          <a:off x="400056" y="5463985"/>
          <a:ext cx="7067543" cy="175451"/>
        </p:xfrm>
        <a:graphic>
          <a:graphicData uri="http://schemas.openxmlformats.org/drawingml/2006/table">
            <a:tbl>
              <a:tblPr/>
              <a:tblGrid>
                <a:gridCol w="7067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11.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Which of the following describes the end behavior of the function below?  Check all that apply.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8" name="Object 237">
            <a:extLst>
              <a:ext uri="{FF2B5EF4-FFF2-40B4-BE49-F238E27FC236}">
                <a16:creationId xmlns:a16="http://schemas.microsoft.com/office/drawing/2014/main" id="{D86BE077-A72C-D100-FF59-16A33FD24B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5694605"/>
              </p:ext>
            </p:extLst>
          </p:nvPr>
        </p:nvGraphicFramePr>
        <p:xfrm>
          <a:off x="999287" y="5850839"/>
          <a:ext cx="160020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07880" imgH="215640" progId="Equation.DSMT4">
                  <p:embed/>
                </p:oleObj>
              </mc:Choice>
              <mc:Fallback>
                <p:oleObj name="Equation" r:id="rId6" imgW="1307880" imgH="215640" progId="Equation.DSMT4">
                  <p:embed/>
                  <p:pic>
                    <p:nvPicPr>
                      <p:cNvPr id="151" name="Object 150">
                        <a:extLst>
                          <a:ext uri="{FF2B5EF4-FFF2-40B4-BE49-F238E27FC236}">
                            <a16:creationId xmlns:a16="http://schemas.microsoft.com/office/drawing/2014/main" id="{5CEB8AFD-67D7-8438-EB8F-D18BAE1C1F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99287" y="5850839"/>
                        <a:ext cx="1600200" cy="263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9" name="Rectangle 238">
            <a:extLst>
              <a:ext uri="{FF2B5EF4-FFF2-40B4-BE49-F238E27FC236}">
                <a16:creationId xmlns:a16="http://schemas.microsoft.com/office/drawing/2014/main" id="{8DE90023-EC4F-73AB-9F91-EA25F04B3E6F}"/>
              </a:ext>
            </a:extLst>
          </p:cNvPr>
          <p:cNvSpPr/>
          <p:nvPr/>
        </p:nvSpPr>
        <p:spPr>
          <a:xfrm>
            <a:off x="569890" y="4013256"/>
            <a:ext cx="683047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A.                                   B.                                      C.                                     D.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270" name="Object 269">
            <a:extLst>
              <a:ext uri="{FF2B5EF4-FFF2-40B4-BE49-F238E27FC236}">
                <a16:creationId xmlns:a16="http://schemas.microsoft.com/office/drawing/2014/main" id="{EFDBF6C6-F3E7-F306-2529-6A6679600C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75730" y="5942212"/>
          <a:ext cx="1181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80800" imgH="203040" progId="Equation.DSMT4">
                  <p:embed/>
                </p:oleObj>
              </mc:Choice>
              <mc:Fallback>
                <p:oleObj name="Equation" r:id="rId8" imgW="1180800" imgH="203040" progId="Equation.DSMT4">
                  <p:embed/>
                  <p:pic>
                    <p:nvPicPr>
                      <p:cNvPr id="168" name="Object 167">
                        <a:extLst>
                          <a:ext uri="{FF2B5EF4-FFF2-40B4-BE49-F238E27FC236}">
                            <a16:creationId xmlns:a16="http://schemas.microsoft.com/office/drawing/2014/main" id="{F4AFB4A2-9396-CCEF-788D-41339BA213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675730" y="5942212"/>
                        <a:ext cx="11811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" name="Object 270">
            <a:extLst>
              <a:ext uri="{FF2B5EF4-FFF2-40B4-BE49-F238E27FC236}">
                <a16:creationId xmlns:a16="http://schemas.microsoft.com/office/drawing/2014/main" id="{B0E315F2-9B13-8D2C-32BE-17C2A2CB76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81698" y="6282152"/>
          <a:ext cx="1104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04840" imgH="203040" progId="Equation.DSMT4">
                  <p:embed/>
                </p:oleObj>
              </mc:Choice>
              <mc:Fallback>
                <p:oleObj name="Equation" r:id="rId10" imgW="1104840" imgH="203040" progId="Equation.DSMT4">
                  <p:embed/>
                  <p:pic>
                    <p:nvPicPr>
                      <p:cNvPr id="227" name="Object 226">
                        <a:extLst>
                          <a:ext uri="{FF2B5EF4-FFF2-40B4-BE49-F238E27FC236}">
                            <a16:creationId xmlns:a16="http://schemas.microsoft.com/office/drawing/2014/main" id="{4B7B8663-8FA7-47CC-B25E-148870C909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681698" y="6282152"/>
                        <a:ext cx="11049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" name="Object 271">
            <a:extLst>
              <a:ext uri="{FF2B5EF4-FFF2-40B4-BE49-F238E27FC236}">
                <a16:creationId xmlns:a16="http://schemas.microsoft.com/office/drawing/2014/main" id="{46A1BC20-C2CF-D0CB-395E-88237B1B60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40948" y="5950247"/>
          <a:ext cx="12573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57120" imgH="203040" progId="Equation.DSMT4">
                  <p:embed/>
                </p:oleObj>
              </mc:Choice>
              <mc:Fallback>
                <p:oleObj name="Equation" r:id="rId12" imgW="1257120" imgH="203040" progId="Equation.DSMT4">
                  <p:embed/>
                  <p:pic>
                    <p:nvPicPr>
                      <p:cNvPr id="228" name="Object 227">
                        <a:extLst>
                          <a:ext uri="{FF2B5EF4-FFF2-40B4-BE49-F238E27FC236}">
                            <a16:creationId xmlns:a16="http://schemas.microsoft.com/office/drawing/2014/main" id="{E3CAC56B-BD50-3D5D-EF91-5343789EE5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740948" y="5950247"/>
                        <a:ext cx="12573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" name="Object 272">
            <a:extLst>
              <a:ext uri="{FF2B5EF4-FFF2-40B4-BE49-F238E27FC236}">
                <a16:creationId xmlns:a16="http://schemas.microsoft.com/office/drawing/2014/main" id="{D2557A39-75CC-4399-63BE-44126474AB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84434" y="6288653"/>
          <a:ext cx="1181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80800" imgH="203040" progId="Equation.DSMT4">
                  <p:embed/>
                </p:oleObj>
              </mc:Choice>
              <mc:Fallback>
                <p:oleObj name="Equation" r:id="rId14" imgW="1180800" imgH="203040" progId="Equation.DSMT4">
                  <p:embed/>
                  <p:pic>
                    <p:nvPicPr>
                      <p:cNvPr id="229" name="Object 228">
                        <a:extLst>
                          <a:ext uri="{FF2B5EF4-FFF2-40B4-BE49-F238E27FC236}">
                            <a16:creationId xmlns:a16="http://schemas.microsoft.com/office/drawing/2014/main" id="{AFA7A24B-2935-3691-A3BE-E560D187D1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784434" y="6288653"/>
                        <a:ext cx="11811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" name="Rectangle 286">
            <a:extLst>
              <a:ext uri="{FF2B5EF4-FFF2-40B4-BE49-F238E27FC236}">
                <a16:creationId xmlns:a16="http://schemas.microsoft.com/office/drawing/2014/main" id="{2E82F9A3-C720-1521-2BD5-D93A37FCAB48}"/>
              </a:ext>
            </a:extLst>
          </p:cNvPr>
          <p:cNvSpPr/>
          <p:nvPr/>
        </p:nvSpPr>
        <p:spPr>
          <a:xfrm>
            <a:off x="410561" y="6841470"/>
            <a:ext cx="3510313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12.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Identify the zeros, their multiplicity, and the 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       effect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bounces or intersects) on the graph 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       of the function given below.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288" name="Object 287">
            <a:extLst>
              <a:ext uri="{FF2B5EF4-FFF2-40B4-BE49-F238E27FC236}">
                <a16:creationId xmlns:a16="http://schemas.microsoft.com/office/drawing/2014/main" id="{A12A9777-49B3-3EC0-90DE-B742D35556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316420"/>
              </p:ext>
            </p:extLst>
          </p:nvPr>
        </p:nvGraphicFramePr>
        <p:xfrm>
          <a:off x="1216421" y="7571802"/>
          <a:ext cx="1878013" cy="2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52480" imgH="215640" progId="Equation.DSMT4">
                  <p:embed/>
                </p:oleObj>
              </mc:Choice>
              <mc:Fallback>
                <p:oleObj name="Equation" r:id="rId16" imgW="1752480" imgH="215640" progId="Equation.DSMT4">
                  <p:embed/>
                  <p:pic>
                    <p:nvPicPr>
                      <p:cNvPr id="235" name="Object 234">
                        <a:extLst>
                          <a:ext uri="{FF2B5EF4-FFF2-40B4-BE49-F238E27FC236}">
                            <a16:creationId xmlns:a16="http://schemas.microsoft.com/office/drawing/2014/main" id="{6CA20407-5E90-AB0D-5C6A-D69F4D218E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216421" y="7571802"/>
                        <a:ext cx="1878013" cy="231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" name="object 19">
            <a:extLst>
              <a:ext uri="{FF2B5EF4-FFF2-40B4-BE49-F238E27FC236}">
                <a16:creationId xmlns:a16="http://schemas.microsoft.com/office/drawing/2014/main" id="{9F4DE7D7-99E7-588F-30C8-EFB3990576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401513"/>
              </p:ext>
            </p:extLst>
          </p:nvPr>
        </p:nvGraphicFramePr>
        <p:xfrm>
          <a:off x="752968" y="8037992"/>
          <a:ext cx="2916937" cy="1325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8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5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050" b="1" spc="-5" dirty="0">
                          <a:latin typeface="Century Gothic" panose="020B0502020202020204" pitchFamily="34" charset="0"/>
                          <a:cs typeface="Tahoma"/>
                        </a:rPr>
                        <a:t>Zero</a:t>
                      </a:r>
                      <a:endParaRPr sz="105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0" marB="0" anchor="ctr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050" b="1" spc="-5" dirty="0">
                          <a:latin typeface="Century Gothic" panose="020B0502020202020204" pitchFamily="34" charset="0"/>
                          <a:cs typeface="Tahoma"/>
                        </a:rPr>
                        <a:t>Multiplicity</a:t>
                      </a:r>
                      <a:endParaRPr sz="105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0" marB="0" anchor="ctr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050" b="1" spc="-5" dirty="0">
                          <a:latin typeface="Century Gothic" panose="020B0502020202020204" pitchFamily="34" charset="0"/>
                          <a:cs typeface="Tahoma"/>
                        </a:rPr>
                        <a:t>Effect</a:t>
                      </a:r>
                      <a:endParaRPr sz="105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0" marB="0" anchor="ctr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0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0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0" name="Rectangle 289">
            <a:extLst>
              <a:ext uri="{FF2B5EF4-FFF2-40B4-BE49-F238E27FC236}">
                <a16:creationId xmlns:a16="http://schemas.microsoft.com/office/drawing/2014/main" id="{7C8F8029-B7F7-30DE-1005-85E37CB671B8}"/>
              </a:ext>
            </a:extLst>
          </p:cNvPr>
          <p:cNvSpPr/>
          <p:nvPr/>
        </p:nvSpPr>
        <p:spPr>
          <a:xfrm>
            <a:off x="3850948" y="6847293"/>
            <a:ext cx="348519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13.  </a:t>
            </a:r>
            <a:r>
              <a:rPr lang="en-US" sz="11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The graph of a polynomial function has zeros </a:t>
            </a:r>
            <a:br>
              <a:rPr lang="en-US" sz="11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</a:br>
            <a:r>
              <a:rPr lang="en-US" sz="11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       of 3 (multiplicity 2), and -7 (multiplicity 1).  </a:t>
            </a:r>
            <a:br>
              <a:rPr lang="en-US" sz="11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</a:br>
            <a:r>
              <a:rPr lang="en-US" sz="11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       Write a function in standard form that could </a:t>
            </a:r>
            <a:br>
              <a:rPr lang="en-US" sz="11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</a:br>
            <a:r>
              <a:rPr lang="en-US" sz="1100" dirty="0"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       represent this function.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91" name="Text Box 140">
            <a:extLst>
              <a:ext uri="{FF2B5EF4-FFF2-40B4-BE49-F238E27FC236}">
                <a16:creationId xmlns:a16="http://schemas.microsoft.com/office/drawing/2014/main" id="{0253B7F2-4E79-4A40-1BFA-209BDF94CA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0337" y="9096866"/>
            <a:ext cx="2675255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CA0D6DC9-B185-3C7D-7E3F-115731DB7678}"/>
              </a:ext>
            </a:extLst>
          </p:cNvPr>
          <p:cNvGrpSpPr/>
          <p:nvPr/>
        </p:nvGrpSpPr>
        <p:grpSpPr>
          <a:xfrm>
            <a:off x="4356601" y="768868"/>
            <a:ext cx="2958696" cy="2693309"/>
            <a:chOff x="4356601" y="743931"/>
            <a:chExt cx="2958696" cy="2693309"/>
          </a:xfrm>
        </p:grpSpPr>
        <p:sp>
          <p:nvSpPr>
            <p:cNvPr id="293" name="object 4">
              <a:extLst>
                <a:ext uri="{FF2B5EF4-FFF2-40B4-BE49-F238E27FC236}">
                  <a16:creationId xmlns:a16="http://schemas.microsoft.com/office/drawing/2014/main" id="{777B668F-0645-4070-525D-16FA73498C15}"/>
                </a:ext>
              </a:extLst>
            </p:cNvPr>
            <p:cNvSpPr txBox="1"/>
            <p:nvPr/>
          </p:nvSpPr>
          <p:spPr>
            <a:xfrm>
              <a:off x="4356601" y="743931"/>
              <a:ext cx="2958696" cy="267374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ct val="180000"/>
                </a:lnSpc>
                <a:defRPr/>
              </a:pPr>
              <a:r>
                <a:rPr lang="en-US" sz="1000" b="1" spc="-5" dirty="0">
                  <a:latin typeface="Century Gothic" panose="020B0502020202020204" pitchFamily="34" charset="0"/>
                  <a:cs typeface="Tahoma"/>
                </a:rPr>
                <a:t>Domain: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_____________________________________</a:t>
              </a:r>
              <a:br>
                <a:rPr lang="en-US" sz="1000" u="sng" spc="-5" dirty="0">
                  <a:latin typeface="Century Gothic" panose="020B0502020202020204" pitchFamily="34" charset="0"/>
                  <a:cs typeface="Times New Roman"/>
                </a:rPr>
              </a:b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Range:</a:t>
              </a:r>
              <a:r>
                <a:rPr lang="en-US" sz="105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______________________________________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Rel. Maximum(s):</a:t>
              </a:r>
              <a:r>
                <a:rPr lang="en-US" sz="10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____________________________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Rel. Minimum(s):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_____________________________</a:t>
              </a:r>
              <a:b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Inc. Intervals:</a:t>
              </a:r>
              <a: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_______________________________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</a:rPr>
                <a:t>Dec. Intervals:</a:t>
              </a:r>
              <a:r>
                <a:rPr lang="en-US" sz="12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______________________________</a:t>
              </a:r>
              <a:b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Zeros:</a:t>
              </a:r>
              <a:r>
                <a:rPr lang="en-US" sz="105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</a:t>
              </a:r>
              <a:r>
                <a:rPr lang="en-US" sz="1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______________________________________</a:t>
              </a:r>
            </a:p>
            <a:p>
              <a:pPr>
                <a:lnSpc>
                  <a:spcPct val="180000"/>
                </a:lnSpc>
                <a:defRPr/>
              </a:pPr>
              <a: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+mn-cs"/>
                </a:rPr>
                <a:t>End Behavior: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As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                     _______</a:t>
              </a:r>
              <a:b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</a:b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ahoma" panose="020B0604030504040204" pitchFamily="34" charset="0"/>
                </a:rPr>
                <a:t>                              As                              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_______</a:t>
              </a:r>
              <a:endParaRPr lang="en-US" sz="12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94" name="Object 293">
              <a:extLst>
                <a:ext uri="{FF2B5EF4-FFF2-40B4-BE49-F238E27FC236}">
                  <a16:creationId xmlns:a16="http://schemas.microsoft.com/office/drawing/2014/main" id="{003CD53A-9DFD-C99F-2AE0-77C054422F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11607" y="2915768"/>
            <a:ext cx="10033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002960" imgH="228600" progId="Equation.DSMT4">
                    <p:embed/>
                  </p:oleObj>
                </mc:Choice>
                <mc:Fallback>
                  <p:oleObj name="Equation" r:id="rId18" imgW="1002960" imgH="228600" progId="Equation.DSMT4">
                    <p:embed/>
                    <p:pic>
                      <p:nvPicPr>
                        <p:cNvPr id="142" name="Object 141">
                          <a:extLst>
                            <a:ext uri="{FF2B5EF4-FFF2-40B4-BE49-F238E27FC236}">
                              <a16:creationId xmlns:a16="http://schemas.microsoft.com/office/drawing/2014/main" id="{51BA9F9B-AB9D-E5B3-9BC5-F4C5FE2F299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5611607" y="2915768"/>
                          <a:ext cx="10033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5" name="Object 294">
              <a:extLst>
                <a:ext uri="{FF2B5EF4-FFF2-40B4-BE49-F238E27FC236}">
                  <a16:creationId xmlns:a16="http://schemas.microsoft.com/office/drawing/2014/main" id="{D553C562-C088-C51F-DEAA-3506E21C5D9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36553" y="3208640"/>
            <a:ext cx="9144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914400" imgH="228600" progId="Equation.DSMT4">
                    <p:embed/>
                  </p:oleObj>
                </mc:Choice>
                <mc:Fallback>
                  <p:oleObj name="Equation" r:id="rId20" imgW="914400" imgH="228600" progId="Equation.DSMT4">
                    <p:embed/>
                    <p:pic>
                      <p:nvPicPr>
                        <p:cNvPr id="143" name="Object 142">
                          <a:extLst>
                            <a:ext uri="{FF2B5EF4-FFF2-40B4-BE49-F238E27FC236}">
                              <a16:creationId xmlns:a16="http://schemas.microsoft.com/office/drawing/2014/main" id="{EAA95E0F-6031-57FA-F433-AA40472AA0B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5636553" y="3208640"/>
                          <a:ext cx="9144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D7344E34-270F-D357-55DD-36528DBAE90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17855" y="572648"/>
            <a:ext cx="2969009" cy="29690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0DD34F-8516-15F6-53E9-AD21F917CC6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5169" y="3987460"/>
            <a:ext cx="1487553" cy="13961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F3C9DE-B0AE-697E-FD6B-BC00CBD3E03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328435" y="3975887"/>
            <a:ext cx="1481456" cy="13961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50D32A1-057F-77DA-75AC-6DEE6E9259C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924194" y="4007645"/>
            <a:ext cx="1487553" cy="13961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3743556-60C2-399A-DB82-908640BC0621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369480" y="4016087"/>
            <a:ext cx="1487553" cy="1396105"/>
          </a:xfrm>
          <a:prstGeom prst="rect">
            <a:avLst/>
          </a:prstGeom>
        </p:spPr>
      </p:pic>
      <p:sp>
        <p:nvSpPr>
          <p:cNvPr id="296" name="Text Box 96">
            <a:extLst>
              <a:ext uri="{FF2B5EF4-FFF2-40B4-BE49-F238E27FC236}">
                <a16:creationId xmlns:a16="http://schemas.microsoft.com/office/drawing/2014/main" id="{340F4268-7095-788C-D907-F2C52F91E0BE}"/>
              </a:ext>
            </a:extLst>
          </p:cNvPr>
          <p:cNvSpPr txBox="1"/>
          <p:nvPr/>
        </p:nvSpPr>
        <p:spPr>
          <a:xfrm>
            <a:off x="3465149" y="5894529"/>
            <a:ext cx="335915" cy="316230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</a:t>
            </a:r>
          </a:p>
        </p:txBody>
      </p:sp>
      <p:sp>
        <p:nvSpPr>
          <p:cNvPr id="297" name="Text Box 116">
            <a:extLst>
              <a:ext uri="{FF2B5EF4-FFF2-40B4-BE49-F238E27FC236}">
                <a16:creationId xmlns:a16="http://schemas.microsoft.com/office/drawing/2014/main" id="{063C7DB3-B291-4411-2A71-6ED1FBFFBE9E}"/>
              </a:ext>
            </a:extLst>
          </p:cNvPr>
          <p:cNvSpPr txBox="1"/>
          <p:nvPr/>
        </p:nvSpPr>
        <p:spPr>
          <a:xfrm>
            <a:off x="3487282" y="6254873"/>
            <a:ext cx="335915" cy="316230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</a:t>
            </a:r>
          </a:p>
        </p:txBody>
      </p:sp>
      <p:sp>
        <p:nvSpPr>
          <p:cNvPr id="298" name="Text Box 121">
            <a:extLst>
              <a:ext uri="{FF2B5EF4-FFF2-40B4-BE49-F238E27FC236}">
                <a16:creationId xmlns:a16="http://schemas.microsoft.com/office/drawing/2014/main" id="{D8D698FF-3CB5-93E5-A652-FD5B312FF37D}"/>
              </a:ext>
            </a:extLst>
          </p:cNvPr>
          <p:cNvSpPr txBox="1"/>
          <p:nvPr/>
        </p:nvSpPr>
        <p:spPr>
          <a:xfrm>
            <a:off x="5377004" y="5843391"/>
            <a:ext cx="335915" cy="316230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9" name="Text Box 122">
            <a:extLst>
              <a:ext uri="{FF2B5EF4-FFF2-40B4-BE49-F238E27FC236}">
                <a16:creationId xmlns:a16="http://schemas.microsoft.com/office/drawing/2014/main" id="{245A1587-17D2-A8C0-0223-842E34C1FDFF}"/>
              </a:ext>
            </a:extLst>
          </p:cNvPr>
          <p:cNvSpPr txBox="1"/>
          <p:nvPr/>
        </p:nvSpPr>
        <p:spPr>
          <a:xfrm>
            <a:off x="5377004" y="6181122"/>
            <a:ext cx="335915" cy="316230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580D05-B884-EDC1-A92D-1E0C61B59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9652" y="8352245"/>
            <a:ext cx="2188654" cy="1261981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9D2CF1DE-18F7-EE84-C40D-38F6ACDEBAA0}"/>
              </a:ext>
            </a:extLst>
          </p:cNvPr>
          <p:cNvSpPr/>
          <p:nvPr/>
        </p:nvSpPr>
        <p:spPr>
          <a:xfrm>
            <a:off x="417317" y="375762"/>
            <a:ext cx="6813699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Solve each equation by factoring.  Simplify all irrational and complex solutions.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F86D25D-BF5C-364A-2E77-39F7197EE4EB}"/>
              </a:ext>
            </a:extLst>
          </p:cNvPr>
          <p:cNvSpPr/>
          <p:nvPr/>
        </p:nvSpPr>
        <p:spPr>
          <a:xfrm>
            <a:off x="418951" y="603333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14.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63" name="Text Box 45">
            <a:extLst>
              <a:ext uri="{FF2B5EF4-FFF2-40B4-BE49-F238E27FC236}">
                <a16:creationId xmlns:a16="http://schemas.microsoft.com/office/drawing/2014/main" id="{A8F1BAE5-CC9B-7E14-04BE-07C93A7416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9957" y="3370646"/>
            <a:ext cx="2077085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64" name="Text Box 45">
            <a:extLst>
              <a:ext uri="{FF2B5EF4-FFF2-40B4-BE49-F238E27FC236}">
                <a16:creationId xmlns:a16="http://schemas.microsoft.com/office/drawing/2014/main" id="{09786710-0D08-4AF0-6957-AB136C6E6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2403" y="3370646"/>
            <a:ext cx="2077085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65" name="Object 64">
            <a:extLst>
              <a:ext uri="{FF2B5EF4-FFF2-40B4-BE49-F238E27FC236}">
                <a16:creationId xmlns:a16="http://schemas.microsoft.com/office/drawing/2014/main" id="{A713D093-97BB-1D41-BFB6-D7A186966B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1110" y="633064"/>
          <a:ext cx="8509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0680" imgH="190440" progId="Equation.DSMT4">
                  <p:embed/>
                </p:oleObj>
              </mc:Choice>
              <mc:Fallback>
                <p:oleObj name="Equation" r:id="rId4" imgW="850680" imgH="190440" progId="Equation.DSMT4">
                  <p:embed/>
                  <p:pic>
                    <p:nvPicPr>
                      <p:cNvPr id="43" name="Object 42">
                        <a:extLst>
                          <a:ext uri="{FF2B5EF4-FFF2-40B4-BE49-F238E27FC236}">
                            <a16:creationId xmlns:a16="http://schemas.microsoft.com/office/drawing/2014/main" id="{70DE5F10-7886-EA33-E820-D12516A555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71110" y="633064"/>
                        <a:ext cx="8509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65">
            <a:extLst>
              <a:ext uri="{FF2B5EF4-FFF2-40B4-BE49-F238E27FC236}">
                <a16:creationId xmlns:a16="http://schemas.microsoft.com/office/drawing/2014/main" id="{9A9E2049-2FED-0306-20BB-E974249895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0919" y="636659"/>
          <a:ext cx="6985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98400" imgH="190440" progId="Equation.DSMT4">
                  <p:embed/>
                </p:oleObj>
              </mc:Choice>
              <mc:Fallback>
                <p:oleObj name="Equation" r:id="rId6" imgW="698400" imgH="190440" progId="Equation.DSMT4">
                  <p:embed/>
                  <p:pic>
                    <p:nvPicPr>
                      <p:cNvPr id="44" name="Object 43">
                        <a:extLst>
                          <a:ext uri="{FF2B5EF4-FFF2-40B4-BE49-F238E27FC236}">
                            <a16:creationId xmlns:a16="http://schemas.microsoft.com/office/drawing/2014/main" id="{F98B2422-2517-6D1F-CCA1-F39D7DA398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260919" y="636659"/>
                        <a:ext cx="6985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Rectangle 66">
            <a:extLst>
              <a:ext uri="{FF2B5EF4-FFF2-40B4-BE49-F238E27FC236}">
                <a16:creationId xmlns:a16="http://schemas.microsoft.com/office/drawing/2014/main" id="{28F5E2D9-5BAB-99BB-9ABC-0E6635428D66}"/>
              </a:ext>
            </a:extLst>
          </p:cNvPr>
          <p:cNvSpPr/>
          <p:nvPr/>
        </p:nvSpPr>
        <p:spPr>
          <a:xfrm>
            <a:off x="3883489" y="603333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15.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4377733-291D-954A-CDE4-CAC11091E599}"/>
              </a:ext>
            </a:extLst>
          </p:cNvPr>
          <p:cNvSpPr/>
          <p:nvPr/>
        </p:nvSpPr>
        <p:spPr>
          <a:xfrm>
            <a:off x="410675" y="3821668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16.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69" name="Object 68">
            <a:extLst>
              <a:ext uri="{FF2B5EF4-FFF2-40B4-BE49-F238E27FC236}">
                <a16:creationId xmlns:a16="http://schemas.microsoft.com/office/drawing/2014/main" id="{E32945ED-7F99-620E-B15D-41F5AB1212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6873" y="3846717"/>
          <a:ext cx="11811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80800" imgH="190440" progId="Equation.DSMT4">
                  <p:embed/>
                </p:oleObj>
              </mc:Choice>
              <mc:Fallback>
                <p:oleObj name="Equation" r:id="rId8" imgW="1180800" imgH="190440" progId="Equation.DSMT4">
                  <p:embed/>
                  <p:pic>
                    <p:nvPicPr>
                      <p:cNvPr id="51" name="Object 50">
                        <a:extLst>
                          <a:ext uri="{FF2B5EF4-FFF2-40B4-BE49-F238E27FC236}">
                            <a16:creationId xmlns:a16="http://schemas.microsoft.com/office/drawing/2014/main" id="{37B7E678-A4FC-E7E6-8AA3-B0A1838FD1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66873" y="3846717"/>
                        <a:ext cx="11811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69">
            <a:extLst>
              <a:ext uri="{FF2B5EF4-FFF2-40B4-BE49-F238E27FC236}">
                <a16:creationId xmlns:a16="http://schemas.microsoft.com/office/drawing/2014/main" id="{BEAF5C29-40E5-5B5B-52D9-47282F74A3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58429" y="3855953"/>
          <a:ext cx="12573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57120" imgH="190440" progId="Equation.DSMT4">
                  <p:embed/>
                </p:oleObj>
              </mc:Choice>
              <mc:Fallback>
                <p:oleObj name="Equation" r:id="rId10" imgW="1257120" imgH="190440" progId="Equation.DSMT4">
                  <p:embed/>
                  <p:pic>
                    <p:nvPicPr>
                      <p:cNvPr id="52" name="Object 51">
                        <a:extLst>
                          <a:ext uri="{FF2B5EF4-FFF2-40B4-BE49-F238E27FC236}">
                            <a16:creationId xmlns:a16="http://schemas.microsoft.com/office/drawing/2014/main" id="{38846FE3-4AD8-8AB8-7082-D657BFF21C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258429" y="3855953"/>
                        <a:ext cx="12573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Rectangle 70">
            <a:extLst>
              <a:ext uri="{FF2B5EF4-FFF2-40B4-BE49-F238E27FC236}">
                <a16:creationId xmlns:a16="http://schemas.microsoft.com/office/drawing/2014/main" id="{2CC712E9-57DD-70D7-7FA7-DEB1A768131F}"/>
              </a:ext>
            </a:extLst>
          </p:cNvPr>
          <p:cNvSpPr/>
          <p:nvPr/>
        </p:nvSpPr>
        <p:spPr>
          <a:xfrm>
            <a:off x="3902921" y="3821668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17.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72" name="Text Box 45">
            <a:extLst>
              <a:ext uri="{FF2B5EF4-FFF2-40B4-BE49-F238E27FC236}">
                <a16:creationId xmlns:a16="http://schemas.microsoft.com/office/drawing/2014/main" id="{C909AAB6-B879-786F-2281-019B4E25F5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1787" y="6522520"/>
            <a:ext cx="2077085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73" name="Text Box 45">
            <a:extLst>
              <a:ext uri="{FF2B5EF4-FFF2-40B4-BE49-F238E27FC236}">
                <a16:creationId xmlns:a16="http://schemas.microsoft.com/office/drawing/2014/main" id="{C59F9D0A-7B76-3504-1572-31CADE77B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0095" y="6516658"/>
            <a:ext cx="2077085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74" name="Table 73">
            <a:extLst>
              <a:ext uri="{FF2B5EF4-FFF2-40B4-BE49-F238E27FC236}">
                <a16:creationId xmlns:a16="http://schemas.microsoft.com/office/drawing/2014/main" id="{FB40C2A9-798A-3FF1-B1E6-402FAE1A5C6C}"/>
              </a:ext>
            </a:extLst>
          </p:cNvPr>
          <p:cNvGraphicFramePr>
            <a:graphicFrameLocks noGrp="1"/>
          </p:cNvGraphicFramePr>
          <p:nvPr/>
        </p:nvGraphicFramePr>
        <p:xfrm>
          <a:off x="408828" y="7018845"/>
          <a:ext cx="6773862" cy="385890"/>
        </p:xfrm>
        <a:graphic>
          <a:graphicData uri="http://schemas.openxmlformats.org/drawingml/2006/table">
            <a:tbl>
              <a:tblPr/>
              <a:tblGrid>
                <a:gridCol w="6773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18.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Which of the following represents the zeros of the function </a:t>
                      </a:r>
                      <a:r>
                        <a:rPr lang="en-US" sz="1200" b="1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200" b="1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 = </a:t>
                      </a:r>
                      <a:r>
                        <a:rPr lang="en-US" sz="1200" b="1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sz="1100" b="1" baseline="300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+ 512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?</a:t>
                      </a: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Check all that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apply.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9" name="Object 78">
            <a:extLst>
              <a:ext uri="{FF2B5EF4-FFF2-40B4-BE49-F238E27FC236}">
                <a16:creationId xmlns:a16="http://schemas.microsoft.com/office/drawing/2014/main" id="{3664A97E-D7C2-6FF5-AC0D-B7E2335927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2251" y="8479536"/>
          <a:ext cx="1270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6720" imgH="177480" progId="Equation.DSMT4">
                  <p:embed/>
                </p:oleObj>
              </mc:Choice>
              <mc:Fallback>
                <p:oleObj name="Equation" r:id="rId12" imgW="126720" imgH="177480" progId="Equation.DSMT4">
                  <p:embed/>
                  <p:pic>
                    <p:nvPicPr>
                      <p:cNvPr id="49" name="Object 48">
                        <a:extLst>
                          <a:ext uri="{FF2B5EF4-FFF2-40B4-BE49-F238E27FC236}">
                            <a16:creationId xmlns:a16="http://schemas.microsoft.com/office/drawing/2014/main" id="{28CDAC56-52F5-22AE-852C-6C8ADAC968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562251" y="8479536"/>
                        <a:ext cx="1270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ct 79">
            <a:extLst>
              <a:ext uri="{FF2B5EF4-FFF2-40B4-BE49-F238E27FC236}">
                <a16:creationId xmlns:a16="http://schemas.microsoft.com/office/drawing/2014/main" id="{100CB6A8-3641-30C0-C6CC-AE93E61C18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9051" y="8479536"/>
          <a:ext cx="2032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3040" imgH="177480" progId="Equation.DSMT4">
                  <p:embed/>
                </p:oleObj>
              </mc:Choice>
              <mc:Fallback>
                <p:oleObj name="Equation" r:id="rId14" imgW="203040" imgH="177480" progId="Equation.DSMT4">
                  <p:embed/>
                  <p:pic>
                    <p:nvPicPr>
                      <p:cNvPr id="56" name="Object 55">
                        <a:extLst>
                          <a:ext uri="{FF2B5EF4-FFF2-40B4-BE49-F238E27FC236}">
                            <a16:creationId xmlns:a16="http://schemas.microsoft.com/office/drawing/2014/main" id="{628BF66D-A8C1-D61A-AF83-C13E9D393B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629051" y="8479536"/>
                        <a:ext cx="2032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80">
            <a:extLst>
              <a:ext uri="{FF2B5EF4-FFF2-40B4-BE49-F238E27FC236}">
                <a16:creationId xmlns:a16="http://schemas.microsoft.com/office/drawing/2014/main" id="{B962C48A-135A-E2A5-3E6F-7BDEE3D3EB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0604" y="8804928"/>
          <a:ext cx="520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20560" imgH="228600" progId="Equation.DSMT4">
                  <p:embed/>
                </p:oleObj>
              </mc:Choice>
              <mc:Fallback>
                <p:oleObj name="Equation" r:id="rId16" imgW="520560" imgH="228600" progId="Equation.DSMT4">
                  <p:embed/>
                  <p:pic>
                    <p:nvPicPr>
                      <p:cNvPr id="57" name="Object 56">
                        <a:extLst>
                          <a:ext uri="{FF2B5EF4-FFF2-40B4-BE49-F238E27FC236}">
                            <a16:creationId xmlns:a16="http://schemas.microsoft.com/office/drawing/2014/main" id="{AEC3933B-9278-E104-BA65-13460DC4A2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410604" y="8804928"/>
                        <a:ext cx="520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81">
            <a:extLst>
              <a:ext uri="{FF2B5EF4-FFF2-40B4-BE49-F238E27FC236}">
                <a16:creationId xmlns:a16="http://schemas.microsoft.com/office/drawing/2014/main" id="{E73DCED8-145F-528A-8BDA-AB680D7C19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67879" y="8817628"/>
          <a:ext cx="520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20560" imgH="228600" progId="Equation.DSMT4">
                  <p:embed/>
                </p:oleObj>
              </mc:Choice>
              <mc:Fallback>
                <p:oleObj name="Equation" r:id="rId18" imgW="520560" imgH="228600" progId="Equation.DSMT4">
                  <p:embed/>
                  <p:pic>
                    <p:nvPicPr>
                      <p:cNvPr id="58" name="Object 57">
                        <a:extLst>
                          <a:ext uri="{FF2B5EF4-FFF2-40B4-BE49-F238E27FC236}">
                            <a16:creationId xmlns:a16="http://schemas.microsoft.com/office/drawing/2014/main" id="{2F39A7AF-138A-F76F-63DB-7E225CA82F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467879" y="8817628"/>
                        <a:ext cx="520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Object 82">
            <a:extLst>
              <a:ext uri="{FF2B5EF4-FFF2-40B4-BE49-F238E27FC236}">
                <a16:creationId xmlns:a16="http://schemas.microsoft.com/office/drawing/2014/main" id="{E5DF3FE1-014A-F180-349C-EA6145E51D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04254" y="9158941"/>
          <a:ext cx="571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71320" imgH="228600" progId="Equation.DSMT4">
                  <p:embed/>
                </p:oleObj>
              </mc:Choice>
              <mc:Fallback>
                <p:oleObj name="Equation" r:id="rId20" imgW="571320" imgH="228600" progId="Equation.DSMT4">
                  <p:embed/>
                  <p:pic>
                    <p:nvPicPr>
                      <p:cNvPr id="59" name="Object 58">
                        <a:extLst>
                          <a:ext uri="{FF2B5EF4-FFF2-40B4-BE49-F238E27FC236}">
                            <a16:creationId xmlns:a16="http://schemas.microsoft.com/office/drawing/2014/main" id="{62FE72A5-75CF-BA95-0C31-D383FC905B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404254" y="9158941"/>
                        <a:ext cx="571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Object 83">
            <a:extLst>
              <a:ext uri="{FF2B5EF4-FFF2-40B4-BE49-F238E27FC236}">
                <a16:creationId xmlns:a16="http://schemas.microsoft.com/office/drawing/2014/main" id="{9F74EEB6-CB91-3D04-B5C8-8A8E37CB92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5654" y="9154178"/>
          <a:ext cx="558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558720" imgH="228600" progId="Equation.DSMT4">
                  <p:embed/>
                </p:oleObj>
              </mc:Choice>
              <mc:Fallback>
                <p:oleObj name="Equation" r:id="rId22" imgW="558720" imgH="228600" progId="Equation.DSMT4">
                  <p:embed/>
                  <p:pic>
                    <p:nvPicPr>
                      <p:cNvPr id="60" name="Object 59">
                        <a:extLst>
                          <a:ext uri="{FF2B5EF4-FFF2-40B4-BE49-F238E27FC236}">
                            <a16:creationId xmlns:a16="http://schemas.microsoft.com/office/drawing/2014/main" id="{385D67A3-03B7-F28A-A27F-354EF70E9E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445654" y="9154178"/>
                        <a:ext cx="558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1958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767BBA2-6F72-F4F2-AA7D-6CA9865AB553}"/>
              </a:ext>
            </a:extLst>
          </p:cNvPr>
          <p:cNvSpPr/>
          <p:nvPr/>
        </p:nvSpPr>
        <p:spPr>
          <a:xfrm>
            <a:off x="464437" y="371824"/>
            <a:ext cx="6813699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Find the quotient.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1" name="Text Box 53">
            <a:extLst>
              <a:ext uri="{FF2B5EF4-FFF2-40B4-BE49-F238E27FC236}">
                <a16:creationId xmlns:a16="http://schemas.microsoft.com/office/drawing/2014/main" id="{EB9C469C-5CEA-743C-A644-E5D511008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799" y="3132589"/>
            <a:ext cx="1985459" cy="60638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22" name="Text Box 53">
            <a:extLst>
              <a:ext uri="{FF2B5EF4-FFF2-40B4-BE49-F238E27FC236}">
                <a16:creationId xmlns:a16="http://schemas.microsoft.com/office/drawing/2014/main" id="{7D6A946C-67EB-5958-C109-D259DB2C2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799" y="3132589"/>
            <a:ext cx="1985459" cy="60638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DAAB0E-90A1-80E1-834D-BD5759F3A5E7}"/>
              </a:ext>
            </a:extLst>
          </p:cNvPr>
          <p:cNvSpPr/>
          <p:nvPr/>
        </p:nvSpPr>
        <p:spPr>
          <a:xfrm>
            <a:off x="442666" y="626229"/>
            <a:ext cx="381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19.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2AFEAE9-56E4-836F-B67C-57628A952C99}"/>
              </a:ext>
            </a:extLst>
          </p:cNvPr>
          <p:cNvSpPr/>
          <p:nvPr/>
        </p:nvSpPr>
        <p:spPr>
          <a:xfrm>
            <a:off x="3876146" y="617264"/>
            <a:ext cx="393056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20.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AE95ECAD-E816-7ED0-02F3-944A2CA28A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9646" y="652463"/>
          <a:ext cx="17780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77680" imgH="215640" progId="Equation.DSMT4">
                  <p:embed/>
                </p:oleObj>
              </mc:Choice>
              <mc:Fallback>
                <p:oleObj name="Equation" r:id="rId3" imgW="1777680" imgH="215640" progId="Equation.DSMT4">
                  <p:embed/>
                  <p:pic>
                    <p:nvPicPr>
                      <p:cNvPr id="46" name="Object 45">
                        <a:extLst>
                          <a:ext uri="{FF2B5EF4-FFF2-40B4-BE49-F238E27FC236}">
                            <a16:creationId xmlns:a16="http://schemas.microsoft.com/office/drawing/2014/main" id="{8EE9F3A9-D0D2-BEA4-A812-62C2E51078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9646" y="652463"/>
                        <a:ext cx="17780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907A5A31-C4B8-2D25-0681-58E0B8AD9D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39305" y="646113"/>
          <a:ext cx="18161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15840" imgH="215640" progId="Equation.DSMT4">
                  <p:embed/>
                </p:oleObj>
              </mc:Choice>
              <mc:Fallback>
                <p:oleObj name="Equation" r:id="rId5" imgW="1815840" imgH="215640" progId="Equation.DSMT4">
                  <p:embed/>
                  <p:pic>
                    <p:nvPicPr>
                      <p:cNvPr id="47" name="Object 46">
                        <a:extLst>
                          <a:ext uri="{FF2B5EF4-FFF2-40B4-BE49-F238E27FC236}">
                            <a16:creationId xmlns:a16="http://schemas.microsoft.com/office/drawing/2014/main" id="{472C678C-84FF-74C3-C751-2B2B7053CD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39305" y="646113"/>
                        <a:ext cx="18161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26">
            <a:extLst>
              <a:ext uri="{FF2B5EF4-FFF2-40B4-BE49-F238E27FC236}">
                <a16:creationId xmlns:a16="http://schemas.microsoft.com/office/drawing/2014/main" id="{D9211B65-7FCA-B264-26BE-2CDFAC31E334}"/>
              </a:ext>
            </a:extLst>
          </p:cNvPr>
          <p:cNvSpPr/>
          <p:nvPr/>
        </p:nvSpPr>
        <p:spPr>
          <a:xfrm>
            <a:off x="452715" y="3781338"/>
            <a:ext cx="393056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21.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006C2BA-9EB4-36E3-AC7F-75ABF6942452}"/>
              </a:ext>
            </a:extLst>
          </p:cNvPr>
          <p:cNvSpPr/>
          <p:nvPr/>
        </p:nvSpPr>
        <p:spPr>
          <a:xfrm>
            <a:off x="3886200" y="3781338"/>
            <a:ext cx="434734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22.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79776947-8140-28BE-D2DE-1F3DD0050E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0164" y="3819525"/>
          <a:ext cx="21717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71520" imgH="215640" progId="Equation.DSMT4">
                  <p:embed/>
                </p:oleObj>
              </mc:Choice>
              <mc:Fallback>
                <p:oleObj name="Equation" r:id="rId7" imgW="2171520" imgH="215640" progId="Equation.DSMT4">
                  <p:embed/>
                  <p:pic>
                    <p:nvPicPr>
                      <p:cNvPr id="50" name="Object 49">
                        <a:extLst>
                          <a:ext uri="{FF2B5EF4-FFF2-40B4-BE49-F238E27FC236}">
                            <a16:creationId xmlns:a16="http://schemas.microsoft.com/office/drawing/2014/main" id="{AB56B056-20CC-4627-A546-6522511B40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70164" y="3819525"/>
                        <a:ext cx="21717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9">
            <a:extLst>
              <a:ext uri="{FF2B5EF4-FFF2-40B4-BE49-F238E27FC236}">
                <a16:creationId xmlns:a16="http://schemas.microsoft.com/office/drawing/2014/main" id="{70FAB3A0-5C4D-764E-A016-F7FBD8F760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6976" y="3813175"/>
          <a:ext cx="1765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65080" imgH="215640" progId="Equation.DSMT4">
                  <p:embed/>
                </p:oleObj>
              </mc:Choice>
              <mc:Fallback>
                <p:oleObj name="Equation" r:id="rId9" imgW="1765080" imgH="215640" progId="Equation.DSMT4">
                  <p:embed/>
                  <p:pic>
                    <p:nvPicPr>
                      <p:cNvPr id="51" name="Object 50">
                        <a:extLst>
                          <a:ext uri="{FF2B5EF4-FFF2-40B4-BE49-F238E27FC236}">
                            <a16:creationId xmlns:a16="http://schemas.microsoft.com/office/drawing/2014/main" id="{6072628F-2378-B867-A4A7-3F328A1D76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66976" y="3813175"/>
                        <a:ext cx="1765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53">
            <a:extLst>
              <a:ext uri="{FF2B5EF4-FFF2-40B4-BE49-F238E27FC236}">
                <a16:creationId xmlns:a16="http://schemas.microsoft.com/office/drawing/2014/main" id="{50ECA445-3F0A-D5FE-6F12-AAFC089BE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1574" y="6325562"/>
            <a:ext cx="1985459" cy="60638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32" name="Text Box 53">
            <a:extLst>
              <a:ext uri="{FF2B5EF4-FFF2-40B4-BE49-F238E27FC236}">
                <a16:creationId xmlns:a16="http://schemas.microsoft.com/office/drawing/2014/main" id="{87FF03C2-432E-23D6-F301-0419F6BD7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2574" y="6325562"/>
            <a:ext cx="1985459" cy="60638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D2FD076-C421-1100-AD10-FAF605D2B4FD}"/>
              </a:ext>
            </a:extLst>
          </p:cNvPr>
          <p:cNvSpPr/>
          <p:nvPr/>
        </p:nvSpPr>
        <p:spPr>
          <a:xfrm>
            <a:off x="437999" y="7038724"/>
            <a:ext cx="6887504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23.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Kyle ran for 30 minutes.  His elevation</a:t>
            </a:r>
            <a:r>
              <a:rPr lang="en-US" sz="1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(in feet) </a:t>
            </a:r>
            <a:r>
              <a:rPr lang="en-US" sz="1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minutes into his run can be represented by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the function </a:t>
            </a:r>
            <a:r>
              <a:rPr lang="en-US" sz="12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(</a:t>
            </a:r>
            <a:r>
              <a:rPr lang="en-US" sz="12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) </a:t>
            </a:r>
            <a:r>
              <a:rPr lang="en-US" sz="1100" b="1">
                <a:latin typeface="Century Gothic" panose="020B0502020202020204" pitchFamily="34" charset="0"/>
                <a:ea typeface="Calibri" panose="020F0502020204030204" pitchFamily="34" charset="0"/>
              </a:rPr>
              <a:t>= 0.04</a:t>
            </a:r>
            <a:r>
              <a:rPr lang="en-US" sz="1200" b="1" i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b="1" i="1" baseline="3000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1100" b="1"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– 2</a:t>
            </a:r>
            <a:r>
              <a:rPr lang="en-US" sz="12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b="1" i="1" baseline="30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100" b="1" baseline="30000" dirty="0">
                <a:latin typeface="Century Gothic" panose="020B0502020202020204" pitchFamily="34" charset="0"/>
                <a:ea typeface="Calibri" panose="020F0502020204030204" pitchFamily="34" charset="0"/>
              </a:rPr>
              <a:t>  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+ 24</a:t>
            </a:r>
            <a:r>
              <a:rPr lang="en-US" sz="12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 + 150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.  Using the Remainder theorem, find his elevation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halfway through his run.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34" name="Text Box 45">
            <a:extLst>
              <a:ext uri="{FF2B5EF4-FFF2-40B4-BE49-F238E27FC236}">
                <a16:creationId xmlns:a16="http://schemas.microsoft.com/office/drawing/2014/main" id="{95BF3D04-6402-0E0C-0F7D-936186456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3786" y="9122930"/>
            <a:ext cx="969472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697208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Box 53">
            <a:extLst>
              <a:ext uri="{FF2B5EF4-FFF2-40B4-BE49-F238E27FC236}">
                <a16:creationId xmlns:a16="http://schemas.microsoft.com/office/drawing/2014/main" id="{E2C11B87-FD86-B256-362C-05B938A55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9808" y="2295404"/>
            <a:ext cx="2411730" cy="47053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39" name="Text Box 53">
            <a:extLst>
              <a:ext uri="{FF2B5EF4-FFF2-40B4-BE49-F238E27FC236}">
                <a16:creationId xmlns:a16="http://schemas.microsoft.com/office/drawing/2014/main" id="{117CB731-9B21-CFDE-80F5-396D182FC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5646" y="2276812"/>
            <a:ext cx="2411730" cy="47053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55EA179-8409-FC5A-F720-B6D6D8F78FB9}"/>
              </a:ext>
            </a:extLst>
          </p:cNvPr>
          <p:cNvSpPr/>
          <p:nvPr/>
        </p:nvSpPr>
        <p:spPr>
          <a:xfrm>
            <a:off x="462154" y="619610"/>
            <a:ext cx="78098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24.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Find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2DD6B7B-133B-47A6-A594-1DEF91B607B1}"/>
              </a:ext>
            </a:extLst>
          </p:cNvPr>
          <p:cNvSpPr/>
          <p:nvPr/>
        </p:nvSpPr>
        <p:spPr>
          <a:xfrm>
            <a:off x="3891154" y="610645"/>
            <a:ext cx="74251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25.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Find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42" name="Object 41">
            <a:extLst>
              <a:ext uri="{FF2B5EF4-FFF2-40B4-BE49-F238E27FC236}">
                <a16:creationId xmlns:a16="http://schemas.microsoft.com/office/drawing/2014/main" id="{413E5E2B-F5A0-18B0-FD6D-ED3B2BD51F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0500903"/>
              </p:ext>
            </p:extLst>
          </p:nvPr>
        </p:nvGraphicFramePr>
        <p:xfrm>
          <a:off x="1106488" y="665163"/>
          <a:ext cx="7112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11000" imgH="203040" progId="Equation.DSMT4">
                  <p:embed/>
                </p:oleObj>
              </mc:Choice>
              <mc:Fallback>
                <p:oleObj name="Equation" r:id="rId3" imgW="711000" imgH="203040" progId="Equation.DSMT4">
                  <p:embed/>
                  <p:pic>
                    <p:nvPicPr>
                      <p:cNvPr id="77" name="Object 76">
                        <a:extLst>
                          <a:ext uri="{FF2B5EF4-FFF2-40B4-BE49-F238E27FC236}">
                            <a16:creationId xmlns:a16="http://schemas.microsoft.com/office/drawing/2014/main" id="{0707E0A2-4313-0A57-E94A-B63612C5C6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6488" y="665163"/>
                        <a:ext cx="7112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42">
            <a:extLst>
              <a:ext uri="{FF2B5EF4-FFF2-40B4-BE49-F238E27FC236}">
                <a16:creationId xmlns:a16="http://schemas.microsoft.com/office/drawing/2014/main" id="{E0357CE6-B303-0193-FC4D-0B11F191C8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7576836"/>
              </p:ext>
            </p:extLst>
          </p:nvPr>
        </p:nvGraphicFramePr>
        <p:xfrm>
          <a:off x="4538663" y="660400"/>
          <a:ext cx="660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60240" imgH="203040" progId="Equation.DSMT4">
                  <p:embed/>
                </p:oleObj>
              </mc:Choice>
              <mc:Fallback>
                <p:oleObj name="Equation" r:id="rId5" imgW="660240" imgH="203040" progId="Equation.DSMT4">
                  <p:embed/>
                  <p:pic>
                    <p:nvPicPr>
                      <p:cNvPr id="111" name="Object 110">
                        <a:extLst>
                          <a:ext uri="{FF2B5EF4-FFF2-40B4-BE49-F238E27FC236}">
                            <a16:creationId xmlns:a16="http://schemas.microsoft.com/office/drawing/2014/main" id="{B27FC185-7551-5317-122F-53F26809FA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38663" y="660400"/>
                        <a:ext cx="660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Rectangle 43">
            <a:extLst>
              <a:ext uri="{FF2B5EF4-FFF2-40B4-BE49-F238E27FC236}">
                <a16:creationId xmlns:a16="http://schemas.microsoft.com/office/drawing/2014/main" id="{28F31585-C087-8BEA-E633-F4FF1E0C1058}"/>
              </a:ext>
            </a:extLst>
          </p:cNvPr>
          <p:cNvSpPr/>
          <p:nvPr/>
        </p:nvSpPr>
        <p:spPr>
          <a:xfrm>
            <a:off x="430743" y="340636"/>
            <a:ext cx="5041765" cy="284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Use </a:t>
            </a:r>
            <a:r>
              <a:rPr lang="en-US" sz="125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(</a:t>
            </a:r>
            <a:r>
              <a:rPr lang="en-US" sz="125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) = </a:t>
            </a:r>
            <a:r>
              <a:rPr lang="en-US" sz="125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b="1" baseline="30000" dirty="0">
                <a:latin typeface="Century Gothic" panose="020B0502020202020204" pitchFamily="34" charset="0"/>
                <a:ea typeface="Calibri" panose="020F0502020204030204" pitchFamily="34" charset="0"/>
              </a:rPr>
              <a:t>2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 – </a:t>
            </a:r>
            <a:r>
              <a:rPr lang="en-US" sz="125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, </a:t>
            </a:r>
            <a:r>
              <a:rPr lang="en-US" sz="125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(</a:t>
            </a:r>
            <a:r>
              <a:rPr lang="en-US" sz="125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) = 9 – 2</a:t>
            </a:r>
            <a:r>
              <a:rPr lang="en-US" sz="125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, and </a:t>
            </a:r>
            <a:r>
              <a:rPr lang="en-US" sz="125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(</a:t>
            </a:r>
            <a:r>
              <a:rPr lang="en-US" sz="125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) = </a:t>
            </a:r>
            <a:r>
              <a:rPr lang="en-US" sz="125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b="1" baseline="30000" dirty="0">
                <a:latin typeface="Century Gothic" panose="020B0502020202020204" pitchFamily="34" charset="0"/>
                <a:ea typeface="Calibri" panose="020F0502020204030204" pitchFamily="34" charset="0"/>
              </a:rPr>
              <a:t>2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 + 2</a:t>
            </a:r>
            <a:r>
              <a:rPr lang="en-US" sz="125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 – 63 for questions 24-29.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93DFB27-57EE-EC53-8694-42BD6B150150}"/>
              </a:ext>
            </a:extLst>
          </p:cNvPr>
          <p:cNvGrpSpPr/>
          <p:nvPr/>
        </p:nvGrpSpPr>
        <p:grpSpPr>
          <a:xfrm>
            <a:off x="444419" y="2851782"/>
            <a:ext cx="3505200" cy="493868"/>
            <a:chOff x="381000" y="785224"/>
            <a:chExt cx="3505200" cy="493868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641BF85-CB65-B632-89B6-218101A48A68}"/>
                </a:ext>
              </a:extLst>
            </p:cNvPr>
            <p:cNvSpPr/>
            <p:nvPr/>
          </p:nvSpPr>
          <p:spPr>
            <a:xfrm>
              <a:off x="381000" y="840510"/>
              <a:ext cx="3505200" cy="4385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100" b="1" dirty="0">
                  <a:latin typeface="Century Gothic" panose="020B0502020202020204" pitchFamily="34" charset="0"/>
                  <a:ea typeface="Calibri" panose="020F0502020204030204" pitchFamily="34" charset="0"/>
                </a:rPr>
                <a:t>26. </a:t>
              </a:r>
              <a:r>
                <a:rPr lang="en-US" sz="1100" dirty="0">
                  <a:latin typeface="Century Gothic" panose="020B0502020202020204" pitchFamily="34" charset="0"/>
                  <a:ea typeface="Calibri" panose="020F0502020204030204" pitchFamily="34" charset="0"/>
                </a:rPr>
                <a:t>The domain of the function</a:t>
              </a:r>
              <a:r>
                <a:rPr lang="en-US" sz="1100" b="1" dirty="0">
                  <a:latin typeface="Century Gothic" panose="020B0502020202020204" pitchFamily="34" charset="0"/>
                  <a:ea typeface="Calibri" panose="020F0502020204030204" pitchFamily="34" charset="0"/>
                </a:rPr>
                <a:t>               </a:t>
              </a:r>
              <a:r>
                <a:rPr lang="en-US" sz="1100" dirty="0">
                  <a:latin typeface="Century Gothic" panose="020B0502020202020204" pitchFamily="34" charset="0"/>
                  <a:ea typeface="Calibri" panose="020F0502020204030204" pitchFamily="34" charset="0"/>
                </a:rPr>
                <a:t>is all </a:t>
              </a:r>
              <a:br>
                <a:rPr lang="en-US" sz="1100" dirty="0">
                  <a:latin typeface="Century Gothic" panose="020B0502020202020204" pitchFamily="34" charset="0"/>
                  <a:ea typeface="Calibri" panose="020F0502020204030204" pitchFamily="34" charset="0"/>
                </a:rPr>
              </a:br>
              <a:r>
                <a:rPr lang="en-US" sz="1100" dirty="0">
                  <a:latin typeface="Century Gothic" panose="020B0502020202020204" pitchFamily="34" charset="0"/>
                  <a:ea typeface="Calibri" panose="020F0502020204030204" pitchFamily="34" charset="0"/>
                </a:rPr>
                <a:t>       real numbers except -</a:t>
              </a:r>
              <a:endParaRPr lang="en-US" sz="1100" dirty="0">
                <a:latin typeface="Century Gothic" panose="020B0502020202020204" pitchFamily="34" charset="0"/>
              </a:endParaRPr>
            </a:p>
          </p:txBody>
        </p:sp>
        <p:graphicFrame>
          <p:nvGraphicFramePr>
            <p:cNvPr id="47" name="Object 46">
              <a:extLst>
                <a:ext uri="{FF2B5EF4-FFF2-40B4-BE49-F238E27FC236}">
                  <a16:creationId xmlns:a16="http://schemas.microsoft.com/office/drawing/2014/main" id="{B96510ED-EA2A-ECBE-F565-BE4AC814AD0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67069" y="785224"/>
            <a:ext cx="5207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520560" imgH="419040" progId="Equation.DSMT4">
                    <p:embed/>
                  </p:oleObj>
                </mc:Choice>
                <mc:Fallback>
                  <p:oleObj name="Equation" r:id="rId7" imgW="520560" imgH="419040" progId="Equation.DSMT4">
                    <p:embed/>
                    <p:pic>
                      <p:nvPicPr>
                        <p:cNvPr id="123" name="Object 122">
                          <a:extLst>
                            <a:ext uri="{FF2B5EF4-FFF2-40B4-BE49-F238E27FC236}">
                              <a16:creationId xmlns:a16="http://schemas.microsoft.com/office/drawing/2014/main" id="{D31E967C-E8FA-1943-0577-931549A7D5F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567069" y="785224"/>
                          <a:ext cx="5207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" name="Text Box 807">
            <a:extLst>
              <a:ext uri="{FF2B5EF4-FFF2-40B4-BE49-F238E27FC236}">
                <a16:creationId xmlns:a16="http://schemas.microsoft.com/office/drawing/2014/main" id="{BEA9CF6F-21CC-3CFC-A4DF-9A27BF8FD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945" y="3929525"/>
            <a:ext cx="1143792" cy="948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-9 and 7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-7 and 9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 -9, 0 and 7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-7, 0 and 9</a:t>
            </a:r>
          </a:p>
        </p:txBody>
      </p:sp>
      <p:sp>
        <p:nvSpPr>
          <p:cNvPr id="49" name="Text Box 107">
            <a:extLst>
              <a:ext uri="{FF2B5EF4-FFF2-40B4-BE49-F238E27FC236}">
                <a16:creationId xmlns:a16="http://schemas.microsoft.com/office/drawing/2014/main" id="{2AE51630-6FB4-733A-8101-2DB036108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8288" y="4601388"/>
            <a:ext cx="603250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DD65C2F-1533-E7A1-4446-3AC75FF10E8D}"/>
              </a:ext>
            </a:extLst>
          </p:cNvPr>
          <p:cNvGrpSpPr/>
          <p:nvPr/>
        </p:nvGrpSpPr>
        <p:grpSpPr>
          <a:xfrm>
            <a:off x="3849038" y="2842662"/>
            <a:ext cx="1340500" cy="261610"/>
            <a:chOff x="3827930" y="782240"/>
            <a:chExt cx="1340500" cy="26161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7881F7F-025E-B31E-523D-CBB6E78657E3}"/>
                </a:ext>
              </a:extLst>
            </p:cNvPr>
            <p:cNvSpPr/>
            <p:nvPr/>
          </p:nvSpPr>
          <p:spPr>
            <a:xfrm>
              <a:off x="3827930" y="782240"/>
              <a:ext cx="742511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b="1" dirty="0">
                  <a:latin typeface="Century Gothic" panose="020B0502020202020204" pitchFamily="34" charset="0"/>
                  <a:ea typeface="Calibri" panose="020F0502020204030204" pitchFamily="34" charset="0"/>
                </a:rPr>
                <a:t>27.  </a:t>
              </a:r>
              <a:r>
                <a:rPr lang="en-US" sz="1100" dirty="0">
                  <a:latin typeface="Century Gothic" panose="020B0502020202020204" pitchFamily="34" charset="0"/>
                  <a:ea typeface="Calibri" panose="020F0502020204030204" pitchFamily="34" charset="0"/>
                </a:rPr>
                <a:t>Find</a:t>
              </a:r>
              <a:endParaRPr lang="en-US" sz="1100" dirty="0">
                <a:latin typeface="Century Gothic" panose="020B0502020202020204" pitchFamily="34" charset="0"/>
              </a:endParaRPr>
            </a:p>
          </p:txBody>
        </p:sp>
        <p:graphicFrame>
          <p:nvGraphicFramePr>
            <p:cNvPr id="52" name="Object 51">
              <a:extLst>
                <a:ext uri="{FF2B5EF4-FFF2-40B4-BE49-F238E27FC236}">
                  <a16:creationId xmlns:a16="http://schemas.microsoft.com/office/drawing/2014/main" id="{44B5DF61-9301-0D27-4B84-4BEC3A8281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69930" y="828828"/>
            <a:ext cx="698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698400" imgH="203040" progId="Equation.DSMT4">
                    <p:embed/>
                  </p:oleObj>
                </mc:Choice>
                <mc:Fallback>
                  <p:oleObj name="Equation" r:id="rId9" imgW="698400" imgH="203040" progId="Equation.DSMT4">
                    <p:embed/>
                    <p:pic>
                      <p:nvPicPr>
                        <p:cNvPr id="128" name="Object 127">
                          <a:extLst>
                            <a:ext uri="{FF2B5EF4-FFF2-40B4-BE49-F238E27FC236}">
                              <a16:creationId xmlns:a16="http://schemas.microsoft.com/office/drawing/2014/main" id="{452F5CE0-B294-63F8-A61F-2B664129C92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469930" y="828828"/>
                          <a:ext cx="698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" name="Text Box 110">
            <a:extLst>
              <a:ext uri="{FF2B5EF4-FFF2-40B4-BE49-F238E27FC236}">
                <a16:creationId xmlns:a16="http://schemas.microsoft.com/office/drawing/2014/main" id="{62D0EFF1-543C-9DFA-5037-3A3128B06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5646" y="4518638"/>
            <a:ext cx="2411730" cy="47053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CA78581-2D85-E34F-C60E-9BBBDC4E2727}"/>
              </a:ext>
            </a:extLst>
          </p:cNvPr>
          <p:cNvGrpSpPr/>
          <p:nvPr/>
        </p:nvGrpSpPr>
        <p:grpSpPr>
          <a:xfrm>
            <a:off x="462154" y="5151615"/>
            <a:ext cx="1678351" cy="261610"/>
            <a:chOff x="405343" y="5976227"/>
            <a:chExt cx="1678351" cy="26161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8063755-086B-F37C-44B4-1F40D1C469BA}"/>
                </a:ext>
              </a:extLst>
            </p:cNvPr>
            <p:cNvSpPr/>
            <p:nvPr/>
          </p:nvSpPr>
          <p:spPr>
            <a:xfrm>
              <a:off x="405343" y="5976227"/>
              <a:ext cx="1638590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b="1" dirty="0">
                  <a:latin typeface="Century Gothic" panose="020B0502020202020204" pitchFamily="34" charset="0"/>
                  <a:ea typeface="Calibri" panose="020F0502020204030204" pitchFamily="34" charset="0"/>
                </a:rPr>
                <a:t>28.  </a:t>
              </a:r>
              <a:r>
                <a:rPr lang="en-US" sz="1100" dirty="0">
                  <a:latin typeface="Century Gothic" panose="020B0502020202020204" pitchFamily="34" charset="0"/>
                  <a:ea typeface="Calibri" panose="020F0502020204030204" pitchFamily="34" charset="0"/>
                </a:rPr>
                <a:t>Evaluate              .</a:t>
              </a:r>
              <a:endParaRPr lang="en-US" sz="1100" dirty="0">
                <a:latin typeface="Century Gothic" panose="020B0502020202020204" pitchFamily="34" charset="0"/>
              </a:endParaRPr>
            </a:p>
          </p:txBody>
        </p:sp>
        <p:graphicFrame>
          <p:nvGraphicFramePr>
            <p:cNvPr id="56" name="Object 55">
              <a:extLst>
                <a:ext uri="{FF2B5EF4-FFF2-40B4-BE49-F238E27FC236}">
                  <a16:creationId xmlns:a16="http://schemas.microsoft.com/office/drawing/2014/main" id="{09BA8EB6-7A25-5863-0A4B-19EB90C1FE2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97894" y="6009387"/>
            <a:ext cx="685800" cy="209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685800" imgH="203040" progId="Equation.DSMT4">
                    <p:embed/>
                  </p:oleObj>
                </mc:Choice>
                <mc:Fallback>
                  <p:oleObj name="Equation" r:id="rId11" imgW="685800" imgH="203040" progId="Equation.DSMT4">
                    <p:embed/>
                    <p:pic>
                      <p:nvPicPr>
                        <p:cNvPr id="132" name="Object 131">
                          <a:extLst>
                            <a:ext uri="{FF2B5EF4-FFF2-40B4-BE49-F238E27FC236}">
                              <a16:creationId xmlns:a16="http://schemas.microsoft.com/office/drawing/2014/main" id="{07088929-92F0-FDC5-34AA-AC69062EDEB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397894" y="6009387"/>
                          <a:ext cx="685800" cy="2095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11450A7-2F91-7866-B278-DDEA4BDE3296}"/>
              </a:ext>
            </a:extLst>
          </p:cNvPr>
          <p:cNvGrpSpPr/>
          <p:nvPr/>
        </p:nvGrpSpPr>
        <p:grpSpPr>
          <a:xfrm>
            <a:off x="3897903" y="5146287"/>
            <a:ext cx="1686133" cy="261610"/>
            <a:chOff x="3880836" y="5967346"/>
            <a:chExt cx="1686133" cy="26161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BB8A5CA-9AE7-B68D-DD0D-5ABF3EAC099E}"/>
                </a:ext>
              </a:extLst>
            </p:cNvPr>
            <p:cNvSpPr/>
            <p:nvPr/>
          </p:nvSpPr>
          <p:spPr>
            <a:xfrm>
              <a:off x="3880836" y="5967346"/>
              <a:ext cx="1638590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b="1" dirty="0">
                  <a:latin typeface="Century Gothic" panose="020B0502020202020204" pitchFamily="34" charset="0"/>
                  <a:ea typeface="Calibri" panose="020F0502020204030204" pitchFamily="34" charset="0"/>
                </a:rPr>
                <a:t>29.  </a:t>
              </a:r>
              <a:r>
                <a:rPr lang="en-US" sz="1100" dirty="0">
                  <a:latin typeface="Century Gothic" panose="020B0502020202020204" pitchFamily="34" charset="0"/>
                  <a:ea typeface="Calibri" panose="020F0502020204030204" pitchFamily="34" charset="0"/>
                </a:rPr>
                <a:t>Evaluate              .</a:t>
              </a:r>
              <a:endParaRPr lang="en-US" sz="1100" dirty="0">
                <a:latin typeface="Century Gothic" panose="020B0502020202020204" pitchFamily="34" charset="0"/>
              </a:endParaRPr>
            </a:p>
          </p:txBody>
        </p:sp>
        <p:graphicFrame>
          <p:nvGraphicFramePr>
            <p:cNvPr id="62" name="Object 61">
              <a:extLst>
                <a:ext uri="{FF2B5EF4-FFF2-40B4-BE49-F238E27FC236}">
                  <a16:creationId xmlns:a16="http://schemas.microsoft.com/office/drawing/2014/main" id="{398E2BC5-952D-25EE-3545-183D45F9C16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55769" y="6005834"/>
            <a:ext cx="7112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711000" imgH="203040" progId="Equation.DSMT4">
                    <p:embed/>
                  </p:oleObj>
                </mc:Choice>
                <mc:Fallback>
                  <p:oleObj name="Equation" r:id="rId13" imgW="711000" imgH="203040" progId="Equation.DSMT4">
                    <p:embed/>
                    <p:pic>
                      <p:nvPicPr>
                        <p:cNvPr id="133" name="Object 132">
                          <a:extLst>
                            <a:ext uri="{FF2B5EF4-FFF2-40B4-BE49-F238E27FC236}">
                              <a16:creationId xmlns:a16="http://schemas.microsoft.com/office/drawing/2014/main" id="{B29D9CFA-50B8-66A1-4EE7-CCE815B471A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855769" y="6005834"/>
                          <a:ext cx="7112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3" name="Text Box 111">
            <a:extLst>
              <a:ext uri="{FF2B5EF4-FFF2-40B4-BE49-F238E27FC236}">
                <a16:creationId xmlns:a16="http://schemas.microsoft.com/office/drawing/2014/main" id="{6F6FFC2A-A2B9-0350-E4BF-247BF9ED6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9693" y="6887853"/>
            <a:ext cx="791845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64" name="Text Box 111">
            <a:extLst>
              <a:ext uri="{FF2B5EF4-FFF2-40B4-BE49-F238E27FC236}">
                <a16:creationId xmlns:a16="http://schemas.microsoft.com/office/drawing/2014/main" id="{AFBB9B8D-390F-7EC8-309B-F1F3476B0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531" y="6864510"/>
            <a:ext cx="791845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65" name="object 10">
            <a:extLst>
              <a:ext uri="{FF2B5EF4-FFF2-40B4-BE49-F238E27FC236}">
                <a16:creationId xmlns:a16="http://schemas.microsoft.com/office/drawing/2014/main" id="{E083D408-1124-06F1-4ED5-8E7BEF83C1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513265"/>
              </p:ext>
            </p:extLst>
          </p:nvPr>
        </p:nvGraphicFramePr>
        <p:xfrm>
          <a:off x="819280" y="7871574"/>
          <a:ext cx="1670204" cy="15910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8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0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spc="-5" dirty="0">
                          <a:latin typeface="Century Gothic" panose="020B0502020202020204" pitchFamily="34" charset="0"/>
                          <a:cs typeface="Times New Roman"/>
                        </a:rPr>
                        <a:t>Day</a:t>
                      </a:r>
                      <a:endParaRPr lang="en-US" sz="1100" i="0" dirty="0">
                        <a:latin typeface="Century Gothic" panose="020B0502020202020204" pitchFamily="34" charset="0"/>
                        <a:cs typeface="Times New Roman"/>
                      </a:endParaRPr>
                    </a:p>
                  </a:txBody>
                  <a:tcPr marL="0" marR="0" marT="13335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100" b="1" i="0" spc="-5" dirty="0">
                          <a:latin typeface="Century Gothic" panose="020B0502020202020204" pitchFamily="34" charset="0"/>
                          <a:cs typeface="Times New Roman"/>
                        </a:rPr>
                        <a:t>Attendance</a:t>
                      </a:r>
                      <a:endParaRPr sz="110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29209" marB="0" anchor="ctr">
                    <a:lnL w="60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47191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lang="en-US" sz="1100" i="0" dirty="0">
                          <a:latin typeface="Century Gothic" panose="020B0502020202020204" pitchFamily="34" charset="0"/>
                          <a:cs typeface="Times New Roman"/>
                        </a:rPr>
                        <a:t>1</a:t>
                      </a:r>
                      <a:endParaRPr sz="1100" i="0" dirty="0">
                        <a:latin typeface="Century Gothic" panose="020B0502020202020204" pitchFamily="34" charset="0"/>
                        <a:cs typeface="Times New Roman"/>
                      </a:endParaRPr>
                    </a:p>
                  </a:txBody>
                  <a:tcPr marL="0" marR="0" marT="13335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100" spc="-5" dirty="0">
                          <a:latin typeface="Century Gothic" panose="020B0502020202020204" pitchFamily="34" charset="0"/>
                          <a:cs typeface="Tahoma"/>
                        </a:rPr>
                        <a:t>605</a:t>
                      </a:r>
                      <a:endParaRPr lang="en-US" sz="110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29209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lang="en-US" sz="1100" i="0" dirty="0">
                          <a:latin typeface="Century Gothic" panose="020B0502020202020204" pitchFamily="34" charset="0"/>
                          <a:cs typeface="Times New Roman"/>
                        </a:rPr>
                        <a:t>2</a:t>
                      </a:r>
                      <a:endParaRPr sz="1100" i="0" dirty="0">
                        <a:latin typeface="Century Gothic" panose="020B0502020202020204" pitchFamily="34" charset="0"/>
                        <a:cs typeface="Times New Roman"/>
                      </a:endParaRPr>
                    </a:p>
                  </a:txBody>
                  <a:tcPr marL="0" marR="0" marT="15240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100" spc="-5" dirty="0">
                          <a:latin typeface="Century Gothic" panose="020B0502020202020204" pitchFamily="34" charset="0"/>
                          <a:cs typeface="Tahoma"/>
                        </a:rPr>
                        <a:t>921</a:t>
                      </a:r>
                      <a:endParaRPr sz="110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29209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lang="en-US" sz="1100" i="0" dirty="0">
                          <a:latin typeface="Century Gothic" panose="020B0502020202020204" pitchFamily="34" charset="0"/>
                          <a:cs typeface="Times New Roman"/>
                        </a:rPr>
                        <a:t>3</a:t>
                      </a:r>
                      <a:endParaRPr sz="1100" i="0" dirty="0">
                        <a:latin typeface="Century Gothic" panose="020B0502020202020204" pitchFamily="34" charset="0"/>
                        <a:cs typeface="Times New Roman"/>
                      </a:endParaRPr>
                    </a:p>
                  </a:txBody>
                  <a:tcPr marL="0" marR="0" marT="15240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100" spc="-5" dirty="0">
                          <a:latin typeface="Century Gothic" panose="020B0502020202020204" pitchFamily="34" charset="0"/>
                          <a:cs typeface="Tahoma"/>
                        </a:rPr>
                        <a:t>977</a:t>
                      </a:r>
                      <a:endParaRPr sz="110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29209" marB="0" anchor="ctr">
                    <a:lnL w="60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667432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lang="en-US" sz="1100" i="0" dirty="0">
                          <a:latin typeface="Century Gothic" panose="020B0502020202020204" pitchFamily="34" charset="0"/>
                          <a:cs typeface="Times New Roman"/>
                        </a:rPr>
                        <a:t>4</a:t>
                      </a:r>
                      <a:endParaRPr sz="1100" i="0" dirty="0">
                        <a:latin typeface="Century Gothic" panose="020B0502020202020204" pitchFamily="34" charset="0"/>
                        <a:cs typeface="Times New Roman"/>
                      </a:endParaRPr>
                    </a:p>
                  </a:txBody>
                  <a:tcPr marL="0" marR="0" marT="15240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100" spc="-5" dirty="0">
                          <a:latin typeface="Century Gothic" panose="020B0502020202020204" pitchFamily="34" charset="0"/>
                          <a:cs typeface="Tahoma"/>
                        </a:rPr>
                        <a:t>1,037</a:t>
                      </a:r>
                      <a:endParaRPr sz="110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29209" marB="0" anchor="ctr">
                    <a:lnL w="60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73198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lang="en-US" sz="1100" i="0" dirty="0">
                          <a:latin typeface="Century Gothic" panose="020B0502020202020204" pitchFamily="34" charset="0"/>
                          <a:cs typeface="Times New Roman"/>
                        </a:rPr>
                        <a:t>5</a:t>
                      </a:r>
                      <a:endParaRPr sz="1100" i="0" dirty="0">
                        <a:latin typeface="Century Gothic" panose="020B0502020202020204" pitchFamily="34" charset="0"/>
                        <a:cs typeface="Times New Roman"/>
                      </a:endParaRPr>
                    </a:p>
                  </a:txBody>
                  <a:tcPr marL="0" marR="0" marT="15240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n-US" sz="1100" spc="-5" dirty="0">
                          <a:latin typeface="Century Gothic" panose="020B0502020202020204" pitchFamily="34" charset="0"/>
                          <a:cs typeface="Tahoma"/>
                        </a:rPr>
                        <a:t>1,221</a:t>
                      </a:r>
                      <a:endParaRPr sz="1100" dirty="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29209" marB="0" anchor="ctr">
                    <a:lnL w="60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326068"/>
                  </a:ext>
                </a:extLst>
              </a:tr>
            </a:tbl>
          </a:graphicData>
        </a:graphic>
      </p:graphicFrame>
      <p:sp>
        <p:nvSpPr>
          <p:cNvPr id="66" name="Rectangle 65">
            <a:extLst>
              <a:ext uri="{FF2B5EF4-FFF2-40B4-BE49-F238E27FC236}">
                <a16:creationId xmlns:a16="http://schemas.microsoft.com/office/drawing/2014/main" id="{2557BDD1-DBD9-A7F5-2CD3-EB50B6D20D7D}"/>
              </a:ext>
            </a:extLst>
          </p:cNvPr>
          <p:cNvSpPr/>
          <p:nvPr/>
        </p:nvSpPr>
        <p:spPr>
          <a:xfrm>
            <a:off x="442594" y="7357609"/>
            <a:ext cx="68961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30.  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The data below shows the attendance at a water park over five days.  Write a </a:t>
            </a:r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quartic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function </a:t>
            </a:r>
            <a:b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      to model the data, then estimate the attendance at the park on the 8</a:t>
            </a:r>
            <a:r>
              <a:rPr lang="en-US" sz="1100" baseline="30000" dirty="0">
                <a:latin typeface="Century Gothic" panose="020B0502020202020204" pitchFamily="34" charset="0"/>
                <a:ea typeface="Calibri" panose="020F0502020204030204" pitchFamily="34" charset="0"/>
              </a:rPr>
              <a:t>th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day.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EB05441-5C29-250A-46DC-2FD0C5A4CFC8}"/>
              </a:ext>
            </a:extLst>
          </p:cNvPr>
          <p:cNvGrpSpPr/>
          <p:nvPr/>
        </p:nvGrpSpPr>
        <p:grpSpPr>
          <a:xfrm>
            <a:off x="2714583" y="8573311"/>
            <a:ext cx="4535037" cy="915694"/>
            <a:chOff x="-35954" y="-22148"/>
            <a:chExt cx="4535910" cy="915694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535218F0-40F3-C61C-A835-1CE5F5F97960}"/>
                </a:ext>
              </a:extLst>
            </p:cNvPr>
            <p:cNvGrpSpPr/>
            <p:nvPr/>
          </p:nvGrpSpPr>
          <p:grpSpPr>
            <a:xfrm>
              <a:off x="-35954" y="-22148"/>
              <a:ext cx="4535910" cy="411480"/>
              <a:chOff x="-35954" y="-31673"/>
              <a:chExt cx="4535910" cy="411480"/>
            </a:xfrm>
          </p:grpSpPr>
          <p:sp>
            <p:nvSpPr>
              <p:cNvPr id="72" name="Text Box 456">
                <a:extLst>
                  <a:ext uri="{FF2B5EF4-FFF2-40B4-BE49-F238E27FC236}">
                    <a16:creationId xmlns:a16="http://schemas.microsoft.com/office/drawing/2014/main" id="{49C2A074-4F82-E53E-D2AC-EE904C494E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0356" y="-31673"/>
                <a:ext cx="3759600" cy="4114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78" name="Text Box 457">
                <a:extLst>
                  <a:ext uri="{FF2B5EF4-FFF2-40B4-BE49-F238E27FC236}">
                    <a16:creationId xmlns:a16="http://schemas.microsoft.com/office/drawing/2014/main" id="{E6B748A5-804A-1626-E31B-B3E581BF8CE5}"/>
                  </a:ext>
                </a:extLst>
              </p:cNvPr>
              <p:cNvSpPr txBox="1"/>
              <p:nvPr/>
            </p:nvSpPr>
            <p:spPr>
              <a:xfrm>
                <a:off x="-35954" y="46006"/>
                <a:ext cx="809625" cy="284271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square" lIns="0" tIns="45720" rIns="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kumimoji="0" 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Equation:</a:t>
                </a: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566B9D2-86CF-47EE-71A3-3B2CBD42989C}"/>
                </a:ext>
              </a:extLst>
            </p:cNvPr>
            <p:cNvGrpSpPr/>
            <p:nvPr/>
          </p:nvGrpSpPr>
          <p:grpSpPr>
            <a:xfrm>
              <a:off x="2368084" y="482066"/>
              <a:ext cx="2131872" cy="411480"/>
              <a:chOff x="-2410867" y="472541"/>
              <a:chExt cx="2132028" cy="411480"/>
            </a:xfrm>
          </p:grpSpPr>
          <p:sp>
            <p:nvSpPr>
              <p:cNvPr id="70" name="Text Box 459">
                <a:extLst>
                  <a:ext uri="{FF2B5EF4-FFF2-40B4-BE49-F238E27FC236}">
                    <a16:creationId xmlns:a16="http://schemas.microsoft.com/office/drawing/2014/main" id="{204EC373-B0A4-4813-6FF0-72171AE4E4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1469500" y="472541"/>
                <a:ext cx="1190661" cy="41148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71" name="Text Box 460">
                <a:extLst>
                  <a:ext uri="{FF2B5EF4-FFF2-40B4-BE49-F238E27FC236}">
                    <a16:creationId xmlns:a16="http://schemas.microsoft.com/office/drawing/2014/main" id="{FE6DB8A5-CFEC-3F63-3536-8632310129F9}"/>
                  </a:ext>
                </a:extLst>
              </p:cNvPr>
              <p:cNvSpPr txBox="1"/>
              <p:nvPr/>
            </p:nvSpPr>
            <p:spPr>
              <a:xfrm>
                <a:off x="-2410867" y="550220"/>
                <a:ext cx="1000126" cy="284271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square" lIns="0" tIns="45720" rIns="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kumimoji="0" 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Attendance: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1281</TotalTime>
  <Words>581</Words>
  <Application>Microsoft Office PowerPoint</Application>
  <PresentationFormat>Custom</PresentationFormat>
  <Paragraphs>88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Calibri</vt:lpstr>
      <vt:lpstr>Century Gothic</vt:lpstr>
      <vt:lpstr>Tahoma</vt:lpstr>
      <vt:lpstr>Times New Roman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- 27 - Unit 5 Test</dc:title>
  <dc:creator>Gina</dc:creator>
  <cp:lastModifiedBy>Gina Wilson</cp:lastModifiedBy>
  <cp:revision>91</cp:revision>
  <dcterms:created xsi:type="dcterms:W3CDTF">2017-10-16T11:23:50Z</dcterms:created>
  <dcterms:modified xsi:type="dcterms:W3CDTF">2022-06-13T19:54:50Z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2015-08-16T00:00:00Z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2017-10-16T00:00:00Z</vt:filetime>
  </property>
</Properties>
</file>