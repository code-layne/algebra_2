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814" autoAdjust="0"/>
  </p:normalViewPr>
  <p:slideViewPr>
    <p:cSldViewPr>
      <p:cViewPr>
        <p:scale>
          <a:sx n="70" d="100"/>
          <a:sy n="70" d="100"/>
        </p:scale>
        <p:origin x="1308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10478" y="9781899"/>
            <a:ext cx="1417320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26" Type="http://schemas.openxmlformats.org/officeDocument/2006/relationships/image" Target="../media/image13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image" Target="../media/image1.JPG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Relationship Id="rId22" Type="http://schemas.openxmlformats.org/officeDocument/2006/relationships/image" Target="../media/image11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18.bin"/><Relationship Id="rId18" Type="http://schemas.openxmlformats.org/officeDocument/2006/relationships/image" Target="../media/image22.wmf"/><Relationship Id="rId3" Type="http://schemas.openxmlformats.org/officeDocument/2006/relationships/oleObject" Target="../embeddings/oleObject13.bin"/><Relationship Id="rId21" Type="http://schemas.openxmlformats.org/officeDocument/2006/relationships/oleObject" Target="../embeddings/oleObject22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9.wmf"/><Relationship Id="rId17" Type="http://schemas.openxmlformats.org/officeDocument/2006/relationships/oleObject" Target="../embeddings/oleObject20.bin"/><Relationship Id="rId2" Type="http://schemas.openxmlformats.org/officeDocument/2006/relationships/image" Target="../media/image14.JPG"/><Relationship Id="rId16" Type="http://schemas.openxmlformats.org/officeDocument/2006/relationships/image" Target="../media/image21.wmf"/><Relationship Id="rId20" Type="http://schemas.openxmlformats.org/officeDocument/2006/relationships/image" Target="../media/image23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19.bin"/><Relationship Id="rId10" Type="http://schemas.openxmlformats.org/officeDocument/2006/relationships/image" Target="../media/image18.wmf"/><Relationship Id="rId19" Type="http://schemas.openxmlformats.org/officeDocument/2006/relationships/oleObject" Target="../embeddings/oleObject21.bin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20.wmf"/><Relationship Id="rId22" Type="http://schemas.openxmlformats.org/officeDocument/2006/relationships/image" Target="../media/image2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object 5">
            <a:extLst>
              <a:ext uri="{FF2B5EF4-FFF2-40B4-BE49-F238E27FC236}">
                <a16:creationId xmlns:a16="http://schemas.microsoft.com/office/drawing/2014/main" id="{9F5FA3AC-A065-8D2C-CE55-404B7ADA5341}"/>
              </a:ext>
            </a:extLst>
          </p:cNvPr>
          <p:cNvSpPr txBox="1"/>
          <p:nvPr/>
        </p:nvSpPr>
        <p:spPr>
          <a:xfrm>
            <a:off x="627380" y="3595623"/>
            <a:ext cx="607441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Simplify.  All answers should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be in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standard form </a:t>
            </a:r>
            <a:r>
              <a:rPr sz="1100" b="1" spc="-10" dirty="0">
                <a:latin typeface="Century Gothic" panose="020B0502020202020204" pitchFamily="34" charset="0"/>
                <a:cs typeface="Tahoma"/>
              </a:rPr>
              <a:t>and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contain only positive</a:t>
            </a:r>
            <a:r>
              <a:rPr sz="1100" b="1" spc="14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exponents.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63" name="object 17">
            <a:extLst>
              <a:ext uri="{FF2B5EF4-FFF2-40B4-BE49-F238E27FC236}">
                <a16:creationId xmlns:a16="http://schemas.microsoft.com/office/drawing/2014/main" id="{1D9E4EB9-7FFB-4EE3-B763-33ADCA2B7BD6}"/>
              </a:ext>
            </a:extLst>
          </p:cNvPr>
          <p:cNvSpPr txBox="1"/>
          <p:nvPr/>
        </p:nvSpPr>
        <p:spPr>
          <a:xfrm>
            <a:off x="722284" y="2402585"/>
            <a:ext cx="3087370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74035" algn="l"/>
              </a:tabLst>
            </a:pPr>
            <a:r>
              <a:rPr sz="1050" b="1" dirty="0">
                <a:latin typeface="Century Gothic" panose="020B0502020202020204" pitchFamily="34" charset="0"/>
                <a:cs typeface="Tahoma"/>
              </a:rPr>
              <a:t>a. </a:t>
            </a:r>
            <a:r>
              <a:rPr sz="1050" spc="-5" dirty="0">
                <a:latin typeface="Century Gothic" panose="020B0502020202020204" pitchFamily="34" charset="0"/>
                <a:cs typeface="Tahoma"/>
              </a:rPr>
              <a:t>Standard</a:t>
            </a:r>
            <a:r>
              <a:rPr sz="1050" spc="-6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50" spc="-5" dirty="0">
                <a:latin typeface="Century Gothic" panose="020B0502020202020204" pitchFamily="34" charset="0"/>
                <a:cs typeface="Tahoma"/>
              </a:rPr>
              <a:t>form:</a:t>
            </a:r>
            <a:r>
              <a:rPr sz="1050" spc="-4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50" u="sng" dirty="0">
                <a:latin typeface="Century Gothic" panose="020B0502020202020204" pitchFamily="34" charset="0"/>
                <a:cs typeface="Times New Roman"/>
              </a:rPr>
              <a:t> 	</a:t>
            </a:r>
            <a:endParaRPr sz="1050" dirty="0">
              <a:latin typeface="Century Gothic" panose="020B0502020202020204" pitchFamily="34" charset="0"/>
              <a:cs typeface="Times New Roman"/>
            </a:endParaRPr>
          </a:p>
        </p:txBody>
      </p:sp>
      <p:sp>
        <p:nvSpPr>
          <p:cNvPr id="64" name="object 18">
            <a:extLst>
              <a:ext uri="{FF2B5EF4-FFF2-40B4-BE49-F238E27FC236}">
                <a16:creationId xmlns:a16="http://schemas.microsoft.com/office/drawing/2014/main" id="{A3D5D5EB-6FEB-31F3-7F78-CC509C133B0B}"/>
              </a:ext>
            </a:extLst>
          </p:cNvPr>
          <p:cNvSpPr txBox="1"/>
          <p:nvPr/>
        </p:nvSpPr>
        <p:spPr>
          <a:xfrm>
            <a:off x="722284" y="2765297"/>
            <a:ext cx="3107055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93720" algn="l"/>
              </a:tabLst>
            </a:pPr>
            <a:r>
              <a:rPr sz="1050" b="1" dirty="0">
                <a:latin typeface="Century Gothic" panose="020B0502020202020204" pitchFamily="34" charset="0"/>
                <a:cs typeface="Tahoma"/>
              </a:rPr>
              <a:t>b. </a:t>
            </a:r>
            <a:r>
              <a:rPr sz="1050" spc="-5" dirty="0">
                <a:latin typeface="Century Gothic" panose="020B0502020202020204" pitchFamily="34" charset="0"/>
                <a:cs typeface="Tahoma"/>
              </a:rPr>
              <a:t>Classify </a:t>
            </a:r>
            <a:r>
              <a:rPr sz="1050" dirty="0">
                <a:latin typeface="Century Gothic" panose="020B0502020202020204" pitchFamily="34" charset="0"/>
                <a:cs typeface="Tahoma"/>
              </a:rPr>
              <a:t>by</a:t>
            </a:r>
            <a:r>
              <a:rPr sz="1050" spc="-5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50" spc="-5" dirty="0">
                <a:latin typeface="Century Gothic" panose="020B0502020202020204" pitchFamily="34" charset="0"/>
                <a:cs typeface="Tahoma"/>
              </a:rPr>
              <a:t>degree:</a:t>
            </a:r>
            <a:r>
              <a:rPr sz="1050" spc="-4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50" u="sng" dirty="0">
                <a:latin typeface="Century Gothic" panose="020B0502020202020204" pitchFamily="34" charset="0"/>
                <a:cs typeface="Times New Roman"/>
              </a:rPr>
              <a:t> 	</a:t>
            </a:r>
            <a:endParaRPr sz="1050" dirty="0">
              <a:latin typeface="Century Gothic" panose="020B0502020202020204" pitchFamily="34" charset="0"/>
              <a:cs typeface="Times New Roman"/>
            </a:endParaRPr>
          </a:p>
        </p:txBody>
      </p:sp>
      <p:sp>
        <p:nvSpPr>
          <p:cNvPr id="65" name="object 19">
            <a:extLst>
              <a:ext uri="{FF2B5EF4-FFF2-40B4-BE49-F238E27FC236}">
                <a16:creationId xmlns:a16="http://schemas.microsoft.com/office/drawing/2014/main" id="{27171670-9D7B-DC28-3872-29EEFD9728AA}"/>
              </a:ext>
            </a:extLst>
          </p:cNvPr>
          <p:cNvSpPr txBox="1"/>
          <p:nvPr/>
        </p:nvSpPr>
        <p:spPr>
          <a:xfrm>
            <a:off x="722284" y="3126485"/>
            <a:ext cx="3161665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148330" algn="l"/>
              </a:tabLst>
            </a:pPr>
            <a:r>
              <a:rPr sz="1050" b="1" spc="-5" dirty="0">
                <a:latin typeface="Century Gothic" panose="020B0502020202020204" pitchFamily="34" charset="0"/>
                <a:cs typeface="Tahoma"/>
              </a:rPr>
              <a:t>c. </a:t>
            </a:r>
            <a:r>
              <a:rPr sz="1050" spc="-5" dirty="0">
                <a:latin typeface="Century Gothic" panose="020B0502020202020204" pitchFamily="34" charset="0"/>
                <a:cs typeface="Tahoma"/>
              </a:rPr>
              <a:t>Classify by</a:t>
            </a:r>
            <a:r>
              <a:rPr sz="1050" spc="-2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50" spc="-5" dirty="0">
                <a:latin typeface="Century Gothic" panose="020B0502020202020204" pitchFamily="34" charset="0"/>
                <a:cs typeface="Tahoma"/>
              </a:rPr>
              <a:t>terms:</a:t>
            </a:r>
            <a:r>
              <a:rPr sz="1050" spc="-4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50" u="sng" dirty="0">
                <a:latin typeface="Century Gothic" panose="020B0502020202020204" pitchFamily="34" charset="0"/>
                <a:cs typeface="Times New Roman"/>
              </a:rPr>
              <a:t> 	</a:t>
            </a:r>
            <a:endParaRPr sz="1050" dirty="0">
              <a:latin typeface="Century Gothic" panose="020B0502020202020204" pitchFamily="34" charset="0"/>
              <a:cs typeface="Times New Roman"/>
            </a:endParaRPr>
          </a:p>
        </p:txBody>
      </p:sp>
      <p:sp>
        <p:nvSpPr>
          <p:cNvPr id="66" name="object 20">
            <a:extLst>
              <a:ext uri="{FF2B5EF4-FFF2-40B4-BE49-F238E27FC236}">
                <a16:creationId xmlns:a16="http://schemas.microsoft.com/office/drawing/2014/main" id="{A62DA7EC-E1AB-653A-3C5D-7BD9D270FDFB}"/>
              </a:ext>
            </a:extLst>
          </p:cNvPr>
          <p:cNvSpPr txBox="1"/>
          <p:nvPr/>
        </p:nvSpPr>
        <p:spPr>
          <a:xfrm>
            <a:off x="4222772" y="2437638"/>
            <a:ext cx="3087370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74035" algn="l"/>
              </a:tabLst>
            </a:pPr>
            <a:r>
              <a:rPr sz="1050" b="1" dirty="0">
                <a:latin typeface="Century Gothic" panose="020B0502020202020204" pitchFamily="34" charset="0"/>
                <a:cs typeface="Tahoma"/>
              </a:rPr>
              <a:t>a. </a:t>
            </a:r>
            <a:r>
              <a:rPr sz="1050" spc="-5" dirty="0">
                <a:latin typeface="Century Gothic" panose="020B0502020202020204" pitchFamily="34" charset="0"/>
                <a:cs typeface="Tahoma"/>
              </a:rPr>
              <a:t>Standard</a:t>
            </a:r>
            <a:r>
              <a:rPr sz="1050" spc="-6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50" spc="-5" dirty="0">
                <a:latin typeface="Century Gothic" panose="020B0502020202020204" pitchFamily="34" charset="0"/>
                <a:cs typeface="Tahoma"/>
              </a:rPr>
              <a:t>form:</a:t>
            </a:r>
            <a:r>
              <a:rPr sz="1050" spc="-4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50" u="sng" dirty="0">
                <a:latin typeface="Century Gothic" panose="020B0502020202020204" pitchFamily="34" charset="0"/>
                <a:cs typeface="Times New Roman"/>
              </a:rPr>
              <a:t> 	</a:t>
            </a:r>
            <a:endParaRPr sz="1050" dirty="0">
              <a:latin typeface="Century Gothic" panose="020B0502020202020204" pitchFamily="34" charset="0"/>
              <a:cs typeface="Times New Roman"/>
            </a:endParaRPr>
          </a:p>
        </p:txBody>
      </p:sp>
      <p:sp>
        <p:nvSpPr>
          <p:cNvPr id="67" name="object 21">
            <a:extLst>
              <a:ext uri="{FF2B5EF4-FFF2-40B4-BE49-F238E27FC236}">
                <a16:creationId xmlns:a16="http://schemas.microsoft.com/office/drawing/2014/main" id="{C00CCC32-E280-1E2D-4A2B-8E6693FB1FEA}"/>
              </a:ext>
            </a:extLst>
          </p:cNvPr>
          <p:cNvSpPr txBox="1"/>
          <p:nvPr/>
        </p:nvSpPr>
        <p:spPr>
          <a:xfrm>
            <a:off x="4222772" y="2800350"/>
            <a:ext cx="3107055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93720" algn="l"/>
              </a:tabLst>
            </a:pPr>
            <a:r>
              <a:rPr sz="1050" b="1" dirty="0">
                <a:latin typeface="Century Gothic" panose="020B0502020202020204" pitchFamily="34" charset="0"/>
                <a:cs typeface="Tahoma"/>
              </a:rPr>
              <a:t>b. </a:t>
            </a:r>
            <a:r>
              <a:rPr sz="1050" spc="-5" dirty="0">
                <a:latin typeface="Century Gothic" panose="020B0502020202020204" pitchFamily="34" charset="0"/>
                <a:cs typeface="Tahoma"/>
              </a:rPr>
              <a:t>Classify </a:t>
            </a:r>
            <a:r>
              <a:rPr sz="1050" dirty="0">
                <a:latin typeface="Century Gothic" panose="020B0502020202020204" pitchFamily="34" charset="0"/>
                <a:cs typeface="Tahoma"/>
              </a:rPr>
              <a:t>by</a:t>
            </a:r>
            <a:r>
              <a:rPr sz="1050" spc="-5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50" spc="-5" dirty="0">
                <a:latin typeface="Century Gothic" panose="020B0502020202020204" pitchFamily="34" charset="0"/>
                <a:cs typeface="Tahoma"/>
              </a:rPr>
              <a:t>degree:</a:t>
            </a:r>
            <a:r>
              <a:rPr sz="1050" spc="-4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50" u="sng" dirty="0">
                <a:latin typeface="Century Gothic" panose="020B0502020202020204" pitchFamily="34" charset="0"/>
                <a:cs typeface="Times New Roman"/>
              </a:rPr>
              <a:t> 	</a:t>
            </a:r>
            <a:endParaRPr sz="1050" dirty="0">
              <a:latin typeface="Century Gothic" panose="020B0502020202020204" pitchFamily="34" charset="0"/>
              <a:cs typeface="Times New Roman"/>
            </a:endParaRPr>
          </a:p>
        </p:txBody>
      </p:sp>
      <p:sp>
        <p:nvSpPr>
          <p:cNvPr id="68" name="object 22">
            <a:extLst>
              <a:ext uri="{FF2B5EF4-FFF2-40B4-BE49-F238E27FC236}">
                <a16:creationId xmlns:a16="http://schemas.microsoft.com/office/drawing/2014/main" id="{3A94C2A4-B68C-42B9-C83E-49B38DEA95C0}"/>
              </a:ext>
            </a:extLst>
          </p:cNvPr>
          <p:cNvSpPr txBox="1"/>
          <p:nvPr/>
        </p:nvSpPr>
        <p:spPr>
          <a:xfrm>
            <a:off x="4222772" y="3161538"/>
            <a:ext cx="3161665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148330" algn="l"/>
              </a:tabLst>
            </a:pPr>
            <a:r>
              <a:rPr sz="1050" b="1" spc="-5" dirty="0">
                <a:latin typeface="Century Gothic" panose="020B0502020202020204" pitchFamily="34" charset="0"/>
                <a:cs typeface="Tahoma"/>
              </a:rPr>
              <a:t>c. </a:t>
            </a:r>
            <a:r>
              <a:rPr sz="1050" spc="-5" dirty="0">
                <a:latin typeface="Century Gothic" panose="020B0502020202020204" pitchFamily="34" charset="0"/>
                <a:cs typeface="Tahoma"/>
              </a:rPr>
              <a:t>Classify by</a:t>
            </a:r>
            <a:r>
              <a:rPr sz="1050" spc="-2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50" spc="-5" dirty="0">
                <a:latin typeface="Century Gothic" panose="020B0502020202020204" pitchFamily="34" charset="0"/>
                <a:cs typeface="Tahoma"/>
              </a:rPr>
              <a:t>terms:</a:t>
            </a:r>
            <a:r>
              <a:rPr sz="1050" spc="-4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050" u="sng" dirty="0">
                <a:latin typeface="Century Gothic" panose="020B0502020202020204" pitchFamily="34" charset="0"/>
                <a:cs typeface="Times New Roman"/>
              </a:rPr>
              <a:t> 	</a:t>
            </a:r>
            <a:endParaRPr sz="1050" dirty="0">
              <a:latin typeface="Century Gothic" panose="020B0502020202020204" pitchFamily="34" charset="0"/>
              <a:cs typeface="Times New Roman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EE38061-D06E-4E7D-9198-380BB1B97406}"/>
              </a:ext>
            </a:extLst>
          </p:cNvPr>
          <p:cNvSpPr/>
          <p:nvPr/>
        </p:nvSpPr>
        <p:spPr>
          <a:xfrm>
            <a:off x="546540" y="1600200"/>
            <a:ext cx="69723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Write each polynomial in standard form.  Then classify it by degree and number of terms.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AF63A68-D208-C085-8116-4AF344664C56}"/>
              </a:ext>
            </a:extLst>
          </p:cNvPr>
          <p:cNvSpPr/>
          <p:nvPr/>
        </p:nvSpPr>
        <p:spPr>
          <a:xfrm>
            <a:off x="533400" y="1936530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C47A676-7AD7-E207-22E0-10D9EEEA0768}"/>
              </a:ext>
            </a:extLst>
          </p:cNvPr>
          <p:cNvSpPr/>
          <p:nvPr/>
        </p:nvSpPr>
        <p:spPr>
          <a:xfrm>
            <a:off x="3886200" y="1936530"/>
            <a:ext cx="3481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72" name="Object 71">
            <a:extLst>
              <a:ext uri="{FF2B5EF4-FFF2-40B4-BE49-F238E27FC236}">
                <a16:creationId xmlns:a16="http://schemas.microsoft.com/office/drawing/2014/main" id="{FEF00408-DA9C-35A1-6791-9BF02451CE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6138" y="1981200"/>
          <a:ext cx="8255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480" imgH="190440" progId="Equation.DSMT4">
                  <p:embed/>
                </p:oleObj>
              </mc:Choice>
              <mc:Fallback>
                <p:oleObj name="Equation" r:id="rId3" imgW="825480" imgH="190440" progId="Equation.DSMT4">
                  <p:embed/>
                  <p:pic>
                    <p:nvPicPr>
                      <p:cNvPr id="35" name="Object 3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46138" y="1981200"/>
                        <a:ext cx="8255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72">
            <a:extLst>
              <a:ext uri="{FF2B5EF4-FFF2-40B4-BE49-F238E27FC236}">
                <a16:creationId xmlns:a16="http://schemas.microsoft.com/office/drawing/2014/main" id="{84AE1AFC-EB0C-86BE-0097-D97D217F71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2588" y="1981200"/>
          <a:ext cx="12573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57120" imgH="190440" progId="Equation.DSMT4">
                  <p:embed/>
                </p:oleObj>
              </mc:Choice>
              <mc:Fallback>
                <p:oleObj name="Equation" r:id="rId5" imgW="1257120" imgH="190440" progId="Equation.DSMT4">
                  <p:embed/>
                  <p:pic>
                    <p:nvPicPr>
                      <p:cNvPr id="36" name="Object 3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92588" y="1981200"/>
                        <a:ext cx="12573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Rectangle 73">
            <a:extLst>
              <a:ext uri="{FF2B5EF4-FFF2-40B4-BE49-F238E27FC236}">
                <a16:creationId xmlns:a16="http://schemas.microsoft.com/office/drawing/2014/main" id="{9B3E2115-99B3-5CF3-8F0A-AE2D79D9AFE4}"/>
              </a:ext>
            </a:extLst>
          </p:cNvPr>
          <p:cNvSpPr/>
          <p:nvPr/>
        </p:nvSpPr>
        <p:spPr>
          <a:xfrm>
            <a:off x="543910" y="3831020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C63B375-59CF-F23F-B609-AFD3948AA7D7}"/>
              </a:ext>
            </a:extLst>
          </p:cNvPr>
          <p:cNvSpPr/>
          <p:nvPr/>
        </p:nvSpPr>
        <p:spPr>
          <a:xfrm>
            <a:off x="2868276" y="3833650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4.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0FB8E31-6DBB-B97B-F7F5-B8886EC33983}"/>
              </a:ext>
            </a:extLst>
          </p:cNvPr>
          <p:cNvSpPr/>
          <p:nvPr/>
        </p:nvSpPr>
        <p:spPr>
          <a:xfrm>
            <a:off x="533400" y="5071240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5.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5BFD233-93B6-C1A8-D89A-361818DBE537}"/>
              </a:ext>
            </a:extLst>
          </p:cNvPr>
          <p:cNvSpPr/>
          <p:nvPr/>
        </p:nvSpPr>
        <p:spPr>
          <a:xfrm>
            <a:off x="2868276" y="5084380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6.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6215430-B4DF-2F30-5094-3C4F2C1921A8}"/>
              </a:ext>
            </a:extLst>
          </p:cNvPr>
          <p:cNvSpPr/>
          <p:nvPr/>
        </p:nvSpPr>
        <p:spPr>
          <a:xfrm>
            <a:off x="543910" y="6377150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7.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DB86B15-19BC-4C39-1A77-D256124ECDDA}"/>
              </a:ext>
            </a:extLst>
          </p:cNvPr>
          <p:cNvSpPr/>
          <p:nvPr/>
        </p:nvSpPr>
        <p:spPr>
          <a:xfrm>
            <a:off x="2876156" y="6390290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8.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DACED1B-CDC7-7EFF-E895-B5828659082D}"/>
              </a:ext>
            </a:extLst>
          </p:cNvPr>
          <p:cNvSpPr/>
          <p:nvPr/>
        </p:nvSpPr>
        <p:spPr>
          <a:xfrm>
            <a:off x="533400" y="8229600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9.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81" name="Object 80">
            <a:extLst>
              <a:ext uri="{FF2B5EF4-FFF2-40B4-BE49-F238E27FC236}">
                <a16:creationId xmlns:a16="http://schemas.microsoft.com/office/drawing/2014/main" id="{60654B21-456C-3F98-FB74-C38E7DDD8C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0575" y="3862388"/>
          <a:ext cx="10541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54080" imgH="215640" progId="Equation.DSMT4">
                  <p:embed/>
                </p:oleObj>
              </mc:Choice>
              <mc:Fallback>
                <p:oleObj name="Equation" r:id="rId7" imgW="1054080" imgH="215640" progId="Equation.DSMT4">
                  <p:embed/>
                  <p:pic>
                    <p:nvPicPr>
                      <p:cNvPr id="45" name="Object 4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90575" y="3862388"/>
                        <a:ext cx="10541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81">
            <a:extLst>
              <a:ext uri="{FF2B5EF4-FFF2-40B4-BE49-F238E27FC236}">
                <a16:creationId xmlns:a16="http://schemas.microsoft.com/office/drawing/2014/main" id="{B3DF5BDC-36EA-EC5C-5640-62AA7A440D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81396" y="3816350"/>
          <a:ext cx="762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61760" imgH="406080" progId="Equation.DSMT4">
                  <p:embed/>
                </p:oleObj>
              </mc:Choice>
              <mc:Fallback>
                <p:oleObj name="Equation" r:id="rId9" imgW="761760" imgH="406080" progId="Equation.DSMT4">
                  <p:embed/>
                  <p:pic>
                    <p:nvPicPr>
                      <p:cNvPr id="46" name="Object 4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81396" y="3816350"/>
                        <a:ext cx="762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82">
            <a:extLst>
              <a:ext uri="{FF2B5EF4-FFF2-40B4-BE49-F238E27FC236}">
                <a16:creationId xmlns:a16="http://schemas.microsoft.com/office/drawing/2014/main" id="{B7BD2305-7394-20AD-4005-848CABDA67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8624" y="5107260"/>
          <a:ext cx="15875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87240" imgH="215640" progId="Equation.DSMT4">
                  <p:embed/>
                </p:oleObj>
              </mc:Choice>
              <mc:Fallback>
                <p:oleObj name="Equation" r:id="rId11" imgW="1587240" imgH="215640" progId="Equation.DSMT4">
                  <p:embed/>
                  <p:pic>
                    <p:nvPicPr>
                      <p:cNvPr id="47" name="Object 4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18624" y="5107260"/>
                        <a:ext cx="15875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Object 83">
            <a:extLst>
              <a:ext uri="{FF2B5EF4-FFF2-40B4-BE49-F238E27FC236}">
                <a16:creationId xmlns:a16="http://schemas.microsoft.com/office/drawing/2014/main" id="{A73A8E85-4089-A393-33F3-82887EC77A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11546" y="5107260"/>
          <a:ext cx="1892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892160" imgH="215640" progId="Equation.DSMT4">
                  <p:embed/>
                </p:oleObj>
              </mc:Choice>
              <mc:Fallback>
                <p:oleObj name="Equation" r:id="rId13" imgW="1892160" imgH="215640" progId="Equation.DSMT4">
                  <p:embed/>
                  <p:pic>
                    <p:nvPicPr>
                      <p:cNvPr id="48" name="Object 4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11546" y="5107260"/>
                        <a:ext cx="1892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ct 84">
            <a:extLst>
              <a:ext uri="{FF2B5EF4-FFF2-40B4-BE49-F238E27FC236}">
                <a16:creationId xmlns:a16="http://schemas.microsoft.com/office/drawing/2014/main" id="{F29AAC6A-09FD-F985-2E7F-EA0184E022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8301" y="6411255"/>
          <a:ext cx="11811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80800" imgH="215640" progId="Equation.DSMT4">
                  <p:embed/>
                </p:oleObj>
              </mc:Choice>
              <mc:Fallback>
                <p:oleObj name="Equation" r:id="rId15" imgW="1180800" imgH="215640" progId="Equation.DSMT4">
                  <p:embed/>
                  <p:pic>
                    <p:nvPicPr>
                      <p:cNvPr id="49" name="Object 4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08301" y="6411255"/>
                        <a:ext cx="11811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85">
            <a:extLst>
              <a:ext uri="{FF2B5EF4-FFF2-40B4-BE49-F238E27FC236}">
                <a16:creationId xmlns:a16="http://schemas.microsoft.com/office/drawing/2014/main" id="{67A4283D-313C-4D3F-366E-89CAD329A8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0596" y="6411255"/>
          <a:ext cx="9906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90360" imgH="215640" progId="Equation.DSMT4">
                  <p:embed/>
                </p:oleObj>
              </mc:Choice>
              <mc:Fallback>
                <p:oleObj name="Equation" r:id="rId17" imgW="990360" imgH="215640" progId="Equation.DSMT4">
                  <p:embed/>
                  <p:pic>
                    <p:nvPicPr>
                      <p:cNvPr id="50" name="Object 4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130596" y="6411255"/>
                        <a:ext cx="9906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Object 86">
            <a:extLst>
              <a:ext uri="{FF2B5EF4-FFF2-40B4-BE49-F238E27FC236}">
                <a16:creationId xmlns:a16="http://schemas.microsoft.com/office/drawing/2014/main" id="{841DA4A3-5E1F-E17D-D720-06E49F893C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7674" y="8204989"/>
          <a:ext cx="1447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447560" imgH="380880" progId="Equation.DSMT4">
                  <p:embed/>
                </p:oleObj>
              </mc:Choice>
              <mc:Fallback>
                <p:oleObj name="Equation" r:id="rId19" imgW="1447560" imgH="380880" progId="Equation.DSMT4">
                  <p:embed/>
                  <p:pic>
                    <p:nvPicPr>
                      <p:cNvPr id="51" name="Object 5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37674" y="8204989"/>
                        <a:ext cx="1447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Rectangle 87">
            <a:extLst>
              <a:ext uri="{FF2B5EF4-FFF2-40B4-BE49-F238E27FC236}">
                <a16:creationId xmlns:a16="http://schemas.microsoft.com/office/drawing/2014/main" id="{0218AB04-AA49-6C28-CB3B-69FCC61398A6}"/>
              </a:ext>
            </a:extLst>
          </p:cNvPr>
          <p:cNvSpPr/>
          <p:nvPr/>
        </p:nvSpPr>
        <p:spPr>
          <a:xfrm>
            <a:off x="3048000" y="8229600"/>
            <a:ext cx="38862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10.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Write an expression in simplified form to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      represent the area of the trapezoid.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A5412C7-16E0-7FEA-BF11-08296EC7D3E8}"/>
              </a:ext>
            </a:extLst>
          </p:cNvPr>
          <p:cNvGrpSpPr/>
          <p:nvPr/>
        </p:nvGrpSpPr>
        <p:grpSpPr>
          <a:xfrm>
            <a:off x="3377406" y="8695206"/>
            <a:ext cx="1017587" cy="913212"/>
            <a:chOff x="4334371" y="8719900"/>
            <a:chExt cx="1017587" cy="913212"/>
          </a:xfrm>
        </p:grpSpPr>
        <p:graphicFrame>
          <p:nvGraphicFramePr>
            <p:cNvPr id="90" name="Object 89">
              <a:extLst>
                <a:ext uri="{FF2B5EF4-FFF2-40B4-BE49-F238E27FC236}">
                  <a16:creationId xmlns:a16="http://schemas.microsoft.com/office/drawing/2014/main" id="{91BAC7DF-B855-B5F0-1BFC-B9206B68E9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46314" y="8719900"/>
            <a:ext cx="3937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393480" imgH="215640" progId="Equation.DSMT4">
                    <p:embed/>
                  </p:oleObj>
                </mc:Choice>
                <mc:Fallback>
                  <p:oleObj name="Equation" r:id="rId21" imgW="393480" imgH="215640" progId="Equation.DSMT4">
                    <p:embed/>
                    <p:pic>
                      <p:nvPicPr>
                        <p:cNvPr id="53" name="Object 52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646314" y="8719900"/>
                          <a:ext cx="3937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1" name="Object 90">
              <a:extLst>
                <a:ext uri="{FF2B5EF4-FFF2-40B4-BE49-F238E27FC236}">
                  <a16:creationId xmlns:a16="http://schemas.microsoft.com/office/drawing/2014/main" id="{693816A0-6575-57B1-8AA5-B223C66B28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12610" y="9087805"/>
            <a:ext cx="2413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241200" imgH="190440" progId="Equation.DSMT4">
                    <p:embed/>
                  </p:oleObj>
                </mc:Choice>
                <mc:Fallback>
                  <p:oleObj name="Equation" r:id="rId23" imgW="241200" imgH="190440" progId="Equation.DSMT4">
                    <p:embed/>
                    <p:pic>
                      <p:nvPicPr>
                        <p:cNvPr id="55" name="Object 54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612610" y="9087805"/>
                          <a:ext cx="2413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" name="Object 91">
              <a:extLst>
                <a:ext uri="{FF2B5EF4-FFF2-40B4-BE49-F238E27FC236}">
                  <a16:creationId xmlns:a16="http://schemas.microsoft.com/office/drawing/2014/main" id="{53EEAF96-8994-158A-80AE-ABF2871822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18217" y="9417212"/>
            <a:ext cx="3302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330120" imgH="215640" progId="Equation.DSMT4">
                    <p:embed/>
                  </p:oleObj>
                </mc:Choice>
                <mc:Fallback>
                  <p:oleObj name="Equation" r:id="rId25" imgW="330120" imgH="215640" progId="Equation.DSMT4">
                    <p:embed/>
                    <p:pic>
                      <p:nvPicPr>
                        <p:cNvPr id="56" name="Object 55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718217" y="9417212"/>
                          <a:ext cx="3302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CBEAFBCD-7DDE-183E-E23F-79D42C1E611A}"/>
                </a:ext>
              </a:extLst>
            </p:cNvPr>
            <p:cNvGrpSpPr/>
            <p:nvPr/>
          </p:nvGrpSpPr>
          <p:grpSpPr>
            <a:xfrm>
              <a:off x="4334371" y="8950487"/>
              <a:ext cx="1017587" cy="466725"/>
              <a:chOff x="-3071873" y="7239000"/>
              <a:chExt cx="1017587" cy="466725"/>
            </a:xfrm>
          </p:grpSpPr>
          <p:sp>
            <p:nvSpPr>
              <p:cNvPr id="94" name="AutoShape 172">
                <a:extLst>
                  <a:ext uri="{FF2B5EF4-FFF2-40B4-BE49-F238E27FC236}">
                    <a16:creationId xmlns:a16="http://schemas.microsoft.com/office/drawing/2014/main" id="{E2A2D62E-41D8-F012-64B7-0BBFDCCD1B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071873" y="7239000"/>
                <a:ext cx="1017587" cy="465137"/>
              </a:xfrm>
              <a:custGeom>
                <a:avLst/>
                <a:gdLst>
                  <a:gd name="G0" fmla="+- 5400 0 0"/>
                  <a:gd name="G1" fmla="+- 21600 0 5400"/>
                  <a:gd name="G2" fmla="*/ 5400 1 2"/>
                  <a:gd name="G3" fmla="+- 21600 0 G2"/>
                  <a:gd name="G4" fmla="+/ 5400 21600 2"/>
                  <a:gd name="G5" fmla="+/ G1 0 2"/>
                  <a:gd name="G6" fmla="*/ 21600 21600 5400"/>
                  <a:gd name="G7" fmla="*/ G6 1 2"/>
                  <a:gd name="G8" fmla="+- 21600 0 G7"/>
                  <a:gd name="G9" fmla="*/ 21600 1 2"/>
                  <a:gd name="G10" fmla="+- 5400 0 G9"/>
                  <a:gd name="G11" fmla="?: G10 G8 0"/>
                  <a:gd name="G12" fmla="?: G10 G7 21600"/>
                  <a:gd name="T0" fmla="*/ 18900 w 21600"/>
                  <a:gd name="T1" fmla="*/ 10800 h 21600"/>
                  <a:gd name="T2" fmla="*/ 10800 w 21600"/>
                  <a:gd name="T3" fmla="*/ 21600 h 21600"/>
                  <a:gd name="T4" fmla="*/ 2700 w 21600"/>
                  <a:gd name="T5" fmla="*/ 10800 h 21600"/>
                  <a:gd name="T6" fmla="*/ 10800 w 21600"/>
                  <a:gd name="T7" fmla="*/ 0 h 21600"/>
                  <a:gd name="T8" fmla="*/ 4500 w 21600"/>
                  <a:gd name="T9" fmla="*/ 4500 h 21600"/>
                  <a:gd name="T10" fmla="*/ 17100 w 21600"/>
                  <a:gd name="T11" fmla="*/ 171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95" name="Group 173">
                <a:extLst>
                  <a:ext uri="{FF2B5EF4-FFF2-40B4-BE49-F238E27FC236}">
                    <a16:creationId xmlns:a16="http://schemas.microsoft.com/office/drawing/2014/main" id="{7AA2192C-6B67-7ABB-EFA9-A17318C0C7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809082" y="7239000"/>
                <a:ext cx="82550" cy="466725"/>
                <a:chOff x="7937" y="13850"/>
                <a:chExt cx="130" cy="734"/>
              </a:xfrm>
            </p:grpSpPr>
            <p:cxnSp>
              <p:nvCxnSpPr>
                <p:cNvPr id="96" name="AutoShape 174">
                  <a:extLst>
                    <a:ext uri="{FF2B5EF4-FFF2-40B4-BE49-F238E27FC236}">
                      <a16:creationId xmlns:a16="http://schemas.microsoft.com/office/drawing/2014/main" id="{6EF961F3-EA55-41C5-B951-1063B0262F6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V="1">
                  <a:off x="7937" y="13850"/>
                  <a:ext cx="0" cy="734"/>
                </a:xfrm>
                <a:prstGeom prst="straightConnector1">
                  <a:avLst/>
                </a:prstGeom>
                <a:noFill/>
                <a:ln w="6350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97" name="Rectangle 175">
                  <a:extLst>
                    <a:ext uri="{FF2B5EF4-FFF2-40B4-BE49-F238E27FC236}">
                      <a16:creationId xmlns:a16="http://schemas.microsoft.com/office/drawing/2014/main" id="{155AE6E8-D8E6-D2C4-1916-0D6E6B03C4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7" y="14447"/>
                  <a:ext cx="130" cy="130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557270C9-6FF9-A649-4D96-D14C9CD8CABD}"/>
              </a:ext>
            </a:extLst>
          </p:cNvPr>
          <p:cNvSpPr/>
          <p:nvPr/>
        </p:nvSpPr>
        <p:spPr>
          <a:xfrm>
            <a:off x="428919" y="519548"/>
            <a:ext cx="271099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Factor each polynomial completely.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D2F398E-043F-73E7-EBB7-697F6E8591EE}"/>
              </a:ext>
            </a:extLst>
          </p:cNvPr>
          <p:cNvGrpSpPr/>
          <p:nvPr/>
        </p:nvGrpSpPr>
        <p:grpSpPr>
          <a:xfrm>
            <a:off x="437562" y="786980"/>
            <a:ext cx="2568693" cy="271821"/>
            <a:chOff x="437562" y="800492"/>
            <a:chExt cx="2568693" cy="271821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A0C1F6A-457F-AC7B-BEE6-7CFB0C1169AC}"/>
                </a:ext>
              </a:extLst>
            </p:cNvPr>
            <p:cNvSpPr/>
            <p:nvPr/>
          </p:nvSpPr>
          <p:spPr>
            <a:xfrm>
              <a:off x="437562" y="810703"/>
              <a:ext cx="381836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11.</a:t>
              </a:r>
              <a:endParaRPr lang="en-US" sz="1100" dirty="0">
                <a:latin typeface="Century Gothic" panose="020B0502020202020204" pitchFamily="3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9A20F9D-02CF-477F-625C-5BE4DD583707}"/>
                </a:ext>
              </a:extLst>
            </p:cNvPr>
            <p:cNvSpPr/>
            <p:nvPr/>
          </p:nvSpPr>
          <p:spPr>
            <a:xfrm>
              <a:off x="2584345" y="800492"/>
              <a:ext cx="421910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12. </a:t>
              </a:r>
              <a:endParaRPr lang="en-US" sz="1100" dirty="0">
                <a:latin typeface="Century Gothic" panose="020B0502020202020204" pitchFamily="34" charset="0"/>
              </a:endParaRPr>
            </a:p>
          </p:txBody>
        </p:sp>
      </p:grpSp>
      <p:graphicFrame>
        <p:nvGraphicFramePr>
          <p:cNvPr id="49" name="Object 48">
            <a:extLst>
              <a:ext uri="{FF2B5EF4-FFF2-40B4-BE49-F238E27FC236}">
                <a16:creationId xmlns:a16="http://schemas.microsoft.com/office/drawing/2014/main" id="{3CC25A4C-4E60-1E47-A6C7-F00181FCF3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1870" y="817563"/>
          <a:ext cx="5207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20560" imgH="215640" progId="Equation.DSMT4">
                  <p:embed/>
                </p:oleObj>
              </mc:Choice>
              <mc:Fallback>
                <p:oleObj name="Equation" r:id="rId3" imgW="520560" imgH="21564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7ECAE58D-D9B3-E503-BBFC-354B49150C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1870" y="817563"/>
                        <a:ext cx="5207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>
            <a:extLst>
              <a:ext uri="{FF2B5EF4-FFF2-40B4-BE49-F238E27FC236}">
                <a16:creationId xmlns:a16="http://schemas.microsoft.com/office/drawing/2014/main" id="{BF3048AC-39C4-3530-2D62-15B93E07C7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1870" y="2587822"/>
          <a:ext cx="6731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72840" imgH="190440" progId="Equation.DSMT4">
                  <p:embed/>
                </p:oleObj>
              </mc:Choice>
              <mc:Fallback>
                <p:oleObj name="Equation" r:id="rId5" imgW="672840" imgH="19044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4AEB974B-DBD5-9B55-4990-399EC9CCEE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71870" y="2587822"/>
                        <a:ext cx="6731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50">
            <a:extLst>
              <a:ext uri="{FF2B5EF4-FFF2-40B4-BE49-F238E27FC236}">
                <a16:creationId xmlns:a16="http://schemas.microsoft.com/office/drawing/2014/main" id="{7D0B3D74-1667-0C86-1C90-9F69890366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5675" y="2582425"/>
          <a:ext cx="736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36560" imgH="190440" progId="Equation.DSMT4">
                  <p:embed/>
                </p:oleObj>
              </mc:Choice>
              <mc:Fallback>
                <p:oleObj name="Equation" r:id="rId7" imgW="736560" imgH="19044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A5EC511B-9505-60A4-FD5C-13F509272E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25675" y="2582425"/>
                        <a:ext cx="7366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51">
            <a:extLst>
              <a:ext uri="{FF2B5EF4-FFF2-40B4-BE49-F238E27FC236}">
                <a16:creationId xmlns:a16="http://schemas.microsoft.com/office/drawing/2014/main" id="{7ED6E71F-2A82-970E-9BDA-0452D94DA5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5675" y="4334810"/>
          <a:ext cx="8763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76240" imgH="190440" progId="Equation.DSMT4">
                  <p:embed/>
                </p:oleObj>
              </mc:Choice>
              <mc:Fallback>
                <p:oleObj name="Equation" r:id="rId9" imgW="876240" imgH="19044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035E303C-8DB8-920A-9E80-32D6525D45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25675" y="4334810"/>
                        <a:ext cx="8763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52">
            <a:extLst>
              <a:ext uri="{FF2B5EF4-FFF2-40B4-BE49-F238E27FC236}">
                <a16:creationId xmlns:a16="http://schemas.microsoft.com/office/drawing/2014/main" id="{E1502321-4F60-0C36-1260-8ED9C46328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5675" y="6110894"/>
          <a:ext cx="990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90360" imgH="190440" progId="Equation.DSMT4">
                  <p:embed/>
                </p:oleObj>
              </mc:Choice>
              <mc:Fallback>
                <p:oleObj name="Equation" r:id="rId11" imgW="990360" imgH="19044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E3E228FF-EBFD-AC91-F304-4DD677B111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25675" y="6110894"/>
                        <a:ext cx="9906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53">
            <a:extLst>
              <a:ext uri="{FF2B5EF4-FFF2-40B4-BE49-F238E27FC236}">
                <a16:creationId xmlns:a16="http://schemas.microsoft.com/office/drawing/2014/main" id="{1D2C6D8C-818D-EF21-E1CA-61AE0F555D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5675" y="7863217"/>
          <a:ext cx="10922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91880" imgH="190440" progId="Equation.DSMT4">
                  <p:embed/>
                </p:oleObj>
              </mc:Choice>
              <mc:Fallback>
                <p:oleObj name="Equation" r:id="rId13" imgW="1091880" imgH="190440" progId="Equation.DSMT4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E2088518-0B37-B2D3-3C68-3CB9C61C29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925675" y="7863217"/>
                        <a:ext cx="10922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Group 54">
            <a:extLst>
              <a:ext uri="{FF2B5EF4-FFF2-40B4-BE49-F238E27FC236}">
                <a16:creationId xmlns:a16="http://schemas.microsoft.com/office/drawing/2014/main" id="{AA4BACB3-A27D-2E17-0345-9B61E32C244D}"/>
              </a:ext>
            </a:extLst>
          </p:cNvPr>
          <p:cNvGrpSpPr/>
          <p:nvPr/>
        </p:nvGrpSpPr>
        <p:grpSpPr>
          <a:xfrm>
            <a:off x="437562" y="2551214"/>
            <a:ext cx="2568693" cy="271821"/>
            <a:chOff x="437562" y="800492"/>
            <a:chExt cx="2568693" cy="271821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E959D76-68B2-BBC7-BE7C-C08432AC6E13}"/>
                </a:ext>
              </a:extLst>
            </p:cNvPr>
            <p:cNvSpPr/>
            <p:nvPr/>
          </p:nvSpPr>
          <p:spPr>
            <a:xfrm>
              <a:off x="437562" y="810703"/>
              <a:ext cx="381836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13.</a:t>
              </a:r>
              <a:endParaRPr lang="en-US" sz="1100" dirty="0">
                <a:latin typeface="Century Gothic" panose="020B050202020202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E9FFBEB-B882-4AA9-5038-1CE707E1F348}"/>
                </a:ext>
              </a:extLst>
            </p:cNvPr>
            <p:cNvSpPr/>
            <p:nvPr/>
          </p:nvSpPr>
          <p:spPr>
            <a:xfrm>
              <a:off x="2584345" y="800492"/>
              <a:ext cx="421910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14. </a:t>
              </a:r>
              <a:endParaRPr lang="en-US" sz="11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D7BAEA7-023C-2D57-6819-A169251E97F8}"/>
              </a:ext>
            </a:extLst>
          </p:cNvPr>
          <p:cNvGrpSpPr/>
          <p:nvPr/>
        </p:nvGrpSpPr>
        <p:grpSpPr>
          <a:xfrm>
            <a:off x="437562" y="4315448"/>
            <a:ext cx="2568693" cy="271821"/>
            <a:chOff x="437562" y="800492"/>
            <a:chExt cx="2568693" cy="271821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D74C2EC-FD86-540A-09BE-F29A0974DDDC}"/>
                </a:ext>
              </a:extLst>
            </p:cNvPr>
            <p:cNvSpPr/>
            <p:nvPr/>
          </p:nvSpPr>
          <p:spPr>
            <a:xfrm>
              <a:off x="437562" y="810703"/>
              <a:ext cx="381836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15.</a:t>
              </a:r>
              <a:endParaRPr lang="en-US" sz="1100" dirty="0">
                <a:latin typeface="Century Gothic" panose="020B0502020202020204" pitchFamily="34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01D1EA0-5B96-CB97-652B-58AC1339E1DE}"/>
                </a:ext>
              </a:extLst>
            </p:cNvPr>
            <p:cNvSpPr/>
            <p:nvPr/>
          </p:nvSpPr>
          <p:spPr>
            <a:xfrm>
              <a:off x="2584345" y="800492"/>
              <a:ext cx="421910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16. </a:t>
              </a:r>
              <a:endParaRPr lang="en-US" sz="11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650C901-104C-3F24-3CA7-0991B28F359E}"/>
              </a:ext>
            </a:extLst>
          </p:cNvPr>
          <p:cNvGrpSpPr/>
          <p:nvPr/>
        </p:nvGrpSpPr>
        <p:grpSpPr>
          <a:xfrm>
            <a:off x="437562" y="6079682"/>
            <a:ext cx="2568693" cy="271821"/>
            <a:chOff x="437562" y="800492"/>
            <a:chExt cx="2568693" cy="271821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C4E7845-C223-40E5-3F4F-70073113E671}"/>
                </a:ext>
              </a:extLst>
            </p:cNvPr>
            <p:cNvSpPr/>
            <p:nvPr/>
          </p:nvSpPr>
          <p:spPr>
            <a:xfrm>
              <a:off x="437562" y="810703"/>
              <a:ext cx="381836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17.</a:t>
              </a:r>
              <a:endParaRPr lang="en-US" sz="1100" dirty="0">
                <a:latin typeface="Century Gothic" panose="020B0502020202020204" pitchFamily="34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881103D-353B-7E55-6DFD-70506FEB7BF3}"/>
                </a:ext>
              </a:extLst>
            </p:cNvPr>
            <p:cNvSpPr/>
            <p:nvPr/>
          </p:nvSpPr>
          <p:spPr>
            <a:xfrm>
              <a:off x="2584345" y="800492"/>
              <a:ext cx="421910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18. </a:t>
              </a:r>
              <a:endParaRPr lang="en-US" sz="11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0B7B017-E68D-FE61-1DC2-DC2771BA7873}"/>
              </a:ext>
            </a:extLst>
          </p:cNvPr>
          <p:cNvGrpSpPr/>
          <p:nvPr/>
        </p:nvGrpSpPr>
        <p:grpSpPr>
          <a:xfrm>
            <a:off x="437562" y="7843917"/>
            <a:ext cx="2568693" cy="271821"/>
            <a:chOff x="437562" y="800492"/>
            <a:chExt cx="2568693" cy="271821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6558EBE-16F4-8953-584E-FCE646F5FBB6}"/>
                </a:ext>
              </a:extLst>
            </p:cNvPr>
            <p:cNvSpPr/>
            <p:nvPr/>
          </p:nvSpPr>
          <p:spPr>
            <a:xfrm>
              <a:off x="437562" y="810703"/>
              <a:ext cx="381836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19.</a:t>
              </a:r>
              <a:endParaRPr lang="en-US" sz="1100" dirty="0">
                <a:latin typeface="Century Gothic" panose="020B050202020202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1A4CD4E1-5974-E899-A90B-3765E3863097}"/>
                </a:ext>
              </a:extLst>
            </p:cNvPr>
            <p:cNvSpPr/>
            <p:nvPr/>
          </p:nvSpPr>
          <p:spPr>
            <a:xfrm>
              <a:off x="2584345" y="800492"/>
              <a:ext cx="421910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b="1" dirty="0">
                  <a:latin typeface="Century Gothic" panose="020B0502020202020204" pitchFamily="34" charset="0"/>
                  <a:ea typeface="Calibri" panose="020F0502020204030204" pitchFamily="34" charset="0"/>
                </a:rPr>
                <a:t>20</a:t>
              </a: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. </a:t>
              </a:r>
              <a:endParaRPr lang="en-US" sz="1100" dirty="0">
                <a:latin typeface="Century Gothic" panose="020B0502020202020204" pitchFamily="34" charset="0"/>
              </a:endParaRPr>
            </a:p>
          </p:txBody>
        </p:sp>
      </p:grpSp>
      <p:graphicFrame>
        <p:nvGraphicFramePr>
          <p:cNvPr id="67" name="Object 66">
            <a:extLst>
              <a:ext uri="{FF2B5EF4-FFF2-40B4-BE49-F238E27FC236}">
                <a16:creationId xmlns:a16="http://schemas.microsoft.com/office/drawing/2014/main" id="{425107EC-ACF2-7CC5-A4ED-D1C25C86B7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5675" y="814013"/>
          <a:ext cx="8636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63280" imgH="215640" progId="Equation.DSMT4">
                  <p:embed/>
                </p:oleObj>
              </mc:Choice>
              <mc:Fallback>
                <p:oleObj name="Equation" r:id="rId15" imgW="863280" imgH="21564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DD13405C-FDC3-8388-5842-D871F51173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25675" y="814013"/>
                        <a:ext cx="8636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67">
            <a:extLst>
              <a:ext uri="{FF2B5EF4-FFF2-40B4-BE49-F238E27FC236}">
                <a16:creationId xmlns:a16="http://schemas.microsoft.com/office/drawing/2014/main" id="{F9C9C856-750D-307F-CCF4-A51B3B1748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1870" y="4351944"/>
          <a:ext cx="8001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799920" imgH="190440" progId="Equation.DSMT4">
                  <p:embed/>
                </p:oleObj>
              </mc:Choice>
              <mc:Fallback>
                <p:oleObj name="Equation" r:id="rId17" imgW="799920" imgH="190440" progId="Equation.DSMT4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D7713FEA-5A03-1C37-E054-9C96D7E4C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71870" y="4351944"/>
                        <a:ext cx="8001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68">
            <a:extLst>
              <a:ext uri="{FF2B5EF4-FFF2-40B4-BE49-F238E27FC236}">
                <a16:creationId xmlns:a16="http://schemas.microsoft.com/office/drawing/2014/main" id="{84E6B070-4D71-25D0-7257-963311CFC6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0575" y="6126163"/>
          <a:ext cx="8255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825480" imgH="190440" progId="Equation.DSMT4">
                  <p:embed/>
                </p:oleObj>
              </mc:Choice>
              <mc:Fallback>
                <p:oleObj name="Equation" r:id="rId19" imgW="825480" imgH="190440" progId="Equation.DSMT4">
                  <p:embed/>
                  <p:pic>
                    <p:nvPicPr>
                      <p:cNvPr id="44" name="Object 43">
                        <a:extLst>
                          <a:ext uri="{FF2B5EF4-FFF2-40B4-BE49-F238E27FC236}">
                            <a16:creationId xmlns:a16="http://schemas.microsoft.com/office/drawing/2014/main" id="{E078099D-4AF7-7AB2-B3D0-6DCB4CA4DE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90575" y="6126163"/>
                        <a:ext cx="8255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69">
            <a:extLst>
              <a:ext uri="{FF2B5EF4-FFF2-40B4-BE49-F238E27FC236}">
                <a16:creationId xmlns:a16="http://schemas.microsoft.com/office/drawing/2014/main" id="{556C8DA0-D0BF-7F00-1382-D1A4E3AA98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1870" y="7877175"/>
          <a:ext cx="13081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307880" imgH="190440" progId="Equation.DSMT4">
                  <p:embed/>
                </p:oleObj>
              </mc:Choice>
              <mc:Fallback>
                <p:oleObj name="Equation" r:id="rId21" imgW="1307880" imgH="190440" progId="Equation.DSMT4">
                  <p:embed/>
                  <p:pic>
                    <p:nvPicPr>
                      <p:cNvPr id="45" name="Object 44">
                        <a:extLst>
                          <a:ext uri="{FF2B5EF4-FFF2-40B4-BE49-F238E27FC236}">
                            <a16:creationId xmlns:a16="http://schemas.microsoft.com/office/drawing/2014/main" id="{DCD3FAAD-F1F7-E175-CFCF-D7A6ECE600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71870" y="7877175"/>
                        <a:ext cx="13081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134</Words>
  <Application>Microsoft Office PowerPoint</Application>
  <PresentationFormat>Custom</PresentationFormat>
  <Paragraphs>29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Calibri</vt:lpstr>
      <vt:lpstr>Century Gothic</vt:lpstr>
      <vt:lpstr>Tahoma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- 11 - Quiz 5-1</dc:title>
  <dc:creator>Gina</dc:creator>
  <cp:lastModifiedBy>Gina Wilson</cp:lastModifiedBy>
  <cp:revision>23</cp:revision>
  <dcterms:created xsi:type="dcterms:W3CDTF">2017-10-16T11:23:21Z</dcterms:created>
  <dcterms:modified xsi:type="dcterms:W3CDTF">2022-06-13T19:46:33Z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2015-08-13T00:00:00Z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2017-10-16T00:00:00Z</vt:filetime>
  </property>
</Properties>
</file>