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14" autoAdjust="0"/>
  </p:normalViewPr>
  <p:slideViewPr>
    <p:cSldViewPr>
      <p:cViewPr varScale="1">
        <p:scale>
          <a:sx n="70" d="100"/>
          <a:sy n="70" d="100"/>
        </p:scale>
        <p:origin x="1308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10478" y="9781899"/>
            <a:ext cx="1417320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1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9.png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5.wmf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 2">
            <a:extLst>
              <a:ext uri="{FF2B5EF4-FFF2-40B4-BE49-F238E27FC236}">
                <a16:creationId xmlns:a16="http://schemas.microsoft.com/office/drawing/2014/main" id="{F85EC604-1723-1ACC-A234-D1CE6434ACA9}"/>
              </a:ext>
            </a:extLst>
          </p:cNvPr>
          <p:cNvSpPr txBox="1"/>
          <p:nvPr/>
        </p:nvSpPr>
        <p:spPr>
          <a:xfrm>
            <a:off x="552389" y="5316927"/>
            <a:ext cx="6912859" cy="330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Given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the graph, determine whether the degree is even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or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odd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and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 the leading  coefficient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is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positive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or</a:t>
            </a:r>
            <a:r>
              <a:rPr sz="1100" b="1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negative.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99" name="object 19">
            <a:extLst>
              <a:ext uri="{FF2B5EF4-FFF2-40B4-BE49-F238E27FC236}">
                <a16:creationId xmlns:a16="http://schemas.microsoft.com/office/drawing/2014/main" id="{7D765E36-2824-C1AA-9561-8C8F04FF0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378863"/>
              </p:ext>
            </p:extLst>
          </p:nvPr>
        </p:nvGraphicFramePr>
        <p:xfrm>
          <a:off x="894112" y="8371275"/>
          <a:ext cx="2590801" cy="11490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976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b="1" spc="-5" dirty="0">
                          <a:latin typeface="Century Gothic" panose="020B0502020202020204" pitchFamily="34" charset="0"/>
                          <a:cs typeface="Tahoma"/>
                        </a:rPr>
                        <a:t>Zero</a:t>
                      </a:r>
                      <a:endParaRPr sz="10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4604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b="1" spc="-5" dirty="0">
                          <a:latin typeface="Century Gothic" panose="020B0502020202020204" pitchFamily="34" charset="0"/>
                          <a:cs typeface="Tahoma"/>
                        </a:rPr>
                        <a:t>Multiplicity</a:t>
                      </a:r>
                      <a:endParaRPr sz="10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4604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b="1" spc="-5" dirty="0">
                          <a:latin typeface="Century Gothic" panose="020B0502020202020204" pitchFamily="34" charset="0"/>
                          <a:cs typeface="Tahoma"/>
                        </a:rPr>
                        <a:t>Effect</a:t>
                      </a:r>
                      <a:endParaRPr sz="10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4604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0" name="object 20">
            <a:extLst>
              <a:ext uri="{FF2B5EF4-FFF2-40B4-BE49-F238E27FC236}">
                <a16:creationId xmlns:a16="http://schemas.microsoft.com/office/drawing/2014/main" id="{86C4983C-51F7-7F49-5737-A802AE2C0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658867"/>
              </p:ext>
            </p:extLst>
          </p:nvPr>
        </p:nvGraphicFramePr>
        <p:xfrm>
          <a:off x="4204241" y="8371277"/>
          <a:ext cx="2590799" cy="11490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973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b="1" spc="-5" dirty="0">
                          <a:latin typeface="Century Gothic" panose="020B0502020202020204" pitchFamily="34" charset="0"/>
                          <a:cs typeface="Tahoma"/>
                        </a:rPr>
                        <a:t>Zero</a:t>
                      </a:r>
                      <a:endParaRPr sz="10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4604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b="1" spc="-5" dirty="0">
                          <a:latin typeface="Century Gothic" panose="020B0502020202020204" pitchFamily="34" charset="0"/>
                          <a:cs typeface="Tahoma"/>
                        </a:rPr>
                        <a:t>Multiplicity</a:t>
                      </a:r>
                      <a:endParaRPr sz="10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4604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00" b="1" spc="-5" dirty="0">
                          <a:latin typeface="Century Gothic" panose="020B0502020202020204" pitchFamily="34" charset="0"/>
                          <a:cs typeface="Tahoma"/>
                        </a:rPr>
                        <a:t>Effect</a:t>
                      </a:r>
                      <a:endParaRPr sz="10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14604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2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2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2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9C820B1F-107E-2B50-54C2-20C26A777470}"/>
              </a:ext>
            </a:extLst>
          </p:cNvPr>
          <p:cNvSpPr/>
          <p:nvPr/>
        </p:nvSpPr>
        <p:spPr>
          <a:xfrm>
            <a:off x="477451" y="5782626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C89A238-F235-84BF-F88B-364CE9876060}"/>
              </a:ext>
            </a:extLst>
          </p:cNvPr>
          <p:cNvSpPr/>
          <p:nvPr/>
        </p:nvSpPr>
        <p:spPr>
          <a:xfrm>
            <a:off x="459658" y="1569988"/>
            <a:ext cx="55245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Graph the function below and identify its key characteristics.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27F9842-3899-69C4-1357-FAC3449216F6}"/>
              </a:ext>
            </a:extLst>
          </p:cNvPr>
          <p:cNvSpPr/>
          <p:nvPr/>
        </p:nvSpPr>
        <p:spPr>
          <a:xfrm>
            <a:off x="477451" y="1831598"/>
            <a:ext cx="3433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FFEB650C-04BB-9D55-5E8C-E118567F87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687687"/>
              </p:ext>
            </p:extLst>
          </p:nvPr>
        </p:nvGraphicFramePr>
        <p:xfrm>
          <a:off x="749300" y="1854200"/>
          <a:ext cx="1397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215640" progId="Equation.DSMT4">
                  <p:embed/>
                </p:oleObj>
              </mc:Choice>
              <mc:Fallback>
                <p:oleObj name="Equation" r:id="rId3" imgW="1396800" imgH="215640" progId="Equation.DSMT4">
                  <p:embed/>
                  <p:pic>
                    <p:nvPicPr>
                      <p:cNvPr id="75" name="Object 74">
                        <a:extLst>
                          <a:ext uri="{FF2B5EF4-FFF2-40B4-BE49-F238E27FC236}">
                            <a16:creationId xmlns:a16="http://schemas.microsoft.com/office/drawing/2014/main" id="{F439E89B-906B-61A6-3523-EC239086AB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9300" y="1854200"/>
                        <a:ext cx="1397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Rectangle 104">
            <a:extLst>
              <a:ext uri="{FF2B5EF4-FFF2-40B4-BE49-F238E27FC236}">
                <a16:creationId xmlns:a16="http://schemas.microsoft.com/office/drawing/2014/main" id="{E64C0AB1-2077-D9B6-FF4E-EF1E483D7223}"/>
              </a:ext>
            </a:extLst>
          </p:cNvPr>
          <p:cNvSpPr/>
          <p:nvPr/>
        </p:nvSpPr>
        <p:spPr>
          <a:xfrm>
            <a:off x="419100" y="7432421"/>
            <a:ext cx="72009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Identify the zeros, their multiplicity, and their effect on the graph of the function.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CA1FF77-1F3E-F99B-5A0C-E9789CF9345D}"/>
              </a:ext>
            </a:extLst>
          </p:cNvPr>
          <p:cNvSpPr/>
          <p:nvPr/>
        </p:nvSpPr>
        <p:spPr>
          <a:xfrm>
            <a:off x="412530" y="7842448"/>
            <a:ext cx="26321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4938616-B0C7-89D1-58C2-26582F572C60}"/>
              </a:ext>
            </a:extLst>
          </p:cNvPr>
          <p:cNvSpPr/>
          <p:nvPr/>
        </p:nvSpPr>
        <p:spPr>
          <a:xfrm>
            <a:off x="3794230" y="7842448"/>
            <a:ext cx="26321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ADB25D58-196E-04B7-5415-ABA78DB99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430760"/>
              </p:ext>
            </p:extLst>
          </p:nvPr>
        </p:nvGraphicFramePr>
        <p:xfrm>
          <a:off x="753174" y="7861513"/>
          <a:ext cx="1600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00200" imgH="215640" progId="Equation.DSMT4">
                  <p:embed/>
                </p:oleObj>
              </mc:Choice>
              <mc:Fallback>
                <p:oleObj name="Equation" r:id="rId5" imgW="1600200" imgH="215640" progId="Equation.DSMT4">
                  <p:embed/>
                  <p:pic>
                    <p:nvPicPr>
                      <p:cNvPr id="87" name="Object 86">
                        <a:extLst>
                          <a:ext uri="{FF2B5EF4-FFF2-40B4-BE49-F238E27FC236}">
                            <a16:creationId xmlns:a16="http://schemas.microsoft.com/office/drawing/2014/main" id="{5ADF4EB4-AFF7-6F6D-1996-F90E26C85B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3174" y="7861513"/>
                        <a:ext cx="1600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26A3B3B8-BFC9-08F1-F537-1ABE3B2D5D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309349"/>
              </p:ext>
            </p:extLst>
          </p:nvPr>
        </p:nvGraphicFramePr>
        <p:xfrm>
          <a:off x="4102100" y="7861244"/>
          <a:ext cx="138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84200" imgH="215640" progId="Equation.DSMT4">
                  <p:embed/>
                </p:oleObj>
              </mc:Choice>
              <mc:Fallback>
                <p:oleObj name="Equation" r:id="rId7" imgW="1384200" imgH="215640" progId="Equation.DSMT4">
                  <p:embed/>
                  <p:pic>
                    <p:nvPicPr>
                      <p:cNvPr id="88" name="Object 87">
                        <a:extLst>
                          <a:ext uri="{FF2B5EF4-FFF2-40B4-BE49-F238E27FC236}">
                            <a16:creationId xmlns:a16="http://schemas.microsoft.com/office/drawing/2014/main" id="{08243029-E28E-095B-3055-5C7E2C1D9A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2100" y="7861244"/>
                        <a:ext cx="138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CDE5CE7-204F-32EE-5FC5-DC58AA696522}"/>
              </a:ext>
            </a:extLst>
          </p:cNvPr>
          <p:cNvGrpSpPr/>
          <p:nvPr/>
        </p:nvGrpSpPr>
        <p:grpSpPr>
          <a:xfrm>
            <a:off x="4427718" y="2208553"/>
            <a:ext cx="2958696" cy="2671180"/>
            <a:chOff x="4872124" y="2081707"/>
            <a:chExt cx="2958696" cy="2671180"/>
          </a:xfrm>
        </p:grpSpPr>
        <p:sp>
          <p:nvSpPr>
            <p:cNvPr id="111" name="object 4">
              <a:extLst>
                <a:ext uri="{FF2B5EF4-FFF2-40B4-BE49-F238E27FC236}">
                  <a16:creationId xmlns:a16="http://schemas.microsoft.com/office/drawing/2014/main" id="{E4A82DE7-8BEA-D582-A352-64086C3E2274}"/>
                </a:ext>
              </a:extLst>
            </p:cNvPr>
            <p:cNvSpPr txBox="1"/>
            <p:nvPr/>
          </p:nvSpPr>
          <p:spPr>
            <a:xfrm>
              <a:off x="4872124" y="2081707"/>
              <a:ext cx="2958696" cy="267118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80000"/>
                </a:lnSpc>
                <a:defRPr/>
              </a:pPr>
              <a:r>
                <a:rPr lang="en-US" sz="1000" b="1" spc="-5" dirty="0">
                  <a:latin typeface="Century Gothic" panose="020B0502020202020204" pitchFamily="34" charset="0"/>
                  <a:cs typeface="Tahoma"/>
                </a:rPr>
                <a:t>Domain: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_____________________________________</a:t>
              </a:r>
              <a:br>
                <a:rPr lang="en-US" sz="1000" u="sng" spc="-5" dirty="0">
                  <a:latin typeface="Century Gothic" panose="020B0502020202020204" pitchFamily="34" charset="0"/>
                  <a:cs typeface="Times New Roman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Range: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Rel. Maximum(s):</a:t>
              </a:r>
              <a:r>
                <a:rPr lang="en-US" sz="10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Rel. Minimum(s):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</a:t>
              </a:r>
              <a:b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</a:rPr>
                <a:t>End Behavior: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                _______</a:t>
              </a:r>
              <a:b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As                            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Inc. Intervals: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Dec. Intervals: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Zeros:</a:t>
              </a:r>
              <a:r>
                <a:rPr lang="en-US" sz="10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______________________________________</a:t>
              </a:r>
              <a:endParaRPr lang="en-US" sz="12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2" name="Object 111">
              <a:extLst>
                <a:ext uri="{FF2B5EF4-FFF2-40B4-BE49-F238E27FC236}">
                  <a16:creationId xmlns:a16="http://schemas.microsoft.com/office/drawing/2014/main" id="{9A9A0BDB-9B1B-99A9-0F47-E7C6DD1892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08846" y="3307722"/>
            <a:ext cx="1003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002960" imgH="228600" progId="Equation.DSMT4">
                    <p:embed/>
                  </p:oleObj>
                </mc:Choice>
                <mc:Fallback>
                  <p:oleObj name="Equation" r:id="rId9" imgW="1002960" imgH="228600" progId="Equation.DSMT4">
                    <p:embed/>
                    <p:pic>
                      <p:nvPicPr>
                        <p:cNvPr id="89" name="Object 88">
                          <a:extLst>
                            <a:ext uri="{FF2B5EF4-FFF2-40B4-BE49-F238E27FC236}">
                              <a16:creationId xmlns:a16="http://schemas.microsoft.com/office/drawing/2014/main" id="{1831B98C-AA00-5487-1604-E31AF49E928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108846" y="3307722"/>
                          <a:ext cx="1003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" name="Object 112">
              <a:extLst>
                <a:ext uri="{FF2B5EF4-FFF2-40B4-BE49-F238E27FC236}">
                  <a16:creationId xmlns:a16="http://schemas.microsoft.com/office/drawing/2014/main" id="{343CD071-814A-9117-7902-3D3B64F3A0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44679" y="3594893"/>
            <a:ext cx="9144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914400" imgH="228600" progId="Equation.DSMT4">
                    <p:embed/>
                  </p:oleObj>
                </mc:Choice>
                <mc:Fallback>
                  <p:oleObj name="Equation" r:id="rId11" imgW="914400" imgH="228600" progId="Equation.DSMT4">
                    <p:embed/>
                    <p:pic>
                      <p:nvPicPr>
                        <p:cNvPr id="90" name="Object 89">
                          <a:extLst>
                            <a:ext uri="{FF2B5EF4-FFF2-40B4-BE49-F238E27FC236}">
                              <a16:creationId xmlns:a16="http://schemas.microsoft.com/office/drawing/2014/main" id="{D66FC3F9-860B-D5CC-1F4C-6760215BC7D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44679" y="3594893"/>
                          <a:ext cx="9144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8" name="Table 3">
            <a:extLst>
              <a:ext uri="{FF2B5EF4-FFF2-40B4-BE49-F238E27FC236}">
                <a16:creationId xmlns:a16="http://schemas.microsoft.com/office/drawing/2014/main" id="{23AA5ABF-4152-1F22-5F47-6CCEE8ADF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705668"/>
              </p:ext>
            </p:extLst>
          </p:nvPr>
        </p:nvGraphicFramePr>
        <p:xfrm>
          <a:off x="2059004" y="6000646"/>
          <a:ext cx="1783080" cy="795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354375106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4147331759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en-US" sz="95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Degree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Leading Coefficient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7448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164003"/>
                  </a:ext>
                </a:extLst>
              </a:tr>
            </a:tbl>
          </a:graphicData>
        </a:graphic>
      </p:graphicFrame>
      <p:sp>
        <p:nvSpPr>
          <p:cNvPr id="169" name="TextBox 30">
            <a:extLst>
              <a:ext uri="{FF2B5EF4-FFF2-40B4-BE49-F238E27FC236}">
                <a16:creationId xmlns:a16="http://schemas.microsoft.com/office/drawing/2014/main" id="{A40D5AA8-9E45-1660-1CA8-70ABFC81F71E}"/>
              </a:ext>
            </a:extLst>
          </p:cNvPr>
          <p:cNvSpPr txBox="1"/>
          <p:nvPr/>
        </p:nvSpPr>
        <p:spPr>
          <a:xfrm>
            <a:off x="2084258" y="6356405"/>
            <a:ext cx="751165" cy="4326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37160" marR="0" lvl="0" indent="-20116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"/>
              <a:tabLst>
                <a:tab pos="228600" algn="l"/>
              </a:tabLst>
            </a:pPr>
            <a:r>
              <a:rPr lang="en-US" sz="95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</a:t>
            </a:r>
            <a:endParaRPr lang="en-US" sz="95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" marR="0" lvl="0" indent="-20116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"/>
              <a:tabLst>
                <a:tab pos="228600" algn="l"/>
              </a:tabLst>
            </a:pPr>
            <a:r>
              <a:rPr lang="en-US" sz="95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Odd</a:t>
            </a:r>
            <a:endParaRPr lang="en-US" sz="95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0" name="TextBox 30">
            <a:extLst>
              <a:ext uri="{FF2B5EF4-FFF2-40B4-BE49-F238E27FC236}">
                <a16:creationId xmlns:a16="http://schemas.microsoft.com/office/drawing/2014/main" id="{2D371DDA-B1EC-CC98-1455-6674B85CE7B1}"/>
              </a:ext>
            </a:extLst>
          </p:cNvPr>
          <p:cNvSpPr txBox="1"/>
          <p:nvPr/>
        </p:nvSpPr>
        <p:spPr>
          <a:xfrm>
            <a:off x="2869075" y="6356405"/>
            <a:ext cx="1021080" cy="4326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37160" marR="0" lvl="0" indent="-20116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"/>
              <a:tabLst>
                <a:tab pos="228600" algn="l"/>
              </a:tabLst>
            </a:pPr>
            <a:r>
              <a:rPr lang="en-US" sz="95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</a:t>
            </a:r>
            <a:endParaRPr lang="en-US" sz="95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" marR="0" lvl="0" indent="-20116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"/>
              <a:tabLst>
                <a:tab pos="228600" algn="l"/>
              </a:tabLst>
            </a:pPr>
            <a:r>
              <a:rPr lang="en-US" sz="95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</a:t>
            </a:r>
            <a:endParaRPr lang="en-US" sz="95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03BA507-4140-2A88-A398-F6C9640DB1AD}"/>
              </a:ext>
            </a:extLst>
          </p:cNvPr>
          <p:cNvSpPr/>
          <p:nvPr/>
        </p:nvSpPr>
        <p:spPr>
          <a:xfrm>
            <a:off x="4129400" y="5778128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6" name="Table 3">
            <a:extLst>
              <a:ext uri="{FF2B5EF4-FFF2-40B4-BE49-F238E27FC236}">
                <a16:creationId xmlns:a16="http://schemas.microsoft.com/office/drawing/2014/main" id="{8D694992-ACFC-9279-FC8A-911BC354C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501522"/>
              </p:ext>
            </p:extLst>
          </p:nvPr>
        </p:nvGraphicFramePr>
        <p:xfrm>
          <a:off x="5634401" y="6002874"/>
          <a:ext cx="1783080" cy="795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354375106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4147331759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lang="en-US" sz="95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Degree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Leading Coefficient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7448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164003"/>
                  </a:ext>
                </a:extLst>
              </a:tr>
            </a:tbl>
          </a:graphicData>
        </a:graphic>
      </p:graphicFrame>
      <p:sp>
        <p:nvSpPr>
          <p:cNvPr id="187" name="TextBox 30">
            <a:extLst>
              <a:ext uri="{FF2B5EF4-FFF2-40B4-BE49-F238E27FC236}">
                <a16:creationId xmlns:a16="http://schemas.microsoft.com/office/drawing/2014/main" id="{B76AC997-2949-F6D9-6160-6A67CF49281F}"/>
              </a:ext>
            </a:extLst>
          </p:cNvPr>
          <p:cNvSpPr txBox="1"/>
          <p:nvPr/>
        </p:nvSpPr>
        <p:spPr>
          <a:xfrm>
            <a:off x="5659655" y="6358633"/>
            <a:ext cx="751165" cy="4326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37160" marR="0" lvl="0" indent="-20116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"/>
              <a:tabLst>
                <a:tab pos="228600" algn="l"/>
              </a:tabLst>
            </a:pPr>
            <a:r>
              <a:rPr lang="en-US" sz="95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</a:t>
            </a:r>
            <a:endParaRPr lang="en-US" sz="95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" marR="0" lvl="0" indent="-20116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"/>
              <a:tabLst>
                <a:tab pos="228600" algn="l"/>
              </a:tabLst>
            </a:pPr>
            <a:r>
              <a:rPr lang="en-US" sz="95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Odd</a:t>
            </a:r>
            <a:endParaRPr lang="en-US" sz="95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8" name="TextBox 30">
            <a:extLst>
              <a:ext uri="{FF2B5EF4-FFF2-40B4-BE49-F238E27FC236}">
                <a16:creationId xmlns:a16="http://schemas.microsoft.com/office/drawing/2014/main" id="{CE740C86-4D00-F0AF-3C75-F2719D4E3A4E}"/>
              </a:ext>
            </a:extLst>
          </p:cNvPr>
          <p:cNvSpPr txBox="1"/>
          <p:nvPr/>
        </p:nvSpPr>
        <p:spPr>
          <a:xfrm>
            <a:off x="6444472" y="6358633"/>
            <a:ext cx="1021080" cy="4326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37160" marR="0" lvl="0" indent="-20116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"/>
              <a:tabLst>
                <a:tab pos="228600" algn="l"/>
              </a:tabLst>
            </a:pPr>
            <a:r>
              <a:rPr lang="en-US" sz="95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</a:t>
            </a:r>
            <a:endParaRPr lang="en-US" sz="95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" marR="0" lvl="0" indent="-20116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"/>
              <a:tabLst>
                <a:tab pos="228600" algn="l"/>
              </a:tabLst>
            </a:pPr>
            <a:r>
              <a:rPr lang="en-US" sz="950" dirty="0">
                <a:solidFill>
                  <a:srgbClr val="0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</a:t>
            </a:r>
            <a:endParaRPr lang="en-US" sz="95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D5FF2-DAB6-D6C6-B549-97D0CB2408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0956" y="2054619"/>
            <a:ext cx="3109229" cy="3109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4C5D98-8720-1E44-DAA4-5E0EC60390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7832" y="5778128"/>
            <a:ext cx="1481456" cy="1481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B44454-4A4F-5470-3AF0-218E10CB57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56740" y="5679021"/>
            <a:ext cx="1469263" cy="1493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875E533-0C0D-9649-E20B-310D5A86E520}"/>
              </a:ext>
            </a:extLst>
          </p:cNvPr>
          <p:cNvSpPr/>
          <p:nvPr/>
        </p:nvSpPr>
        <p:spPr>
          <a:xfrm>
            <a:off x="473090" y="607076"/>
            <a:ext cx="70485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 polynomial function has a zero at 4 (multiplicity 3) and 0 (multiplicity 1).  Write a function in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 standard form that could represent this function.   Box your final answer.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48BC8C-CA1C-CB77-4B33-6DAD96ECD9E9}"/>
              </a:ext>
            </a:extLst>
          </p:cNvPr>
          <p:cNvSpPr/>
          <p:nvPr/>
        </p:nvSpPr>
        <p:spPr>
          <a:xfrm>
            <a:off x="507458" y="3101907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C1D84FDD-EB06-04E0-8D73-5CCB2A68F5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318" y="3130790"/>
          <a:ext cx="571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1320" imgH="190440" progId="Equation.DSMT4">
                  <p:embed/>
                </p:oleObj>
              </mc:Choice>
              <mc:Fallback>
                <p:oleObj name="Equation" r:id="rId3" imgW="571320" imgH="19044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36E11B39-446D-8149-3717-31F212BE88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5318" y="3130790"/>
                        <a:ext cx="571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BB4B3CDE-4093-A7DF-26B8-5DD9CAE7AD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9146" y="3130790"/>
          <a:ext cx="7747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190440" progId="Equation.DSMT4">
                  <p:embed/>
                </p:oleObj>
              </mc:Choice>
              <mc:Fallback>
                <p:oleObj name="Equation" r:id="rId5" imgW="774360" imgH="190440" progId="Equation.DSMT4">
                  <p:embed/>
                  <p:pic>
                    <p:nvPicPr>
                      <p:cNvPr id="66" name="Object 65">
                        <a:extLst>
                          <a:ext uri="{FF2B5EF4-FFF2-40B4-BE49-F238E27FC236}">
                            <a16:creationId xmlns:a16="http://schemas.microsoft.com/office/drawing/2014/main" id="{996F3A8F-6B28-48BD-3770-97FDD86B5B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69146" y="3130790"/>
                        <a:ext cx="7747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CD0E0F85-FD0B-EC2F-42E7-0C275417ED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318" y="5412688"/>
          <a:ext cx="838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080" imgH="190440" progId="Equation.DSMT4">
                  <p:embed/>
                </p:oleObj>
              </mc:Choice>
              <mc:Fallback>
                <p:oleObj name="Equation" r:id="rId7" imgW="838080" imgH="190440" progId="Equation.DSMT4">
                  <p:embed/>
                  <p:pic>
                    <p:nvPicPr>
                      <p:cNvPr id="73" name="Object 72">
                        <a:extLst>
                          <a:ext uri="{FF2B5EF4-FFF2-40B4-BE49-F238E27FC236}">
                            <a16:creationId xmlns:a16="http://schemas.microsoft.com/office/drawing/2014/main" id="{ED7DCF05-EAF8-FB8E-9DCB-FE77ACDAA1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5318" y="5412688"/>
                        <a:ext cx="838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2670EEB4-5CF3-9B87-7B2A-3BBBD0A94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9146" y="5412688"/>
          <a:ext cx="1117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17440" imgH="190440" progId="Equation.DSMT4">
                  <p:embed/>
                </p:oleObj>
              </mc:Choice>
              <mc:Fallback>
                <p:oleObj name="Equation" r:id="rId9" imgW="1117440" imgH="190440" progId="Equation.DSMT4">
                  <p:embed/>
                  <p:pic>
                    <p:nvPicPr>
                      <p:cNvPr id="74" name="Object 73">
                        <a:extLst>
                          <a:ext uri="{FF2B5EF4-FFF2-40B4-BE49-F238E27FC236}">
                            <a16:creationId xmlns:a16="http://schemas.microsoft.com/office/drawing/2014/main" id="{2FA394B0-A5DB-C6EF-EB0C-EE341BFEF6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69146" y="5412688"/>
                        <a:ext cx="11176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EFCA58BD-BB2E-1699-F18E-30DE25E4FB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318" y="7722830"/>
          <a:ext cx="952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52200" imgH="190440" progId="Equation.DSMT4">
                  <p:embed/>
                </p:oleObj>
              </mc:Choice>
              <mc:Fallback>
                <p:oleObj name="Equation" r:id="rId11" imgW="952200" imgH="190440" progId="Equation.DSMT4">
                  <p:embed/>
                  <p:pic>
                    <p:nvPicPr>
                      <p:cNvPr id="75" name="Object 74">
                        <a:extLst>
                          <a:ext uri="{FF2B5EF4-FFF2-40B4-BE49-F238E27FC236}">
                            <a16:creationId xmlns:a16="http://schemas.microsoft.com/office/drawing/2014/main" id="{EA545EE2-B9AF-E47B-04ED-B9A0805DB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5318" y="7722830"/>
                        <a:ext cx="952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41E575A6-16D3-ED79-001F-61CA118123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9146" y="7722830"/>
          <a:ext cx="14732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73120" imgH="190440" progId="Equation.DSMT4">
                  <p:embed/>
                </p:oleObj>
              </mc:Choice>
              <mc:Fallback>
                <p:oleObj name="Equation" r:id="rId13" imgW="1473120" imgH="190440" progId="Equation.DSMT4">
                  <p:embed/>
                  <p:pic>
                    <p:nvPicPr>
                      <p:cNvPr id="77" name="Object 76">
                        <a:extLst>
                          <a:ext uri="{FF2B5EF4-FFF2-40B4-BE49-F238E27FC236}">
                            <a16:creationId xmlns:a16="http://schemas.microsoft.com/office/drawing/2014/main" id="{12023DB2-21E8-408E-1B57-72CFAA1991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69146" y="7722830"/>
                        <a:ext cx="14732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object 11">
            <a:extLst>
              <a:ext uri="{FF2B5EF4-FFF2-40B4-BE49-F238E27FC236}">
                <a16:creationId xmlns:a16="http://schemas.microsoft.com/office/drawing/2014/main" id="{A434BE6D-258E-3F39-9535-614B2C7F91D4}"/>
              </a:ext>
            </a:extLst>
          </p:cNvPr>
          <p:cNvSpPr txBox="1"/>
          <p:nvPr/>
        </p:nvSpPr>
        <p:spPr>
          <a:xfrm>
            <a:off x="551016" y="2767414"/>
            <a:ext cx="557466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Solve each equation </a:t>
            </a:r>
            <a:r>
              <a:rPr sz="1100" b="1" spc="-10" dirty="0">
                <a:latin typeface="Century Gothic" panose="020B0502020202020204" pitchFamily="34" charset="0"/>
                <a:cs typeface="Tahoma"/>
              </a:rPr>
              <a:t>by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factoring.  Simplify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all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irrational </a:t>
            </a:r>
            <a:r>
              <a:rPr sz="1100" b="1">
                <a:latin typeface="Century Gothic" panose="020B0502020202020204" pitchFamily="34" charset="0"/>
                <a:cs typeface="Tahoma"/>
              </a:rPr>
              <a:t>and </a:t>
            </a:r>
            <a:r>
              <a:rPr sz="1100" b="1" spc="-5">
                <a:latin typeface="Century Gothic" panose="020B0502020202020204" pitchFamily="34" charset="0"/>
                <a:cs typeface="Tahoma"/>
              </a:rPr>
              <a:t>complex</a:t>
            </a:r>
            <a:r>
              <a:rPr lang="en-US" sz="1100" b="1" spc="1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>
                <a:latin typeface="Century Gothic" panose="020B0502020202020204" pitchFamily="34" charset="0"/>
                <a:cs typeface="Tahoma"/>
              </a:rPr>
              <a:t>solutions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C2E36B-1FD7-AC23-BD97-8B1D74FB41B4}"/>
              </a:ext>
            </a:extLst>
          </p:cNvPr>
          <p:cNvSpPr/>
          <p:nvPr/>
        </p:nvSpPr>
        <p:spPr>
          <a:xfrm>
            <a:off x="3048006" y="3101907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2F42F7-D53F-621C-0926-A5E548F686D1}"/>
              </a:ext>
            </a:extLst>
          </p:cNvPr>
          <p:cNvSpPr/>
          <p:nvPr/>
        </p:nvSpPr>
        <p:spPr>
          <a:xfrm>
            <a:off x="493304" y="5390379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9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0DC07E-28D5-F678-B6AE-70DA232258AD}"/>
              </a:ext>
            </a:extLst>
          </p:cNvPr>
          <p:cNvSpPr/>
          <p:nvPr/>
        </p:nvSpPr>
        <p:spPr>
          <a:xfrm>
            <a:off x="3033852" y="5390379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10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A6D0B7-A49D-910A-571B-A57A012DD2BA}"/>
              </a:ext>
            </a:extLst>
          </p:cNvPr>
          <p:cNvSpPr/>
          <p:nvPr/>
        </p:nvSpPr>
        <p:spPr>
          <a:xfrm>
            <a:off x="493304" y="7699373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A9AB63-0B3A-5E25-455B-9B7BE29D78B8}"/>
              </a:ext>
            </a:extLst>
          </p:cNvPr>
          <p:cNvSpPr/>
          <p:nvPr/>
        </p:nvSpPr>
        <p:spPr>
          <a:xfrm>
            <a:off x="3033852" y="7699373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12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189</Words>
  <Application>Microsoft Office PowerPoint</Application>
  <PresentationFormat>Custom</PresentationFormat>
  <Paragraphs>35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Calibri</vt:lpstr>
      <vt:lpstr>Century Gothic</vt:lpstr>
      <vt:lpstr>Tahoma</vt:lpstr>
      <vt:lpstr>Times New Roman</vt:lpstr>
      <vt:lpstr>Wingdings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- 11 - Quiz 5-1</dc:title>
  <dc:creator>Gina</dc:creator>
  <cp:lastModifiedBy>Gina Wilson</cp:lastModifiedBy>
  <cp:revision>32</cp:revision>
  <dcterms:created xsi:type="dcterms:W3CDTF">2017-10-16T11:23:21Z</dcterms:created>
  <dcterms:modified xsi:type="dcterms:W3CDTF">2022-06-13T19:48:18Z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2015-08-13T00:00:00Z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2017-10-16T00:00:00Z</vt:filetime>
  </property>
</Properties>
</file>