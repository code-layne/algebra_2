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41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©Gina 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2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©Gina 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2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©Gina 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20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©Gina 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20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©Gina 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20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11367" y="9774580"/>
            <a:ext cx="1490345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©Gina 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2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4.wmf"/><Relationship Id="rId18" Type="http://schemas.openxmlformats.org/officeDocument/2006/relationships/oleObject" Target="../embeddings/oleObject7.bin"/><Relationship Id="rId26" Type="http://schemas.openxmlformats.org/officeDocument/2006/relationships/oleObject" Target="../embeddings/oleObject11.bin"/><Relationship Id="rId3" Type="http://schemas.openxmlformats.org/officeDocument/2006/relationships/image" Target="../media/image12.JPG"/><Relationship Id="rId21" Type="http://schemas.openxmlformats.org/officeDocument/2006/relationships/image" Target="../media/image8.wmf"/><Relationship Id="rId7" Type="http://schemas.openxmlformats.org/officeDocument/2006/relationships/image" Target="../media/image1.wmf"/><Relationship Id="rId12" Type="http://schemas.openxmlformats.org/officeDocument/2006/relationships/oleObject" Target="../embeddings/oleObject4.bin"/><Relationship Id="rId17" Type="http://schemas.openxmlformats.org/officeDocument/2006/relationships/image" Target="../media/image6.wmf"/><Relationship Id="rId25" Type="http://schemas.openxmlformats.org/officeDocument/2006/relationships/image" Target="../media/image10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6.bin"/><Relationship Id="rId20" Type="http://schemas.openxmlformats.org/officeDocument/2006/relationships/oleObject" Target="../embeddings/oleObject8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3.wmf"/><Relationship Id="rId24" Type="http://schemas.openxmlformats.org/officeDocument/2006/relationships/oleObject" Target="../embeddings/oleObject10.bin"/><Relationship Id="rId5" Type="http://schemas.openxmlformats.org/officeDocument/2006/relationships/image" Target="../media/image14.png"/><Relationship Id="rId15" Type="http://schemas.openxmlformats.org/officeDocument/2006/relationships/image" Target="../media/image5.wmf"/><Relationship Id="rId23" Type="http://schemas.openxmlformats.org/officeDocument/2006/relationships/image" Target="../media/image9.wmf"/><Relationship Id="rId10" Type="http://schemas.openxmlformats.org/officeDocument/2006/relationships/oleObject" Target="../embeddings/oleObject3.bin"/><Relationship Id="rId19" Type="http://schemas.openxmlformats.org/officeDocument/2006/relationships/image" Target="../media/image7.wmf"/><Relationship Id="rId4" Type="http://schemas.openxmlformats.org/officeDocument/2006/relationships/image" Target="../media/image13.png"/><Relationship Id="rId9" Type="http://schemas.openxmlformats.org/officeDocument/2006/relationships/image" Target="../media/image2.wmf"/><Relationship Id="rId14" Type="http://schemas.openxmlformats.org/officeDocument/2006/relationships/oleObject" Target="../embeddings/oleObject5.bin"/><Relationship Id="rId22" Type="http://schemas.openxmlformats.org/officeDocument/2006/relationships/oleObject" Target="../embeddings/oleObject9.bin"/><Relationship Id="rId27" Type="http://schemas.openxmlformats.org/officeDocument/2006/relationships/image" Target="../media/image11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6.bin"/><Relationship Id="rId3" Type="http://schemas.openxmlformats.org/officeDocument/2006/relationships/image" Target="../media/image21.JPG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8.wmf"/><Relationship Id="rId17" Type="http://schemas.openxmlformats.org/officeDocument/2006/relationships/image" Target="../media/image23.pn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7.wmf"/><Relationship Id="rId4" Type="http://schemas.openxmlformats.org/officeDocument/2006/relationships/image" Target="../media/image22.png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8.wmf"/><Relationship Id="rId3" Type="http://schemas.openxmlformats.org/officeDocument/2006/relationships/image" Target="../media/image30.JPG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2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5" Type="http://schemas.openxmlformats.org/officeDocument/2006/relationships/image" Target="../media/image29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2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34.JPG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33.wmf"/><Relationship Id="rId4" Type="http://schemas.openxmlformats.org/officeDocument/2006/relationships/image" Target="../media/image35.png"/><Relationship Id="rId9" Type="http://schemas.openxmlformats.org/officeDocument/2006/relationships/oleObject" Target="../embeddings/oleObject2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image" Target="../media/image39.JPG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8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FE6A5-8175-45EA-8AE3-E25818989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1025" y="7868048"/>
            <a:ext cx="3182388" cy="16155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D9DFE-BF4A-465C-B019-0E0444088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577" y="7741802"/>
            <a:ext cx="1956986" cy="1530229"/>
          </a:xfrm>
          <a:prstGeom prst="rect">
            <a:avLst/>
          </a:prstGeom>
        </p:spPr>
      </p:pic>
      <p:graphicFrame>
        <p:nvGraphicFramePr>
          <p:cNvPr id="144" name="Table 143">
            <a:extLst>
              <a:ext uri="{FF2B5EF4-FFF2-40B4-BE49-F238E27FC236}">
                <a16:creationId xmlns:a16="http://schemas.microsoft.com/office/drawing/2014/main" id="{6AE9CFBB-1A1E-4BAA-AC86-06F7E89DC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934682"/>
              </p:ext>
            </p:extLst>
          </p:nvPr>
        </p:nvGraphicFramePr>
        <p:xfrm>
          <a:off x="392723" y="1327957"/>
          <a:ext cx="3352800" cy="175451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Text Box 94">
            <a:extLst>
              <a:ext uri="{FF2B5EF4-FFF2-40B4-BE49-F238E27FC236}">
                <a16:creationId xmlns:a16="http://schemas.microsoft.com/office/drawing/2014/main" id="{E5228CCE-0642-4A3B-A5A1-72C4691F0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7025" y="2623357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50" name="Text Box 94">
            <a:extLst>
              <a:ext uri="{FF2B5EF4-FFF2-40B4-BE49-F238E27FC236}">
                <a16:creationId xmlns:a16="http://schemas.microsoft.com/office/drawing/2014/main" id="{5546BB5F-42E5-4A60-84F7-C549BFC7A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195" y="2629218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51" name="Text Box 807">
            <a:extLst>
              <a:ext uri="{FF2B5EF4-FFF2-40B4-BE49-F238E27FC236}">
                <a16:creationId xmlns:a16="http://schemas.microsoft.com/office/drawing/2014/main" id="{D7CC2C02-7A2F-4107-A06F-54E1A5500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456" y="1959850"/>
            <a:ext cx="746125" cy="1059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-12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-2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2" name="Table 151">
            <a:extLst>
              <a:ext uri="{FF2B5EF4-FFF2-40B4-BE49-F238E27FC236}">
                <a16:creationId xmlns:a16="http://schemas.microsoft.com/office/drawing/2014/main" id="{F39CAEEE-E341-4E33-A5F9-567D04779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170860"/>
              </p:ext>
            </p:extLst>
          </p:nvPr>
        </p:nvGraphicFramePr>
        <p:xfrm>
          <a:off x="3810000" y="1310372"/>
          <a:ext cx="3573462" cy="175451"/>
        </p:xfrm>
        <a:graphic>
          <a:graphicData uri="http://schemas.openxmlformats.org/drawingml/2006/table">
            <a:tbl>
              <a:tblPr/>
              <a:tblGrid>
                <a:gridCol w="357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3" name="Group 152">
            <a:extLst>
              <a:ext uri="{FF2B5EF4-FFF2-40B4-BE49-F238E27FC236}">
                <a16:creationId xmlns:a16="http://schemas.microsoft.com/office/drawing/2014/main" id="{949F8E5C-3BFA-4E18-8D29-402ADEB63CA0}"/>
              </a:ext>
            </a:extLst>
          </p:cNvPr>
          <p:cNvGrpSpPr/>
          <p:nvPr/>
        </p:nvGrpSpPr>
        <p:grpSpPr>
          <a:xfrm>
            <a:off x="4172696" y="2066008"/>
            <a:ext cx="972954" cy="1041829"/>
            <a:chOff x="4137082" y="2084790"/>
            <a:chExt cx="972954" cy="1041829"/>
          </a:xfrm>
        </p:grpSpPr>
        <p:sp>
          <p:nvSpPr>
            <p:cNvPr id="154" name="Text Box 807">
              <a:extLst>
                <a:ext uri="{FF2B5EF4-FFF2-40B4-BE49-F238E27FC236}">
                  <a16:creationId xmlns:a16="http://schemas.microsoft.com/office/drawing/2014/main" id="{F13C9FFC-E7C2-4964-A0DE-E99E13650F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7082" y="2084790"/>
              <a:ext cx="457200" cy="10418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40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A.  </a:t>
              </a:r>
              <a:b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B. </a:t>
              </a:r>
              <a: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b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C.    </a:t>
              </a:r>
              <a:b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D.  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5" name="Object 154">
              <a:extLst>
                <a:ext uri="{FF2B5EF4-FFF2-40B4-BE49-F238E27FC236}">
                  <a16:creationId xmlns:a16="http://schemas.microsoft.com/office/drawing/2014/main" id="{2C27A7D4-25A1-4474-AC71-250601DAD8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75036" y="2110211"/>
            <a:ext cx="6350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1" name="Equation" r:id="rId6" imgW="634680" imgH="228600" progId="Equation.DSMT4">
                    <p:embed/>
                  </p:oleObj>
                </mc:Choice>
                <mc:Fallback>
                  <p:oleObj name="Equation" r:id="rId6" imgW="634680" imgH="228600" progId="Equation.DSMT4">
                    <p:embed/>
                    <p:pic>
                      <p:nvPicPr>
                        <p:cNvPr id="123" name="Object 122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475036" y="2110211"/>
                          <a:ext cx="6350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6" name="Object 155">
              <a:extLst>
                <a:ext uri="{FF2B5EF4-FFF2-40B4-BE49-F238E27FC236}">
                  <a16:creationId xmlns:a16="http://schemas.microsoft.com/office/drawing/2014/main" id="{E1859525-D744-4E0B-85C1-58BAF93331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75036" y="2378053"/>
            <a:ext cx="6350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2" name="Equation" r:id="rId8" imgW="634680" imgH="228600" progId="Equation.DSMT4">
                    <p:embed/>
                  </p:oleObj>
                </mc:Choice>
                <mc:Fallback>
                  <p:oleObj name="Equation" r:id="rId8" imgW="634680" imgH="228600" progId="Equation.DSMT4">
                    <p:embed/>
                    <p:pic>
                      <p:nvPicPr>
                        <p:cNvPr id="124" name="Object 123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475036" y="2378053"/>
                          <a:ext cx="6350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7" name="Object 156">
              <a:extLst>
                <a:ext uri="{FF2B5EF4-FFF2-40B4-BE49-F238E27FC236}">
                  <a16:creationId xmlns:a16="http://schemas.microsoft.com/office/drawing/2014/main" id="{29E12AB4-E919-4C06-85B9-989B67EF64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02150" y="2605704"/>
            <a:ext cx="2667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3" name="Equation" r:id="rId10" imgW="266400" imgH="228600" progId="Equation.DSMT4">
                    <p:embed/>
                  </p:oleObj>
                </mc:Choice>
                <mc:Fallback>
                  <p:oleObj name="Equation" r:id="rId10" imgW="266400" imgH="228600" progId="Equation.DSMT4">
                    <p:embed/>
                    <p:pic>
                      <p:nvPicPr>
                        <p:cNvPr id="125" name="Object 124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502150" y="2605704"/>
                          <a:ext cx="2667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8" name="Object 157">
              <a:extLst>
                <a:ext uri="{FF2B5EF4-FFF2-40B4-BE49-F238E27FC236}">
                  <a16:creationId xmlns:a16="http://schemas.microsoft.com/office/drawing/2014/main" id="{BCD0EA47-8E74-4983-864D-F0D9472DB9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7700" y="2840004"/>
            <a:ext cx="342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4" name="Equation" r:id="rId12" imgW="342720" imgH="228600" progId="Equation.DSMT4">
                    <p:embed/>
                  </p:oleObj>
                </mc:Choice>
                <mc:Fallback>
                  <p:oleObj name="Equation" r:id="rId12" imgW="342720" imgH="228600" progId="Equation.DSMT4">
                    <p:embed/>
                    <p:pic>
                      <p:nvPicPr>
                        <p:cNvPr id="126" name="Object 125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457700" y="2840004"/>
                          <a:ext cx="342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9" name="Object 158">
            <a:extLst>
              <a:ext uri="{FF2B5EF4-FFF2-40B4-BE49-F238E27FC236}">
                <a16:creationId xmlns:a16="http://schemas.microsoft.com/office/drawing/2014/main" id="{23957A73-0A3A-41CC-93A3-D5BD38EC59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371987"/>
              </p:ext>
            </p:extLst>
          </p:nvPr>
        </p:nvGraphicFramePr>
        <p:xfrm>
          <a:off x="5277483" y="1586994"/>
          <a:ext cx="698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5" name="Equation" r:id="rId14" imgW="698400" imgH="228600" progId="Equation.DSMT4">
                  <p:embed/>
                </p:oleObj>
              </mc:Choice>
              <mc:Fallback>
                <p:oleObj name="Equation" r:id="rId14" imgW="698400" imgH="228600" progId="Equation.DSMT4">
                  <p:embed/>
                  <p:pic>
                    <p:nvPicPr>
                      <p:cNvPr id="127" name="Object 12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277483" y="1586994"/>
                        <a:ext cx="698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" name="Object 159">
            <a:extLst>
              <a:ext uri="{FF2B5EF4-FFF2-40B4-BE49-F238E27FC236}">
                <a16:creationId xmlns:a16="http://schemas.microsoft.com/office/drawing/2014/main" id="{4A0CC2D0-10AA-45E6-A9EB-5C0B875255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322414"/>
              </p:ext>
            </p:extLst>
          </p:nvPr>
        </p:nvGraphicFramePr>
        <p:xfrm>
          <a:off x="1581150" y="1597025"/>
          <a:ext cx="1028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" name="Equation" r:id="rId16" imgW="1028520" imgH="228600" progId="Equation.DSMT4">
                  <p:embed/>
                </p:oleObj>
              </mc:Choice>
              <mc:Fallback>
                <p:oleObj name="Equation" r:id="rId16" imgW="1028520" imgH="228600" progId="Equation.DSMT4">
                  <p:embed/>
                  <p:pic>
                    <p:nvPicPr>
                      <p:cNvPr id="128" name="Object 12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1150" y="1597025"/>
                        <a:ext cx="1028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" name="Table 160">
            <a:extLst>
              <a:ext uri="{FF2B5EF4-FFF2-40B4-BE49-F238E27FC236}">
                <a16:creationId xmlns:a16="http://schemas.microsoft.com/office/drawing/2014/main" id="{AF3C4B82-45E4-41F2-9579-8140843C3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512392"/>
              </p:ext>
            </p:extLst>
          </p:nvPr>
        </p:nvGraphicFramePr>
        <p:xfrm>
          <a:off x="381000" y="3115726"/>
          <a:ext cx="3573462" cy="368364"/>
        </p:xfrm>
        <a:graphic>
          <a:graphicData uri="http://schemas.openxmlformats.org/drawingml/2006/table">
            <a:tbl>
              <a:tblPr/>
              <a:tblGrid>
                <a:gridCol w="357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Simply the expression below.  Give your answer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as a complex number in standard form.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2" name="Table 161">
            <a:extLst>
              <a:ext uri="{FF2B5EF4-FFF2-40B4-BE49-F238E27FC236}">
                <a16:creationId xmlns:a16="http://schemas.microsoft.com/office/drawing/2014/main" id="{B64C89AE-84E2-4F19-92DA-C35469D00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829474"/>
              </p:ext>
            </p:extLst>
          </p:nvPr>
        </p:nvGraphicFramePr>
        <p:xfrm>
          <a:off x="3831515" y="3115726"/>
          <a:ext cx="3726480" cy="368364"/>
        </p:xfrm>
        <a:graphic>
          <a:graphicData uri="http://schemas.openxmlformats.org/drawingml/2006/table">
            <a:tbl>
              <a:tblPr/>
              <a:tblGrid>
                <a:gridCol w="372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Simply the expression below.  Give your answer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as a complex number in standard form.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3" name="Text Box 290">
            <a:extLst>
              <a:ext uri="{FF2B5EF4-FFF2-40B4-BE49-F238E27FC236}">
                <a16:creationId xmlns:a16="http://schemas.microsoft.com/office/drawing/2014/main" id="{0B975698-B2A0-48BC-AC28-19905E5BE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715926"/>
            <a:ext cx="1452245" cy="4114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64" name="Text Box 290">
            <a:extLst>
              <a:ext uri="{FF2B5EF4-FFF2-40B4-BE49-F238E27FC236}">
                <a16:creationId xmlns:a16="http://schemas.microsoft.com/office/drawing/2014/main" id="{FE0E46DF-89CC-4911-80FB-77B1B0D9E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030" y="4715926"/>
            <a:ext cx="1452245" cy="4114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165" name="Object 164">
            <a:extLst>
              <a:ext uri="{FF2B5EF4-FFF2-40B4-BE49-F238E27FC236}">
                <a16:creationId xmlns:a16="http://schemas.microsoft.com/office/drawing/2014/main" id="{A015D75A-FEF3-4059-A63A-AD322CC2A7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737334"/>
              </p:ext>
            </p:extLst>
          </p:nvPr>
        </p:nvGraphicFramePr>
        <p:xfrm>
          <a:off x="1600200" y="3585261"/>
          <a:ext cx="1041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" name="Equation" r:id="rId18" imgW="1041120" imgH="203040" progId="Equation.DSMT4">
                  <p:embed/>
                </p:oleObj>
              </mc:Choice>
              <mc:Fallback>
                <p:oleObj name="Equation" r:id="rId18" imgW="1041120" imgH="203040" progId="Equation.DSMT4">
                  <p:embed/>
                  <p:pic>
                    <p:nvPicPr>
                      <p:cNvPr id="133" name="Object 13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600200" y="3585261"/>
                        <a:ext cx="1041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" name="Object 165">
            <a:extLst>
              <a:ext uri="{FF2B5EF4-FFF2-40B4-BE49-F238E27FC236}">
                <a16:creationId xmlns:a16="http://schemas.microsoft.com/office/drawing/2014/main" id="{7D9CF8F7-9582-4163-8619-44F7C8A87C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262724"/>
              </p:ext>
            </p:extLst>
          </p:nvPr>
        </p:nvGraphicFramePr>
        <p:xfrm>
          <a:off x="5118100" y="3585261"/>
          <a:ext cx="1054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8" name="Equation" r:id="rId20" imgW="1054080" imgH="203040" progId="Equation.DSMT4">
                  <p:embed/>
                </p:oleObj>
              </mc:Choice>
              <mc:Fallback>
                <p:oleObj name="Equation" r:id="rId20" imgW="1054080" imgH="203040" progId="Equation.DSMT4">
                  <p:embed/>
                  <p:pic>
                    <p:nvPicPr>
                      <p:cNvPr id="134" name="Object 133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118100" y="3585261"/>
                        <a:ext cx="1054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" name="Table 166">
            <a:extLst>
              <a:ext uri="{FF2B5EF4-FFF2-40B4-BE49-F238E27FC236}">
                <a16:creationId xmlns:a16="http://schemas.microsoft.com/office/drawing/2014/main" id="{804853D4-A4A6-4B47-B22D-AC7348906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839752"/>
              </p:ext>
            </p:extLst>
          </p:nvPr>
        </p:nvGraphicFramePr>
        <p:xfrm>
          <a:off x="380999" y="5196572"/>
          <a:ext cx="3589193" cy="427736"/>
        </p:xfrm>
        <a:graphic>
          <a:graphicData uri="http://schemas.openxmlformats.org/drawingml/2006/table">
            <a:tbl>
              <a:tblPr/>
              <a:tblGrid>
                <a:gridCol w="3589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73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Simply the expression below.  Give your answer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as a complex number in standard form.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8" name="Table 167">
            <a:extLst>
              <a:ext uri="{FF2B5EF4-FFF2-40B4-BE49-F238E27FC236}">
                <a16:creationId xmlns:a16="http://schemas.microsoft.com/office/drawing/2014/main" id="{EC831A74-7B9A-4355-875B-B3D251AA9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651415"/>
              </p:ext>
            </p:extLst>
          </p:nvPr>
        </p:nvGraphicFramePr>
        <p:xfrm>
          <a:off x="3810000" y="5196572"/>
          <a:ext cx="3657600" cy="36836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Simply the expression below.  Give your answer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as a complex number in standard form.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9" name="Text Box 289">
            <a:extLst>
              <a:ext uri="{FF2B5EF4-FFF2-40B4-BE49-F238E27FC236}">
                <a16:creationId xmlns:a16="http://schemas.microsoft.com/office/drawing/2014/main" id="{82C100F4-C80A-479C-B982-1979A1A43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773326"/>
            <a:ext cx="1452245" cy="4114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70" name="Text Box 289">
            <a:extLst>
              <a:ext uri="{FF2B5EF4-FFF2-40B4-BE49-F238E27FC236}">
                <a16:creationId xmlns:a16="http://schemas.microsoft.com/office/drawing/2014/main" id="{879DAD5C-EA21-48A3-AB87-0D94AF33B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030" y="6773326"/>
            <a:ext cx="1452245" cy="4114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171" name="Object 170">
            <a:extLst>
              <a:ext uri="{FF2B5EF4-FFF2-40B4-BE49-F238E27FC236}">
                <a16:creationId xmlns:a16="http://schemas.microsoft.com/office/drawing/2014/main" id="{42E55DE9-1A56-4CFC-A63B-1C1A83DEB2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872393"/>
              </p:ext>
            </p:extLst>
          </p:nvPr>
        </p:nvGraphicFramePr>
        <p:xfrm>
          <a:off x="1447800" y="5649011"/>
          <a:ext cx="1358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9" name="Equation" r:id="rId22" imgW="1358640" imgH="215640" progId="Equation.DSMT4">
                  <p:embed/>
                </p:oleObj>
              </mc:Choice>
              <mc:Fallback>
                <p:oleObj name="Equation" r:id="rId22" imgW="1358640" imgH="215640" progId="Equation.DSMT4">
                  <p:embed/>
                  <p:pic>
                    <p:nvPicPr>
                      <p:cNvPr id="139" name="Object 138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447800" y="5649011"/>
                        <a:ext cx="13589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" name="Object 171">
            <a:extLst>
              <a:ext uri="{FF2B5EF4-FFF2-40B4-BE49-F238E27FC236}">
                <a16:creationId xmlns:a16="http://schemas.microsoft.com/office/drawing/2014/main" id="{611740A3-94BB-4F7B-B54A-E9FE40B445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2405181"/>
              </p:ext>
            </p:extLst>
          </p:nvPr>
        </p:nvGraphicFramePr>
        <p:xfrm>
          <a:off x="5411788" y="5637899"/>
          <a:ext cx="495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" name="Equation" r:id="rId24" imgW="495000" imgH="368280" progId="Equation.DSMT4">
                  <p:embed/>
                </p:oleObj>
              </mc:Choice>
              <mc:Fallback>
                <p:oleObj name="Equation" r:id="rId24" imgW="495000" imgH="368280" progId="Equation.DSMT4">
                  <p:embed/>
                  <p:pic>
                    <p:nvPicPr>
                      <p:cNvPr id="140" name="Object 139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411788" y="5637899"/>
                        <a:ext cx="495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" name="Rectangle 172">
            <a:extLst>
              <a:ext uri="{FF2B5EF4-FFF2-40B4-BE49-F238E27FC236}">
                <a16:creationId xmlns:a16="http://schemas.microsoft.com/office/drawing/2014/main" id="{E1A66097-8146-45CC-A3BD-7A949EE93034}"/>
              </a:ext>
            </a:extLst>
          </p:cNvPr>
          <p:cNvSpPr/>
          <p:nvPr/>
        </p:nvSpPr>
        <p:spPr>
          <a:xfrm>
            <a:off x="392723" y="7253972"/>
            <a:ext cx="320953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7.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Check all values that are equivalent to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-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</a:rPr>
              <a:t>i.</a:t>
            </a:r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18554A4F-0A3E-45D3-8903-F311EF217568}"/>
              </a:ext>
            </a:extLst>
          </p:cNvPr>
          <p:cNvSpPr/>
          <p:nvPr/>
        </p:nvSpPr>
        <p:spPr>
          <a:xfrm>
            <a:off x="3851031" y="7242249"/>
            <a:ext cx="3387969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8.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Which sets do not contain the value </a:t>
            </a:r>
            <a:b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                          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?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Check all that apply.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75" name="Object 174">
            <a:extLst>
              <a:ext uri="{FF2B5EF4-FFF2-40B4-BE49-F238E27FC236}">
                <a16:creationId xmlns:a16="http://schemas.microsoft.com/office/drawing/2014/main" id="{E7C06E00-AC4D-42DA-808D-4C7DE8367D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922595"/>
              </p:ext>
            </p:extLst>
          </p:nvPr>
        </p:nvGraphicFramePr>
        <p:xfrm>
          <a:off x="4121150" y="7460349"/>
          <a:ext cx="1295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1" name="Equation" r:id="rId26" imgW="1295280" imgH="203040" progId="Equation.DSMT4">
                  <p:embed/>
                </p:oleObj>
              </mc:Choice>
              <mc:Fallback>
                <p:oleObj name="Equation" r:id="rId26" imgW="1295280" imgH="203040" progId="Equation.DSMT4">
                  <p:embed/>
                  <p:pic>
                    <p:nvPicPr>
                      <p:cNvPr id="143" name="Object 142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121150" y="7460349"/>
                        <a:ext cx="1295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" name="Text Box 22">
            <a:extLst>
              <a:ext uri="{FF2B5EF4-FFF2-40B4-BE49-F238E27FC236}">
                <a16:creationId xmlns:a16="http://schemas.microsoft.com/office/drawing/2014/main" id="{3127E45C-1275-42AA-9E50-F441288BE4B5}"/>
              </a:ext>
            </a:extLst>
          </p:cNvPr>
          <p:cNvSpPr txBox="1"/>
          <p:nvPr/>
        </p:nvSpPr>
        <p:spPr>
          <a:xfrm>
            <a:off x="1664069" y="7807569"/>
            <a:ext cx="367318" cy="30818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200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7" name="Text Box 13">
            <a:extLst>
              <a:ext uri="{FF2B5EF4-FFF2-40B4-BE49-F238E27FC236}">
                <a16:creationId xmlns:a16="http://schemas.microsoft.com/office/drawing/2014/main" id="{5858A197-B7D5-4A32-9C11-0B23C273E4BF}"/>
              </a:ext>
            </a:extLst>
          </p:cNvPr>
          <p:cNvSpPr txBox="1"/>
          <p:nvPr/>
        </p:nvSpPr>
        <p:spPr>
          <a:xfrm>
            <a:off x="1654146" y="8159882"/>
            <a:ext cx="367318" cy="30818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200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8" name="Text Box 14">
            <a:extLst>
              <a:ext uri="{FF2B5EF4-FFF2-40B4-BE49-F238E27FC236}">
                <a16:creationId xmlns:a16="http://schemas.microsoft.com/office/drawing/2014/main" id="{3D689A50-3672-43D4-BD4D-EF30289BD8DF}"/>
              </a:ext>
            </a:extLst>
          </p:cNvPr>
          <p:cNvSpPr txBox="1"/>
          <p:nvPr/>
        </p:nvSpPr>
        <p:spPr>
          <a:xfrm>
            <a:off x="1673992" y="8507234"/>
            <a:ext cx="367318" cy="30818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200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9" name="Text Box 15">
            <a:extLst>
              <a:ext uri="{FF2B5EF4-FFF2-40B4-BE49-F238E27FC236}">
                <a16:creationId xmlns:a16="http://schemas.microsoft.com/office/drawing/2014/main" id="{1683AB5D-F174-4D68-A546-B5DC22EE071B}"/>
              </a:ext>
            </a:extLst>
          </p:cNvPr>
          <p:cNvSpPr txBox="1"/>
          <p:nvPr/>
        </p:nvSpPr>
        <p:spPr>
          <a:xfrm>
            <a:off x="1678953" y="8864508"/>
            <a:ext cx="367318" cy="30818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200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37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0" name="Text Box 20">
            <a:extLst>
              <a:ext uri="{FF2B5EF4-FFF2-40B4-BE49-F238E27FC236}">
                <a16:creationId xmlns:a16="http://schemas.microsoft.com/office/drawing/2014/main" id="{0D6D9422-9EF8-402B-BBFE-CD2FF85CA9A1}"/>
              </a:ext>
            </a:extLst>
          </p:cNvPr>
          <p:cNvSpPr txBox="1"/>
          <p:nvPr/>
        </p:nvSpPr>
        <p:spPr>
          <a:xfrm>
            <a:off x="2591859" y="7807569"/>
            <a:ext cx="367054" cy="30818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200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42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1" name="Text Box 36">
            <a:extLst>
              <a:ext uri="{FF2B5EF4-FFF2-40B4-BE49-F238E27FC236}">
                <a16:creationId xmlns:a16="http://schemas.microsoft.com/office/drawing/2014/main" id="{6ACFE6A3-C067-45C4-908E-1306B135E446}"/>
              </a:ext>
            </a:extLst>
          </p:cNvPr>
          <p:cNvSpPr txBox="1"/>
          <p:nvPr/>
        </p:nvSpPr>
        <p:spPr>
          <a:xfrm>
            <a:off x="2586898" y="8159882"/>
            <a:ext cx="367054" cy="30818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200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57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2" name="Text Box 37">
            <a:extLst>
              <a:ext uri="{FF2B5EF4-FFF2-40B4-BE49-F238E27FC236}">
                <a16:creationId xmlns:a16="http://schemas.microsoft.com/office/drawing/2014/main" id="{A964FD08-EA23-4055-9ABF-750DC918B2FF}"/>
              </a:ext>
            </a:extLst>
          </p:cNvPr>
          <p:cNvSpPr txBox="1"/>
          <p:nvPr/>
        </p:nvSpPr>
        <p:spPr>
          <a:xfrm>
            <a:off x="2601782" y="8507234"/>
            <a:ext cx="367054" cy="30818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200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64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3" name="Text Box 38">
            <a:extLst>
              <a:ext uri="{FF2B5EF4-FFF2-40B4-BE49-F238E27FC236}">
                <a16:creationId xmlns:a16="http://schemas.microsoft.com/office/drawing/2014/main" id="{56DBCCFC-92C2-45EB-AEDF-04C9CEB35EDC}"/>
              </a:ext>
            </a:extLst>
          </p:cNvPr>
          <p:cNvSpPr txBox="1"/>
          <p:nvPr/>
        </p:nvSpPr>
        <p:spPr>
          <a:xfrm>
            <a:off x="2591859" y="8864508"/>
            <a:ext cx="367054" cy="30818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200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71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4" name="Text Box 30">
            <a:extLst>
              <a:ext uri="{FF2B5EF4-FFF2-40B4-BE49-F238E27FC236}">
                <a16:creationId xmlns:a16="http://schemas.microsoft.com/office/drawing/2014/main" id="{52B0B8D1-85F2-46A8-A1D8-5164606BF2AC}"/>
              </a:ext>
            </a:extLst>
          </p:cNvPr>
          <p:cNvSpPr txBox="1"/>
          <p:nvPr/>
        </p:nvSpPr>
        <p:spPr>
          <a:xfrm>
            <a:off x="4334187" y="7993041"/>
            <a:ext cx="1220639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5" name="Text Box 313">
            <a:extLst>
              <a:ext uri="{FF2B5EF4-FFF2-40B4-BE49-F238E27FC236}">
                <a16:creationId xmlns:a16="http://schemas.microsoft.com/office/drawing/2014/main" id="{E0C6CE75-1D59-40B6-992D-4AB7345D5A2A}"/>
              </a:ext>
            </a:extLst>
          </p:cNvPr>
          <p:cNvSpPr txBox="1"/>
          <p:nvPr/>
        </p:nvSpPr>
        <p:spPr>
          <a:xfrm>
            <a:off x="4338678" y="8355823"/>
            <a:ext cx="1228511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Irrational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6" name="Text Box 319">
            <a:extLst>
              <a:ext uri="{FF2B5EF4-FFF2-40B4-BE49-F238E27FC236}">
                <a16:creationId xmlns:a16="http://schemas.microsoft.com/office/drawing/2014/main" id="{936956A4-9A73-44B1-ACF1-052B90E0D7F9}"/>
              </a:ext>
            </a:extLst>
          </p:cNvPr>
          <p:cNvSpPr txBox="1"/>
          <p:nvPr/>
        </p:nvSpPr>
        <p:spPr>
          <a:xfrm>
            <a:off x="4341807" y="8716725"/>
            <a:ext cx="1220639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Rational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7" name="Text Box 67">
            <a:extLst>
              <a:ext uri="{FF2B5EF4-FFF2-40B4-BE49-F238E27FC236}">
                <a16:creationId xmlns:a16="http://schemas.microsoft.com/office/drawing/2014/main" id="{47ABB625-C5D9-4575-9144-748A3432BA75}"/>
              </a:ext>
            </a:extLst>
          </p:cNvPr>
          <p:cNvSpPr txBox="1"/>
          <p:nvPr/>
        </p:nvSpPr>
        <p:spPr>
          <a:xfrm>
            <a:off x="4341770" y="9082485"/>
            <a:ext cx="1220675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Integers </a:t>
            </a:r>
          </a:p>
        </p:txBody>
      </p:sp>
      <p:sp>
        <p:nvSpPr>
          <p:cNvPr id="248" name="Text Box 71">
            <a:extLst>
              <a:ext uri="{FF2B5EF4-FFF2-40B4-BE49-F238E27FC236}">
                <a16:creationId xmlns:a16="http://schemas.microsoft.com/office/drawing/2014/main" id="{FA493261-E969-44E7-A93A-BAC453DDFA04}"/>
              </a:ext>
            </a:extLst>
          </p:cNvPr>
          <p:cNvSpPr txBox="1"/>
          <p:nvPr/>
        </p:nvSpPr>
        <p:spPr>
          <a:xfrm>
            <a:off x="5875967" y="7992825"/>
            <a:ext cx="1217761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Whole 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9" name="Text Box 76">
            <a:extLst>
              <a:ext uri="{FF2B5EF4-FFF2-40B4-BE49-F238E27FC236}">
                <a16:creationId xmlns:a16="http://schemas.microsoft.com/office/drawing/2014/main" id="{C22BBBDF-4A54-40FF-BA52-8D342CBB26B2}"/>
              </a:ext>
            </a:extLst>
          </p:cNvPr>
          <p:cNvSpPr txBox="1"/>
          <p:nvPr/>
        </p:nvSpPr>
        <p:spPr>
          <a:xfrm>
            <a:off x="5875931" y="8362883"/>
            <a:ext cx="1233038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Natural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0" name="Text Box 80">
            <a:extLst>
              <a:ext uri="{FF2B5EF4-FFF2-40B4-BE49-F238E27FC236}">
                <a16:creationId xmlns:a16="http://schemas.microsoft.com/office/drawing/2014/main" id="{2B9C7C64-CDED-496E-81E5-CC823F979755}"/>
              </a:ext>
            </a:extLst>
          </p:cNvPr>
          <p:cNvSpPr txBox="1"/>
          <p:nvPr/>
        </p:nvSpPr>
        <p:spPr>
          <a:xfrm>
            <a:off x="5883587" y="8723017"/>
            <a:ext cx="1233001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Complex</a:t>
            </a:r>
          </a:p>
        </p:txBody>
      </p:sp>
      <p:sp>
        <p:nvSpPr>
          <p:cNvPr id="251" name="Text Box 84">
            <a:extLst>
              <a:ext uri="{FF2B5EF4-FFF2-40B4-BE49-F238E27FC236}">
                <a16:creationId xmlns:a16="http://schemas.microsoft.com/office/drawing/2014/main" id="{44FF6ABB-B2C8-41E1-A9AA-1DD4D282A360}"/>
              </a:ext>
            </a:extLst>
          </p:cNvPr>
          <p:cNvSpPr txBox="1"/>
          <p:nvPr/>
        </p:nvSpPr>
        <p:spPr>
          <a:xfrm>
            <a:off x="5883551" y="9072329"/>
            <a:ext cx="1210178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Pure Imaginary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4DE0D87-E5D7-41F0-94D9-72EA091EE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250" y="3056082"/>
            <a:ext cx="1652159" cy="3036071"/>
          </a:xfrm>
          <a:prstGeom prst="rect">
            <a:avLst/>
          </a:prstGeom>
        </p:spPr>
      </p:pic>
      <p:sp>
        <p:nvSpPr>
          <p:cNvPr id="109" name="Rectangle 108">
            <a:extLst>
              <a:ext uri="{FF2B5EF4-FFF2-40B4-BE49-F238E27FC236}">
                <a16:creationId xmlns:a16="http://schemas.microsoft.com/office/drawing/2014/main" id="{A80B9449-7457-4A46-96BB-72C3BF990F5A}"/>
              </a:ext>
            </a:extLst>
          </p:cNvPr>
          <p:cNvSpPr/>
          <p:nvPr/>
        </p:nvSpPr>
        <p:spPr>
          <a:xfrm>
            <a:off x="390625" y="362173"/>
            <a:ext cx="349557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9.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Which statement shows the associative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property of multiplication?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10" name="Text Box 807">
            <a:extLst>
              <a:ext uri="{FF2B5EF4-FFF2-40B4-BE49-F238E27FC236}">
                <a16:creationId xmlns:a16="http://schemas.microsoft.com/office/drawing/2014/main" id="{99DEE764-2B24-4A26-972D-F14E2CA2B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65" y="1359965"/>
            <a:ext cx="332875" cy="105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9" name="Text Box 325">
            <a:extLst>
              <a:ext uri="{FF2B5EF4-FFF2-40B4-BE49-F238E27FC236}">
                <a16:creationId xmlns:a16="http://schemas.microsoft.com/office/drawing/2014/main" id="{DFC00A25-F70A-43AD-9ACF-75F8B6739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076273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30" name="Text Box 325">
            <a:extLst>
              <a:ext uri="{FF2B5EF4-FFF2-40B4-BE49-F238E27FC236}">
                <a16:creationId xmlns:a16="http://schemas.microsoft.com/office/drawing/2014/main" id="{C204CF7B-A2AC-4F4C-B677-232D624E6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076273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31" name="Text Box 325">
            <a:extLst>
              <a:ext uri="{FF2B5EF4-FFF2-40B4-BE49-F238E27FC236}">
                <a16:creationId xmlns:a16="http://schemas.microsoft.com/office/drawing/2014/main" id="{DC83478A-5C00-4438-97D0-BAFFA6A9E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733873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EDD3801-EF15-41B5-B979-7C5158D71F8F}"/>
              </a:ext>
            </a:extLst>
          </p:cNvPr>
          <p:cNvSpPr/>
          <p:nvPr/>
        </p:nvSpPr>
        <p:spPr>
          <a:xfrm>
            <a:off x="3810000" y="380623"/>
            <a:ext cx="3505200" cy="453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10.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Which of the following is the additive identity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of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5 + 2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?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33" name="Object 132">
            <a:extLst>
              <a:ext uri="{FF2B5EF4-FFF2-40B4-BE49-F238E27FC236}">
                <a16:creationId xmlns:a16="http://schemas.microsoft.com/office/drawing/2014/main" id="{DE50C8EF-B4A5-415F-B5E6-0CBA4C3B6E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763759"/>
              </p:ext>
            </p:extLst>
          </p:nvPr>
        </p:nvGraphicFramePr>
        <p:xfrm>
          <a:off x="900957" y="1469378"/>
          <a:ext cx="1473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8" name="Equation" r:id="rId5" imgW="1473120" imgH="203040" progId="Equation.DSMT4">
                  <p:embed/>
                </p:oleObj>
              </mc:Choice>
              <mc:Fallback>
                <p:oleObj name="Equation" r:id="rId5" imgW="1473120" imgH="203040" progId="Equation.DSMT4">
                  <p:embed/>
                  <p:pic>
                    <p:nvPicPr>
                      <p:cNvPr id="75" name="Object 7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0957" y="1469378"/>
                        <a:ext cx="1473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33">
            <a:extLst>
              <a:ext uri="{FF2B5EF4-FFF2-40B4-BE49-F238E27FC236}">
                <a16:creationId xmlns:a16="http://schemas.microsoft.com/office/drawing/2014/main" id="{CCF44BCD-F0EB-495C-9CED-8251667279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766721"/>
              </p:ext>
            </p:extLst>
          </p:nvPr>
        </p:nvGraphicFramePr>
        <p:xfrm>
          <a:off x="900957" y="1727038"/>
          <a:ext cx="1689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" name="Equation" r:id="rId7" imgW="1688760" imgH="203040" progId="Equation.DSMT4">
                  <p:embed/>
                </p:oleObj>
              </mc:Choice>
              <mc:Fallback>
                <p:oleObj name="Equation" r:id="rId7" imgW="1688760" imgH="203040" progId="Equation.DSMT4">
                  <p:embed/>
                  <p:pic>
                    <p:nvPicPr>
                      <p:cNvPr id="76" name="Object 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0957" y="1727038"/>
                        <a:ext cx="1689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134">
            <a:extLst>
              <a:ext uri="{FF2B5EF4-FFF2-40B4-BE49-F238E27FC236}">
                <a16:creationId xmlns:a16="http://schemas.microsoft.com/office/drawing/2014/main" id="{9788F5CF-B55B-45B6-B267-6087EC472A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472662"/>
              </p:ext>
            </p:extLst>
          </p:nvPr>
        </p:nvGraphicFramePr>
        <p:xfrm>
          <a:off x="900957" y="2005296"/>
          <a:ext cx="1714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" name="Equation" r:id="rId9" imgW="1714320" imgH="203040" progId="Equation.DSMT4">
                  <p:embed/>
                </p:oleObj>
              </mc:Choice>
              <mc:Fallback>
                <p:oleObj name="Equation" r:id="rId9" imgW="1714320" imgH="203040" progId="Equation.DSMT4">
                  <p:embed/>
                  <p:pic>
                    <p:nvPicPr>
                      <p:cNvPr id="77" name="Object 7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00957" y="2005296"/>
                        <a:ext cx="1714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" name="Object 135">
            <a:extLst>
              <a:ext uri="{FF2B5EF4-FFF2-40B4-BE49-F238E27FC236}">
                <a16:creationId xmlns:a16="http://schemas.microsoft.com/office/drawing/2014/main" id="{D1517539-D4EA-4C0D-8BEF-AF2B058DB6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016572"/>
              </p:ext>
            </p:extLst>
          </p:nvPr>
        </p:nvGraphicFramePr>
        <p:xfrm>
          <a:off x="900957" y="2262645"/>
          <a:ext cx="2006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" name="Equation" r:id="rId11" imgW="2006280" imgH="203040" progId="Equation.DSMT4">
                  <p:embed/>
                </p:oleObj>
              </mc:Choice>
              <mc:Fallback>
                <p:oleObj name="Equation" r:id="rId11" imgW="2006280" imgH="203040" progId="Equation.DSMT4">
                  <p:embed/>
                  <p:pic>
                    <p:nvPicPr>
                      <p:cNvPr id="78" name="Object 7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00957" y="2262645"/>
                        <a:ext cx="20066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Table 136">
            <a:extLst>
              <a:ext uri="{FF2B5EF4-FFF2-40B4-BE49-F238E27FC236}">
                <a16:creationId xmlns:a16="http://schemas.microsoft.com/office/drawing/2014/main" id="{0947A6ED-8113-4070-A16E-3DE1A3955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411044"/>
              </p:ext>
            </p:extLst>
          </p:nvPr>
        </p:nvGraphicFramePr>
        <p:xfrm>
          <a:off x="381000" y="2580798"/>
          <a:ext cx="3573462" cy="368364"/>
        </p:xfrm>
        <a:graphic>
          <a:graphicData uri="http://schemas.openxmlformats.org/drawingml/2006/table">
            <a:tbl>
              <a:tblPr/>
              <a:tblGrid>
                <a:gridCol w="357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of the following sets are closed under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multiplication?  Check all that apply.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8" name="Rectangle 137">
            <a:extLst>
              <a:ext uri="{FF2B5EF4-FFF2-40B4-BE49-F238E27FC236}">
                <a16:creationId xmlns:a16="http://schemas.microsoft.com/office/drawing/2014/main" id="{AA5CDDDE-3FCD-4000-9547-7C3BE2608696}"/>
              </a:ext>
            </a:extLst>
          </p:cNvPr>
          <p:cNvSpPr/>
          <p:nvPr/>
        </p:nvSpPr>
        <p:spPr>
          <a:xfrm>
            <a:off x="3809999" y="2543098"/>
            <a:ext cx="359539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12.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What is the apparent solution set for the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equation associated with the following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graph?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39" name="Text Box 807">
            <a:extLst>
              <a:ext uri="{FF2B5EF4-FFF2-40B4-BE49-F238E27FC236}">
                <a16:creationId xmlns:a16="http://schemas.microsoft.com/office/drawing/2014/main" id="{8A4234F0-C1FD-4775-BB16-8666E1520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7" y="5151249"/>
            <a:ext cx="1085850" cy="986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{-3, 1}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{-1, 3}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{-3, 1, 4}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{-1, 3, 4}</a:t>
            </a:r>
          </a:p>
        </p:txBody>
      </p:sp>
      <p:graphicFrame>
        <p:nvGraphicFramePr>
          <p:cNvPr id="140" name="Table 139">
            <a:extLst>
              <a:ext uri="{FF2B5EF4-FFF2-40B4-BE49-F238E27FC236}">
                <a16:creationId xmlns:a16="http://schemas.microsoft.com/office/drawing/2014/main" id="{FE9C7BE5-DF32-4848-8836-7AD0C62A0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113999"/>
              </p:ext>
            </p:extLst>
          </p:nvPr>
        </p:nvGraphicFramePr>
        <p:xfrm>
          <a:off x="373856" y="6260129"/>
          <a:ext cx="3573462" cy="368364"/>
        </p:xfrm>
        <a:graphic>
          <a:graphicData uri="http://schemas.openxmlformats.org/drawingml/2006/table">
            <a:tbl>
              <a:tblPr/>
              <a:tblGrid>
                <a:gridCol w="357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of the following gives the factored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form and roots of the equation given below?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1" name="Table 140">
            <a:extLst>
              <a:ext uri="{FF2B5EF4-FFF2-40B4-BE49-F238E27FC236}">
                <a16:creationId xmlns:a16="http://schemas.microsoft.com/office/drawing/2014/main" id="{D47A546C-6186-449E-93EE-6E0A6FB91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819110"/>
              </p:ext>
            </p:extLst>
          </p:nvPr>
        </p:nvGraphicFramePr>
        <p:xfrm>
          <a:off x="3810000" y="6267273"/>
          <a:ext cx="3497262" cy="175451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by 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factoring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2" name="Text Box 366">
            <a:extLst>
              <a:ext uri="{FF2B5EF4-FFF2-40B4-BE49-F238E27FC236}">
                <a16:creationId xmlns:a16="http://schemas.microsoft.com/office/drawing/2014/main" id="{865B9598-AD41-455A-9D53-DB9979BEE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9162873"/>
            <a:ext cx="1452245" cy="4114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43" name="Text Box 365">
            <a:extLst>
              <a:ext uri="{FF2B5EF4-FFF2-40B4-BE49-F238E27FC236}">
                <a16:creationId xmlns:a16="http://schemas.microsoft.com/office/drawing/2014/main" id="{93ACCC25-FDE2-4661-94C0-EF5F18248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9172498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44" name="Text Box 807">
            <a:extLst>
              <a:ext uri="{FF2B5EF4-FFF2-40B4-BE49-F238E27FC236}">
                <a16:creationId xmlns:a16="http://schemas.microsoft.com/office/drawing/2014/main" id="{35052B15-50B7-4E05-BE67-ED9D80637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55" y="8437257"/>
            <a:ext cx="2440982" cy="1157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2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+ 3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)(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+ 5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{3, 5}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latin typeface="Century Gothic" panose="020B050202020202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2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+ 3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)(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+ 5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{-3, -5}</a:t>
            </a: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2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)(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+ 4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{2, 4}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2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)(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+ 4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{-4, -2}</a:t>
            </a:r>
          </a:p>
        </p:txBody>
      </p:sp>
      <p:graphicFrame>
        <p:nvGraphicFramePr>
          <p:cNvPr id="145" name="Object 144">
            <a:extLst>
              <a:ext uri="{FF2B5EF4-FFF2-40B4-BE49-F238E27FC236}">
                <a16:creationId xmlns:a16="http://schemas.microsoft.com/office/drawing/2014/main" id="{C912E3B8-A445-4F15-A78F-7A21AFDFA4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393310"/>
              </p:ext>
            </p:extLst>
          </p:nvPr>
        </p:nvGraphicFramePr>
        <p:xfrm>
          <a:off x="1289050" y="6731343"/>
          <a:ext cx="1333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2" name="Equation" r:id="rId13" imgW="1333440" imgH="241200" progId="Equation.DSMT4">
                  <p:embed/>
                </p:oleObj>
              </mc:Choice>
              <mc:Fallback>
                <p:oleObj name="Equation" r:id="rId13" imgW="1333440" imgH="241200" progId="Equation.DSMT4">
                  <p:embed/>
                  <p:pic>
                    <p:nvPicPr>
                      <p:cNvPr id="117" name="Object 11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89050" y="6731343"/>
                        <a:ext cx="1333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" name="Object 145">
            <a:extLst>
              <a:ext uri="{FF2B5EF4-FFF2-40B4-BE49-F238E27FC236}">
                <a16:creationId xmlns:a16="http://schemas.microsoft.com/office/drawing/2014/main" id="{2CAE5928-36ED-4E78-8DF1-34D4895AC3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564426"/>
              </p:ext>
            </p:extLst>
          </p:nvPr>
        </p:nvGraphicFramePr>
        <p:xfrm>
          <a:off x="4830763" y="6572593"/>
          <a:ext cx="1320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3" name="Equation" r:id="rId15" imgW="1320480" imgH="190440" progId="Equation.DSMT4">
                  <p:embed/>
                </p:oleObj>
              </mc:Choice>
              <mc:Fallback>
                <p:oleObj name="Equation" r:id="rId15" imgW="1320480" imgH="190440" progId="Equation.DSMT4">
                  <p:embed/>
                  <p:pic>
                    <p:nvPicPr>
                      <p:cNvPr id="118" name="Object 11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30763" y="6572593"/>
                        <a:ext cx="13208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Text Box 807">
            <a:extLst>
              <a:ext uri="{FF2B5EF4-FFF2-40B4-BE49-F238E27FC236}">
                <a16:creationId xmlns:a16="http://schemas.microsoft.com/office/drawing/2014/main" id="{B487A20D-99AD-42CD-BBE2-27E406B41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7854" y="1464511"/>
            <a:ext cx="1135106" cy="105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 + 2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 – 2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17" name="Text Box 30">
            <a:extLst>
              <a:ext uri="{FF2B5EF4-FFF2-40B4-BE49-F238E27FC236}">
                <a16:creationId xmlns:a16="http://schemas.microsoft.com/office/drawing/2014/main" id="{42A7CC71-85D3-48BE-8F2F-E16D3CFB7374}"/>
              </a:ext>
            </a:extLst>
          </p:cNvPr>
          <p:cNvSpPr txBox="1"/>
          <p:nvPr/>
        </p:nvSpPr>
        <p:spPr>
          <a:xfrm>
            <a:off x="1716011" y="3173510"/>
            <a:ext cx="1220639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8" name="Text Box 313">
            <a:extLst>
              <a:ext uri="{FF2B5EF4-FFF2-40B4-BE49-F238E27FC236}">
                <a16:creationId xmlns:a16="http://schemas.microsoft.com/office/drawing/2014/main" id="{EE11E608-FAC0-4D45-8DC1-FCA89CF9FA9B}"/>
              </a:ext>
            </a:extLst>
          </p:cNvPr>
          <p:cNvSpPr txBox="1"/>
          <p:nvPr/>
        </p:nvSpPr>
        <p:spPr>
          <a:xfrm>
            <a:off x="1720502" y="3536292"/>
            <a:ext cx="1228511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Irrational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9" name="Text Box 319">
            <a:extLst>
              <a:ext uri="{FF2B5EF4-FFF2-40B4-BE49-F238E27FC236}">
                <a16:creationId xmlns:a16="http://schemas.microsoft.com/office/drawing/2014/main" id="{5744F380-4ECB-439A-AD3B-2233EAF89944}"/>
              </a:ext>
            </a:extLst>
          </p:cNvPr>
          <p:cNvSpPr txBox="1"/>
          <p:nvPr/>
        </p:nvSpPr>
        <p:spPr>
          <a:xfrm>
            <a:off x="1723631" y="3897194"/>
            <a:ext cx="1220639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Rational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1" name="Text Box 67">
            <a:extLst>
              <a:ext uri="{FF2B5EF4-FFF2-40B4-BE49-F238E27FC236}">
                <a16:creationId xmlns:a16="http://schemas.microsoft.com/office/drawing/2014/main" id="{49BEE5BE-576B-40E3-ACC3-13F71444C16F}"/>
              </a:ext>
            </a:extLst>
          </p:cNvPr>
          <p:cNvSpPr txBox="1"/>
          <p:nvPr/>
        </p:nvSpPr>
        <p:spPr>
          <a:xfrm>
            <a:off x="1723594" y="4262954"/>
            <a:ext cx="1220675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Integers </a:t>
            </a:r>
          </a:p>
        </p:txBody>
      </p:sp>
      <p:sp>
        <p:nvSpPr>
          <p:cNvPr id="222" name="Text Box 71">
            <a:extLst>
              <a:ext uri="{FF2B5EF4-FFF2-40B4-BE49-F238E27FC236}">
                <a16:creationId xmlns:a16="http://schemas.microsoft.com/office/drawing/2014/main" id="{273738D7-C467-4BDF-87D6-CAE58E6B2A02}"/>
              </a:ext>
            </a:extLst>
          </p:cNvPr>
          <p:cNvSpPr txBox="1"/>
          <p:nvPr/>
        </p:nvSpPr>
        <p:spPr>
          <a:xfrm>
            <a:off x="1716011" y="4611527"/>
            <a:ext cx="1217761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Whole 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3" name="Text Box 76">
            <a:extLst>
              <a:ext uri="{FF2B5EF4-FFF2-40B4-BE49-F238E27FC236}">
                <a16:creationId xmlns:a16="http://schemas.microsoft.com/office/drawing/2014/main" id="{FEF7A0F2-0F6D-4FBB-BED2-D1481972B450}"/>
              </a:ext>
            </a:extLst>
          </p:cNvPr>
          <p:cNvSpPr txBox="1"/>
          <p:nvPr/>
        </p:nvSpPr>
        <p:spPr>
          <a:xfrm>
            <a:off x="1715975" y="4981585"/>
            <a:ext cx="1233038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Natural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4" name="Text Box 80">
            <a:extLst>
              <a:ext uri="{FF2B5EF4-FFF2-40B4-BE49-F238E27FC236}">
                <a16:creationId xmlns:a16="http://schemas.microsoft.com/office/drawing/2014/main" id="{D0996CBD-7D07-4753-B992-B7279A602FF5}"/>
              </a:ext>
            </a:extLst>
          </p:cNvPr>
          <p:cNvSpPr txBox="1"/>
          <p:nvPr/>
        </p:nvSpPr>
        <p:spPr>
          <a:xfrm>
            <a:off x="1723631" y="5341719"/>
            <a:ext cx="1233001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Complex</a:t>
            </a:r>
          </a:p>
        </p:txBody>
      </p:sp>
      <p:sp>
        <p:nvSpPr>
          <p:cNvPr id="225" name="Text Box 84">
            <a:extLst>
              <a:ext uri="{FF2B5EF4-FFF2-40B4-BE49-F238E27FC236}">
                <a16:creationId xmlns:a16="http://schemas.microsoft.com/office/drawing/2014/main" id="{FC5DFAD4-9DE8-4F2A-B98B-116122FD2ADF}"/>
              </a:ext>
            </a:extLst>
          </p:cNvPr>
          <p:cNvSpPr txBox="1"/>
          <p:nvPr/>
        </p:nvSpPr>
        <p:spPr>
          <a:xfrm>
            <a:off x="1723595" y="5691031"/>
            <a:ext cx="1210178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Pure Imaginary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DA781C-CDF8-409B-B1AB-911C4AD88ED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13960" y="3135823"/>
            <a:ext cx="1987468" cy="20118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33CD100-DDF9-4A19-A91D-2F913CA7DEE2}"/>
              </a:ext>
            </a:extLst>
          </p:cNvPr>
          <p:cNvGraphicFramePr>
            <a:graphicFrameLocks noGrp="1"/>
          </p:cNvGraphicFramePr>
          <p:nvPr/>
        </p:nvGraphicFramePr>
        <p:xfrm>
          <a:off x="405714" y="402506"/>
          <a:ext cx="3497262" cy="175451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54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by 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factoring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4C8A12A0-97E4-4EB8-AE60-F8D3ADB7E36F}"/>
              </a:ext>
            </a:extLst>
          </p:cNvPr>
          <p:cNvGraphicFramePr>
            <a:graphicFrameLocks noGrp="1"/>
          </p:cNvGraphicFramePr>
          <p:nvPr/>
        </p:nvGraphicFramePr>
        <p:xfrm>
          <a:off x="3834714" y="418982"/>
          <a:ext cx="3421062" cy="175451"/>
        </p:xfrm>
        <a:graphic>
          <a:graphicData uri="http://schemas.openxmlformats.org/drawingml/2006/table">
            <a:tbl>
              <a:tblPr/>
              <a:tblGrid>
                <a:gridCol w="342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by 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factoring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E50367D8-6AA3-4E7B-9AD1-B7137B7A416B}"/>
              </a:ext>
            </a:extLst>
          </p:cNvPr>
          <p:cNvGraphicFramePr>
            <a:graphicFrameLocks noGrp="1"/>
          </p:cNvGraphicFramePr>
          <p:nvPr/>
        </p:nvGraphicFramePr>
        <p:xfrm>
          <a:off x="405714" y="3507456"/>
          <a:ext cx="3497262" cy="175451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by 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square roots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94DC1A2C-FB46-4E35-A1CC-01D73C140CFA}"/>
              </a:ext>
            </a:extLst>
          </p:cNvPr>
          <p:cNvGraphicFramePr>
            <a:graphicFrameLocks noGrp="1"/>
          </p:cNvGraphicFramePr>
          <p:nvPr/>
        </p:nvGraphicFramePr>
        <p:xfrm>
          <a:off x="3834714" y="3514307"/>
          <a:ext cx="3344862" cy="175451"/>
        </p:xfrm>
        <a:graphic>
          <a:graphicData uri="http://schemas.openxmlformats.org/drawingml/2006/table">
            <a:tbl>
              <a:tblPr/>
              <a:tblGrid>
                <a:gridCol w="334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by 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square roots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757ED00-5675-47F3-8D96-C05A6A6A14FC}"/>
              </a:ext>
            </a:extLst>
          </p:cNvPr>
          <p:cNvGraphicFramePr>
            <a:graphicFrameLocks noGrp="1"/>
          </p:cNvGraphicFramePr>
          <p:nvPr/>
        </p:nvGraphicFramePr>
        <p:xfrm>
          <a:off x="405714" y="6574706"/>
          <a:ext cx="3268662" cy="175451"/>
        </p:xfrm>
        <a:graphic>
          <a:graphicData uri="http://schemas.openxmlformats.org/drawingml/2006/table">
            <a:tbl>
              <a:tblPr/>
              <a:tblGrid>
                <a:gridCol w="326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by 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square roots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3D7F8301-EE58-4E45-B6D7-3527D9AC2286}"/>
              </a:ext>
            </a:extLst>
          </p:cNvPr>
          <p:cNvGraphicFramePr>
            <a:graphicFrameLocks noGrp="1"/>
          </p:cNvGraphicFramePr>
          <p:nvPr/>
        </p:nvGraphicFramePr>
        <p:xfrm>
          <a:off x="3834714" y="6591182"/>
          <a:ext cx="3497262" cy="175451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by 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completing the square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Text Box 370">
            <a:extLst>
              <a:ext uri="{FF2B5EF4-FFF2-40B4-BE49-F238E27FC236}">
                <a16:creationId xmlns:a16="http://schemas.microsoft.com/office/drawing/2014/main" id="{DCB92FA3-2C4A-487F-BD84-88E1FC554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993306"/>
            <a:ext cx="1718310" cy="4114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8" name="Text Box 370">
            <a:extLst>
              <a:ext uri="{FF2B5EF4-FFF2-40B4-BE49-F238E27FC236}">
                <a16:creationId xmlns:a16="http://schemas.microsoft.com/office/drawing/2014/main" id="{EABD9539-157C-434A-9770-DFB5D43E3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993306"/>
            <a:ext cx="1718310" cy="4114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9" name="Text Box 370">
            <a:extLst>
              <a:ext uri="{FF2B5EF4-FFF2-40B4-BE49-F238E27FC236}">
                <a16:creationId xmlns:a16="http://schemas.microsoft.com/office/drawing/2014/main" id="{4C92B4C8-8FAD-40A8-889C-ABFA86F2D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6088002"/>
            <a:ext cx="1718310" cy="4114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0" name="Text Box 370">
            <a:extLst>
              <a:ext uri="{FF2B5EF4-FFF2-40B4-BE49-F238E27FC236}">
                <a16:creationId xmlns:a16="http://schemas.microsoft.com/office/drawing/2014/main" id="{0D2D973F-9A95-4BC4-96F1-CD3ECD99C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6088002"/>
            <a:ext cx="1718310" cy="4114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1" name="Text Box 370">
            <a:extLst>
              <a:ext uri="{FF2B5EF4-FFF2-40B4-BE49-F238E27FC236}">
                <a16:creationId xmlns:a16="http://schemas.microsoft.com/office/drawing/2014/main" id="{54BE43FD-71E3-4B9D-935E-E332BE549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9165506"/>
            <a:ext cx="171831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2" name="Text Box 370">
            <a:extLst>
              <a:ext uri="{FF2B5EF4-FFF2-40B4-BE49-F238E27FC236}">
                <a16:creationId xmlns:a16="http://schemas.microsoft.com/office/drawing/2014/main" id="{9CD4E3D1-BADA-46FD-9CB7-318CAB478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9165506"/>
            <a:ext cx="171831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A3A008DD-6ABE-4A24-80A7-BCA1C2CD96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1800" y="649974"/>
          <a:ext cx="850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Equation" r:id="rId4" imgW="850680" imgH="190440" progId="Equation.DSMT4">
                  <p:embed/>
                </p:oleObj>
              </mc:Choice>
              <mc:Fallback>
                <p:oleObj name="Equation" r:id="rId4" imgW="850680" imgH="190440" progId="Equation.DSMT4">
                  <p:embed/>
                  <p:pic>
                    <p:nvPicPr>
                      <p:cNvPr id="23" name="Object 2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01800" y="649974"/>
                        <a:ext cx="8509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3">
            <a:extLst>
              <a:ext uri="{FF2B5EF4-FFF2-40B4-BE49-F238E27FC236}">
                <a16:creationId xmlns:a16="http://schemas.microsoft.com/office/drawing/2014/main" id="{B2E51C15-1DF8-437F-952C-BDE5A39DB1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7950" y="630924"/>
          <a:ext cx="812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" name="Equation" r:id="rId6" imgW="812520" imgH="190440" progId="Equation.DSMT4">
                  <p:embed/>
                </p:oleObj>
              </mc:Choice>
              <mc:Fallback>
                <p:oleObj name="Equation" r:id="rId6" imgW="812520" imgH="190440" progId="Equation.DSMT4">
                  <p:embed/>
                  <p:pic>
                    <p:nvPicPr>
                      <p:cNvPr id="24" name="Object 2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87950" y="630924"/>
                        <a:ext cx="8128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4">
            <a:extLst>
              <a:ext uri="{FF2B5EF4-FFF2-40B4-BE49-F238E27FC236}">
                <a16:creationId xmlns:a16="http://schemas.microsoft.com/office/drawing/2014/main" id="{41D75DD5-1D67-46A9-8C83-549592DB59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4350" y="3755124"/>
          <a:ext cx="914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Equation" r:id="rId8" imgW="914400" imgH="190440" progId="Equation.DSMT4">
                  <p:embed/>
                </p:oleObj>
              </mc:Choice>
              <mc:Fallback>
                <p:oleObj name="Equation" r:id="rId8" imgW="914400" imgH="190440" progId="Equation.DSMT4">
                  <p:embed/>
                  <p:pic>
                    <p:nvPicPr>
                      <p:cNvPr id="25" name="Object 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84350" y="3755124"/>
                        <a:ext cx="9144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5">
            <a:extLst>
              <a:ext uri="{FF2B5EF4-FFF2-40B4-BE49-F238E27FC236}">
                <a16:creationId xmlns:a16="http://schemas.microsoft.com/office/drawing/2014/main" id="{77B7F7C8-CA09-4372-A190-83DD5FA537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1900" y="3678924"/>
          <a:ext cx="1003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Equation" r:id="rId10" imgW="1002960" imgH="368280" progId="Equation.DSMT4">
                  <p:embed/>
                </p:oleObj>
              </mc:Choice>
              <mc:Fallback>
                <p:oleObj name="Equation" r:id="rId10" imgW="1002960" imgH="368280" progId="Equation.DSMT4">
                  <p:embed/>
                  <p:pic>
                    <p:nvPicPr>
                      <p:cNvPr id="26" name="Object 2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41900" y="3678924"/>
                        <a:ext cx="1003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0A64C74F-2224-4ADB-8D7A-7638CF16CD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2750" y="6822174"/>
          <a:ext cx="927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Equation" r:id="rId12" imgW="927000" imgH="215640" progId="Equation.DSMT4">
                  <p:embed/>
                </p:oleObj>
              </mc:Choice>
              <mc:Fallback>
                <p:oleObj name="Equation" r:id="rId12" imgW="927000" imgH="215640" progId="Equation.DSMT4">
                  <p:embed/>
                  <p:pic>
                    <p:nvPicPr>
                      <p:cNvPr id="27" name="Object 2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682750" y="6822174"/>
                        <a:ext cx="927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85C440DF-3718-4B3F-93A8-0C93F22FB9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1750" y="6803124"/>
          <a:ext cx="10287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" name="Equation" r:id="rId14" imgW="1028520" imgH="190440" progId="Equation.DSMT4">
                  <p:embed/>
                </p:oleObj>
              </mc:Choice>
              <mc:Fallback>
                <p:oleObj name="Equation" r:id="rId14" imgW="1028520" imgH="190440" progId="Equation.DSMT4">
                  <p:embed/>
                  <p:pic>
                    <p:nvPicPr>
                      <p:cNvPr id="28" name="Object 2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111750" y="6803124"/>
                        <a:ext cx="10287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F9A14E-3E71-4445-97D7-E8E3E334D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4700782"/>
            <a:ext cx="3566469" cy="1322947"/>
          </a:xfrm>
          <a:prstGeom prst="rect">
            <a:avLst/>
          </a:prstGeom>
        </p:spPr>
      </p:pic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B00D9952-7A86-467B-B783-0D0991BD5AD8}"/>
              </a:ext>
            </a:extLst>
          </p:cNvPr>
          <p:cNvGraphicFramePr>
            <a:graphicFrameLocks noGrp="1"/>
          </p:cNvGraphicFramePr>
          <p:nvPr/>
        </p:nvGraphicFramePr>
        <p:xfrm>
          <a:off x="433252" y="414070"/>
          <a:ext cx="3429000" cy="175451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by 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completing the square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1F736068-5FA8-4823-AC9E-8B506E766001}"/>
              </a:ext>
            </a:extLst>
          </p:cNvPr>
          <p:cNvGraphicFramePr>
            <a:graphicFrameLocks noGrp="1"/>
          </p:cNvGraphicFramePr>
          <p:nvPr/>
        </p:nvGraphicFramePr>
        <p:xfrm>
          <a:off x="3862252" y="414070"/>
          <a:ext cx="3497262" cy="175451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by 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quadratic formula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" name="Text Box 373">
            <a:extLst>
              <a:ext uri="{FF2B5EF4-FFF2-40B4-BE49-F238E27FC236}">
                <a16:creationId xmlns:a16="http://schemas.microsoft.com/office/drawing/2014/main" id="{98DDF178-5C8B-4FE5-9C73-5BF986085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826240"/>
            <a:ext cx="171831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0" name="Text Box 373">
            <a:extLst>
              <a:ext uri="{FF2B5EF4-FFF2-40B4-BE49-F238E27FC236}">
                <a16:creationId xmlns:a16="http://schemas.microsoft.com/office/drawing/2014/main" id="{45973BAD-0C32-4CF6-A506-A4960BE88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826240"/>
            <a:ext cx="171831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50724341-E77F-4989-8D83-3E1D13554C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7950" y="701675"/>
          <a:ext cx="1422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" name="Equation" r:id="rId5" imgW="1422360" imgH="190440" progId="Equation.DSMT4">
                  <p:embed/>
                </p:oleObj>
              </mc:Choice>
              <mc:Fallback>
                <p:oleObj name="Equation" r:id="rId5" imgW="1422360" imgH="190440" progId="Equation.DSMT4">
                  <p:embed/>
                  <p:pic>
                    <p:nvPicPr>
                      <p:cNvPr id="40" name="Object 3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7950" y="701675"/>
                        <a:ext cx="14224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281ADB9A-E839-46FF-B465-A9134AA3D0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6650" y="701675"/>
          <a:ext cx="1079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0" name="Equation" r:id="rId7" imgW="1079280" imgH="190440" progId="Equation.DSMT4">
                  <p:embed/>
                </p:oleObj>
              </mc:Choice>
              <mc:Fallback>
                <p:oleObj name="Equation" r:id="rId7" imgW="1079280" imgH="190440" progId="Equation.DSMT4">
                  <p:embed/>
                  <p:pic>
                    <p:nvPicPr>
                      <p:cNvPr id="41" name="Object 4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46650" y="701675"/>
                        <a:ext cx="10795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Rectangle 72">
            <a:extLst>
              <a:ext uri="{FF2B5EF4-FFF2-40B4-BE49-F238E27FC236}">
                <a16:creationId xmlns:a16="http://schemas.microsoft.com/office/drawing/2014/main" id="{7E597B6D-1B39-4BE5-99C5-120565F04042}"/>
              </a:ext>
            </a:extLst>
          </p:cNvPr>
          <p:cNvSpPr/>
          <p:nvPr/>
        </p:nvSpPr>
        <p:spPr>
          <a:xfrm>
            <a:off x="442877" y="4330765"/>
            <a:ext cx="53721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23.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Which functions have at least one real root?  Check all that apply.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EE4CEB3-1322-4CBA-813E-9A16BC3534A8}"/>
              </a:ext>
            </a:extLst>
          </p:cNvPr>
          <p:cNvSpPr/>
          <p:nvPr/>
        </p:nvSpPr>
        <p:spPr>
          <a:xfrm>
            <a:off x="745958" y="6202606"/>
            <a:ext cx="6477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For questions 24-27, find the discriminant of the equation and determine the number</a:t>
            </a:r>
            <a:b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 and type of roots, then solve the equation.  Each method may only be used once!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3D94132-75C6-4DBB-A24B-77054D2FBFD9}"/>
              </a:ext>
            </a:extLst>
          </p:cNvPr>
          <p:cNvSpPr/>
          <p:nvPr/>
        </p:nvSpPr>
        <p:spPr>
          <a:xfrm>
            <a:off x="442877" y="6616765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24.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DA3224C1-22C3-41ED-9004-A8530A3BBF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600" y="6654800"/>
          <a:ext cx="1117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1" name="Equation" r:id="rId9" imgW="1117440" imgH="190440" progId="Equation.DSMT4">
                  <p:embed/>
                </p:oleObj>
              </mc:Choice>
              <mc:Fallback>
                <p:oleObj name="Equation" r:id="rId9" imgW="1117440" imgH="190440" progId="Equation.DSMT4">
                  <p:embed/>
                  <p:pic>
                    <p:nvPicPr>
                      <p:cNvPr id="49" name="Object 4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6600" y="6654800"/>
                        <a:ext cx="1117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Rectangle 76">
            <a:extLst>
              <a:ext uri="{FF2B5EF4-FFF2-40B4-BE49-F238E27FC236}">
                <a16:creationId xmlns:a16="http://schemas.microsoft.com/office/drawing/2014/main" id="{83C2CDE4-3DC7-4F39-8341-A10EA5AC86F1}"/>
              </a:ext>
            </a:extLst>
          </p:cNvPr>
          <p:cNvSpPr/>
          <p:nvPr/>
        </p:nvSpPr>
        <p:spPr>
          <a:xfrm>
            <a:off x="5558631" y="6629139"/>
            <a:ext cx="10668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</a:rPr>
              <a:t>Discriminant: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2555DC9-7402-42D7-B172-D26A60CADD0F}"/>
              </a:ext>
            </a:extLst>
          </p:cNvPr>
          <p:cNvSpPr/>
          <p:nvPr/>
        </p:nvSpPr>
        <p:spPr>
          <a:xfrm>
            <a:off x="5594726" y="7382065"/>
            <a:ext cx="137556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</a:rPr>
              <a:t># / Type of Roots: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66D26F5-822E-48BE-BF82-CDAC70F2506F}"/>
              </a:ext>
            </a:extLst>
          </p:cNvPr>
          <p:cNvSpPr/>
          <p:nvPr/>
        </p:nvSpPr>
        <p:spPr>
          <a:xfrm>
            <a:off x="5554620" y="8134991"/>
            <a:ext cx="166833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</a:rPr>
              <a:t>Method (Circle one):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0694A6A-2A42-4FBC-B81B-6C671121A9F0}"/>
              </a:ext>
            </a:extLst>
          </p:cNvPr>
          <p:cNvSpPr txBox="1"/>
          <p:nvPr/>
        </p:nvSpPr>
        <p:spPr>
          <a:xfrm>
            <a:off x="5636770" y="8499560"/>
            <a:ext cx="177465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        SR       CS        QF</a:t>
            </a:r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87B39BD-6E6C-4D7E-9392-A3D1225DDB93}"/>
              </a:ext>
            </a:extLst>
          </p:cNvPr>
          <p:cNvSpPr/>
          <p:nvPr/>
        </p:nvSpPr>
        <p:spPr>
          <a:xfrm>
            <a:off x="5562555" y="8871824"/>
            <a:ext cx="99064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</a:rPr>
              <a:t>Solution(s):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08" name="Text Box 393">
            <a:extLst>
              <a:ext uri="{FF2B5EF4-FFF2-40B4-BE49-F238E27FC236}">
                <a16:creationId xmlns:a16="http://schemas.microsoft.com/office/drawing/2014/main" id="{415135BE-3EB2-4BC4-9C71-1768D7D28F45}"/>
              </a:ext>
            </a:extLst>
          </p:cNvPr>
          <p:cNvSpPr txBox="1"/>
          <p:nvPr/>
        </p:nvSpPr>
        <p:spPr>
          <a:xfrm>
            <a:off x="2454512" y="4812265"/>
            <a:ext cx="1492885" cy="29337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050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9" name="Text Box 424">
            <a:extLst>
              <a:ext uri="{FF2B5EF4-FFF2-40B4-BE49-F238E27FC236}">
                <a16:creationId xmlns:a16="http://schemas.microsoft.com/office/drawing/2014/main" id="{7283327E-19FE-4925-B466-8952D47FDD2F}"/>
              </a:ext>
            </a:extLst>
          </p:cNvPr>
          <p:cNvSpPr txBox="1"/>
          <p:nvPr/>
        </p:nvSpPr>
        <p:spPr>
          <a:xfrm>
            <a:off x="4219164" y="4826025"/>
            <a:ext cx="1492585" cy="29315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050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+ 4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0" name="Text Box 432">
            <a:extLst>
              <a:ext uri="{FF2B5EF4-FFF2-40B4-BE49-F238E27FC236}">
                <a16:creationId xmlns:a16="http://schemas.microsoft.com/office/drawing/2014/main" id="{770E042F-D680-4330-88C4-7518F3A97138}"/>
              </a:ext>
            </a:extLst>
          </p:cNvPr>
          <p:cNvSpPr txBox="1"/>
          <p:nvPr/>
        </p:nvSpPr>
        <p:spPr>
          <a:xfrm>
            <a:off x="4191555" y="5205313"/>
            <a:ext cx="1492584" cy="29315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-3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050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2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1" name="Text Box 428">
            <a:extLst>
              <a:ext uri="{FF2B5EF4-FFF2-40B4-BE49-F238E27FC236}">
                <a16:creationId xmlns:a16="http://schemas.microsoft.com/office/drawing/2014/main" id="{EA0B98EF-BC87-472E-8850-5995DB5F8ED1}"/>
              </a:ext>
            </a:extLst>
          </p:cNvPr>
          <p:cNvSpPr txBox="1"/>
          <p:nvPr/>
        </p:nvSpPr>
        <p:spPr>
          <a:xfrm>
            <a:off x="2454475" y="5200189"/>
            <a:ext cx="1492585" cy="29315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050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+ 18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2" name="Text Box 436">
            <a:extLst>
              <a:ext uri="{FF2B5EF4-FFF2-40B4-BE49-F238E27FC236}">
                <a16:creationId xmlns:a16="http://schemas.microsoft.com/office/drawing/2014/main" id="{3C8CC6F5-64B1-4000-BB28-4EFFD2257E0A}"/>
              </a:ext>
            </a:extLst>
          </p:cNvPr>
          <p:cNvSpPr txBox="1"/>
          <p:nvPr/>
        </p:nvSpPr>
        <p:spPr>
          <a:xfrm>
            <a:off x="2467873" y="5588116"/>
            <a:ext cx="1492584" cy="29315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050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+ 25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3" name="Text Box 440">
            <a:extLst>
              <a:ext uri="{FF2B5EF4-FFF2-40B4-BE49-F238E27FC236}">
                <a16:creationId xmlns:a16="http://schemas.microsoft.com/office/drawing/2014/main" id="{36D8064B-600F-4707-9A78-128AA0DB8AA6}"/>
              </a:ext>
            </a:extLst>
          </p:cNvPr>
          <p:cNvSpPr txBox="1"/>
          <p:nvPr/>
        </p:nvSpPr>
        <p:spPr>
          <a:xfrm>
            <a:off x="4198644" y="5579428"/>
            <a:ext cx="1492585" cy="29315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050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en-US" sz="105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362865A-E882-43C5-8C83-4481E030A7EC}"/>
              </a:ext>
            </a:extLst>
          </p:cNvPr>
          <p:cNvSpPr/>
          <p:nvPr/>
        </p:nvSpPr>
        <p:spPr>
          <a:xfrm>
            <a:off x="435546" y="374897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25.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94706406-DCDD-4090-8A12-20DD52E679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396" y="403225"/>
          <a:ext cx="850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4" name="Equation" r:id="rId4" imgW="850680" imgH="190440" progId="Equation.DSMT4">
                  <p:embed/>
                </p:oleObj>
              </mc:Choice>
              <mc:Fallback>
                <p:oleObj name="Equation" r:id="rId4" imgW="850680" imgH="190440" progId="Equation.DSMT4">
                  <p:embed/>
                  <p:pic>
                    <p:nvPicPr>
                      <p:cNvPr id="19" name="Object 1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5396" y="403225"/>
                        <a:ext cx="8509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DFBA05A2-FF5B-40F7-9E24-6BDDBF8F3178}"/>
              </a:ext>
            </a:extLst>
          </p:cNvPr>
          <p:cNvSpPr/>
          <p:nvPr/>
        </p:nvSpPr>
        <p:spPr>
          <a:xfrm>
            <a:off x="426721" y="3470222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26.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87E25815-9DB1-48C7-9ECB-87CFDFF865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1363" y="3498850"/>
          <a:ext cx="1054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5" name="Equation" r:id="rId6" imgW="1054080" imgH="190440" progId="Equation.DSMT4">
                  <p:embed/>
                </p:oleObj>
              </mc:Choice>
              <mc:Fallback>
                <p:oleObj name="Equation" r:id="rId6" imgW="1054080" imgH="190440" progId="Equation.DSMT4">
                  <p:embed/>
                  <p:pic>
                    <p:nvPicPr>
                      <p:cNvPr id="22" name="Object 2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41363" y="3498850"/>
                        <a:ext cx="1054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BBCB2DE1-A357-4E29-B104-4AD25657A79F}"/>
              </a:ext>
            </a:extLst>
          </p:cNvPr>
          <p:cNvSpPr/>
          <p:nvPr/>
        </p:nvSpPr>
        <p:spPr>
          <a:xfrm>
            <a:off x="425921" y="6575972"/>
            <a:ext cx="45076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27.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855E0B65-578B-4399-A429-F9650CB832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521" y="6584950"/>
          <a:ext cx="787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6" name="Equation" r:id="rId8" imgW="787320" imgH="190440" progId="Equation.DSMT4">
                  <p:embed/>
                </p:oleObj>
              </mc:Choice>
              <mc:Fallback>
                <p:oleObj name="Equation" r:id="rId8" imgW="787320" imgH="190440" progId="Equation.DSMT4">
                  <p:embed/>
                  <p:pic>
                    <p:nvPicPr>
                      <p:cNvPr id="26" name="Object 2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9521" y="6584950"/>
                        <a:ext cx="7874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:a16="http://schemas.microsoft.com/office/drawing/2014/main" id="{CE82ADF1-2C84-47D1-BB39-7C418F585497}"/>
              </a:ext>
            </a:extLst>
          </p:cNvPr>
          <p:cNvGrpSpPr/>
          <p:nvPr/>
        </p:nvGrpSpPr>
        <p:grpSpPr>
          <a:xfrm>
            <a:off x="5570099" y="388345"/>
            <a:ext cx="1856807" cy="2571912"/>
            <a:chOff x="5570099" y="388345"/>
            <a:chExt cx="1856807" cy="2571912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96979ED-6B73-41D2-A2EA-54BCC6496F99}"/>
                </a:ext>
              </a:extLst>
            </p:cNvPr>
            <p:cNvSpPr/>
            <p:nvPr/>
          </p:nvSpPr>
          <p:spPr>
            <a:xfrm>
              <a:off x="5570099" y="388345"/>
              <a:ext cx="106680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Discriminant:</a:t>
              </a:r>
              <a:endParaRPr lang="en-US" sz="1000" dirty="0">
                <a:latin typeface="Century Gothic" panose="020B0502020202020204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CF7534-B538-43F5-B1AC-6469949E7974}"/>
                </a:ext>
              </a:extLst>
            </p:cNvPr>
            <p:cNvSpPr/>
            <p:nvPr/>
          </p:nvSpPr>
          <p:spPr>
            <a:xfrm>
              <a:off x="5570099" y="1156511"/>
              <a:ext cx="137556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# / Type of Roots:</a:t>
              </a:r>
              <a:endParaRPr lang="en-US" sz="1000" dirty="0">
                <a:latin typeface="Century Gothic" panose="020B0502020202020204" pitchFamily="34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864F80E-4610-4518-A06E-ADFC94603057}"/>
                </a:ext>
              </a:extLst>
            </p:cNvPr>
            <p:cNvSpPr/>
            <p:nvPr/>
          </p:nvSpPr>
          <p:spPr>
            <a:xfrm>
              <a:off x="5570099" y="1909437"/>
              <a:ext cx="166833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Method (Circle one):</a:t>
              </a:r>
              <a:endParaRPr lang="en-US" sz="1000" dirty="0">
                <a:latin typeface="Century Gothic" panose="020B0502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255EEB1-0937-4535-83DB-613F8D4D5BED}"/>
                </a:ext>
              </a:extLst>
            </p:cNvPr>
            <p:cNvSpPr txBox="1"/>
            <p:nvPr/>
          </p:nvSpPr>
          <p:spPr>
            <a:xfrm>
              <a:off x="5652249" y="2274006"/>
              <a:ext cx="177465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        SR       CS        QF</a:t>
              </a:r>
              <a:endParaRPr lang="en-US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2482D8E-A4A7-4352-9711-21007661291D}"/>
                </a:ext>
              </a:extLst>
            </p:cNvPr>
            <p:cNvSpPr/>
            <p:nvPr/>
          </p:nvSpPr>
          <p:spPr>
            <a:xfrm>
              <a:off x="5570099" y="2714036"/>
              <a:ext cx="99064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Solution(s):</a:t>
              </a:r>
              <a:endParaRPr lang="en-US" sz="1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C9182D1-DB74-4C8E-BE74-CE34D76E01EC}"/>
              </a:ext>
            </a:extLst>
          </p:cNvPr>
          <p:cNvGrpSpPr/>
          <p:nvPr/>
        </p:nvGrpSpPr>
        <p:grpSpPr>
          <a:xfrm>
            <a:off x="5571444" y="3483610"/>
            <a:ext cx="1856807" cy="2571912"/>
            <a:chOff x="5570099" y="388345"/>
            <a:chExt cx="1856807" cy="2571912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87FBE3C-7A9B-4CB7-A5F8-B338F16B0091}"/>
                </a:ext>
              </a:extLst>
            </p:cNvPr>
            <p:cNvSpPr/>
            <p:nvPr/>
          </p:nvSpPr>
          <p:spPr>
            <a:xfrm>
              <a:off x="5570099" y="388345"/>
              <a:ext cx="106680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Discriminant:</a:t>
              </a:r>
              <a:endParaRPr lang="en-US" sz="1000" dirty="0">
                <a:latin typeface="Century Gothic" panose="020B0502020202020204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01E0A09-4F1D-475C-B204-10DAD033FA61}"/>
                </a:ext>
              </a:extLst>
            </p:cNvPr>
            <p:cNvSpPr/>
            <p:nvPr/>
          </p:nvSpPr>
          <p:spPr>
            <a:xfrm>
              <a:off x="5570099" y="1156511"/>
              <a:ext cx="137556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# / Type of Roots:</a:t>
              </a:r>
              <a:endParaRPr lang="en-US" sz="1000" dirty="0">
                <a:latin typeface="Century Gothic" panose="020B050202020202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DB37B81-1489-449F-B683-671BE7C70583}"/>
                </a:ext>
              </a:extLst>
            </p:cNvPr>
            <p:cNvSpPr/>
            <p:nvPr/>
          </p:nvSpPr>
          <p:spPr>
            <a:xfrm>
              <a:off x="5570099" y="1909437"/>
              <a:ext cx="166833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Method (Circle one):</a:t>
              </a:r>
              <a:endParaRPr lang="en-US" sz="1000" dirty="0">
                <a:latin typeface="Century Gothic" panose="020B0502020202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A4A7A42-BEBB-4E08-BDE7-55C8283E1DC9}"/>
                </a:ext>
              </a:extLst>
            </p:cNvPr>
            <p:cNvSpPr txBox="1"/>
            <p:nvPr/>
          </p:nvSpPr>
          <p:spPr>
            <a:xfrm>
              <a:off x="5652249" y="2274006"/>
              <a:ext cx="177465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        SR       CS        QF</a:t>
              </a:r>
              <a:endParaRPr lang="en-US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8F01E97-BC13-40A9-9196-E6D21A850FE3}"/>
                </a:ext>
              </a:extLst>
            </p:cNvPr>
            <p:cNvSpPr/>
            <p:nvPr/>
          </p:nvSpPr>
          <p:spPr>
            <a:xfrm>
              <a:off x="5570099" y="2714036"/>
              <a:ext cx="99064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Solution(s):</a:t>
              </a:r>
              <a:endParaRPr lang="en-US" sz="1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3D56FA9-84A7-4C37-86D8-94BEB2F90A38}"/>
              </a:ext>
            </a:extLst>
          </p:cNvPr>
          <p:cNvGrpSpPr/>
          <p:nvPr/>
        </p:nvGrpSpPr>
        <p:grpSpPr>
          <a:xfrm>
            <a:off x="5576476" y="6602368"/>
            <a:ext cx="1856807" cy="2571912"/>
            <a:chOff x="5570099" y="388345"/>
            <a:chExt cx="1856807" cy="2571912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0D3661C-AAF7-477E-AF5D-172944C4CAC5}"/>
                </a:ext>
              </a:extLst>
            </p:cNvPr>
            <p:cNvSpPr/>
            <p:nvPr/>
          </p:nvSpPr>
          <p:spPr>
            <a:xfrm>
              <a:off x="5570099" y="388345"/>
              <a:ext cx="106680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Discriminant:</a:t>
              </a:r>
              <a:endParaRPr lang="en-US" sz="1000" dirty="0">
                <a:latin typeface="Century Gothic" panose="020B050202020202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56D2284-1615-4880-9E94-B3A2F81BDA73}"/>
                </a:ext>
              </a:extLst>
            </p:cNvPr>
            <p:cNvSpPr/>
            <p:nvPr/>
          </p:nvSpPr>
          <p:spPr>
            <a:xfrm>
              <a:off x="5570099" y="1156511"/>
              <a:ext cx="137556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# / Type of Roots:</a:t>
              </a:r>
              <a:endParaRPr lang="en-US" sz="1000" dirty="0">
                <a:latin typeface="Century Gothic" panose="020B0502020202020204" pitchFamily="34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9E635D5-FE10-4161-9A48-0134004B03D2}"/>
                </a:ext>
              </a:extLst>
            </p:cNvPr>
            <p:cNvSpPr/>
            <p:nvPr/>
          </p:nvSpPr>
          <p:spPr>
            <a:xfrm>
              <a:off x="5570099" y="1909437"/>
              <a:ext cx="166833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Method (Circle one):</a:t>
              </a:r>
              <a:endParaRPr lang="en-US" sz="1000" dirty="0">
                <a:latin typeface="Century Gothic" panose="020B0502020202020204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3CCC820-3C89-451E-997F-762CFE7C42A2}"/>
                </a:ext>
              </a:extLst>
            </p:cNvPr>
            <p:cNvSpPr txBox="1"/>
            <p:nvPr/>
          </p:nvSpPr>
          <p:spPr>
            <a:xfrm>
              <a:off x="5652249" y="2274006"/>
              <a:ext cx="177465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        SR       CS        QF</a:t>
              </a:r>
              <a:endParaRPr lang="en-US" dirty="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B9E674B-019A-47FA-8C4B-BC5D7F3BB41A}"/>
                </a:ext>
              </a:extLst>
            </p:cNvPr>
            <p:cNvSpPr/>
            <p:nvPr/>
          </p:nvSpPr>
          <p:spPr>
            <a:xfrm>
              <a:off x="5570099" y="2714036"/>
              <a:ext cx="99064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Solution(s):</a:t>
              </a:r>
              <a:endParaRPr lang="en-US" sz="1000" dirty="0">
                <a:latin typeface="Century Gothic" panose="020B0502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0B75191-1F87-41D6-A579-D7AF0466D1C4}"/>
              </a:ext>
            </a:extLst>
          </p:cNvPr>
          <p:cNvSpPr/>
          <p:nvPr/>
        </p:nvSpPr>
        <p:spPr>
          <a:xfrm>
            <a:off x="419704" y="397240"/>
            <a:ext cx="69342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28.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The dimensions of a square are altered so that 8 inches is added to one side while 3 inches is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subtracted from the other.  The area of the resulting rectangle is 126 in</a:t>
            </a:r>
            <a:r>
              <a:rPr lang="en-US" sz="1100" baseline="30000" dirty="0">
                <a:latin typeface="Century Gothic" panose="020B0502020202020204" pitchFamily="34" charset="0"/>
                <a:ea typeface="Calibri" panose="020F0502020204030204" pitchFamily="34" charset="0"/>
              </a:rPr>
              <a:t>2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.  What was the original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side length of the square?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3" name="Text Box 447">
            <a:extLst>
              <a:ext uri="{FF2B5EF4-FFF2-40B4-BE49-F238E27FC236}">
                <a16:creationId xmlns:a16="http://schemas.microsoft.com/office/drawing/2014/main" id="{383A299B-E1C2-4172-A600-FD3D02C6B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8866" y="2988040"/>
            <a:ext cx="1496695" cy="4114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98DA1A4-5A36-4F12-BD10-653A3032852A}"/>
              </a:ext>
            </a:extLst>
          </p:cNvPr>
          <p:cNvGrpSpPr/>
          <p:nvPr/>
        </p:nvGrpSpPr>
        <p:grpSpPr>
          <a:xfrm>
            <a:off x="1318965" y="6619916"/>
            <a:ext cx="5892730" cy="411480"/>
            <a:chOff x="-91765" y="0"/>
            <a:chExt cx="5893124" cy="41148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D49C90B-6B9F-4B57-9AEC-3ABADCC0FA93}"/>
                </a:ext>
              </a:extLst>
            </p:cNvPr>
            <p:cNvGrpSpPr/>
            <p:nvPr/>
          </p:nvGrpSpPr>
          <p:grpSpPr>
            <a:xfrm>
              <a:off x="-91765" y="0"/>
              <a:ext cx="2670260" cy="411480"/>
              <a:chOff x="-91765" y="0"/>
              <a:chExt cx="2670260" cy="411480"/>
            </a:xfrm>
          </p:grpSpPr>
          <p:sp>
            <p:nvSpPr>
              <p:cNvPr id="39" name="Text Box 449">
                <a:extLst>
                  <a:ext uri="{FF2B5EF4-FFF2-40B4-BE49-F238E27FC236}">
                    <a16:creationId xmlns:a16="http://schemas.microsoft.com/office/drawing/2014/main" id="{5F73178E-822A-4DC3-AF39-8CCF85D61C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3568" y="0"/>
                <a:ext cx="1294927" cy="411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40" name="Text Box 450">
                <a:extLst>
                  <a:ext uri="{FF2B5EF4-FFF2-40B4-BE49-F238E27FC236}">
                    <a16:creationId xmlns:a16="http://schemas.microsoft.com/office/drawing/2014/main" id="{14D6DBC7-10C4-411F-8F93-EBD650ACBCF6}"/>
                  </a:ext>
                </a:extLst>
              </p:cNvPr>
              <p:cNvSpPr txBox="1"/>
              <p:nvPr/>
            </p:nvSpPr>
            <p:spPr>
              <a:xfrm>
                <a:off x="-91765" y="70284"/>
                <a:ext cx="1294926" cy="318053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0" tIns="45720" rIns="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Maximum Height:</a:t>
                </a: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8FFE494-0555-4BEA-AFCF-BCE5C7BFAE48}"/>
                </a:ext>
              </a:extLst>
            </p:cNvPr>
            <p:cNvGrpSpPr/>
            <p:nvPr/>
          </p:nvGrpSpPr>
          <p:grpSpPr>
            <a:xfrm>
              <a:off x="2921244" y="0"/>
              <a:ext cx="2880115" cy="411480"/>
              <a:chOff x="-52401" y="0"/>
              <a:chExt cx="2880794" cy="411480"/>
            </a:xfrm>
          </p:grpSpPr>
          <p:sp>
            <p:nvSpPr>
              <p:cNvPr id="37" name="Text Box 451">
                <a:extLst>
                  <a:ext uri="{FF2B5EF4-FFF2-40B4-BE49-F238E27FC236}">
                    <a16:creationId xmlns:a16="http://schemas.microsoft.com/office/drawing/2014/main" id="{5453E0FB-68EB-4A68-ABE6-95ECEC83B0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3466" y="0"/>
                <a:ext cx="1294927" cy="411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38" name="Text Box 452">
                <a:extLst>
                  <a:ext uri="{FF2B5EF4-FFF2-40B4-BE49-F238E27FC236}">
                    <a16:creationId xmlns:a16="http://schemas.microsoft.com/office/drawing/2014/main" id="{02A5038A-79BE-4319-AC74-14ED8F2F2F56}"/>
                  </a:ext>
                </a:extLst>
              </p:cNvPr>
              <p:cNvSpPr txBox="1"/>
              <p:nvPr/>
            </p:nvSpPr>
            <p:spPr>
              <a:xfrm>
                <a:off x="-52401" y="73835"/>
                <a:ext cx="1527786" cy="335091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0" tIns="45720" rIns="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Time to reach ground: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4E4FCE25-FD71-4EBF-BD2A-338A5459277E}"/>
              </a:ext>
            </a:extLst>
          </p:cNvPr>
          <p:cNvSpPr/>
          <p:nvPr/>
        </p:nvSpPr>
        <p:spPr>
          <a:xfrm>
            <a:off x="419704" y="3445240"/>
            <a:ext cx="70104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29.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A juggler tosses a ball into the air.  The balls height,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, and time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seconds can be represented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by the equation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(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) = -16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1100" b="1" baseline="30000" dirty="0">
                <a:latin typeface="Century Gothic" panose="020B0502020202020204" pitchFamily="34" charset="0"/>
                <a:ea typeface="Calibri" panose="020F0502020204030204" pitchFamily="34" charset="0"/>
              </a:rPr>
              <a:t>2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 + 40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 + 4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.  Suppose the juggler missed and the ball hit the ground. 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Find the maximum height of the ball and the time it took to reach the ground. Round all answers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to the nearest hundredth.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64F0BD-3783-411E-BFE7-E44A647483A6}"/>
              </a:ext>
            </a:extLst>
          </p:cNvPr>
          <p:cNvSpPr/>
          <p:nvPr/>
        </p:nvSpPr>
        <p:spPr>
          <a:xfrm>
            <a:off x="398716" y="7102840"/>
            <a:ext cx="694029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30.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The table below gives the average temperature of a lake in months since April in a certain year.      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Write an equation for the curve of best fit using a quadratic model, then predict the average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temperature of the lake during December of the same year.  Round all answers to the nearest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hundredth.</a:t>
            </a:r>
            <a:endParaRPr lang="en-US" dirty="0">
              <a:latin typeface="Century Gothic" panose="020B0502020202020204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13F63E2-C24F-4D46-9265-2D03E6633512}"/>
              </a:ext>
            </a:extLst>
          </p:cNvPr>
          <p:cNvGrpSpPr/>
          <p:nvPr/>
        </p:nvGrpSpPr>
        <p:grpSpPr>
          <a:xfrm>
            <a:off x="533400" y="9184827"/>
            <a:ext cx="6709409" cy="411480"/>
            <a:chOff x="0" y="0"/>
            <a:chExt cx="6709680" cy="41148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B3BA7B8-BA03-468B-8B71-6FD5ED7CBE43}"/>
                </a:ext>
              </a:extLst>
            </p:cNvPr>
            <p:cNvGrpSpPr/>
            <p:nvPr/>
          </p:nvGrpSpPr>
          <p:grpSpPr>
            <a:xfrm>
              <a:off x="0" y="0"/>
              <a:ext cx="4362450" cy="411480"/>
              <a:chOff x="0" y="-9525"/>
              <a:chExt cx="4362450" cy="411480"/>
            </a:xfrm>
          </p:grpSpPr>
          <p:sp>
            <p:nvSpPr>
              <p:cNvPr id="48" name="Text Box 456">
                <a:extLst>
                  <a:ext uri="{FF2B5EF4-FFF2-40B4-BE49-F238E27FC236}">
                    <a16:creationId xmlns:a16="http://schemas.microsoft.com/office/drawing/2014/main" id="{0E1C30ED-8DBF-420A-8508-3E9068466E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0386" y="-9525"/>
                <a:ext cx="3622064" cy="411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49" name="Text Box 457">
                <a:extLst>
                  <a:ext uri="{FF2B5EF4-FFF2-40B4-BE49-F238E27FC236}">
                    <a16:creationId xmlns:a16="http://schemas.microsoft.com/office/drawing/2014/main" id="{AD3D2881-E652-4754-B7F4-AFA77853C801}"/>
                  </a:ext>
                </a:extLst>
              </p:cNvPr>
              <p:cNvSpPr txBox="1"/>
              <p:nvPr/>
            </p:nvSpPr>
            <p:spPr>
              <a:xfrm>
                <a:off x="0" y="68154"/>
                <a:ext cx="809625" cy="284271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0" tIns="45720" rIns="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Equation:</a:t>
                </a: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2688EED-557C-4119-97CA-9BAA178132F2}"/>
                </a:ext>
              </a:extLst>
            </p:cNvPr>
            <p:cNvGrpSpPr/>
            <p:nvPr/>
          </p:nvGrpSpPr>
          <p:grpSpPr>
            <a:xfrm>
              <a:off x="4455886" y="0"/>
              <a:ext cx="2253794" cy="411480"/>
              <a:chOff x="-322910" y="-9525"/>
              <a:chExt cx="2253957" cy="411480"/>
            </a:xfrm>
          </p:grpSpPr>
          <p:sp>
            <p:nvSpPr>
              <p:cNvPr id="46" name="Text Box 459">
                <a:extLst>
                  <a:ext uri="{FF2B5EF4-FFF2-40B4-BE49-F238E27FC236}">
                    <a16:creationId xmlns:a16="http://schemas.microsoft.com/office/drawing/2014/main" id="{E7CBD4BB-FF27-41A1-B48B-FC9C22CD99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0386" y="-9525"/>
                <a:ext cx="1190661" cy="411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47" name="Text Box 460">
                <a:extLst>
                  <a:ext uri="{FF2B5EF4-FFF2-40B4-BE49-F238E27FC236}">
                    <a16:creationId xmlns:a16="http://schemas.microsoft.com/office/drawing/2014/main" id="{82D01AEF-3122-4E77-AB50-192FC4C81570}"/>
                  </a:ext>
                </a:extLst>
              </p:cNvPr>
              <p:cNvSpPr txBox="1"/>
              <p:nvPr/>
            </p:nvSpPr>
            <p:spPr>
              <a:xfrm>
                <a:off x="-322910" y="68154"/>
                <a:ext cx="1000126" cy="284271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0" tIns="45720" rIns="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Temperature:</a:t>
                </a: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</p:grpSp>
      <p:graphicFrame>
        <p:nvGraphicFramePr>
          <p:cNvPr id="50" name="object 3">
            <a:extLst>
              <a:ext uri="{FF2B5EF4-FFF2-40B4-BE49-F238E27FC236}">
                <a16:creationId xmlns:a16="http://schemas.microsoft.com/office/drawing/2014/main" id="{D0B0001B-5619-4707-8589-17E54B210D8A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7941040"/>
          <a:ext cx="4463790" cy="5120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9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3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30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30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b="1" dirty="0">
                          <a:latin typeface="Century Gothic" panose="020B0502020202020204" pitchFamily="34" charset="0"/>
                          <a:cs typeface="Tahoma"/>
                        </a:rPr>
                        <a:t>Month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0795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April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0795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May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0795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June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0795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749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July</a:t>
                      </a:r>
                    </a:p>
                  </a:txBody>
                  <a:tcPr marL="0" marR="0" marT="10795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August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0795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b="1" dirty="0">
                          <a:latin typeface="Century Gothic" panose="020B0502020202020204" pitchFamily="34" charset="0"/>
                          <a:cs typeface="Tahoma"/>
                        </a:rPr>
                        <a:t>Temp</a:t>
                      </a:r>
                      <a:r>
                        <a:rPr sz="1100" b="1" spc="-90" dirty="0">
                          <a:latin typeface="Century Gothic" panose="020B0502020202020204" pitchFamily="34" charset="0"/>
                          <a:cs typeface="Tahoma"/>
                        </a:rPr>
                        <a:t> </a:t>
                      </a:r>
                      <a:r>
                        <a:rPr sz="1100" b="1" spc="-5" dirty="0">
                          <a:latin typeface="Century Gothic" panose="020B0502020202020204" pitchFamily="34" charset="0"/>
                          <a:cs typeface="Tahoma"/>
                        </a:rPr>
                        <a:t>(</a:t>
                      </a:r>
                      <a:r>
                        <a:rPr sz="1100" spc="-5" dirty="0">
                          <a:solidFill>
                            <a:srgbClr val="535353"/>
                          </a:solidFill>
                          <a:latin typeface="Century Gothic" panose="020B0502020202020204" pitchFamily="34" charset="0"/>
                          <a:cs typeface="Tahoma"/>
                        </a:rPr>
                        <a:t>°</a:t>
                      </a:r>
                      <a:r>
                        <a:rPr sz="1100" b="1" spc="-5" dirty="0">
                          <a:latin typeface="Century Gothic" panose="020B0502020202020204" pitchFamily="34" charset="0"/>
                          <a:cs typeface="Tahoma"/>
                        </a:rPr>
                        <a:t>F)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0795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59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0795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68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0795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71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0795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78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0795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74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0795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975</Words>
  <Application>Microsoft Office PowerPoint</Application>
  <PresentationFormat>Custom</PresentationFormat>
  <Paragraphs>161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- 31 - Unit 4 Test</dc:title>
  <dc:creator>Gina</dc:creator>
  <cp:lastModifiedBy>Gina Wilson</cp:lastModifiedBy>
  <cp:revision>53</cp:revision>
  <dcterms:created xsi:type="dcterms:W3CDTF">2017-09-15T21:58:55Z</dcterms:created>
  <dcterms:modified xsi:type="dcterms:W3CDTF">2022-04-25T20:15:39Z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2015-07-23T00:00:00Z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2017-09-16T00:00:00Z</vt:filetime>
  </property>
</Properties>
</file>